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notesMasterIdLst>
    <p:notesMasterId r:id="rId3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notesMaster" Target="notesMasters/notesMaster1.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DATA — Slide 2</a:t>
            </a:r>
          </a:p>
          <a:p>
            <a:r>
              <a:t>Sovereign cloud: $154.69B (2025) → $1.3T by 2034, 27% CAGR (Grand View Research 2025).</a:t>
            </a:r>
          </a:p>
          <a:p>
            <a:r>
              <a:t>Confidential computing: $9.31B (2025) → $15.15B (2026) (Mordor Intelligence).</a:t>
            </a:r>
          </a:p>
          <a:p>
            <a:r>
              <a:t>AI governance &amp; compliance: $2.20B (2025) → $11.05B (2036) at 15.8% CAGR (FutureMarketInsights).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DATA — Slide 3</a:t>
            </a:r>
          </a:p>
          <a:p>
            <a:r>
              <a:t>91% of B2B SaaS &gt;$50M ARR implement PLG (Segment8, 2025).</a:t>
            </a:r>
          </a:p>
          <a:p>
            <a:r>
              <a:t>PQLs convert at ~3× MQL rate (ProductLed 2025).</a:t>
            </a:r>
          </a:p>
          <a:p>
            <a:r>
              <a:t>PLG startups raised $15B+ globally in 2024 (SaaSMag 2025).</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DATA SOURCES — Slide 5 (Compliance Owner)</a:t>
            </a:r>
          </a:p>
          <a:p/>
          <a:p>
            <a:r>
              <a:t>56% of CISOs block most AI tools while maintaining defined allowlists (IANS Research 2026).</a:t>
            </a:r>
          </a:p>
          <a:p>
            <a:r>
              <a:t>90%+ of organizations do not allow blanket access to AI applications (IANS Research 2026).</a:t>
            </a:r>
          </a:p>
          <a:p>
            <a:r>
              <a:t>77% of CISOs say AI compliance challenges delay cybersecurity innovation (CSA 2025).</a:t>
            </a:r>
          </a:p>
          <a:p>
            <a:r>
              <a:t>Enterprises block ~60% of AI/ML transactions (Cybersecurity Dive 2025).</a:t>
            </a:r>
          </a:p>
          <a:p>
            <a:r>
              <a:t>EU AI Act fines: up to €35M or 7% global turnover (top tier); GDPR: €20M or 4%. Combined exposure for a single incident involving both can exceed €50M (FutureMarketInsights 2025).</a:t>
            </a:r>
          </a:p>
          <a:p>
            <a:r>
              <a:t>DEAL PROFILE: ACV $150k-$500k+. Sales cycle 9-18 months. Needs board approval + legal sign-off.</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DATA SOURCES — Slide 6 (Champion)</a:t>
            </a:r>
          </a:p>
          <a:p/>
          <a:p>
            <a:r>
              <a:t>42% of companies abandoned most AI initiatives in 2025, up from 17% in 2024 (McKinsey via talyx.ai 2026).</a:t>
            </a:r>
          </a:p>
          <a:p>
            <a:r>
              <a:t>Over half of GenAI initiatives shelved after PoC stage by end of 2025 — killed by data quality issues, risk gaps, or runaway costs (Gartner 2025).</a:t>
            </a:r>
          </a:p>
          <a:p>
            <a:r>
              <a:t>Average time from prototype to production for enterprise AI: 8 months (Gartner May 2024 survey).</a:t>
            </a:r>
          </a:p>
          <a:p>
            <a:r>
              <a:t>80.3% of enterprise AI projects fail to deliver promised business value (RAND 2025).</a:t>
            </a:r>
          </a:p>
          <a:p>
            <a:r>
              <a:t>DEAL PROFILE: ACV $50k-$200k. Sales cycle 3-6 months. Needs CISO sign-off. Champion drives deal.</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DATA SOURCES — Slide 7 (Technical Validator)</a:t>
            </a:r>
          </a:p>
          <a:p/>
          <a:p>
            <a:r>
              <a:t>TEE latency overhead: TEE products historically impose 10-30% overhead in production settings; this has been the primary technical objection for real engineering teams (Confidential Computing Consortium whitepaper 2025).</a:t>
            </a:r>
          </a:p>
          <a:p>
            <a:r>
              <a:t>Open-source AI preference: top-3 US bank migrated from closed API to open models ~2024 due to lock-in concerns; vendor lock-in rated top concern for enterprise AI buyers (OpenAI state of enterprise AI 2025).</a:t>
            </a:r>
          </a:p>
          <a:p>
            <a:r>
              <a:t>DEAL PROFILE: Not a buyer. Evaluator/veto holder. Evaluation window: 2-4 weeks. Their thumbs-up is required before Champion can proceed.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DATA SOURCES — Slide 8 (Vertical Buyer — Legal)</a:t>
            </a:r>
          </a:p>
          <a:p/>
          <a:p>
            <a:r>
              <a:t>PRICING CORRECTION: Original deck said '$1.5k to 5k per lawyer/year'. Research confirms Harvey is ~$1,000–$2,000/seat/month = $12k–$24k/year, min 20 seats ($288k+ annual floor). This makes Prem's advantage LARGER than the deck originally stated. Correct in verbal delivery.</a:t>
            </a:r>
          </a:p>
          <a:p>
            <a:r>
              <a:t>Harvey: $200M raised at $11B valuation (March 2026, TechCrunch).</a:t>
            </a:r>
          </a:p>
          <a:p>
            <a:r>
              <a:t>Legora: $550M raised at $5.55B valuation (March 2026, TechCrunch). $100M ARR in 18 months.</a:t>
            </a:r>
          </a:p>
          <a:p>
            <a:r>
              <a:t>AmLaw 100 average billing rate cracked $1,000/hour in 2025; 3rd-year associates now bill $1,000+/hour (Thomson Reuters State of Legal Market 2026).</a:t>
            </a:r>
          </a:p>
          <a:p>
            <a:r>
              <a:t>Legal tech spending up 9.7% in 2026 (LawNext 2026).</a:t>
            </a:r>
          </a:p>
          <a:p>
            <a:r>
              <a:t>79% of legal professionals now use AI tools — up from 19% in 2023 (8am report, LawSites 2026).</a:t>
            </a:r>
          </a:p>
          <a:p>
            <a:r>
              <a:t>DEAL PROFILE: ACV $200k-$1M+ (firm size dependent). Sales cycle 12-24 months. Needs managing partner + conflicts clearance + data security sign-off.</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DATA SOURCES — Slide 9 (Developer)</a:t>
            </a:r>
          </a:p>
          <a:p/>
          <a:p>
            <a:r>
              <a:t>OpenAI data practices: Standard tiers allow data use for safety training by default. API data retained up to 30 days for abuse monitoring unless on Enterprise Zero Data Retention plan (OpenAI enterprise-privacy page).</a:t>
            </a:r>
          </a:p>
          <a:p>
            <a:r>
              <a:t>Vendor lock-in: Top-3 US bank migrated from closed API to open models ~2024; 'most businesses are really worried about vendor lock-in' (State of Enterprise AI, OpenAI 2025).</a:t>
            </a:r>
          </a:p>
          <a:p>
            <a:r>
              <a:t>PostgresML built 'switch kits' to help enterprises migrate from OpenAI — indicating the pain is real and addressable.</a:t>
            </a:r>
          </a:p>
          <a:p>
            <a:r>
              <a:t>DEAL PROFILE: ACV $0–$6k (self-serve). Sales cycle: minutes to days. Credit card conversion. PLG bottom-up path into enterprise accounts.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DATA SOURCES — Slide 10 (Prosumer)</a:t>
            </a:r>
          </a:p>
          <a:p/>
          <a:p>
            <a:r>
              <a:t>Average company uses 101+ apps — first time crossing 100 (Okta Businesses at Work 2025).</a:t>
            </a:r>
          </a:p>
          <a:p>
            <a:r>
              <a:t>Workers toggle between 10 apps 25 times/day (Speakwise 2026).</a:t>
            </a:r>
          </a:p>
          <a:p>
            <a:r>
              <a:t>60% of knowledge-worker time spent on 'work about work' (Asana/Speakwise 2026).</a:t>
            </a:r>
          </a:p>
          <a:p>
            <a:r>
              <a:t>59 min/day lost searching for information across tools (Speakwise 2026).</a:t>
            </a:r>
          </a:p>
          <a:p>
            <a:r>
              <a:t>45% of workers say context switching makes them less productive (Speakwise 2026).</a:t>
            </a:r>
          </a:p>
          <a:p>
            <a:r>
              <a:t>$300B SaaS spend globally in 2025; ~30% ($90B) wasted on unused/redundant tools (Speakwise 2026).</a:t>
            </a:r>
          </a:p>
          <a:p>
            <a:r>
              <a:t>DEAL PROFILE: ACV $240–$1,200/year (self-serve). Sales cycle: same day. High-volume, low-touch. Conversion is product-driven (activation event within 5 minutes).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DATA — Slide 11</a:t>
            </a:r>
          </a:p>
          <a:p>
            <a:r>
              <a:t>Enterprise AI: $107.16B (2025) → $641.47B by 2035, 19.6% CAGR (Acumen Research 2025).</a:t>
            </a:r>
          </a:p>
          <a:p>
            <a:r>
              <a:t>BFSI: 23.67% market share (Mordor Intelligence). Healthcare AI: ~$1.4B in 2025, tripling 2024 (Menlo Ventures).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DATA — Slide 20</a:t>
            </a:r>
          </a:p>
          <a:p>
            <a:r>
              <a:t>81% higher ROI vs non-ABM (AdRoll 2026). +26% win rates, +33% deal sizes (RevvGrowth 2026).</a:t>
            </a:r>
          </a:p>
          <a:p>
            <a:r>
              <a:t>7:1 ROI for top programs (Digital Applied 2026). 82% of B2B companies run ABM (G2 2024). +208% revenue impact.</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DATA — Slide 27</a:t>
            </a:r>
          </a:p>
          <a:p>
            <a:r>
              <a:t>Veeva: raised $3M, ~80% pharma CRM market share, $2.4B ARR, $34B market cap. Won top-20 life sciences within 5 years (SaaStr, EuropeanTech 2025).</a:t>
            </a:r>
          </a:p>
          <a:p>
            <a:r>
              <a:t>Legal AI: $3.11B (2025) → $10.82B by 2030 at 28.3% CAGR (MarketsandMarkets).</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BENCHMARKS — Slide 30</a:t>
            </a:r>
          </a:p>
          <a:p>
            <a:r>
              <a:t>Activated Signups: median 18.5%, top quartile 35-45%, vertical SaaS 25-40%.</a:t>
            </a:r>
          </a:p>
          <a:p>
            <a:r>
              <a:t>SQLs: PQLs convert at 3× MQL rate. ABM: 5-9× ROI for mature programs.</a:t>
            </a:r>
          </a:p>
          <a:p>
            <a:r>
              <a:t>Benchmark source: ProductLed, FirstPageSage, RevvGrowth 2025-2026.</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slideLayout" Target="../slideLayouts/slideLayout1.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0E10"/>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788C5D"/>
          </a:solidFill>
          <a:ln/>
        </p:spPr>
      </p:sp>
      <p:sp>
        <p:nvSpPr>
          <p:cNvPr id="3" name="Text 1"/>
          <p:cNvSpPr/>
          <p:nvPr/>
        </p:nvSpPr>
        <p:spPr>
          <a:xfrm>
            <a:off x="640080" y="1371600"/>
            <a:ext cx="7315200" cy="457200"/>
          </a:xfrm>
          <a:prstGeom prst="rect">
            <a:avLst/>
          </a:prstGeom>
          <a:noFill/>
          <a:ln/>
        </p:spPr>
        <p:txBody>
          <a:bodyPr wrap="square" rtlCol="0" anchor="ctr"/>
          <a:lstStyle/>
          <a:p>
            <a:pPr indent="0" marL="0">
              <a:buNone/>
            </a:pPr>
            <a:r>
              <a:rPr lang="en-US" sz="1500" b="1" spc="1000" kern="0" dirty="0">
                <a:solidFill>
                  <a:srgbClr val="788C5D"/>
                </a:solidFill>
                <a:latin typeface="Arial" pitchFamily="34" charset="0"/>
                <a:ea typeface="Arial" pitchFamily="34" charset="-122"/>
                <a:cs typeface="Arial" pitchFamily="34" charset="-120"/>
              </a:rPr>
              <a:t>PREMAI</a:t>
            </a:r>
            <a:endParaRPr lang="en-US" sz="1500" dirty="0"/>
          </a:p>
        </p:txBody>
      </p:sp>
      <p:sp>
        <p:nvSpPr>
          <p:cNvPr id="4" name="Text 2"/>
          <p:cNvSpPr/>
          <p:nvPr/>
        </p:nvSpPr>
        <p:spPr>
          <a:xfrm>
            <a:off x="640080" y="1920240"/>
            <a:ext cx="10972800" cy="1097280"/>
          </a:xfrm>
          <a:prstGeom prst="rect">
            <a:avLst/>
          </a:prstGeom>
          <a:noFill/>
          <a:ln/>
        </p:spPr>
        <p:txBody>
          <a:bodyPr wrap="square" rtlCol="0" anchor="ctr"/>
          <a:lstStyle/>
          <a:p>
            <a:pPr indent="0" marL="0">
              <a:buNone/>
            </a:pPr>
            <a:r>
              <a:rPr lang="en-US" sz="4400" dirty="0">
                <a:solidFill>
                  <a:srgbClr val="FFFFFF"/>
                </a:solidFill>
                <a:latin typeface="Georgia" pitchFamily="34" charset="0"/>
                <a:ea typeface="Georgia" pitchFamily="34" charset="-122"/>
                <a:cs typeface="Georgia" pitchFamily="34" charset="-120"/>
              </a:rPr>
              <a:t>Brand &amp; Go-To-Market Strategy</a:t>
            </a:r>
            <a:endParaRPr lang="en-US" sz="4400" dirty="0"/>
          </a:p>
        </p:txBody>
      </p:sp>
      <p:sp>
        <p:nvSpPr>
          <p:cNvPr id="5" name="Shape 3"/>
          <p:cNvSpPr/>
          <p:nvPr/>
        </p:nvSpPr>
        <p:spPr>
          <a:xfrm>
            <a:off x="658368" y="3200400"/>
            <a:ext cx="2743200" cy="27432"/>
          </a:xfrm>
          <a:prstGeom prst="rect">
            <a:avLst/>
          </a:prstGeom>
          <a:solidFill>
            <a:srgbClr val="C2703D"/>
          </a:solidFill>
          <a:ln/>
        </p:spPr>
      </p:sp>
      <p:sp>
        <p:nvSpPr>
          <p:cNvPr id="6" name="Text 4"/>
          <p:cNvSpPr/>
          <p:nvPr/>
        </p:nvSpPr>
        <p:spPr>
          <a:xfrm>
            <a:off x="640080" y="3429000"/>
            <a:ext cx="9144000" cy="731520"/>
          </a:xfrm>
          <a:prstGeom prst="rect">
            <a:avLst/>
          </a:prstGeom>
          <a:noFill/>
          <a:ln/>
        </p:spPr>
        <p:txBody>
          <a:bodyPr wrap="square" rtlCol="0" anchor="ctr"/>
          <a:lstStyle/>
          <a:p>
            <a:pPr indent="0" marL="0">
              <a:lnSpc>
                <a:spcPct val="130000"/>
              </a:lnSpc>
              <a:buNone/>
            </a:pPr>
            <a:r>
              <a:rPr lang="en-US" sz="1500" dirty="0">
                <a:solidFill>
                  <a:srgbClr val="9A9A93"/>
                </a:solidFill>
                <a:latin typeface="Arial" pitchFamily="34" charset="0"/>
                <a:ea typeface="Arial" pitchFamily="34" charset="-122"/>
                <a:cs typeface="Arial" pitchFamily="34" charset="-120"/>
              </a:rPr>
              <a:t>Personas, positioning, the verticalization wedge, and the full channel engine across a hybrid PLG and sales-led motion.</a:t>
            </a:r>
            <a:endParaRPr lang="en-US" sz="1500" dirty="0"/>
          </a:p>
        </p:txBody>
      </p:sp>
      <p:sp>
        <p:nvSpPr>
          <p:cNvPr id="7" name="Text 5"/>
          <p:cNvSpPr/>
          <p:nvPr/>
        </p:nvSpPr>
        <p:spPr>
          <a:xfrm>
            <a:off x="640080" y="6035040"/>
            <a:ext cx="10058400" cy="365760"/>
          </a:xfrm>
          <a:prstGeom prst="rect">
            <a:avLst/>
          </a:prstGeom>
          <a:noFill/>
          <a:ln/>
        </p:spPr>
        <p:txBody>
          <a:bodyPr wrap="square" rtlCol="0" anchor="ctr"/>
          <a:lstStyle/>
          <a:p>
            <a:pPr indent="0" marL="0">
              <a:buNone/>
            </a:pPr>
            <a:r>
              <a:rPr lang="en-US" sz="1200" dirty="0">
                <a:solidFill>
                  <a:srgbClr val="5B5F63"/>
                </a:solidFill>
                <a:latin typeface="Arial" pitchFamily="34" charset="0"/>
                <a:ea typeface="Arial" pitchFamily="34" charset="-122"/>
                <a:cs typeface="Arial" pitchFamily="34" charset="-120"/>
              </a:rPr>
              <a:t>Prepared by Yash Ranka, Marketing &amp; Growth  |  June 2026  |  Working strategy</a:t>
            </a:r>
            <a:endParaRPr lang="en-US" sz="1200" dirty="0"/>
          </a:p>
        </p:txBody>
      </p:sp>
      <p:sp>
        <p:nvSpPr>
          <p:cNvPr id="8" name="Text 6"/>
          <p:cNvSpPr/>
          <p:nvPr/>
        </p:nvSpPr>
        <p:spPr>
          <a:xfrm>
            <a:off x="11460175" y="6446520"/>
            <a:ext cx="457200" cy="274320"/>
          </a:xfrm>
          <a:prstGeom prst="rect">
            <a:avLst/>
          </a:prstGeom>
          <a:noFill/>
          <a:ln/>
        </p:spPr>
        <p:txBody>
          <a:bodyPr wrap="square" rtlCol="0" anchor="ctr"/>
          <a:lstStyle/>
          <a:p>
            <a:pPr algn="r" indent="0" marL="0">
              <a:buNone/>
            </a:pPr>
            <a:r>
              <a:rPr lang="en-US" sz="1000" dirty="0">
                <a:solidFill>
                  <a:srgbClr val="9A9A93"/>
                </a:solidFill>
                <a:latin typeface="Arial" pitchFamily="34" charset="0"/>
                <a:ea typeface="Arial" pitchFamily="34" charset="-122"/>
                <a:cs typeface="Arial" pitchFamily="34" charset="-120"/>
              </a:rPr>
              <a:t>1</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9F5"/>
        </a:solidFill>
      </p:bgPr>
    </p:bg>
    <p:spTree>
      <p:nvGrpSpPr>
        <p:cNvPr id="1" name=""/>
        <p:cNvGrpSpPr/>
        <p:nvPr/>
      </p:nvGrpSpPr>
      <p:grpSpPr>
        <a:xfrm>
          <a:off x="0" y="0"/>
          <a:ext cx="0" cy="0"/>
          <a:chOff x="0" y="0"/>
          <a:chExt cx="0" cy="0"/>
        </a:xfrm>
      </p:grpSpPr>
      <p:sp>
        <p:nvSpPr>
          <p:cNvPr id="2" name="Text 0"/>
          <p:cNvSpPr/>
          <p:nvPr/>
        </p:nvSpPr>
        <p:spPr>
          <a:xfrm>
            <a:off x="640080" y="411480"/>
            <a:ext cx="10058400" cy="274320"/>
          </a:xfrm>
          <a:prstGeom prst="rect">
            <a:avLst/>
          </a:prstGeom>
          <a:noFill/>
          <a:ln/>
        </p:spPr>
        <p:txBody>
          <a:bodyPr wrap="square" rtlCol="0" anchor="ctr"/>
          <a:lstStyle/>
          <a:p>
            <a:pPr indent="0" marL="0">
              <a:buNone/>
            </a:pPr>
            <a:r>
              <a:rPr lang="en-US" sz="1100" b="1" spc="500" kern="0" dirty="0">
                <a:solidFill>
                  <a:srgbClr val="788C5D"/>
                </a:solidFill>
                <a:latin typeface="Arial" pitchFamily="34" charset="0"/>
                <a:ea typeface="Arial" pitchFamily="34" charset="-122"/>
                <a:cs typeface="Arial" pitchFamily="34" charset="-120"/>
              </a:rPr>
              <a:t>THE STRATEGIC CONTEXT</a:t>
            </a:r>
            <a:endParaRPr lang="en-US" sz="1100" dirty="0"/>
          </a:p>
        </p:txBody>
      </p:sp>
      <p:sp>
        <p:nvSpPr>
          <p:cNvPr id="3" name="Text 1"/>
          <p:cNvSpPr/>
          <p:nvPr/>
        </p:nvSpPr>
        <p:spPr>
          <a:xfrm>
            <a:off x="640080" y="658368"/>
            <a:ext cx="10972800" cy="640080"/>
          </a:xfrm>
          <a:prstGeom prst="rect">
            <a:avLst/>
          </a:prstGeom>
          <a:noFill/>
          <a:ln/>
        </p:spPr>
        <p:txBody>
          <a:bodyPr wrap="square" rtlCol="0" anchor="ctr"/>
          <a:lstStyle/>
          <a:p>
            <a:pPr indent="0" marL="0">
              <a:buNone/>
            </a:pPr>
            <a:r>
              <a:rPr lang="en-US" sz="2900" dirty="0">
                <a:solidFill>
                  <a:srgbClr val="0E0E10"/>
                </a:solidFill>
                <a:latin typeface="Georgia" pitchFamily="34" charset="0"/>
                <a:ea typeface="Georgia" pitchFamily="34" charset="-122"/>
                <a:cs typeface="Georgia" pitchFamily="34" charset="-120"/>
              </a:rPr>
              <a:t>Where We Play, and Why We Can Win</a:t>
            </a:r>
            <a:endParaRPr lang="en-US" sz="2900" dirty="0"/>
          </a:p>
        </p:txBody>
      </p:sp>
      <p:sp>
        <p:nvSpPr>
          <p:cNvPr id="4" name="Text 2"/>
          <p:cNvSpPr/>
          <p:nvPr/>
        </p:nvSpPr>
        <p:spPr>
          <a:xfrm>
            <a:off x="11460175" y="6446520"/>
            <a:ext cx="457200" cy="274320"/>
          </a:xfrm>
          <a:prstGeom prst="rect">
            <a:avLst/>
          </a:prstGeom>
          <a:noFill/>
          <a:ln/>
        </p:spPr>
        <p:txBody>
          <a:bodyPr wrap="square" rtlCol="0" anchor="ctr"/>
          <a:lstStyle/>
          <a:p>
            <a:pPr algn="r" indent="0" marL="0">
              <a:buNone/>
            </a:pPr>
            <a:r>
              <a:rPr lang="en-US" sz="1000" dirty="0">
                <a:solidFill>
                  <a:srgbClr val="9A9A93"/>
                </a:solidFill>
                <a:latin typeface="Arial" pitchFamily="34" charset="0"/>
                <a:ea typeface="Arial" pitchFamily="34" charset="-122"/>
                <a:cs typeface="Arial" pitchFamily="34" charset="-120"/>
              </a:rPr>
              <a:t>2</a:t>
            </a:r>
            <a:endParaRPr lang="en-US" sz="1000" dirty="0"/>
          </a:p>
        </p:txBody>
      </p:sp>
      <p:sp>
        <p:nvSpPr>
          <p:cNvPr id="5" name="Shape 3"/>
          <p:cNvSpPr/>
          <p:nvPr/>
        </p:nvSpPr>
        <p:spPr>
          <a:xfrm>
            <a:off x="640080" y="1325880"/>
            <a:ext cx="10908792" cy="777240"/>
          </a:xfrm>
          <a:prstGeom prst="rect">
            <a:avLst/>
          </a:prstGeom>
          <a:solidFill>
            <a:srgbClr val="0E0E10"/>
          </a:solidFill>
          <a:ln/>
        </p:spPr>
      </p:sp>
      <p:sp>
        <p:nvSpPr>
          <p:cNvPr id="6" name="Text 4"/>
          <p:cNvSpPr/>
          <p:nvPr/>
        </p:nvSpPr>
        <p:spPr>
          <a:xfrm>
            <a:off x="868680" y="1325880"/>
            <a:ext cx="10424160" cy="777240"/>
          </a:xfrm>
          <a:prstGeom prst="rect">
            <a:avLst/>
          </a:prstGeom>
          <a:noFill/>
          <a:ln/>
        </p:spPr>
        <p:txBody>
          <a:bodyPr wrap="square" rtlCol="0" anchor="ctr"/>
          <a:lstStyle/>
          <a:p>
            <a:pPr indent="0" marL="0">
              <a:buNone/>
            </a:pPr>
            <a:r>
              <a:rPr lang="en-US" sz="1400" i="1" dirty="0">
                <a:solidFill>
                  <a:srgbClr val="FFFFFF"/>
                </a:solidFill>
                <a:latin typeface="Georgia" pitchFamily="34" charset="0"/>
                <a:ea typeface="Georgia" pitchFamily="34" charset="-122"/>
                <a:cs typeface="Georgia" pitchFamily="34" charset="-120"/>
              </a:rPr>
              <a:t>The market has consolidated around three bets. None of them is ours to lose.</a:t>
            </a:r>
            <a:endParaRPr lang="en-US" sz="1400" dirty="0"/>
          </a:p>
        </p:txBody>
      </p:sp>
      <p:sp>
        <p:nvSpPr>
          <p:cNvPr id="7" name="Shape 5"/>
          <p:cNvSpPr/>
          <p:nvPr/>
        </p:nvSpPr>
        <p:spPr>
          <a:xfrm>
            <a:off x="640080" y="2331720"/>
            <a:ext cx="3520440" cy="1828800"/>
          </a:xfrm>
          <a:prstGeom prst="rect">
            <a:avLst/>
          </a:prstGeom>
          <a:solidFill>
            <a:srgbClr val="FFFFFF"/>
          </a:solidFill>
          <a:ln/>
          <a:effectLst>
            <a:outerShdw sx="100000" sy="100000" kx="0" ky="0" algn="bl" rotWithShape="0" blurRad="63500" dist="25400" dir="5400000">
              <a:srgbClr val="000000">
                <a:alpha val="10000"/>
              </a:srgbClr>
            </a:outerShdw>
          </a:effectLst>
        </p:spPr>
      </p:sp>
      <p:sp>
        <p:nvSpPr>
          <p:cNvPr id="8" name="Shape 6"/>
          <p:cNvSpPr/>
          <p:nvPr/>
        </p:nvSpPr>
        <p:spPr>
          <a:xfrm>
            <a:off x="640080" y="2331720"/>
            <a:ext cx="3520440" cy="54864"/>
          </a:xfrm>
          <a:prstGeom prst="rect">
            <a:avLst/>
          </a:prstGeom>
          <a:solidFill>
            <a:srgbClr val="185771"/>
          </a:solidFill>
          <a:ln/>
        </p:spPr>
      </p:sp>
      <p:sp>
        <p:nvSpPr>
          <p:cNvPr id="9" name="Text 7"/>
          <p:cNvSpPr/>
          <p:nvPr/>
        </p:nvSpPr>
        <p:spPr>
          <a:xfrm>
            <a:off x="841248" y="2487168"/>
            <a:ext cx="3108960" cy="365760"/>
          </a:xfrm>
          <a:prstGeom prst="rect">
            <a:avLst/>
          </a:prstGeom>
          <a:noFill/>
          <a:ln/>
        </p:spPr>
        <p:txBody>
          <a:bodyPr wrap="square" rtlCol="0" anchor="ctr"/>
          <a:lstStyle/>
          <a:p>
            <a:pPr indent="0" marL="0">
              <a:buNone/>
            </a:pPr>
            <a:r>
              <a:rPr lang="en-US" sz="1600" b="1" dirty="0">
                <a:solidFill>
                  <a:srgbClr val="0E0E10"/>
                </a:solidFill>
                <a:latin typeface="Georgia" pitchFamily="34" charset="0"/>
                <a:ea typeface="Georgia" pitchFamily="34" charset="-122"/>
                <a:cs typeface="Georgia" pitchFamily="34" charset="-120"/>
              </a:rPr>
              <a:t>Anthropic</a:t>
            </a:r>
            <a:endParaRPr lang="en-US" sz="1600" dirty="0"/>
          </a:p>
        </p:txBody>
      </p:sp>
      <p:sp>
        <p:nvSpPr>
          <p:cNvPr id="10" name="Text 8"/>
          <p:cNvSpPr/>
          <p:nvPr/>
        </p:nvSpPr>
        <p:spPr>
          <a:xfrm>
            <a:off x="841248" y="2852928"/>
            <a:ext cx="3108960" cy="320040"/>
          </a:xfrm>
          <a:prstGeom prst="rect">
            <a:avLst/>
          </a:prstGeom>
          <a:noFill/>
          <a:ln/>
        </p:spPr>
        <p:txBody>
          <a:bodyPr wrap="square" rtlCol="0" anchor="ctr"/>
          <a:lstStyle/>
          <a:p>
            <a:pPr indent="0" marL="0">
              <a:buNone/>
            </a:pPr>
            <a:r>
              <a:rPr lang="en-US" sz="1250" b="1" dirty="0">
                <a:solidFill>
                  <a:srgbClr val="185771"/>
                </a:solidFill>
                <a:latin typeface="Arial" pitchFamily="34" charset="0"/>
                <a:ea typeface="Arial" pitchFamily="34" charset="-122"/>
                <a:cs typeface="Arial" pitchFamily="34" charset="-120"/>
              </a:rPr>
              <a:t>Safety as infrastructure.</a:t>
            </a:r>
            <a:endParaRPr lang="en-US" sz="1250" dirty="0"/>
          </a:p>
        </p:txBody>
      </p:sp>
      <p:sp>
        <p:nvSpPr>
          <p:cNvPr id="11" name="Text 9"/>
          <p:cNvSpPr/>
          <p:nvPr/>
        </p:nvSpPr>
        <p:spPr>
          <a:xfrm>
            <a:off x="841248" y="3200400"/>
            <a:ext cx="3154680" cy="914400"/>
          </a:xfrm>
          <a:prstGeom prst="rect">
            <a:avLst/>
          </a:prstGeom>
          <a:noFill/>
          <a:ln/>
        </p:spPr>
        <p:txBody>
          <a:bodyPr wrap="square" rtlCol="0" anchor="ctr"/>
          <a:lstStyle/>
          <a:p>
            <a:pPr indent="0" marL="0">
              <a:lnSpc>
                <a:spcPct val="120000"/>
              </a:lnSpc>
              <a:buNone/>
            </a:pPr>
            <a:r>
              <a:rPr lang="en-US" sz="1100" dirty="0">
                <a:solidFill>
                  <a:srgbClr val="5B5F63"/>
                </a:solidFill>
                <a:latin typeface="Arial" pitchFamily="34" charset="0"/>
                <a:ea typeface="Arial" pitchFamily="34" charset="-122"/>
                <a:cs typeface="Arial" pitchFamily="34" charset="-120"/>
              </a:rPr>
              <a:t>Trust as a procurement advantage. Enterprise-led, vertical products, ad-free as a loud differentiator.</a:t>
            </a:r>
            <a:endParaRPr lang="en-US" sz="1100" dirty="0"/>
          </a:p>
        </p:txBody>
      </p:sp>
      <p:sp>
        <p:nvSpPr>
          <p:cNvPr id="12" name="Shape 10"/>
          <p:cNvSpPr/>
          <p:nvPr/>
        </p:nvSpPr>
        <p:spPr>
          <a:xfrm>
            <a:off x="4334256" y="2331720"/>
            <a:ext cx="3520440" cy="1828800"/>
          </a:xfrm>
          <a:prstGeom prst="rect">
            <a:avLst/>
          </a:prstGeom>
          <a:solidFill>
            <a:srgbClr val="FFFFFF"/>
          </a:solidFill>
          <a:ln/>
          <a:effectLst>
            <a:outerShdw sx="100000" sy="100000" kx="0" ky="0" algn="bl" rotWithShape="0" blurRad="806450000" dist="322580000" dir="324000000000">
              <a:srgbClr val="000000">
                <a:alpha val="1000000000"/>
              </a:srgbClr>
            </a:outerShdw>
          </a:effectLst>
        </p:spPr>
      </p:sp>
      <p:sp>
        <p:nvSpPr>
          <p:cNvPr id="13" name="Shape 11"/>
          <p:cNvSpPr/>
          <p:nvPr/>
        </p:nvSpPr>
        <p:spPr>
          <a:xfrm>
            <a:off x="4334256" y="2331720"/>
            <a:ext cx="3520440" cy="54864"/>
          </a:xfrm>
          <a:prstGeom prst="rect">
            <a:avLst/>
          </a:prstGeom>
          <a:solidFill>
            <a:srgbClr val="C2703D"/>
          </a:solidFill>
          <a:ln/>
        </p:spPr>
      </p:sp>
      <p:sp>
        <p:nvSpPr>
          <p:cNvPr id="14" name="Text 12"/>
          <p:cNvSpPr/>
          <p:nvPr/>
        </p:nvSpPr>
        <p:spPr>
          <a:xfrm>
            <a:off x="4535424" y="2487168"/>
            <a:ext cx="3108960" cy="365760"/>
          </a:xfrm>
          <a:prstGeom prst="rect">
            <a:avLst/>
          </a:prstGeom>
          <a:noFill/>
          <a:ln/>
        </p:spPr>
        <p:txBody>
          <a:bodyPr wrap="square" rtlCol="0" anchor="ctr"/>
          <a:lstStyle/>
          <a:p>
            <a:pPr indent="0" marL="0">
              <a:buNone/>
            </a:pPr>
            <a:r>
              <a:rPr lang="en-US" sz="1600" b="1" dirty="0">
                <a:solidFill>
                  <a:srgbClr val="0E0E10"/>
                </a:solidFill>
                <a:latin typeface="Georgia" pitchFamily="34" charset="0"/>
                <a:ea typeface="Georgia" pitchFamily="34" charset="-122"/>
                <a:cs typeface="Georgia" pitchFamily="34" charset="-120"/>
              </a:rPr>
              <a:t>OpenAI</a:t>
            </a:r>
            <a:endParaRPr lang="en-US" sz="1600" dirty="0"/>
          </a:p>
        </p:txBody>
      </p:sp>
      <p:sp>
        <p:nvSpPr>
          <p:cNvPr id="15" name="Text 13"/>
          <p:cNvSpPr/>
          <p:nvPr/>
        </p:nvSpPr>
        <p:spPr>
          <a:xfrm>
            <a:off x="4535424" y="2852928"/>
            <a:ext cx="3108960" cy="320040"/>
          </a:xfrm>
          <a:prstGeom prst="rect">
            <a:avLst/>
          </a:prstGeom>
          <a:noFill/>
          <a:ln/>
        </p:spPr>
        <p:txBody>
          <a:bodyPr wrap="square" rtlCol="0" anchor="ctr"/>
          <a:lstStyle/>
          <a:p>
            <a:pPr indent="0" marL="0">
              <a:buNone/>
            </a:pPr>
            <a:r>
              <a:rPr lang="en-US" sz="1250" b="1" dirty="0">
                <a:solidFill>
                  <a:srgbClr val="C2703D"/>
                </a:solidFill>
                <a:latin typeface="Arial" pitchFamily="34" charset="0"/>
                <a:ea typeface="Arial" pitchFamily="34" charset="-122"/>
                <a:cs typeface="Arial" pitchFamily="34" charset="-120"/>
              </a:rPr>
              <a:t>Vertical integration.</a:t>
            </a:r>
            <a:endParaRPr lang="en-US" sz="1250" dirty="0"/>
          </a:p>
        </p:txBody>
      </p:sp>
      <p:sp>
        <p:nvSpPr>
          <p:cNvPr id="16" name="Text 14"/>
          <p:cNvSpPr/>
          <p:nvPr/>
        </p:nvSpPr>
        <p:spPr>
          <a:xfrm>
            <a:off x="4535424" y="3200400"/>
            <a:ext cx="3154680" cy="914400"/>
          </a:xfrm>
          <a:prstGeom prst="rect">
            <a:avLst/>
          </a:prstGeom>
          <a:noFill/>
          <a:ln/>
        </p:spPr>
        <p:txBody>
          <a:bodyPr wrap="square" rtlCol="0" anchor="ctr"/>
          <a:lstStyle/>
          <a:p>
            <a:pPr indent="0" marL="0">
              <a:lnSpc>
                <a:spcPct val="120000"/>
              </a:lnSpc>
              <a:buNone/>
            </a:pPr>
            <a:r>
              <a:rPr lang="en-US" sz="1100" dirty="0">
                <a:solidFill>
                  <a:srgbClr val="5B5F63"/>
                </a:solidFill>
                <a:latin typeface="Arial" pitchFamily="34" charset="0"/>
                <a:ea typeface="Arial" pitchFamily="34" charset="-122"/>
                <a:cs typeface="Arial" pitchFamily="34" charset="-120"/>
              </a:rPr>
              <a:t>The consumer default. Now ad-supported to monetize 800M+ users. Reach over trust.</a:t>
            </a:r>
            <a:endParaRPr lang="en-US" sz="1100" dirty="0"/>
          </a:p>
        </p:txBody>
      </p:sp>
      <p:sp>
        <p:nvSpPr>
          <p:cNvPr id="17" name="Shape 15"/>
          <p:cNvSpPr/>
          <p:nvPr/>
        </p:nvSpPr>
        <p:spPr>
          <a:xfrm>
            <a:off x="8028432" y="2331720"/>
            <a:ext cx="3520440" cy="1828800"/>
          </a:xfrm>
          <a:prstGeom prst="rect">
            <a:avLst/>
          </a:prstGeom>
          <a:solidFill>
            <a:srgbClr val="FFFFFF"/>
          </a:solidFill>
          <a:ln/>
          <a:effectLst>
            <a:outerShdw sx="100000" sy="100000" kx="0" ky="0" algn="bl" rotWithShape="0" blurRad="10241915000000" dist="4096766000000" dir="19440000000000000">
              <a:srgbClr val="000000">
                <a:alpha val="100000000000000"/>
              </a:srgbClr>
            </a:outerShdw>
          </a:effectLst>
        </p:spPr>
      </p:sp>
      <p:sp>
        <p:nvSpPr>
          <p:cNvPr id="18" name="Shape 16"/>
          <p:cNvSpPr/>
          <p:nvPr/>
        </p:nvSpPr>
        <p:spPr>
          <a:xfrm>
            <a:off x="8028432" y="2331720"/>
            <a:ext cx="3520440" cy="54864"/>
          </a:xfrm>
          <a:prstGeom prst="rect">
            <a:avLst/>
          </a:prstGeom>
          <a:solidFill>
            <a:srgbClr val="788C5D"/>
          </a:solidFill>
          <a:ln/>
        </p:spPr>
      </p:sp>
      <p:sp>
        <p:nvSpPr>
          <p:cNvPr id="19" name="Text 17"/>
          <p:cNvSpPr/>
          <p:nvPr/>
        </p:nvSpPr>
        <p:spPr>
          <a:xfrm>
            <a:off x="8229600" y="2487168"/>
            <a:ext cx="3108960" cy="365760"/>
          </a:xfrm>
          <a:prstGeom prst="rect">
            <a:avLst/>
          </a:prstGeom>
          <a:noFill/>
          <a:ln/>
        </p:spPr>
        <p:txBody>
          <a:bodyPr wrap="square" rtlCol="0" anchor="ctr"/>
          <a:lstStyle/>
          <a:p>
            <a:pPr indent="0" marL="0">
              <a:buNone/>
            </a:pPr>
            <a:r>
              <a:rPr lang="en-US" sz="1600" b="1" dirty="0">
                <a:solidFill>
                  <a:srgbClr val="0E0E10"/>
                </a:solidFill>
                <a:latin typeface="Georgia" pitchFamily="34" charset="0"/>
                <a:ea typeface="Georgia" pitchFamily="34" charset="-122"/>
                <a:cs typeface="Georgia" pitchFamily="34" charset="-120"/>
              </a:rPr>
              <a:t>Google</a:t>
            </a:r>
            <a:endParaRPr lang="en-US" sz="1600" dirty="0"/>
          </a:p>
        </p:txBody>
      </p:sp>
      <p:sp>
        <p:nvSpPr>
          <p:cNvPr id="20" name="Text 18"/>
          <p:cNvSpPr/>
          <p:nvPr/>
        </p:nvSpPr>
        <p:spPr>
          <a:xfrm>
            <a:off x="8229600" y="2852928"/>
            <a:ext cx="3108960" cy="320040"/>
          </a:xfrm>
          <a:prstGeom prst="rect">
            <a:avLst/>
          </a:prstGeom>
          <a:noFill/>
          <a:ln/>
        </p:spPr>
        <p:txBody>
          <a:bodyPr wrap="square" rtlCol="0" anchor="ctr"/>
          <a:lstStyle/>
          <a:p>
            <a:pPr indent="0" marL="0">
              <a:buNone/>
            </a:pPr>
            <a:r>
              <a:rPr lang="en-US" sz="1250" b="1" dirty="0">
                <a:solidFill>
                  <a:srgbClr val="788C5D"/>
                </a:solidFill>
                <a:latin typeface="Arial" pitchFamily="34" charset="0"/>
                <a:ea typeface="Arial" pitchFamily="34" charset="-122"/>
                <a:cs typeface="Arial" pitchFamily="34" charset="-120"/>
              </a:rPr>
              <a:t>Platform depth.</a:t>
            </a:r>
            <a:endParaRPr lang="en-US" sz="1250" dirty="0"/>
          </a:p>
        </p:txBody>
      </p:sp>
      <p:sp>
        <p:nvSpPr>
          <p:cNvPr id="21" name="Text 19"/>
          <p:cNvSpPr/>
          <p:nvPr/>
        </p:nvSpPr>
        <p:spPr>
          <a:xfrm>
            <a:off x="8229600" y="3200400"/>
            <a:ext cx="3154680" cy="914400"/>
          </a:xfrm>
          <a:prstGeom prst="rect">
            <a:avLst/>
          </a:prstGeom>
          <a:noFill/>
          <a:ln/>
        </p:spPr>
        <p:txBody>
          <a:bodyPr wrap="square" rtlCol="0" anchor="ctr"/>
          <a:lstStyle/>
          <a:p>
            <a:pPr indent="0" marL="0">
              <a:lnSpc>
                <a:spcPct val="120000"/>
              </a:lnSpc>
              <a:buNone/>
            </a:pPr>
            <a:r>
              <a:rPr lang="en-US" sz="1100" dirty="0">
                <a:solidFill>
                  <a:srgbClr val="5B5F63"/>
                </a:solidFill>
                <a:latin typeface="Arial" pitchFamily="34" charset="0"/>
                <a:ea typeface="Arial" pitchFamily="34" charset="-122"/>
                <a:cs typeface="Arial" pitchFamily="34" charset="-120"/>
              </a:rPr>
              <a:t>Distribution wins. Gemini bundled into Workspace. You get it because you already pay Google.</a:t>
            </a:r>
            <a:endParaRPr lang="en-US" sz="1100" dirty="0"/>
          </a:p>
        </p:txBody>
      </p:sp>
      <p:sp>
        <p:nvSpPr>
          <p:cNvPr id="22" name="Shape 20"/>
          <p:cNvSpPr/>
          <p:nvPr/>
        </p:nvSpPr>
        <p:spPr>
          <a:xfrm>
            <a:off x="640080" y="4434840"/>
            <a:ext cx="10908792" cy="1417320"/>
          </a:xfrm>
          <a:prstGeom prst="rect">
            <a:avLst/>
          </a:prstGeom>
          <a:solidFill>
            <a:srgbClr val="17171B"/>
          </a:solidFill>
          <a:ln/>
        </p:spPr>
      </p:sp>
      <p:sp>
        <p:nvSpPr>
          <p:cNvPr id="23" name="Text 21"/>
          <p:cNvSpPr/>
          <p:nvPr/>
        </p:nvSpPr>
        <p:spPr>
          <a:xfrm>
            <a:off x="868680" y="4572000"/>
            <a:ext cx="5486400" cy="274320"/>
          </a:xfrm>
          <a:prstGeom prst="rect">
            <a:avLst/>
          </a:prstGeom>
          <a:noFill/>
          <a:ln/>
        </p:spPr>
        <p:txBody>
          <a:bodyPr wrap="square" rtlCol="0" anchor="ctr"/>
          <a:lstStyle/>
          <a:p>
            <a:pPr indent="0" marL="0">
              <a:buNone/>
            </a:pPr>
            <a:r>
              <a:rPr lang="en-US" sz="1100" b="1" spc="300" kern="0" dirty="0">
                <a:solidFill>
                  <a:srgbClr val="788C5D"/>
                </a:solidFill>
                <a:latin typeface="Arial" pitchFamily="34" charset="0"/>
                <a:ea typeface="Arial" pitchFamily="34" charset="-122"/>
                <a:cs typeface="Arial" pitchFamily="34" charset="-120"/>
              </a:rPr>
              <a:t>THE PREM WEDGE</a:t>
            </a:r>
            <a:endParaRPr lang="en-US" sz="1100" dirty="0"/>
          </a:p>
        </p:txBody>
      </p:sp>
      <p:sp>
        <p:nvSpPr>
          <p:cNvPr id="24" name="Text 22"/>
          <p:cNvSpPr/>
          <p:nvPr/>
        </p:nvSpPr>
        <p:spPr>
          <a:xfrm>
            <a:off x="868680" y="4864608"/>
            <a:ext cx="10424160" cy="914400"/>
          </a:xfrm>
          <a:prstGeom prst="rect">
            <a:avLst/>
          </a:prstGeom>
          <a:noFill/>
          <a:ln/>
        </p:spPr>
        <p:txBody>
          <a:bodyPr wrap="square" rtlCol="0" anchor="ctr"/>
          <a:lstStyle/>
          <a:p>
            <a:pPr indent="0" marL="0">
              <a:lnSpc>
                <a:spcPct val="130000"/>
              </a:lnSpc>
              <a:buNone/>
            </a:pPr>
            <a:r>
              <a:rPr lang="en-US" sz="1300" dirty="0">
                <a:solidFill>
                  <a:srgbClr val="ECEAE1"/>
                </a:solidFill>
                <a:latin typeface="Arial" pitchFamily="34" charset="0"/>
                <a:ea typeface="Arial" pitchFamily="34" charset="-122"/>
                <a:cs typeface="Arial" pitchFamily="34" charset="-120"/>
              </a:rPr>
              <a:t>Not one of the three leads on verifiable, cryptographic privacy. Anthropic answers the 'my data is being mined' fear with a policy promise. We answer it with a hardware guarantee. We win the way Anthropic did, trust as a procurement advantage, but we go narrow first: prove it in one vertical, then expand.</a:t>
            </a:r>
            <a:endParaRPr lang="en-US" sz="1300" dirty="0"/>
          </a:p>
        </p:txBody>
      </p:sp>
      <p:sp>
        <p:nvSpPr>
          <p:cNvPr id="25" name="TextBox 24"/>
          <p:cNvSpPr txBox="1"/>
          <p:nvPr/>
        </p:nvSpPr>
        <p:spPr>
          <a:xfrm>
            <a:off x="640080" y="5833872"/>
            <a:ext cx="10908792" cy="512064"/>
          </a:xfrm>
          <a:prstGeom prst="rect">
            <a:avLst/>
          </a:prstGeom>
          <a:solidFill>
            <a:srgbClr val="DBEAFE"/>
          </a:solidFill>
          <a:ln w="12700">
            <a:solidFill>
              <a:srgbClr val="1E3A8A"/>
            </a:solidFill>
          </a:ln>
        </p:spPr>
        <p:txBody>
          <a:bodyPr wrap="square">
            <a:spAutoFit/>
          </a:bodyPr>
          <a:lstStyle/>
          <a:p>
            <a:pPr algn="l"/>
            <a:r>
              <a:rPr sz="850" b="1">
                <a:solidFill>
                  <a:srgbClr val="1E3A8A"/>
                </a:solidFill>
              </a:rPr>
              <a:t>DATA  </a:t>
            </a:r>
            <a:r>
              <a:rPr sz="850" b="0">
                <a:solidFill>
                  <a:srgbClr val="111827"/>
                </a:solidFill>
              </a:rPr>
              <a:t>Sovereign cloud: $155B (2025) → $1.3T by 2034 (+27% CAGR). Confidential computing: $9.3B → $15.2B in 2026. AI governance &amp; compliance: $2.2B (2025) → $11B by 2036 (+15.8% CAGR). [Mordor Intelligence / Grand View Research / FMI 2025]</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9F5"/>
        </a:solidFill>
      </p:bgPr>
    </p:bg>
    <p:spTree>
      <p:nvGrpSpPr>
        <p:cNvPr id="1" name=""/>
        <p:cNvGrpSpPr/>
        <p:nvPr/>
      </p:nvGrpSpPr>
      <p:grpSpPr>
        <a:xfrm>
          <a:off x="0" y="0"/>
          <a:ext cx="0" cy="0"/>
          <a:chOff x="0" y="0"/>
          <a:chExt cx="0" cy="0"/>
        </a:xfrm>
      </p:grpSpPr>
      <p:sp>
        <p:nvSpPr>
          <p:cNvPr id="2" name="Text 0"/>
          <p:cNvSpPr/>
          <p:nvPr/>
        </p:nvSpPr>
        <p:spPr>
          <a:xfrm>
            <a:off x="640080" y="411480"/>
            <a:ext cx="10058400" cy="274320"/>
          </a:xfrm>
          <a:prstGeom prst="rect">
            <a:avLst/>
          </a:prstGeom>
          <a:noFill/>
          <a:ln/>
        </p:spPr>
        <p:txBody>
          <a:bodyPr wrap="square" rtlCol="0" anchor="ctr"/>
          <a:lstStyle/>
          <a:p>
            <a:pPr indent="0" marL="0">
              <a:buNone/>
            </a:pPr>
            <a:r>
              <a:rPr lang="en-US" sz="1100" b="1" spc="500" kern="0" dirty="0">
                <a:solidFill>
                  <a:srgbClr val="788C5D"/>
                </a:solidFill>
                <a:latin typeface="Arial" pitchFamily="34" charset="0"/>
                <a:ea typeface="Arial" pitchFamily="34" charset="-122"/>
                <a:cs typeface="Arial" pitchFamily="34" charset="-120"/>
              </a:rPr>
              <a:t>THE GTM THESIS</a:t>
            </a:r>
            <a:endParaRPr lang="en-US" sz="1100" dirty="0"/>
          </a:p>
        </p:txBody>
      </p:sp>
      <p:sp>
        <p:nvSpPr>
          <p:cNvPr id="3" name="Text 1"/>
          <p:cNvSpPr/>
          <p:nvPr/>
        </p:nvSpPr>
        <p:spPr>
          <a:xfrm>
            <a:off x="640080" y="658368"/>
            <a:ext cx="10972800" cy="640080"/>
          </a:xfrm>
          <a:prstGeom prst="rect">
            <a:avLst/>
          </a:prstGeom>
          <a:noFill/>
          <a:ln/>
        </p:spPr>
        <p:txBody>
          <a:bodyPr wrap="square" rtlCol="0" anchor="ctr"/>
          <a:lstStyle/>
          <a:p>
            <a:pPr indent="0" marL="0">
              <a:buNone/>
            </a:pPr>
            <a:r>
              <a:rPr lang="en-US" sz="2900" dirty="0">
                <a:solidFill>
                  <a:srgbClr val="0E0E10"/>
                </a:solidFill>
                <a:latin typeface="Georgia" pitchFamily="34" charset="0"/>
                <a:ea typeface="Georgia" pitchFamily="34" charset="-122"/>
                <a:cs typeface="Georgia" pitchFamily="34" charset="-120"/>
              </a:rPr>
              <a:t>Two Engines, One Company</a:t>
            </a:r>
            <a:endParaRPr lang="en-US" sz="2900" dirty="0"/>
          </a:p>
        </p:txBody>
      </p:sp>
      <p:sp>
        <p:nvSpPr>
          <p:cNvPr id="4" name="Text 2"/>
          <p:cNvSpPr/>
          <p:nvPr/>
        </p:nvSpPr>
        <p:spPr>
          <a:xfrm>
            <a:off x="11460175" y="6446520"/>
            <a:ext cx="457200" cy="274320"/>
          </a:xfrm>
          <a:prstGeom prst="rect">
            <a:avLst/>
          </a:prstGeom>
          <a:noFill/>
          <a:ln/>
        </p:spPr>
        <p:txBody>
          <a:bodyPr wrap="square" rtlCol="0" anchor="ctr"/>
          <a:lstStyle/>
          <a:p>
            <a:pPr algn="r" indent="0" marL="0">
              <a:buNone/>
            </a:pPr>
            <a:r>
              <a:rPr lang="en-US" sz="1000" dirty="0">
                <a:solidFill>
                  <a:srgbClr val="9A9A93"/>
                </a:solidFill>
                <a:latin typeface="Arial" pitchFamily="34" charset="0"/>
                <a:ea typeface="Arial" pitchFamily="34" charset="-122"/>
                <a:cs typeface="Arial" pitchFamily="34" charset="-120"/>
              </a:rPr>
              <a:t>3</a:t>
            </a:r>
            <a:endParaRPr lang="en-US" sz="1000" dirty="0"/>
          </a:p>
        </p:txBody>
      </p:sp>
      <p:sp>
        <p:nvSpPr>
          <p:cNvPr id="5" name="Text 3"/>
          <p:cNvSpPr/>
          <p:nvPr/>
        </p:nvSpPr>
        <p:spPr>
          <a:xfrm>
            <a:off x="640080" y="1325880"/>
            <a:ext cx="10881360" cy="548640"/>
          </a:xfrm>
          <a:prstGeom prst="rect">
            <a:avLst/>
          </a:prstGeom>
          <a:noFill/>
          <a:ln/>
        </p:spPr>
        <p:txBody>
          <a:bodyPr wrap="square" rtlCol="0" anchor="ctr"/>
          <a:lstStyle/>
          <a:p>
            <a:pPr indent="0" marL="0">
              <a:lnSpc>
                <a:spcPct val="130000"/>
              </a:lnSpc>
              <a:buNone/>
            </a:pPr>
            <a:r>
              <a:rPr lang="en-US" sz="1350" dirty="0">
                <a:solidFill>
                  <a:srgbClr val="5B5F63"/>
                </a:solidFill>
                <a:latin typeface="Arial" pitchFamily="34" charset="0"/>
                <a:ea typeface="Arial" pitchFamily="34" charset="-122"/>
                <a:cs typeface="Arial" pitchFamily="34" charset="-120"/>
              </a:rPr>
              <a:t>We run a hybrid motion. Product-led growth pulls developers and individuals in from the bottom. Sales-led motion wins enterprise and vertical accounts from the top. Each engine feeds the other.</a:t>
            </a:r>
            <a:endParaRPr lang="en-US" sz="1350" dirty="0"/>
          </a:p>
        </p:txBody>
      </p:sp>
      <p:sp>
        <p:nvSpPr>
          <p:cNvPr id="6" name="Shape 4"/>
          <p:cNvSpPr/>
          <p:nvPr/>
        </p:nvSpPr>
        <p:spPr>
          <a:xfrm>
            <a:off x="640080" y="2057400"/>
            <a:ext cx="5394960" cy="2743200"/>
          </a:xfrm>
          <a:prstGeom prst="rect">
            <a:avLst/>
          </a:prstGeom>
          <a:solidFill>
            <a:srgbClr val="FFFFFF"/>
          </a:solidFill>
          <a:ln/>
          <a:effectLst>
            <a:outerShdw sx="100000" sy="100000" kx="0" ky="0" algn="bl" rotWithShape="0" blurRad="130072320500000000" dist="52028928200000000" dir="1.1664e+21">
              <a:srgbClr val="000000">
                <a:alpha val="10000000000000000000"/>
              </a:srgbClr>
            </a:outerShdw>
          </a:effectLst>
        </p:spPr>
      </p:sp>
      <p:sp>
        <p:nvSpPr>
          <p:cNvPr id="7" name="Shape 5"/>
          <p:cNvSpPr/>
          <p:nvPr/>
        </p:nvSpPr>
        <p:spPr>
          <a:xfrm>
            <a:off x="640080" y="2057400"/>
            <a:ext cx="5394960" cy="457200"/>
          </a:xfrm>
          <a:prstGeom prst="rect">
            <a:avLst/>
          </a:prstGeom>
          <a:solidFill>
            <a:srgbClr val="C2703D"/>
          </a:solidFill>
          <a:ln/>
        </p:spPr>
      </p:sp>
      <p:sp>
        <p:nvSpPr>
          <p:cNvPr id="8" name="Text 6"/>
          <p:cNvSpPr/>
          <p:nvPr/>
        </p:nvSpPr>
        <p:spPr>
          <a:xfrm>
            <a:off x="868680" y="2057400"/>
            <a:ext cx="4572000" cy="457200"/>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PRODUCT-LED  (PLG)</a:t>
            </a:r>
            <a:endParaRPr lang="en-US" sz="1400" dirty="0"/>
          </a:p>
        </p:txBody>
      </p:sp>
      <p:sp>
        <p:nvSpPr>
          <p:cNvPr id="9" name="Text 7"/>
          <p:cNvSpPr/>
          <p:nvPr/>
        </p:nvSpPr>
        <p:spPr>
          <a:xfrm>
            <a:off x="868680" y="2697480"/>
            <a:ext cx="4937760" cy="2011680"/>
          </a:xfrm>
          <a:prstGeom prst="rect">
            <a:avLst/>
          </a:prstGeom>
          <a:noFill/>
          <a:ln/>
        </p:spPr>
        <p:txBody>
          <a:bodyPr wrap="square" rtlCol="0" anchor="ctr"/>
          <a:lstStyle/>
          <a:p>
            <a:pPr marL="342900" indent="-342900">
              <a:lnSpc>
                <a:spcPct val="125000"/>
              </a:lnSpc>
              <a:spcAft>
                <a:spcPts val="800"/>
              </a:spcAft>
              <a:buSzPct val="100000"/>
              <a:buChar char="•"/>
            </a:pPr>
            <a:r>
              <a:rPr lang="en-US" sz="1200" dirty="0">
                <a:solidFill>
                  <a:srgbClr val="5B5F63"/>
                </a:solidFill>
                <a:latin typeface="Arial" pitchFamily="34" charset="0"/>
                <a:ea typeface="Arial" pitchFamily="34" charset="-122"/>
                <a:cs typeface="Arial" pitchFamily="34" charset="-120"/>
              </a:rPr>
              <a:t>For Fluso individuals, developers, and the API</a:t>
            </a:r>
            <a:endParaRPr lang="en-US" sz="1200" dirty="0"/>
          </a:p>
          <a:p>
            <a:pPr marL="342900" indent="-342900">
              <a:lnSpc>
                <a:spcPct val="125000"/>
              </a:lnSpc>
              <a:spcAft>
                <a:spcPts val="800"/>
              </a:spcAft>
              <a:buSzPct val="100000"/>
              <a:buChar char="•"/>
            </a:pPr>
            <a:r>
              <a:rPr lang="en-US" sz="1200" dirty="0">
                <a:solidFill>
                  <a:srgbClr val="5B5F63"/>
                </a:solidFill>
                <a:latin typeface="Arial" pitchFamily="34" charset="0"/>
                <a:ea typeface="Arial" pitchFamily="34" charset="-122"/>
                <a:cs typeface="Arial" pitchFamily="34" charset="-120"/>
              </a:rPr>
              <a:t>Free tier, self-serve, fast time-to-value</a:t>
            </a:r>
            <a:endParaRPr lang="en-US" sz="1200" dirty="0"/>
          </a:p>
          <a:p>
            <a:pPr marL="342900" indent="-342900">
              <a:lnSpc>
                <a:spcPct val="125000"/>
              </a:lnSpc>
              <a:spcAft>
                <a:spcPts val="800"/>
              </a:spcAft>
              <a:buSzPct val="100000"/>
              <a:buChar char="•"/>
            </a:pPr>
            <a:r>
              <a:rPr lang="en-US" sz="1200" dirty="0">
                <a:solidFill>
                  <a:srgbClr val="5B5F63"/>
                </a:solidFill>
                <a:latin typeface="Arial" pitchFamily="34" charset="0"/>
                <a:ea typeface="Arial" pitchFamily="34" charset="-122"/>
                <a:cs typeface="Arial" pitchFamily="34" charset="-120"/>
              </a:rPr>
              <a:t>Bottom-up: users adopt, then pull Prem into their company</a:t>
            </a:r>
            <a:endParaRPr lang="en-US" sz="1200" dirty="0"/>
          </a:p>
          <a:p>
            <a:pPr marL="342900" indent="-342900">
              <a:lnSpc>
                <a:spcPct val="125000"/>
              </a:lnSpc>
              <a:spcAft>
                <a:spcPts val="800"/>
              </a:spcAft>
              <a:buSzPct val="100000"/>
              <a:buChar char="•"/>
            </a:pPr>
            <a:r>
              <a:rPr lang="en-US" sz="1200" dirty="0">
                <a:solidFill>
                  <a:srgbClr val="5B5F63"/>
                </a:solidFill>
                <a:latin typeface="Arial" pitchFamily="34" charset="0"/>
                <a:ea typeface="Arial" pitchFamily="34" charset="-122"/>
                <a:cs typeface="Arial" pitchFamily="34" charset="-120"/>
              </a:rPr>
              <a:t>Channels: docs, devrel, content, social, community</a:t>
            </a:r>
            <a:endParaRPr lang="en-US" sz="1200" dirty="0"/>
          </a:p>
        </p:txBody>
      </p:sp>
      <p:sp>
        <p:nvSpPr>
          <p:cNvPr id="10" name="Shape 8"/>
          <p:cNvSpPr/>
          <p:nvPr/>
        </p:nvSpPr>
        <p:spPr>
          <a:xfrm>
            <a:off x="6172200" y="2057400"/>
            <a:ext cx="5376672" cy="2743200"/>
          </a:xfrm>
          <a:prstGeom prst="rect">
            <a:avLst/>
          </a:prstGeom>
          <a:solidFill>
            <a:srgbClr val="FFFFFF"/>
          </a:solidFill>
          <a:ln/>
          <a:effectLst>
            <a:outerShdw sx="100000" sy="100000" kx="0" ky="0" algn="bl" rotWithShape="0" blurRad="1.65191847035e+21" dist="660767388140000000000" dir="6.9984e+25">
              <a:srgbClr val="000000">
                <a:alpha val="1e+24"/>
              </a:srgbClr>
            </a:outerShdw>
          </a:effectLst>
        </p:spPr>
      </p:sp>
      <p:sp>
        <p:nvSpPr>
          <p:cNvPr id="11" name="Shape 9"/>
          <p:cNvSpPr/>
          <p:nvPr/>
        </p:nvSpPr>
        <p:spPr>
          <a:xfrm>
            <a:off x="6172200" y="2057400"/>
            <a:ext cx="5376672" cy="457200"/>
          </a:xfrm>
          <a:prstGeom prst="rect">
            <a:avLst/>
          </a:prstGeom>
          <a:solidFill>
            <a:srgbClr val="185771"/>
          </a:solidFill>
          <a:ln/>
        </p:spPr>
      </p:sp>
      <p:sp>
        <p:nvSpPr>
          <p:cNvPr id="12" name="Text 10"/>
          <p:cNvSpPr/>
          <p:nvPr/>
        </p:nvSpPr>
        <p:spPr>
          <a:xfrm>
            <a:off x="6400800" y="2057400"/>
            <a:ext cx="4572000" cy="457200"/>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SALES-LED</a:t>
            </a:r>
            <a:endParaRPr lang="en-US" sz="1400" dirty="0"/>
          </a:p>
        </p:txBody>
      </p:sp>
      <p:sp>
        <p:nvSpPr>
          <p:cNvPr id="13" name="Text 11"/>
          <p:cNvSpPr/>
          <p:nvPr/>
        </p:nvSpPr>
        <p:spPr>
          <a:xfrm>
            <a:off x="6400800" y="2697480"/>
            <a:ext cx="4937760" cy="2011680"/>
          </a:xfrm>
          <a:prstGeom prst="rect">
            <a:avLst/>
          </a:prstGeom>
          <a:noFill/>
          <a:ln/>
        </p:spPr>
        <p:txBody>
          <a:bodyPr wrap="square" rtlCol="0" anchor="ctr"/>
          <a:lstStyle/>
          <a:p>
            <a:pPr marL="342900" indent="-342900">
              <a:lnSpc>
                <a:spcPct val="125000"/>
              </a:lnSpc>
              <a:spcAft>
                <a:spcPts val="800"/>
              </a:spcAft>
              <a:buSzPct val="100000"/>
              <a:buChar char="•"/>
            </a:pPr>
            <a:r>
              <a:rPr lang="en-US" sz="1200" dirty="0">
                <a:solidFill>
                  <a:srgbClr val="5B5F63"/>
                </a:solidFill>
                <a:latin typeface="Arial" pitchFamily="34" charset="0"/>
                <a:ea typeface="Arial" pitchFamily="34" charset="-122"/>
                <a:cs typeface="Arial" pitchFamily="34" charset="-120"/>
              </a:rPr>
              <a:t>For regulated enterprises and the vertical wedge (legal first)</a:t>
            </a:r>
            <a:endParaRPr lang="en-US" sz="1200" dirty="0"/>
          </a:p>
          <a:p>
            <a:pPr marL="342900" indent="-342900">
              <a:lnSpc>
                <a:spcPct val="125000"/>
              </a:lnSpc>
              <a:spcAft>
                <a:spcPts val="800"/>
              </a:spcAft>
              <a:buSzPct val="100000"/>
              <a:buChar char="•"/>
            </a:pPr>
            <a:r>
              <a:rPr lang="en-US" sz="1200" dirty="0">
                <a:solidFill>
                  <a:srgbClr val="5B5F63"/>
                </a:solidFill>
                <a:latin typeface="Arial" pitchFamily="34" charset="0"/>
                <a:ea typeface="Arial" pitchFamily="34" charset="-122"/>
                <a:cs typeface="Arial" pitchFamily="34" charset="-120"/>
              </a:rPr>
              <a:t>High-touch: ABM, events, co-brand, executive relationships</a:t>
            </a:r>
            <a:endParaRPr lang="en-US" sz="1200" dirty="0"/>
          </a:p>
          <a:p>
            <a:pPr marL="342900" indent="-342900">
              <a:lnSpc>
                <a:spcPct val="125000"/>
              </a:lnSpc>
              <a:spcAft>
                <a:spcPts val="800"/>
              </a:spcAft>
              <a:buSzPct val="100000"/>
              <a:buChar char="•"/>
            </a:pPr>
            <a:r>
              <a:rPr lang="en-US" sz="1200" dirty="0">
                <a:solidFill>
                  <a:srgbClr val="5B5F63"/>
                </a:solidFill>
                <a:latin typeface="Arial" pitchFamily="34" charset="0"/>
                <a:ea typeface="Arial" pitchFamily="34" charset="-122"/>
                <a:cs typeface="Arial" pitchFamily="34" charset="-120"/>
              </a:rPr>
              <a:t>Confidential API enterprise deals run here too</a:t>
            </a:r>
            <a:endParaRPr lang="en-US" sz="1200" dirty="0"/>
          </a:p>
          <a:p>
            <a:pPr marL="342900" indent="-342900">
              <a:lnSpc>
                <a:spcPct val="125000"/>
              </a:lnSpc>
              <a:spcAft>
                <a:spcPts val="800"/>
              </a:spcAft>
              <a:buSzPct val="100000"/>
              <a:buChar char="•"/>
            </a:pPr>
            <a:r>
              <a:rPr lang="en-US" sz="1200" dirty="0">
                <a:solidFill>
                  <a:srgbClr val="5B5F63"/>
                </a:solidFill>
                <a:latin typeface="Arial" pitchFamily="34" charset="0"/>
                <a:ea typeface="Arial" pitchFamily="34" charset="-122"/>
                <a:cs typeface="Arial" pitchFamily="34" charset="-120"/>
              </a:rPr>
              <a:t>Channels: ABM, events, PR, analyst relations, partnerships</a:t>
            </a:r>
            <a:endParaRPr lang="en-US" sz="1200" dirty="0"/>
          </a:p>
        </p:txBody>
      </p:sp>
      <p:sp>
        <p:nvSpPr>
          <p:cNvPr id="14" name="Shape 12"/>
          <p:cNvSpPr/>
          <p:nvPr/>
        </p:nvSpPr>
        <p:spPr>
          <a:xfrm>
            <a:off x="640080" y="5029200"/>
            <a:ext cx="10908792" cy="868680"/>
          </a:xfrm>
          <a:prstGeom prst="rect">
            <a:avLst/>
          </a:prstGeom>
          <a:solidFill>
            <a:srgbClr val="17171B"/>
          </a:solidFill>
          <a:ln/>
        </p:spPr>
      </p:sp>
      <p:sp>
        <p:nvSpPr>
          <p:cNvPr id="15" name="Text 13"/>
          <p:cNvSpPr/>
          <p:nvPr/>
        </p:nvSpPr>
        <p:spPr>
          <a:xfrm>
            <a:off x="868680" y="5138928"/>
            <a:ext cx="3657600" cy="274320"/>
          </a:xfrm>
          <a:prstGeom prst="rect">
            <a:avLst/>
          </a:prstGeom>
          <a:noFill/>
          <a:ln/>
        </p:spPr>
        <p:txBody>
          <a:bodyPr wrap="square" rtlCol="0" anchor="ctr"/>
          <a:lstStyle/>
          <a:p>
            <a:pPr indent="0" marL="0">
              <a:buNone/>
            </a:pPr>
            <a:r>
              <a:rPr lang="en-US" sz="1000" b="1" spc="300" kern="0" dirty="0">
                <a:solidFill>
                  <a:srgbClr val="788C5D"/>
                </a:solidFill>
                <a:latin typeface="Arial" pitchFamily="34" charset="0"/>
                <a:ea typeface="Arial" pitchFamily="34" charset="-122"/>
                <a:cs typeface="Arial" pitchFamily="34" charset="-120"/>
              </a:rPr>
              <a:t>THE FLYWHEEL</a:t>
            </a:r>
            <a:endParaRPr lang="en-US" sz="1000" dirty="0"/>
          </a:p>
        </p:txBody>
      </p:sp>
      <p:sp>
        <p:nvSpPr>
          <p:cNvPr id="16" name="Text 14"/>
          <p:cNvSpPr/>
          <p:nvPr/>
        </p:nvSpPr>
        <p:spPr>
          <a:xfrm>
            <a:off x="868680" y="5394960"/>
            <a:ext cx="10424160" cy="457200"/>
          </a:xfrm>
          <a:prstGeom prst="rect">
            <a:avLst/>
          </a:prstGeom>
          <a:noFill/>
          <a:ln/>
        </p:spPr>
        <p:txBody>
          <a:bodyPr wrap="square" rtlCol="0" anchor="ctr"/>
          <a:lstStyle/>
          <a:p>
            <a:pPr indent="0" marL="0">
              <a:lnSpc>
                <a:spcPct val="125000"/>
              </a:lnSpc>
              <a:buNone/>
            </a:pPr>
            <a:r>
              <a:rPr lang="en-US" sz="1250" dirty="0">
                <a:solidFill>
                  <a:srgbClr val="ECEAE1"/>
                </a:solidFill>
                <a:latin typeface="Arial" pitchFamily="34" charset="0"/>
                <a:ea typeface="Arial" pitchFamily="34" charset="-122"/>
                <a:cs typeface="Arial" pitchFamily="34" charset="-120"/>
              </a:rPr>
              <a:t>PLG advocates become the champions who unlock enterprise deals. Enterprise proof and named logos become the credibility that fuels PLG. One engine is the other's lead source.</a:t>
            </a:r>
            <a:endParaRPr lang="en-US" sz="1250" dirty="0"/>
          </a:p>
        </p:txBody>
      </p:sp>
      <p:sp>
        <p:nvSpPr>
          <p:cNvPr id="17" name="TextBox 16"/>
          <p:cNvSpPr txBox="1"/>
          <p:nvPr/>
        </p:nvSpPr>
        <p:spPr>
          <a:xfrm>
            <a:off x="640080" y="5916168"/>
            <a:ext cx="10908792" cy="429768"/>
          </a:xfrm>
          <a:prstGeom prst="rect">
            <a:avLst/>
          </a:prstGeom>
          <a:solidFill>
            <a:srgbClr val="DBEAFE"/>
          </a:solidFill>
          <a:ln w="12700">
            <a:solidFill>
              <a:srgbClr val="1E3A8A"/>
            </a:solidFill>
          </a:ln>
        </p:spPr>
        <p:txBody>
          <a:bodyPr wrap="square">
            <a:spAutoFit/>
          </a:bodyPr>
          <a:lstStyle/>
          <a:p>
            <a:pPr algn="l"/>
            <a:r>
              <a:rPr sz="850" b="1">
                <a:solidFill>
                  <a:srgbClr val="1E3A8A"/>
                </a:solidFill>
              </a:rPr>
              <a:t>DATA  </a:t>
            </a:r>
            <a:r>
              <a:rPr sz="850" b="0">
                <a:solidFill>
                  <a:srgbClr val="111827"/>
                </a:solidFill>
              </a:rPr>
              <a:t>91% of B2B SaaS &gt;$50M ARR now run PLG motions. PQLs convert at 3× MQL rate. PLG companies scale from 25% to ~60% corporate buyer revenue as they grow. PLG startups raised $15B globally in 2024. [ProductLed / Segment8 / SaaSMag 2025]</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E0E10"/>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2703D"/>
          </a:solidFill>
          <a:ln/>
        </p:spPr>
      </p:sp>
      <p:sp>
        <p:nvSpPr>
          <p:cNvPr id="3" name="Text 1"/>
          <p:cNvSpPr/>
          <p:nvPr/>
        </p:nvSpPr>
        <p:spPr>
          <a:xfrm>
            <a:off x="640080" y="2468880"/>
            <a:ext cx="7315200" cy="365760"/>
          </a:xfrm>
          <a:prstGeom prst="rect">
            <a:avLst/>
          </a:prstGeom>
          <a:noFill/>
          <a:ln/>
        </p:spPr>
        <p:txBody>
          <a:bodyPr wrap="square" rtlCol="0" anchor="ctr"/>
          <a:lstStyle/>
          <a:p>
            <a:pPr indent="0" marL="0">
              <a:buNone/>
            </a:pPr>
            <a:r>
              <a:rPr lang="en-US" sz="1300" b="1" spc="600" kern="0" dirty="0">
                <a:solidFill>
                  <a:srgbClr val="C2703D"/>
                </a:solidFill>
                <a:latin typeface="Arial" pitchFamily="34" charset="0"/>
                <a:ea typeface="Arial" pitchFamily="34" charset="-122"/>
                <a:cs typeface="Arial" pitchFamily="34" charset="-120"/>
              </a:rPr>
              <a:t>SECTION 01</a:t>
            </a:r>
            <a:endParaRPr lang="en-US" sz="1300" dirty="0"/>
          </a:p>
        </p:txBody>
      </p:sp>
      <p:sp>
        <p:nvSpPr>
          <p:cNvPr id="4" name="Text 2"/>
          <p:cNvSpPr/>
          <p:nvPr/>
        </p:nvSpPr>
        <p:spPr>
          <a:xfrm>
            <a:off x="640080" y="2834640"/>
            <a:ext cx="10972800" cy="914400"/>
          </a:xfrm>
          <a:prstGeom prst="rect">
            <a:avLst/>
          </a:prstGeom>
          <a:noFill/>
          <a:ln/>
        </p:spPr>
        <p:txBody>
          <a:bodyPr wrap="square" rtlCol="0" anchor="ctr"/>
          <a:lstStyle/>
          <a:p>
            <a:pPr indent="0" marL="0">
              <a:buNone/>
            </a:pPr>
            <a:r>
              <a:rPr lang="en-US" sz="5000" dirty="0">
                <a:solidFill>
                  <a:srgbClr val="FFFFFF"/>
                </a:solidFill>
                <a:latin typeface="Georgia" pitchFamily="34" charset="0"/>
                <a:ea typeface="Georgia" pitchFamily="34" charset="-122"/>
                <a:cs typeface="Georgia" pitchFamily="34" charset="-120"/>
              </a:rPr>
              <a:t>The People We Sell To</a:t>
            </a:r>
            <a:endParaRPr lang="en-US" sz="5000" dirty="0"/>
          </a:p>
        </p:txBody>
      </p:sp>
      <p:sp>
        <p:nvSpPr>
          <p:cNvPr id="5" name="Text 3"/>
          <p:cNvSpPr/>
          <p:nvPr/>
        </p:nvSpPr>
        <p:spPr>
          <a:xfrm>
            <a:off x="640080" y="3886200"/>
            <a:ext cx="9601200" cy="822960"/>
          </a:xfrm>
          <a:prstGeom prst="rect">
            <a:avLst/>
          </a:prstGeom>
          <a:noFill/>
          <a:ln/>
        </p:spPr>
        <p:txBody>
          <a:bodyPr wrap="square" rtlCol="0" anchor="ctr"/>
          <a:lstStyle/>
          <a:p>
            <a:pPr indent="0" marL="0">
              <a:lnSpc>
                <a:spcPct val="130000"/>
              </a:lnSpc>
              <a:buNone/>
            </a:pPr>
            <a:r>
              <a:rPr lang="en-US" sz="1500" dirty="0">
                <a:solidFill>
                  <a:srgbClr val="9A9A93"/>
                </a:solidFill>
                <a:latin typeface="Arial" pitchFamily="34" charset="0"/>
                <a:ea typeface="Arial" pitchFamily="34" charset="-122"/>
                <a:cs typeface="Arial" pitchFamily="34" charset="-120"/>
              </a:rPr>
              <a:t>Six personas across B2B and B2C. Every channel, message, and campaign that follows is built for these humans, not for an abstract market.</a:t>
            </a:r>
            <a:endParaRPr lang="en-US" sz="1500" dirty="0"/>
          </a:p>
        </p:txBody>
      </p:sp>
      <p:sp>
        <p:nvSpPr>
          <p:cNvPr id="6" name="Text 4"/>
          <p:cNvSpPr/>
          <p:nvPr/>
        </p:nvSpPr>
        <p:spPr>
          <a:xfrm>
            <a:off x="11460175" y="6446520"/>
            <a:ext cx="457200" cy="274320"/>
          </a:xfrm>
          <a:prstGeom prst="rect">
            <a:avLst/>
          </a:prstGeom>
          <a:noFill/>
          <a:ln/>
        </p:spPr>
        <p:txBody>
          <a:bodyPr wrap="square" rtlCol="0" anchor="ctr"/>
          <a:lstStyle/>
          <a:p>
            <a:pPr algn="r" indent="0" marL="0">
              <a:buNone/>
            </a:pPr>
            <a:r>
              <a:rPr lang="en-US" sz="1000" dirty="0">
                <a:solidFill>
                  <a:srgbClr val="9A9A93"/>
                </a:solidFill>
                <a:latin typeface="Arial" pitchFamily="34" charset="0"/>
                <a:ea typeface="Arial" pitchFamily="34" charset="-122"/>
                <a:cs typeface="Arial"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9F5"/>
        </a:solidFill>
      </p:bgPr>
    </p:bg>
    <p:spTree>
      <p:nvGrpSpPr>
        <p:cNvPr id="1" name=""/>
        <p:cNvGrpSpPr/>
        <p:nvPr/>
      </p:nvGrpSpPr>
      <p:grpSpPr>
        <a:xfrm>
          <a:off x="0" y="0"/>
          <a:ext cx="0" cy="0"/>
          <a:chOff x="0" y="0"/>
          <a:chExt cx="0" cy="0"/>
        </a:xfrm>
      </p:grpSpPr>
      <p:sp>
        <p:nvSpPr>
          <p:cNvPr id="2" name="Shape 0"/>
          <p:cNvSpPr/>
          <p:nvPr/>
        </p:nvSpPr>
        <p:spPr>
          <a:xfrm>
            <a:off x="0" y="0"/>
            <a:ext cx="3977640" cy="6858000"/>
          </a:xfrm>
          <a:prstGeom prst="rect">
            <a:avLst/>
          </a:prstGeom>
          <a:solidFill>
            <a:srgbClr val="0E0E10"/>
          </a:solidFill>
          <a:ln/>
        </p:spPr>
        <p:txBody>
          <a:bodyPr/>
          <a:p/>
        </p:txBody>
      </p:sp>
      <p:sp>
        <p:nvSpPr>
          <p:cNvPr id="3" name="Shape 1"/>
          <p:cNvSpPr/>
          <p:nvPr/>
        </p:nvSpPr>
        <p:spPr>
          <a:xfrm>
            <a:off x="0" y="0"/>
            <a:ext cx="109728" cy="6858000"/>
          </a:xfrm>
          <a:prstGeom prst="rect">
            <a:avLst/>
          </a:prstGeom>
          <a:solidFill>
            <a:srgbClr val="185771"/>
          </a:solidFill>
          <a:ln/>
        </p:spPr>
        <p:txBody>
          <a:bodyPr/>
          <a:p/>
        </p:txBody>
      </p:sp>
      <p:pic>
        <p:nvPicPr>
          <p:cNvPr id="4" name="Image 0" descr="preencoded.png">    </p:cNvPr>
          <p:cNvPicPr>
            <a:picLocks noChangeAspect="1"/>
          </p:cNvPicPr>
          <p:nvPr/>
        </p:nvPicPr>
        <p:blipFill>
          <a:blip r:embed="rId1"/>
          <a:stretch>
            <a:fillRect/>
          </a:stretch>
        </p:blipFill>
        <p:spPr>
          <a:xfrm>
            <a:off x="502920" y="640080"/>
            <a:ext cx="640080" cy="640080"/>
          </a:xfrm>
          <a:prstGeom prst="rect">
            <a:avLst/>
          </a:prstGeom>
        </p:spPr>
      </p:pic>
      <p:sp>
        <p:nvSpPr>
          <p:cNvPr id="5" name="Text 2"/>
          <p:cNvSpPr/>
          <p:nvPr/>
        </p:nvSpPr>
        <p:spPr>
          <a:xfrm>
            <a:off x="502920" y="1417320"/>
            <a:ext cx="2743200" cy="274320"/>
          </a:xfrm>
          <a:prstGeom prst="rect">
            <a:avLst/>
          </a:prstGeom>
          <a:noFill/>
          <a:ln/>
        </p:spPr>
        <p:txBody>
          <a:bodyPr wrap="square" rtlCol="0" anchor="ctr"/>
          <a:lstStyle/>
          <a:p>
            <a:pPr indent="0" marL="0">
              <a:buNone/>
            </a:pPr>
            <a:r>
              <a:rPr lang="en-US" sz="1000" b="1" spc="400" kern="0" dirty="0">
                <a:solidFill>
                  <a:srgbClr val="185771"/>
                </a:solidFill>
                <a:latin typeface="Arial" pitchFamily="34" charset="0"/>
                <a:ea typeface="Arial" pitchFamily="34" charset="-122"/>
                <a:cs typeface="Arial" pitchFamily="34" charset="-120"/>
              </a:rPr>
              <a:t>PERSONA</a:t>
            </a:r>
            <a:endParaRPr lang="en-US" sz="1000" dirty="0"/>
          </a:p>
        </p:txBody>
      </p:sp>
      <p:sp>
        <p:nvSpPr>
          <p:cNvPr id="6" name="Text 3"/>
          <p:cNvSpPr/>
          <p:nvPr/>
        </p:nvSpPr>
        <p:spPr>
          <a:xfrm>
            <a:off x="502920" y="1691640"/>
            <a:ext cx="3200400" cy="914400"/>
          </a:xfrm>
          <a:prstGeom prst="rect">
            <a:avLst/>
          </a:prstGeom>
          <a:noFill/>
          <a:ln/>
        </p:spPr>
        <p:txBody>
          <a:bodyPr wrap="square" rtlCol="0" anchor="ctr"/>
          <a:lstStyle/>
          <a:p>
            <a:pPr indent="0" marL="0">
              <a:lnSpc>
                <a:spcPct val="95000"/>
              </a:lnSpc>
              <a:buNone/>
            </a:pPr>
            <a:r>
              <a:rPr lang="en-US" sz="2600" dirty="0">
                <a:solidFill>
                  <a:srgbClr val="FFFFFF"/>
                </a:solidFill>
                <a:latin typeface="Georgia" pitchFamily="34" charset="0"/>
                <a:ea typeface="Georgia" pitchFamily="34" charset="-122"/>
                <a:cs typeface="Georgia" pitchFamily="34" charset="-120"/>
              </a:rPr>
              <a:t>The Compliance Owner</a:t>
            </a:r>
            <a:endParaRPr lang="en-US" sz="2600" dirty="0"/>
          </a:p>
        </p:txBody>
      </p:sp>
      <p:sp>
        <p:nvSpPr>
          <p:cNvPr id="7" name="Text 4"/>
          <p:cNvSpPr/>
          <p:nvPr/>
        </p:nvSpPr>
        <p:spPr>
          <a:xfrm>
            <a:off x="502920" y="2743200"/>
            <a:ext cx="3200400" cy="548640"/>
          </a:xfrm>
          <a:prstGeom prst="rect">
            <a:avLst/>
          </a:prstGeom>
          <a:noFill/>
          <a:ln/>
        </p:spPr>
        <p:txBody>
          <a:bodyPr wrap="square" rtlCol="0" anchor="ctr"/>
          <a:lstStyle/>
          <a:p>
            <a:pPr indent="0" marL="0">
              <a:lnSpc>
                <a:spcPct val="120000"/>
              </a:lnSpc>
              <a:buNone/>
            </a:pPr>
            <a:r>
              <a:rPr lang="en-US" sz="1200" dirty="0">
                <a:solidFill>
                  <a:srgbClr val="9A9A93"/>
                </a:solidFill>
                <a:latin typeface="Arial" pitchFamily="34" charset="0"/>
                <a:ea typeface="Arial" pitchFamily="34" charset="-122"/>
                <a:cs typeface="Arial" pitchFamily="34" charset="-120"/>
              </a:rPr>
              <a:t>CISO  ·  Chief Risk  ·  DPO</a:t>
            </a:r>
            <a:endParaRPr lang="en-US" sz="1200" dirty="0"/>
          </a:p>
        </p:txBody>
      </p:sp>
      <p:sp>
        <p:nvSpPr>
          <p:cNvPr id="8" name="Shape 5"/>
          <p:cNvSpPr/>
          <p:nvPr/>
        </p:nvSpPr>
        <p:spPr>
          <a:xfrm>
            <a:off x="502920" y="3383280"/>
            <a:ext cx="2194560" cy="347472"/>
          </a:xfrm>
          <a:prstGeom prst="roundRect">
            <a:avLst>
              <a:gd name="adj" fmla="val 13158"/>
            </a:avLst>
          </a:prstGeom>
          <a:solidFill>
            <a:srgbClr val="17171B"/>
          </a:solidFill>
          <a:ln/>
        </p:spPr>
        <p:txBody>
          <a:bodyPr/>
          <a:p/>
        </p:txBody>
      </p:sp>
      <p:sp>
        <p:nvSpPr>
          <p:cNvPr id="9" name="Text 6"/>
          <p:cNvSpPr/>
          <p:nvPr/>
        </p:nvSpPr>
        <p:spPr>
          <a:xfrm>
            <a:off x="502920" y="3383280"/>
            <a:ext cx="2194560" cy="347472"/>
          </a:xfrm>
          <a:prstGeom prst="rect">
            <a:avLst/>
          </a:prstGeom>
          <a:noFill/>
          <a:ln/>
        </p:spPr>
        <p:txBody>
          <a:bodyPr wrap="square" rtlCol="0" anchor="ctr"/>
          <a:lstStyle/>
          <a:p>
            <a:pPr algn="ctr" indent="0" marL="0">
              <a:buNone/>
            </a:pPr>
            <a:r>
              <a:rPr lang="en-US" sz="1050" dirty="0">
                <a:solidFill>
                  <a:srgbClr val="ECEAE1"/>
                </a:solidFill>
                <a:latin typeface="Arial" pitchFamily="34" charset="0"/>
                <a:ea typeface="Arial" pitchFamily="34" charset="-122"/>
                <a:cs typeface="Arial" pitchFamily="34" charset="-120"/>
              </a:rPr>
              <a:t>B2B</a:t>
            </a:r>
            <a:endParaRPr lang="en-US" sz="1050" dirty="0"/>
          </a:p>
        </p:txBody>
      </p:sp>
      <p:sp>
        <p:nvSpPr>
          <p:cNvPr id="10" name="Shape 7"/>
          <p:cNvSpPr/>
          <p:nvPr/>
        </p:nvSpPr>
        <p:spPr>
          <a:xfrm>
            <a:off x="502920" y="3840480"/>
            <a:ext cx="2194560" cy="347472"/>
          </a:xfrm>
          <a:prstGeom prst="roundRect">
            <a:avLst>
              <a:gd name="adj" fmla="val 13158"/>
            </a:avLst>
          </a:prstGeom>
          <a:solidFill>
            <a:srgbClr val="17171B"/>
          </a:solidFill>
          <a:ln/>
        </p:spPr>
        <p:txBody>
          <a:bodyPr/>
          <a:p/>
        </p:txBody>
      </p:sp>
      <p:sp>
        <p:nvSpPr>
          <p:cNvPr id="11" name="Text 8"/>
          <p:cNvSpPr/>
          <p:nvPr/>
        </p:nvSpPr>
        <p:spPr>
          <a:xfrm>
            <a:off x="502920" y="3840480"/>
            <a:ext cx="2194560" cy="347472"/>
          </a:xfrm>
          <a:prstGeom prst="rect">
            <a:avLst/>
          </a:prstGeom>
          <a:noFill/>
          <a:ln/>
        </p:spPr>
        <p:txBody>
          <a:bodyPr wrap="square" rtlCol="0" anchor="ctr"/>
          <a:lstStyle/>
          <a:p>
            <a:pPr algn="ctr" indent="0" marL="0">
              <a:buNone/>
            </a:pPr>
            <a:r>
              <a:rPr lang="en-US" sz="1050" dirty="0">
                <a:solidFill>
                  <a:srgbClr val="ECEAE1"/>
                </a:solidFill>
                <a:latin typeface="Arial" pitchFamily="34" charset="0"/>
                <a:ea typeface="Arial" pitchFamily="34" charset="-122"/>
                <a:cs typeface="Arial" pitchFamily="34" charset="-120"/>
              </a:rPr>
              <a:t>Decision maker</a:t>
            </a:r>
            <a:endParaRPr lang="en-US" sz="1050" dirty="0"/>
          </a:p>
        </p:txBody>
      </p:sp>
      <p:sp>
        <p:nvSpPr>
          <p:cNvPr id="12" name="Shape 9"/>
          <p:cNvSpPr/>
          <p:nvPr/>
        </p:nvSpPr>
        <p:spPr>
          <a:xfrm>
            <a:off x="502920" y="4297680"/>
            <a:ext cx="2194560" cy="347472"/>
          </a:xfrm>
          <a:prstGeom prst="roundRect">
            <a:avLst>
              <a:gd name="adj" fmla="val 13158"/>
            </a:avLst>
          </a:prstGeom>
          <a:solidFill>
            <a:srgbClr val="17171B"/>
          </a:solidFill>
          <a:ln/>
        </p:spPr>
        <p:txBody>
          <a:bodyPr/>
          <a:p/>
        </p:txBody>
      </p:sp>
      <p:sp>
        <p:nvSpPr>
          <p:cNvPr id="13" name="Text 10"/>
          <p:cNvSpPr/>
          <p:nvPr/>
        </p:nvSpPr>
        <p:spPr>
          <a:xfrm>
            <a:off x="502920" y="4297680"/>
            <a:ext cx="2194560" cy="347472"/>
          </a:xfrm>
          <a:prstGeom prst="rect">
            <a:avLst/>
          </a:prstGeom>
          <a:noFill/>
          <a:ln/>
        </p:spPr>
        <p:txBody>
          <a:bodyPr wrap="square" rtlCol="0" anchor="ctr"/>
          <a:lstStyle/>
          <a:p>
            <a:pPr algn="ctr" indent="0" marL="0">
              <a:buNone/>
            </a:pPr>
            <a:r>
              <a:rPr lang="en-US" sz="1050" dirty="0">
                <a:solidFill>
                  <a:srgbClr val="ECEAE1"/>
                </a:solidFill>
                <a:latin typeface="Arial" pitchFamily="34" charset="0"/>
                <a:ea typeface="Arial" pitchFamily="34" charset="-122"/>
                <a:cs typeface="Arial" pitchFamily="34" charset="-120"/>
              </a:rPr>
              <a:t>Sales-led</a:t>
            </a:r>
            <a:endParaRPr lang="en-US" sz="1050" dirty="0"/>
          </a:p>
        </p:txBody>
      </p:sp>
      <p:sp>
        <p:nvSpPr>
          <p:cNvPr id="14" name="Shape 11"/>
          <p:cNvSpPr/>
          <p:nvPr/>
        </p:nvSpPr>
        <p:spPr>
          <a:xfrm>
            <a:off x="502920" y="5029200"/>
            <a:ext cx="3017520" cy="18288"/>
          </a:xfrm>
          <a:prstGeom prst="rect">
            <a:avLst/>
          </a:prstGeom>
          <a:solidFill>
            <a:srgbClr val="2E2E33"/>
          </a:solidFill>
          <a:ln/>
        </p:spPr>
        <p:txBody>
          <a:bodyPr/>
          <a:p/>
        </p:txBody>
      </p:sp>
      <p:sp>
        <p:nvSpPr>
          <p:cNvPr id="15" name="Text 12"/>
          <p:cNvSpPr/>
          <p:nvPr/>
        </p:nvSpPr>
        <p:spPr>
          <a:xfrm>
            <a:off x="502920" y="5120640"/>
            <a:ext cx="3017520" cy="228600"/>
          </a:xfrm>
          <a:prstGeom prst="rect">
            <a:avLst/>
          </a:prstGeom>
          <a:noFill/>
          <a:ln/>
        </p:spPr>
        <p:txBody>
          <a:bodyPr wrap="square" rtlCol="0" anchor="ctr"/>
          <a:lstStyle/>
          <a:p>
            <a:pPr indent="0" marL="0">
              <a:buNone/>
            </a:pPr>
            <a:r>
              <a:rPr lang="en-US" sz="900" b="1" spc="200" kern="0" dirty="0">
                <a:solidFill>
                  <a:srgbClr val="185771"/>
                </a:solidFill>
                <a:latin typeface="Arial" pitchFamily="34" charset="0"/>
                <a:ea typeface="Arial" pitchFamily="34" charset="-122"/>
                <a:cs typeface="Arial" pitchFamily="34" charset="-120"/>
              </a:rPr>
              <a:t>WHO THEY ARE</a:t>
            </a:r>
            <a:endParaRPr lang="en-US" sz="900" dirty="0"/>
          </a:p>
        </p:txBody>
      </p:sp>
      <p:sp>
        <p:nvSpPr>
          <p:cNvPr id="16" name="Text 13"/>
          <p:cNvSpPr/>
          <p:nvPr/>
        </p:nvSpPr>
        <p:spPr>
          <a:xfrm>
            <a:off x="502920" y="5349240"/>
            <a:ext cx="3108960" cy="914400"/>
          </a:xfrm>
          <a:prstGeom prst="rect">
            <a:avLst/>
          </a:prstGeom>
          <a:noFill/>
          <a:ln/>
        </p:spPr>
        <p:txBody>
          <a:bodyPr wrap="square" rtlCol="0" anchor="ctr"/>
          <a:lstStyle/>
          <a:p>
            <a:pPr indent="0" marL="0">
              <a:lnSpc>
                <a:spcPct val="125000"/>
              </a:lnSpc>
              <a:buNone/>
            </a:pPr>
            <a:r>
              <a:rPr lang="en-US" sz="1100" dirty="0">
                <a:solidFill>
                  <a:srgbClr val="ECEAE1"/>
                </a:solidFill>
                <a:latin typeface="Arial" pitchFamily="34" charset="0"/>
                <a:ea typeface="Arial" pitchFamily="34" charset="-122"/>
                <a:cs typeface="Arial" pitchFamily="34" charset="-120"/>
              </a:rPr>
              <a:t>Must prove sensitive data never left the building. Holds formal veto over every AI purchase — and uses it: 56% of CISOs block most AI tools outright; 90%+ of orgs have no blanket AI access.</a:t>
            </a:r>
            <a:endParaRPr lang="en-US" sz="1100" dirty="0"/>
          </a:p>
        </p:txBody>
      </p:sp>
      <p:sp>
        <p:nvSpPr>
          <p:cNvPr id="17" name="Shape 14"/>
          <p:cNvSpPr/>
          <p:nvPr/>
        </p:nvSpPr>
        <p:spPr>
          <a:xfrm>
            <a:off x="4343400" y="502920"/>
            <a:ext cx="3703320" cy="2560320"/>
          </a:xfrm>
          <a:prstGeom prst="rect">
            <a:avLst/>
          </a:prstGeom>
          <a:solidFill>
            <a:srgbClr val="FFFFFF"/>
          </a:solidFill>
          <a:ln/>
          <a:effectLst>
            <a:outerShdw sx="100000" sy="100000" kx="0" ky="0" algn="bl" rotWithShape="0" blurRad="2.0979364573445003e+25" dist="8.391745829378e+24" dir="4.19904e+30">
              <a:srgbClr val="000000">
                <a:alpha val="1e+29"/>
              </a:srgbClr>
            </a:outerShdw>
          </a:effectLst>
        </p:spPr>
        <p:txBody>
          <a:bodyPr/>
          <a:p/>
        </p:txBody>
      </p:sp>
      <p:sp>
        <p:nvSpPr>
          <p:cNvPr id="18" name="Shape 15"/>
          <p:cNvSpPr/>
          <p:nvPr/>
        </p:nvSpPr>
        <p:spPr>
          <a:xfrm>
            <a:off x="4343400" y="502920"/>
            <a:ext cx="3703320" cy="45720"/>
          </a:xfrm>
          <a:prstGeom prst="rect">
            <a:avLst/>
          </a:prstGeom>
          <a:solidFill>
            <a:srgbClr val="C2703D"/>
          </a:solidFill>
          <a:ln/>
        </p:spPr>
        <p:txBody>
          <a:bodyPr/>
          <a:p/>
        </p:txBody>
      </p:sp>
      <p:sp>
        <p:nvSpPr>
          <p:cNvPr id="19" name="Text 16"/>
          <p:cNvSpPr/>
          <p:nvPr/>
        </p:nvSpPr>
        <p:spPr>
          <a:xfrm>
            <a:off x="4526280" y="640080"/>
            <a:ext cx="3383280" cy="274320"/>
          </a:xfrm>
          <a:prstGeom prst="rect">
            <a:avLst/>
          </a:prstGeom>
          <a:noFill/>
          <a:ln/>
        </p:spPr>
        <p:txBody>
          <a:bodyPr wrap="square" rtlCol="0" anchor="ctr"/>
          <a:lstStyle/>
          <a:p>
            <a:pPr indent="0" marL="0">
              <a:buNone/>
            </a:pPr>
            <a:r>
              <a:rPr lang="en-US" sz="1100" b="1" spc="200" kern="0" dirty="0">
                <a:solidFill>
                  <a:srgbClr val="C2703D"/>
                </a:solidFill>
                <a:latin typeface="Arial" pitchFamily="34" charset="0"/>
                <a:ea typeface="Arial" pitchFamily="34" charset="-122"/>
                <a:cs typeface="Arial" pitchFamily="34" charset="-120"/>
              </a:rPr>
              <a:t>PAINS</a:t>
            </a:r>
            <a:endParaRPr lang="en-US" sz="1100" dirty="0"/>
          </a:p>
        </p:txBody>
      </p:sp>
      <p:sp>
        <p:nvSpPr>
          <p:cNvPr id="20" name="Text 17"/>
          <p:cNvSpPr/>
          <p:nvPr/>
        </p:nvSpPr>
        <p:spPr>
          <a:xfrm>
            <a:off x="4526280" y="1005840"/>
            <a:ext cx="3383280" cy="1920240"/>
          </a:xfrm>
          <a:prstGeom prst="rect">
            <a:avLst/>
          </a:prstGeom>
          <a:noFill/>
          <a:ln/>
        </p:spPr>
        <p:txBody>
          <a:bodyPr wrap="square" rtlCol="0" anchor="t"/>
          <a:lstStyle/>
          <a:p>
            <a:pPr marL="342900" indent="-342900">
              <a:lnSpc>
                <a:spcPct val="120000"/>
              </a:lnSpc>
              <a:spcAft>
                <a:spcPts val="600"/>
              </a:spcAft>
              <a:buSzPct val="100000"/>
              <a:buChar char="•"/>
            </a:pPr>
            <a:r>
              <a:rPr lang="en-US" sz="1100" dirty="0">
                <a:solidFill>
                  <a:srgbClr val="5B5F63"/>
                </a:solidFill>
                <a:latin typeface="Arial" pitchFamily="34" charset="0"/>
                <a:ea typeface="Arial" pitchFamily="34" charset="-122"/>
                <a:cs typeface="Arial" pitchFamily="34" charset="-120"/>
              </a:rPr>
              <a:t>EU AI Act: up to €35M or 7% global revenue per violation — stacks on top of GDPR's €20M / 4% cap</a:t>
            </a:r>
            <a:endParaRPr lang="en-US" sz="1100" dirty="0"/>
          </a:p>
          <a:p>
            <a:pPr marL="342900" indent="-342900">
              <a:lnSpc>
                <a:spcPct val="120000"/>
              </a:lnSpc>
              <a:spcAft>
                <a:spcPts val="600"/>
              </a:spcAft>
              <a:buSzPct val="100000"/>
              <a:buChar char="•"/>
            </a:pPr>
            <a:r>
              <a:rPr lang="en-US" sz="1100" dirty="0">
                <a:solidFill>
                  <a:srgbClr val="5B5F63"/>
                </a:solidFill>
                <a:latin typeface="Arial" pitchFamily="34" charset="0"/>
                <a:ea typeface="Arial" pitchFamily="34" charset="-122"/>
                <a:cs typeface="Arial" pitchFamily="34" charset="-120"/>
              </a:rPr>
              <a:t>77% of CISOs say AI compliance delays their cybersecurity roadmap (CSA 2025)</a:t>
            </a:r>
            <a:endParaRPr lang="en-US" sz="1100" dirty="0"/>
          </a:p>
          <a:p>
            <a:pPr marL="342900" indent="-342900">
              <a:lnSpc>
                <a:spcPct val="120000"/>
              </a:lnSpc>
              <a:spcAft>
                <a:spcPts val="600"/>
              </a:spcAft>
              <a:buSzPct val="100000"/>
              <a:buChar char="•"/>
            </a:pPr>
            <a:r>
              <a:rPr lang="en-US" sz="1100" dirty="0">
                <a:solidFill>
                  <a:srgbClr val="5B5F63"/>
                </a:solidFill>
                <a:latin typeface="Arial" pitchFamily="34" charset="0"/>
                <a:ea typeface="Arial" pitchFamily="34" charset="-122"/>
                <a:cs typeface="Arial" pitchFamily="34" charset="-120"/>
              </a:rPr>
              <a:t>Enterprises block ~60% of AI/ML traffic; every new vendor adds surface area to vet</a:t>
            </a:r>
            <a:endParaRPr lang="en-US" sz="1100" dirty="0"/>
          </a:p>
        </p:txBody>
      </p:sp>
      <p:sp>
        <p:nvSpPr>
          <p:cNvPr id="21" name="Shape 18"/>
          <p:cNvSpPr/>
          <p:nvPr/>
        </p:nvSpPr>
        <p:spPr>
          <a:xfrm>
            <a:off x="8183880" y="502920"/>
            <a:ext cx="3703320" cy="2560320"/>
          </a:xfrm>
          <a:prstGeom prst="rect">
            <a:avLst/>
          </a:prstGeom>
          <a:solidFill>
            <a:srgbClr val="FFFFFF"/>
          </a:solidFill>
          <a:ln/>
          <a:effectLst>
            <a:outerShdw sx="100000" sy="100000" kx="0" ky="0" algn="bl" rotWithShape="0" blurRad="2.6643793008275154e+29" dist="1.0657517203310059e+29" dir="2.519424e+35">
              <a:srgbClr val="000000">
                <a:alpha val="1e+34"/>
              </a:srgbClr>
            </a:outerShdw>
          </a:effectLst>
        </p:spPr>
        <p:txBody>
          <a:bodyPr/>
          <a:p/>
        </p:txBody>
      </p:sp>
      <p:sp>
        <p:nvSpPr>
          <p:cNvPr id="22" name="Shape 19"/>
          <p:cNvSpPr/>
          <p:nvPr/>
        </p:nvSpPr>
        <p:spPr>
          <a:xfrm>
            <a:off x="8183880" y="502920"/>
            <a:ext cx="3703320" cy="45720"/>
          </a:xfrm>
          <a:prstGeom prst="rect">
            <a:avLst/>
          </a:prstGeom>
          <a:solidFill>
            <a:srgbClr val="788C5D"/>
          </a:solidFill>
          <a:ln/>
        </p:spPr>
        <p:txBody>
          <a:bodyPr/>
          <a:p/>
        </p:txBody>
      </p:sp>
      <p:sp>
        <p:nvSpPr>
          <p:cNvPr id="23" name="Text 20"/>
          <p:cNvSpPr/>
          <p:nvPr/>
        </p:nvSpPr>
        <p:spPr>
          <a:xfrm>
            <a:off x="8366760" y="640080"/>
            <a:ext cx="3383280" cy="274320"/>
          </a:xfrm>
          <a:prstGeom prst="rect">
            <a:avLst/>
          </a:prstGeom>
          <a:noFill/>
          <a:ln/>
        </p:spPr>
        <p:txBody>
          <a:bodyPr wrap="square" rtlCol="0" anchor="ctr"/>
          <a:lstStyle/>
          <a:p>
            <a:pPr indent="0" marL="0">
              <a:buNone/>
            </a:pPr>
            <a:r>
              <a:rPr lang="en-US" sz="1100" b="1" spc="200" kern="0" dirty="0">
                <a:solidFill>
                  <a:srgbClr val="788C5D"/>
                </a:solidFill>
                <a:latin typeface="Arial" pitchFamily="34" charset="0"/>
                <a:ea typeface="Arial" pitchFamily="34" charset="-122"/>
                <a:cs typeface="Arial" pitchFamily="34" charset="-120"/>
              </a:rPr>
              <a:t>TRIGGERS</a:t>
            </a:r>
            <a:endParaRPr lang="en-US" sz="1100" dirty="0"/>
          </a:p>
        </p:txBody>
      </p:sp>
      <p:sp>
        <p:nvSpPr>
          <p:cNvPr id="24" name="Text 21"/>
          <p:cNvSpPr/>
          <p:nvPr/>
        </p:nvSpPr>
        <p:spPr>
          <a:xfrm>
            <a:off x="8366760" y="1005840"/>
            <a:ext cx="3383280" cy="1920240"/>
          </a:xfrm>
          <a:prstGeom prst="rect">
            <a:avLst/>
          </a:prstGeom>
          <a:noFill/>
          <a:ln/>
        </p:spPr>
        <p:txBody>
          <a:bodyPr wrap="square" rtlCol="0" anchor="t"/>
          <a:lstStyle/>
          <a:p>
            <a:pPr marL="342900" indent="-342900">
              <a:lnSpc>
                <a:spcPct val="120000"/>
              </a:lnSpc>
              <a:spcAft>
                <a:spcPts val="600"/>
              </a:spcAft>
              <a:buSzPct val="100000"/>
              <a:buChar char="•"/>
            </a:pPr>
            <a:r>
              <a:rPr lang="en-US" sz="1100" dirty="0">
                <a:solidFill>
                  <a:srgbClr val="5B5F63"/>
                </a:solidFill>
                <a:latin typeface="Arial" pitchFamily="34" charset="0"/>
                <a:ea typeface="Arial" pitchFamily="34" charset="-122"/>
                <a:cs typeface="Arial" pitchFamily="34" charset="-120"/>
              </a:rPr>
              <a:t>A peer company's AI breach or near-miss surfaces in a board meeting</a:t>
            </a:r>
            <a:endParaRPr lang="en-US" sz="1100" dirty="0"/>
          </a:p>
          <a:p>
            <a:pPr marL="342900" indent="-342900">
              <a:lnSpc>
                <a:spcPct val="120000"/>
              </a:lnSpc>
              <a:spcAft>
                <a:spcPts val="600"/>
              </a:spcAft>
              <a:buSzPct val="100000"/>
              <a:buChar char="•"/>
            </a:pPr>
            <a:r>
              <a:rPr lang="en-US" sz="1100" dirty="0">
                <a:solidFill>
                  <a:srgbClr val="5B5F63"/>
                </a:solidFill>
                <a:latin typeface="Arial" pitchFamily="34" charset="0"/>
                <a:ea typeface="Arial" pitchFamily="34" charset="-122"/>
                <a:cs typeface="Arial" pitchFamily="34" charset="-120"/>
              </a:rPr>
              <a:t>First EU AI Act enforcement action hits the news — board asks if they're exposed</a:t>
            </a:r>
            <a:endParaRPr lang="en-US" sz="1100" dirty="0"/>
          </a:p>
          <a:p>
            <a:pPr marL="342900" indent="-342900">
              <a:lnSpc>
                <a:spcPct val="120000"/>
              </a:lnSpc>
              <a:spcAft>
                <a:spcPts val="600"/>
              </a:spcAft>
              <a:buSzPct val="100000"/>
              <a:buChar char="•"/>
            </a:pPr>
            <a:r>
              <a:rPr lang="en-US" sz="1100" dirty="0">
                <a:solidFill>
                  <a:srgbClr val="5B5F63"/>
                </a:solidFill>
                <a:latin typeface="Arial" pitchFamily="34" charset="0"/>
                <a:ea typeface="Arial" pitchFamily="34" charset="-122"/>
                <a:cs typeface="Arial" pitchFamily="34" charset="-120"/>
              </a:rPr>
              <a:t>A new vendor fails the security questionnaire; the AI strategy stalls again</a:t>
            </a:r>
            <a:endParaRPr lang="en-US" sz="1100" dirty="0"/>
          </a:p>
        </p:txBody>
      </p:sp>
      <p:sp>
        <p:nvSpPr>
          <p:cNvPr id="25" name="Shape 22"/>
          <p:cNvSpPr/>
          <p:nvPr/>
        </p:nvSpPr>
        <p:spPr>
          <a:xfrm>
            <a:off x="4343400" y="3246120"/>
            <a:ext cx="3703320" cy="2560320"/>
          </a:xfrm>
          <a:prstGeom prst="rect">
            <a:avLst/>
          </a:prstGeom>
          <a:solidFill>
            <a:srgbClr val="FFFFFF"/>
          </a:solidFill>
          <a:ln/>
          <a:effectLst>
            <a:outerShdw sx="100000" sy="100000" kx="0" ky="0" algn="bl" rotWithShape="0" blurRad="3.3837617120509443e+33" dist="1.3535046848203775e+33" dir="1.5116544e+40">
              <a:srgbClr val="000000">
                <a:alpha val="1e+39"/>
              </a:srgbClr>
            </a:outerShdw>
          </a:effectLst>
        </p:spPr>
        <p:txBody>
          <a:bodyPr/>
          <a:p/>
        </p:txBody>
      </p:sp>
      <p:sp>
        <p:nvSpPr>
          <p:cNvPr id="26" name="Shape 23"/>
          <p:cNvSpPr/>
          <p:nvPr/>
        </p:nvSpPr>
        <p:spPr>
          <a:xfrm>
            <a:off x="4343400" y="3246120"/>
            <a:ext cx="3703320" cy="45720"/>
          </a:xfrm>
          <a:prstGeom prst="rect">
            <a:avLst/>
          </a:prstGeom>
          <a:solidFill>
            <a:srgbClr val="5B5F63"/>
          </a:solidFill>
          <a:ln/>
        </p:spPr>
        <p:txBody>
          <a:bodyPr/>
          <a:p/>
        </p:txBody>
      </p:sp>
      <p:sp>
        <p:nvSpPr>
          <p:cNvPr id="27" name="Text 24"/>
          <p:cNvSpPr/>
          <p:nvPr/>
        </p:nvSpPr>
        <p:spPr>
          <a:xfrm>
            <a:off x="4526280" y="3383280"/>
            <a:ext cx="3383280" cy="274320"/>
          </a:xfrm>
          <a:prstGeom prst="rect">
            <a:avLst/>
          </a:prstGeom>
          <a:noFill/>
          <a:ln/>
        </p:spPr>
        <p:txBody>
          <a:bodyPr wrap="square" rtlCol="0" anchor="ctr"/>
          <a:lstStyle/>
          <a:p>
            <a:pPr indent="0" marL="0">
              <a:buNone/>
            </a:pPr>
            <a:r>
              <a:rPr lang="en-US" sz="1100" b="1" spc="200" kern="0" dirty="0">
                <a:solidFill>
                  <a:srgbClr val="5B5F63"/>
                </a:solidFill>
                <a:latin typeface="Arial" pitchFamily="34" charset="0"/>
                <a:ea typeface="Arial" pitchFamily="34" charset="-122"/>
                <a:cs typeface="Arial" pitchFamily="34" charset="-120"/>
              </a:rPr>
              <a:t>OBJECTIONS</a:t>
            </a:r>
            <a:endParaRPr lang="en-US" sz="1100" dirty="0"/>
          </a:p>
        </p:txBody>
      </p:sp>
      <p:sp>
        <p:nvSpPr>
          <p:cNvPr id="28" name="Text 25"/>
          <p:cNvSpPr/>
          <p:nvPr/>
        </p:nvSpPr>
        <p:spPr>
          <a:xfrm>
            <a:off x="4526280" y="3749040"/>
            <a:ext cx="3383280" cy="1920240"/>
          </a:xfrm>
          <a:prstGeom prst="rect">
            <a:avLst/>
          </a:prstGeom>
          <a:noFill/>
          <a:ln/>
        </p:spPr>
        <p:txBody>
          <a:bodyPr wrap="square" rtlCol="0" anchor="t"/>
          <a:lstStyle/>
          <a:p>
            <a:pPr marL="342900" indent="-342900">
              <a:lnSpc>
                <a:spcPct val="120000"/>
              </a:lnSpc>
              <a:spcAft>
                <a:spcPts val="600"/>
              </a:spcAft>
              <a:buSzPct val="100000"/>
              <a:buChar char="•"/>
            </a:pPr>
            <a:r>
              <a:rPr lang="en-US" sz="1100" dirty="0">
                <a:solidFill>
                  <a:srgbClr val="5B5F63"/>
                </a:solidFill>
                <a:latin typeface="Arial" pitchFamily="34" charset="0"/>
                <a:ea typeface="Arial" pitchFamily="34" charset="-122"/>
                <a:cs typeface="Arial" pitchFamily="34" charset="-120"/>
              </a:rPr>
              <a:t>Prove it cryptographically — a signed hardware receipt, not a contractual clause</a:t>
            </a:r>
            <a:endParaRPr lang="en-US" sz="1100" dirty="0"/>
          </a:p>
          <a:p>
            <a:pPr marL="342900" indent="-342900">
              <a:lnSpc>
                <a:spcPct val="120000"/>
              </a:lnSpc>
              <a:spcAft>
                <a:spcPts val="600"/>
              </a:spcAft>
              <a:buSzPct val="100000"/>
              <a:buChar char="•"/>
            </a:pPr>
            <a:r>
              <a:rPr lang="en-US" sz="1100" dirty="0">
                <a:solidFill>
                  <a:srgbClr val="5B5F63"/>
                </a:solidFill>
                <a:latin typeface="Arial" pitchFamily="34" charset="0"/>
                <a:ea typeface="Arial" pitchFamily="34" charset="-122"/>
                <a:cs typeface="Arial" pitchFamily="34" charset="-120"/>
              </a:rPr>
              <a:t>We already have 100+ vendors in the stack; one more adds risk, not safety</a:t>
            </a:r>
            <a:endParaRPr lang="en-US" sz="1100" dirty="0"/>
          </a:p>
          <a:p>
            <a:pPr marL="342900" indent="-342900">
              <a:lnSpc>
                <a:spcPct val="120000"/>
              </a:lnSpc>
              <a:spcAft>
                <a:spcPts val="600"/>
              </a:spcAft>
              <a:buSzPct val="100000"/>
              <a:buChar char="•"/>
            </a:pPr>
            <a:r>
              <a:rPr lang="en-US" sz="1100" dirty="0">
                <a:solidFill>
                  <a:srgbClr val="5B5F63"/>
                </a:solidFill>
                <a:latin typeface="Arial" pitchFamily="34" charset="0"/>
                <a:ea typeface="Arial" pitchFamily="34" charset="-122"/>
                <a:cs typeface="Arial" pitchFamily="34" charset="-120"/>
              </a:rPr>
              <a:t>Will TEE attestation hold up with our auditors and our existing cloud contracts?</a:t>
            </a:r>
            <a:endParaRPr lang="en-US" sz="1100" dirty="0"/>
          </a:p>
        </p:txBody>
      </p:sp>
      <p:sp>
        <p:nvSpPr>
          <p:cNvPr id="29" name="Shape 26"/>
          <p:cNvSpPr/>
          <p:nvPr/>
        </p:nvSpPr>
        <p:spPr>
          <a:xfrm>
            <a:off x="8183880" y="3246120"/>
            <a:ext cx="3703320" cy="2560320"/>
          </a:xfrm>
          <a:prstGeom prst="rect">
            <a:avLst/>
          </a:prstGeom>
          <a:solidFill>
            <a:srgbClr val="FFFFFF"/>
          </a:solidFill>
          <a:ln/>
          <a:effectLst>
            <a:outerShdw sx="100000" sy="100000" kx="0" ky="0" algn="bl" rotWithShape="0" blurRad="4.297377374304699e+37" dist="1.7189509497218795e+37" dir="9.069926400000001e+44">
              <a:srgbClr val="000000">
                <a:alpha val="9.999999999999999e+43"/>
              </a:srgbClr>
            </a:outerShdw>
          </a:effectLst>
        </p:spPr>
        <p:txBody>
          <a:bodyPr/>
          <a:p/>
        </p:txBody>
      </p:sp>
      <p:sp>
        <p:nvSpPr>
          <p:cNvPr id="30" name="Shape 27"/>
          <p:cNvSpPr/>
          <p:nvPr/>
        </p:nvSpPr>
        <p:spPr>
          <a:xfrm>
            <a:off x="8183880" y="3246120"/>
            <a:ext cx="3703320" cy="45720"/>
          </a:xfrm>
          <a:prstGeom prst="rect">
            <a:avLst/>
          </a:prstGeom>
          <a:solidFill>
            <a:srgbClr val="185771"/>
          </a:solidFill>
          <a:ln/>
        </p:spPr>
        <p:txBody>
          <a:bodyPr/>
          <a:p/>
        </p:txBody>
      </p:sp>
      <p:sp>
        <p:nvSpPr>
          <p:cNvPr id="31" name="Text 28"/>
          <p:cNvSpPr/>
          <p:nvPr/>
        </p:nvSpPr>
        <p:spPr>
          <a:xfrm>
            <a:off x="8366760" y="3383280"/>
            <a:ext cx="3383280" cy="274320"/>
          </a:xfrm>
          <a:prstGeom prst="rect">
            <a:avLst/>
          </a:prstGeom>
          <a:noFill/>
          <a:ln/>
        </p:spPr>
        <p:txBody>
          <a:bodyPr wrap="square" rtlCol="0" anchor="ctr"/>
          <a:lstStyle/>
          <a:p>
            <a:pPr indent="0" marL="0">
              <a:buNone/>
            </a:pPr>
            <a:r>
              <a:rPr lang="en-US" sz="1100" b="1" spc="200" kern="0" dirty="0">
                <a:solidFill>
                  <a:srgbClr val="185771"/>
                </a:solidFill>
                <a:latin typeface="Arial" pitchFamily="34" charset="0"/>
                <a:ea typeface="Arial" pitchFamily="34" charset="-122"/>
                <a:cs typeface="Arial" pitchFamily="34" charset="-120"/>
              </a:rPr>
              <a:t>WHAT CONVERTS THEM</a:t>
            </a:r>
            <a:endParaRPr lang="en-US" sz="1100" dirty="0"/>
          </a:p>
        </p:txBody>
      </p:sp>
      <p:sp>
        <p:nvSpPr>
          <p:cNvPr id="32" name="Text 29"/>
          <p:cNvSpPr/>
          <p:nvPr/>
        </p:nvSpPr>
        <p:spPr>
          <a:xfrm>
            <a:off x="8366760" y="3749040"/>
            <a:ext cx="3383280" cy="1920240"/>
          </a:xfrm>
          <a:prstGeom prst="rect">
            <a:avLst/>
          </a:prstGeom>
          <a:noFill/>
          <a:ln/>
        </p:spPr>
        <p:txBody>
          <a:bodyPr wrap="square" rtlCol="0" anchor="t"/>
          <a:lstStyle/>
          <a:p>
            <a:pPr marL="342900" indent="-342900">
              <a:lnSpc>
                <a:spcPct val="120000"/>
              </a:lnSpc>
              <a:spcAft>
                <a:spcPts val="600"/>
              </a:spcAft>
              <a:buSzPct val="100000"/>
              <a:buChar char="•"/>
            </a:pPr>
            <a:r>
              <a:rPr lang="en-US" sz="1100" dirty="0">
                <a:solidFill>
                  <a:srgbClr val="5B5F63"/>
                </a:solidFill>
                <a:latin typeface="Arial" pitchFamily="34" charset="0"/>
                <a:ea typeface="Arial" pitchFamily="34" charset="-122"/>
                <a:cs typeface="Arial" pitchFamily="34" charset="-120"/>
              </a:rPr>
              <a:t>Live attestation demo: signed hardware receipt produced in real time — no prep</a:t>
            </a:r>
            <a:endParaRPr lang="en-US" sz="1100" dirty="0"/>
          </a:p>
          <a:p>
            <a:pPr marL="342900" indent="-342900">
              <a:lnSpc>
                <a:spcPct val="120000"/>
              </a:lnSpc>
              <a:spcAft>
                <a:spcPts val="600"/>
              </a:spcAft>
              <a:buSzPct val="100000"/>
              <a:buChar char="•"/>
            </a:pPr>
            <a:r>
              <a:rPr lang="en-US" sz="1100" dirty="0">
                <a:solidFill>
                  <a:srgbClr val="5B5F63"/>
                </a:solidFill>
                <a:latin typeface="Arial" pitchFamily="34" charset="0"/>
                <a:ea typeface="Arial" pitchFamily="34" charset="-122"/>
                <a:cs typeface="Arial" pitchFamily="34" charset="-120"/>
              </a:rPr>
              <a:t>Certifications roadmap with committed quarters: SOC2 Type II, ISO 27001, HIPAA</a:t>
            </a:r>
            <a:endParaRPr lang="en-US" sz="1100" dirty="0"/>
          </a:p>
          <a:p>
            <a:pPr marL="342900" indent="-342900">
              <a:lnSpc>
                <a:spcPct val="120000"/>
              </a:lnSpc>
              <a:spcAft>
                <a:spcPts val="600"/>
              </a:spcAft>
              <a:buSzPct val="100000"/>
              <a:buChar char="•"/>
            </a:pPr>
            <a:r>
              <a:rPr lang="en-US" sz="1100" dirty="0">
                <a:solidFill>
                  <a:srgbClr val="5B5F63"/>
                </a:solidFill>
                <a:latin typeface="Arial" pitchFamily="34" charset="0"/>
                <a:ea typeface="Arial" pitchFamily="34" charset="-122"/>
                <a:cs typeface="Arial" pitchFamily="34" charset="-120"/>
              </a:rPr>
              <a:t>Reference call with a same-industry CISO who ran and passed the same review</a:t>
            </a:r>
            <a:endParaRPr lang="en-US" sz="1100" dirty="0"/>
          </a:p>
          <a:p>
            <a:pPr marL="342900" indent="-342900">
              <a:lnSpc>
                <a:spcPct val="120000"/>
              </a:lnSpc>
              <a:spcAft>
                <a:spcPts val="600"/>
              </a:spcAft>
              <a:buSzPct val="100000"/>
              <a:buChar char="•"/>
            </a:pPr>
            <a:r>
              <a:rPr lang="en-US" sz="1100" dirty="0">
                <a:solidFill>
                  <a:srgbClr val="5B5F63"/>
                </a:solidFill>
                <a:latin typeface="Arial" pitchFamily="34" charset="0"/>
                <a:ea typeface="Arial" pitchFamily="34" charset="-122"/>
                <a:cs typeface="Arial" pitchFamily="34" charset="-120"/>
              </a:rPr>
              <a:t>Runs inside their own perimeter — no data routes externally, ever</a:t>
            </a:r>
            <a:endParaRPr lang="en-US" sz="1100" dirty="0"/>
          </a:p>
        </p:txBody>
      </p:sp>
      <p:sp>
        <p:nvSpPr>
          <p:cNvPr id="33" name="Text 30"/>
          <p:cNvSpPr/>
          <p:nvPr/>
        </p:nvSpPr>
        <p:spPr>
          <a:xfrm>
            <a:off x="11460175" y="6446520"/>
            <a:ext cx="457200" cy="274320"/>
          </a:xfrm>
          <a:prstGeom prst="rect">
            <a:avLst/>
          </a:prstGeom>
          <a:noFill/>
          <a:ln/>
        </p:spPr>
        <p:txBody>
          <a:bodyPr wrap="square" rtlCol="0" anchor="ctr"/>
          <a:lstStyle/>
          <a:p>
            <a:pPr algn="r" indent="0" marL="0">
              <a:buNone/>
            </a:pPr>
            <a:r>
              <a:rPr lang="en-US" sz="1000" dirty="0">
                <a:solidFill>
                  <a:srgbClr val="9A9A93"/>
                </a:solidFill>
                <a:latin typeface="Arial" pitchFamily="34" charset="0"/>
                <a:ea typeface="Arial" pitchFamily="34" charset="-122"/>
                <a:cs typeface="Arial"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9F5"/>
        </a:solidFill>
      </p:bgPr>
    </p:bg>
    <p:spTree>
      <p:nvGrpSpPr>
        <p:cNvPr id="1" name=""/>
        <p:cNvGrpSpPr/>
        <p:nvPr/>
      </p:nvGrpSpPr>
      <p:grpSpPr>
        <a:xfrm>
          <a:off x="0" y="0"/>
          <a:ext cx="0" cy="0"/>
          <a:chOff x="0" y="0"/>
          <a:chExt cx="0" cy="0"/>
        </a:xfrm>
      </p:grpSpPr>
      <p:sp>
        <p:nvSpPr>
          <p:cNvPr id="2" name="Shape 0"/>
          <p:cNvSpPr/>
          <p:nvPr/>
        </p:nvSpPr>
        <p:spPr>
          <a:xfrm>
            <a:off x="0" y="0"/>
            <a:ext cx="3977640" cy="6858000"/>
          </a:xfrm>
          <a:prstGeom prst="rect">
            <a:avLst/>
          </a:prstGeom>
          <a:solidFill>
            <a:srgbClr val="0E0E10"/>
          </a:solidFill>
          <a:ln/>
        </p:spPr>
        <p:txBody>
          <a:bodyPr/>
          <a:p/>
        </p:txBody>
      </p:sp>
      <p:sp>
        <p:nvSpPr>
          <p:cNvPr id="3" name="Shape 1"/>
          <p:cNvSpPr/>
          <p:nvPr/>
        </p:nvSpPr>
        <p:spPr>
          <a:xfrm>
            <a:off x="0" y="0"/>
            <a:ext cx="109728" cy="6858000"/>
          </a:xfrm>
          <a:prstGeom prst="rect">
            <a:avLst/>
          </a:prstGeom>
          <a:solidFill>
            <a:srgbClr val="788C5D"/>
          </a:solidFill>
          <a:ln/>
        </p:spPr>
        <p:txBody>
          <a:bodyPr/>
          <a:p/>
        </p:txBody>
      </p:sp>
      <p:pic>
        <p:nvPicPr>
          <p:cNvPr id="4" name="Image 0" descr="preencoded.png">    </p:cNvPr>
          <p:cNvPicPr>
            <a:picLocks noChangeAspect="1"/>
          </p:cNvPicPr>
          <p:nvPr/>
        </p:nvPicPr>
        <p:blipFill>
          <a:blip r:embed="rId1"/>
          <a:stretch>
            <a:fillRect/>
          </a:stretch>
        </p:blipFill>
        <p:spPr>
          <a:xfrm>
            <a:off x="502920" y="640080"/>
            <a:ext cx="640080" cy="640080"/>
          </a:xfrm>
          <a:prstGeom prst="rect">
            <a:avLst/>
          </a:prstGeom>
        </p:spPr>
      </p:pic>
      <p:sp>
        <p:nvSpPr>
          <p:cNvPr id="5" name="Text 2"/>
          <p:cNvSpPr/>
          <p:nvPr/>
        </p:nvSpPr>
        <p:spPr>
          <a:xfrm>
            <a:off x="502920" y="1417320"/>
            <a:ext cx="2743200" cy="274320"/>
          </a:xfrm>
          <a:prstGeom prst="rect">
            <a:avLst/>
          </a:prstGeom>
          <a:noFill/>
          <a:ln/>
        </p:spPr>
        <p:txBody>
          <a:bodyPr wrap="square" rtlCol="0" anchor="ctr"/>
          <a:lstStyle/>
          <a:p>
            <a:pPr indent="0" marL="0">
              <a:buNone/>
            </a:pPr>
            <a:r>
              <a:rPr lang="en-US" sz="1000" b="1" spc="400" kern="0" dirty="0">
                <a:solidFill>
                  <a:srgbClr val="788C5D"/>
                </a:solidFill>
                <a:latin typeface="Arial" pitchFamily="34" charset="0"/>
                <a:ea typeface="Arial" pitchFamily="34" charset="-122"/>
                <a:cs typeface="Arial" pitchFamily="34" charset="-120"/>
              </a:rPr>
              <a:t>PERSONA</a:t>
            </a:r>
            <a:endParaRPr lang="en-US" sz="1000" dirty="0"/>
          </a:p>
        </p:txBody>
      </p:sp>
      <p:sp>
        <p:nvSpPr>
          <p:cNvPr id="6" name="Text 3"/>
          <p:cNvSpPr/>
          <p:nvPr/>
        </p:nvSpPr>
        <p:spPr>
          <a:xfrm>
            <a:off x="502920" y="1691640"/>
            <a:ext cx="3200400" cy="914400"/>
          </a:xfrm>
          <a:prstGeom prst="rect">
            <a:avLst/>
          </a:prstGeom>
          <a:noFill/>
          <a:ln/>
        </p:spPr>
        <p:txBody>
          <a:bodyPr wrap="square" rtlCol="0" anchor="ctr"/>
          <a:lstStyle/>
          <a:p>
            <a:pPr indent="0" marL="0">
              <a:lnSpc>
                <a:spcPct val="95000"/>
              </a:lnSpc>
              <a:buNone/>
            </a:pPr>
            <a:r>
              <a:rPr lang="en-US" sz="2600" dirty="0">
                <a:solidFill>
                  <a:srgbClr val="FFFFFF"/>
                </a:solidFill>
                <a:latin typeface="Georgia" pitchFamily="34" charset="0"/>
                <a:ea typeface="Georgia" pitchFamily="34" charset="-122"/>
                <a:cs typeface="Georgia" pitchFamily="34" charset="-120"/>
              </a:rPr>
              <a:t>The Champion</a:t>
            </a:r>
            <a:endParaRPr lang="en-US" sz="2600" dirty="0"/>
          </a:p>
        </p:txBody>
      </p:sp>
      <p:sp>
        <p:nvSpPr>
          <p:cNvPr id="7" name="Text 4"/>
          <p:cNvSpPr/>
          <p:nvPr/>
        </p:nvSpPr>
        <p:spPr>
          <a:xfrm>
            <a:off x="502920" y="2743200"/>
            <a:ext cx="3200400" cy="548640"/>
          </a:xfrm>
          <a:prstGeom prst="rect">
            <a:avLst/>
          </a:prstGeom>
          <a:noFill/>
          <a:ln/>
        </p:spPr>
        <p:txBody>
          <a:bodyPr wrap="square" rtlCol="0" anchor="ctr"/>
          <a:lstStyle/>
          <a:p>
            <a:pPr indent="0" marL="0">
              <a:lnSpc>
                <a:spcPct val="120000"/>
              </a:lnSpc>
              <a:buNone/>
            </a:pPr>
            <a:r>
              <a:rPr lang="en-US" sz="1200" dirty="0">
                <a:solidFill>
                  <a:srgbClr val="9A9A93"/>
                </a:solidFill>
                <a:latin typeface="Arial" pitchFamily="34" charset="0"/>
                <a:ea typeface="Arial" pitchFamily="34" charset="-122"/>
                <a:cs typeface="Arial" pitchFamily="34" charset="-120"/>
              </a:rPr>
              <a:t>VP Engineering  ·  Head of Product  ·  Innovation Lead</a:t>
            </a:r>
            <a:endParaRPr lang="en-US" sz="1200" dirty="0"/>
          </a:p>
        </p:txBody>
      </p:sp>
      <p:sp>
        <p:nvSpPr>
          <p:cNvPr id="8" name="Shape 5"/>
          <p:cNvSpPr/>
          <p:nvPr/>
        </p:nvSpPr>
        <p:spPr>
          <a:xfrm>
            <a:off x="502920" y="3383280"/>
            <a:ext cx="2194560" cy="347472"/>
          </a:xfrm>
          <a:prstGeom prst="roundRect">
            <a:avLst>
              <a:gd name="adj" fmla="val 13158"/>
            </a:avLst>
          </a:prstGeom>
          <a:solidFill>
            <a:srgbClr val="17171B"/>
          </a:solidFill>
          <a:ln/>
        </p:spPr>
        <p:txBody>
          <a:bodyPr/>
          <a:p/>
        </p:txBody>
      </p:sp>
      <p:sp>
        <p:nvSpPr>
          <p:cNvPr id="9" name="Text 6"/>
          <p:cNvSpPr/>
          <p:nvPr/>
        </p:nvSpPr>
        <p:spPr>
          <a:xfrm>
            <a:off x="502920" y="3383280"/>
            <a:ext cx="2194560" cy="347472"/>
          </a:xfrm>
          <a:prstGeom prst="rect">
            <a:avLst/>
          </a:prstGeom>
          <a:noFill/>
          <a:ln/>
        </p:spPr>
        <p:txBody>
          <a:bodyPr wrap="square" rtlCol="0" anchor="ctr"/>
          <a:lstStyle/>
          <a:p>
            <a:pPr algn="ctr" indent="0" marL="0">
              <a:buNone/>
            </a:pPr>
            <a:r>
              <a:rPr lang="en-US" sz="1050" dirty="0">
                <a:solidFill>
                  <a:srgbClr val="ECEAE1"/>
                </a:solidFill>
                <a:latin typeface="Arial" pitchFamily="34" charset="0"/>
                <a:ea typeface="Arial" pitchFamily="34" charset="-122"/>
                <a:cs typeface="Arial" pitchFamily="34" charset="-120"/>
              </a:rPr>
              <a:t>B2B</a:t>
            </a:r>
            <a:endParaRPr lang="en-US" sz="1050" dirty="0"/>
          </a:p>
        </p:txBody>
      </p:sp>
      <p:sp>
        <p:nvSpPr>
          <p:cNvPr id="10" name="Shape 7"/>
          <p:cNvSpPr/>
          <p:nvPr/>
        </p:nvSpPr>
        <p:spPr>
          <a:xfrm>
            <a:off x="502920" y="3840480"/>
            <a:ext cx="2194560" cy="347472"/>
          </a:xfrm>
          <a:prstGeom prst="roundRect">
            <a:avLst>
              <a:gd name="adj" fmla="val 13158"/>
            </a:avLst>
          </a:prstGeom>
          <a:solidFill>
            <a:srgbClr val="17171B"/>
          </a:solidFill>
          <a:ln/>
        </p:spPr>
        <p:txBody>
          <a:bodyPr/>
          <a:p/>
        </p:txBody>
      </p:sp>
      <p:sp>
        <p:nvSpPr>
          <p:cNvPr id="11" name="Text 8"/>
          <p:cNvSpPr/>
          <p:nvPr/>
        </p:nvSpPr>
        <p:spPr>
          <a:xfrm>
            <a:off x="502920" y="3840480"/>
            <a:ext cx="2194560" cy="347472"/>
          </a:xfrm>
          <a:prstGeom prst="rect">
            <a:avLst/>
          </a:prstGeom>
          <a:noFill/>
          <a:ln/>
        </p:spPr>
        <p:txBody>
          <a:bodyPr wrap="square" rtlCol="0" anchor="ctr"/>
          <a:lstStyle/>
          <a:p>
            <a:pPr algn="ctr" indent="0" marL="0">
              <a:buNone/>
            </a:pPr>
            <a:r>
              <a:rPr lang="en-US" sz="1050" dirty="0">
                <a:solidFill>
                  <a:srgbClr val="ECEAE1"/>
                </a:solidFill>
                <a:latin typeface="Arial" pitchFamily="34" charset="0"/>
                <a:ea typeface="Arial" pitchFamily="34" charset="-122"/>
                <a:cs typeface="Arial" pitchFamily="34" charset="-120"/>
              </a:rPr>
              <a:t>Champion</a:t>
            </a:r>
            <a:endParaRPr lang="en-US" sz="1050" dirty="0"/>
          </a:p>
        </p:txBody>
      </p:sp>
      <p:sp>
        <p:nvSpPr>
          <p:cNvPr id="12" name="Shape 9"/>
          <p:cNvSpPr/>
          <p:nvPr/>
        </p:nvSpPr>
        <p:spPr>
          <a:xfrm>
            <a:off x="502920" y="4297680"/>
            <a:ext cx="2194560" cy="347472"/>
          </a:xfrm>
          <a:prstGeom prst="roundRect">
            <a:avLst>
              <a:gd name="adj" fmla="val 13158"/>
            </a:avLst>
          </a:prstGeom>
          <a:solidFill>
            <a:srgbClr val="17171B"/>
          </a:solidFill>
          <a:ln/>
        </p:spPr>
        <p:txBody>
          <a:bodyPr/>
          <a:p/>
        </p:txBody>
      </p:sp>
      <p:sp>
        <p:nvSpPr>
          <p:cNvPr id="13" name="Text 10"/>
          <p:cNvSpPr/>
          <p:nvPr/>
        </p:nvSpPr>
        <p:spPr>
          <a:xfrm>
            <a:off x="502920" y="4297680"/>
            <a:ext cx="2194560" cy="347472"/>
          </a:xfrm>
          <a:prstGeom prst="rect">
            <a:avLst/>
          </a:prstGeom>
          <a:noFill/>
          <a:ln/>
        </p:spPr>
        <p:txBody>
          <a:bodyPr wrap="square" rtlCol="0" anchor="ctr"/>
          <a:lstStyle/>
          <a:p>
            <a:pPr algn="ctr" indent="0" marL="0">
              <a:buNone/>
            </a:pPr>
            <a:r>
              <a:rPr lang="en-US" sz="1050" dirty="0">
                <a:solidFill>
                  <a:srgbClr val="ECEAE1"/>
                </a:solidFill>
                <a:latin typeface="Arial" pitchFamily="34" charset="0"/>
                <a:ea typeface="Arial" pitchFamily="34" charset="-122"/>
                <a:cs typeface="Arial" pitchFamily="34" charset="-120"/>
              </a:rPr>
              <a:t>Hybrid</a:t>
            </a:r>
            <a:endParaRPr lang="en-US" sz="1050" dirty="0"/>
          </a:p>
        </p:txBody>
      </p:sp>
      <p:sp>
        <p:nvSpPr>
          <p:cNvPr id="14" name="Shape 11"/>
          <p:cNvSpPr/>
          <p:nvPr/>
        </p:nvSpPr>
        <p:spPr>
          <a:xfrm>
            <a:off x="502920" y="5029200"/>
            <a:ext cx="3017520" cy="18288"/>
          </a:xfrm>
          <a:prstGeom prst="rect">
            <a:avLst/>
          </a:prstGeom>
          <a:solidFill>
            <a:srgbClr val="2E2E33"/>
          </a:solidFill>
          <a:ln/>
        </p:spPr>
        <p:txBody>
          <a:bodyPr/>
          <a:p/>
        </p:txBody>
      </p:sp>
      <p:sp>
        <p:nvSpPr>
          <p:cNvPr id="15" name="Text 12"/>
          <p:cNvSpPr/>
          <p:nvPr/>
        </p:nvSpPr>
        <p:spPr>
          <a:xfrm>
            <a:off x="502920" y="5120640"/>
            <a:ext cx="3017520" cy="228600"/>
          </a:xfrm>
          <a:prstGeom prst="rect">
            <a:avLst/>
          </a:prstGeom>
          <a:noFill/>
          <a:ln/>
        </p:spPr>
        <p:txBody>
          <a:bodyPr wrap="square" rtlCol="0" anchor="ctr"/>
          <a:lstStyle/>
          <a:p>
            <a:pPr indent="0" marL="0">
              <a:buNone/>
            </a:pPr>
            <a:r>
              <a:rPr lang="en-US" sz="900" b="1" spc="200" kern="0" dirty="0">
                <a:solidFill>
                  <a:srgbClr val="788C5D"/>
                </a:solidFill>
                <a:latin typeface="Arial" pitchFamily="34" charset="0"/>
                <a:ea typeface="Arial" pitchFamily="34" charset="-122"/>
                <a:cs typeface="Arial" pitchFamily="34" charset="-120"/>
              </a:rPr>
              <a:t>WHO THEY ARE</a:t>
            </a:r>
            <a:endParaRPr lang="en-US" sz="900" dirty="0"/>
          </a:p>
        </p:txBody>
      </p:sp>
      <p:sp>
        <p:nvSpPr>
          <p:cNvPr id="16" name="Text 13"/>
          <p:cNvSpPr/>
          <p:nvPr/>
        </p:nvSpPr>
        <p:spPr>
          <a:xfrm>
            <a:off x="502920" y="5349240"/>
            <a:ext cx="3108960" cy="914400"/>
          </a:xfrm>
          <a:prstGeom prst="rect">
            <a:avLst/>
          </a:prstGeom>
          <a:noFill/>
          <a:ln/>
        </p:spPr>
        <p:txBody>
          <a:bodyPr wrap="square" rtlCol="0" anchor="ctr"/>
          <a:lstStyle/>
          <a:p>
            <a:pPr indent="0" marL="0">
              <a:lnSpc>
                <a:spcPct val="125000"/>
              </a:lnSpc>
              <a:buNone/>
            </a:pPr>
            <a:r>
              <a:rPr lang="en-US" sz="1100" dirty="0">
                <a:solidFill>
                  <a:srgbClr val="ECEAE1"/>
                </a:solidFill>
                <a:latin typeface="Arial" pitchFamily="34" charset="0"/>
                <a:ea typeface="Arial" pitchFamily="34" charset="-122"/>
                <a:cs typeface="Arial" pitchFamily="34" charset="-120"/>
              </a:rPr>
              <a:t>Wants to ship AI features. Is blocked by a process averaging 8 months from prototype to production. In 2025, 42% of companies abandoned most AI initiatives — up from 17% the year before. They explain those deaths to leadership.</a:t>
            </a:r>
            <a:endParaRPr lang="en-US" sz="1100" dirty="0"/>
          </a:p>
        </p:txBody>
      </p:sp>
      <p:sp>
        <p:nvSpPr>
          <p:cNvPr id="17" name="Shape 14"/>
          <p:cNvSpPr/>
          <p:nvPr/>
        </p:nvSpPr>
        <p:spPr>
          <a:xfrm>
            <a:off x="4343400" y="502920"/>
            <a:ext cx="3703320" cy="2560320"/>
          </a:xfrm>
          <a:prstGeom prst="rect">
            <a:avLst/>
          </a:prstGeom>
          <a:solidFill>
            <a:srgbClr val="FFFFFF"/>
          </a:solidFill>
          <a:ln/>
          <a:effectLst>
            <a:outerShdw sx="100000" sy="100000" kx="0" ky="0" algn="bl" rotWithShape="0" blurRad="5.457669265366968e+41" dist="2.183067706146787e+41" dir="5.44195584e+49">
              <a:srgbClr val="000000">
                <a:alpha val="1e+49"/>
              </a:srgbClr>
            </a:outerShdw>
          </a:effectLst>
        </p:spPr>
        <p:txBody>
          <a:bodyPr/>
          <a:p/>
        </p:txBody>
      </p:sp>
      <p:sp>
        <p:nvSpPr>
          <p:cNvPr id="18" name="Shape 15"/>
          <p:cNvSpPr/>
          <p:nvPr/>
        </p:nvSpPr>
        <p:spPr>
          <a:xfrm>
            <a:off x="4343400" y="502920"/>
            <a:ext cx="3703320" cy="45720"/>
          </a:xfrm>
          <a:prstGeom prst="rect">
            <a:avLst/>
          </a:prstGeom>
          <a:solidFill>
            <a:srgbClr val="C2703D"/>
          </a:solidFill>
          <a:ln/>
        </p:spPr>
        <p:txBody>
          <a:bodyPr/>
          <a:p/>
        </p:txBody>
      </p:sp>
      <p:sp>
        <p:nvSpPr>
          <p:cNvPr id="19" name="Text 16"/>
          <p:cNvSpPr/>
          <p:nvPr/>
        </p:nvSpPr>
        <p:spPr>
          <a:xfrm>
            <a:off x="4526280" y="640080"/>
            <a:ext cx="3383280" cy="274320"/>
          </a:xfrm>
          <a:prstGeom prst="rect">
            <a:avLst/>
          </a:prstGeom>
          <a:noFill/>
          <a:ln/>
        </p:spPr>
        <p:txBody>
          <a:bodyPr wrap="square" rtlCol="0" anchor="ctr"/>
          <a:lstStyle/>
          <a:p>
            <a:pPr indent="0" marL="0">
              <a:buNone/>
            </a:pPr>
            <a:r>
              <a:rPr lang="en-US" sz="1100" b="1" spc="200" kern="0" dirty="0">
                <a:solidFill>
                  <a:srgbClr val="C2703D"/>
                </a:solidFill>
                <a:latin typeface="Arial" pitchFamily="34" charset="0"/>
                <a:ea typeface="Arial" pitchFamily="34" charset="-122"/>
                <a:cs typeface="Arial" pitchFamily="34" charset="-120"/>
              </a:rPr>
              <a:t>PAINS</a:t>
            </a:r>
            <a:endParaRPr lang="en-US" sz="1100" dirty="0"/>
          </a:p>
        </p:txBody>
      </p:sp>
      <p:sp>
        <p:nvSpPr>
          <p:cNvPr id="20" name="Text 17"/>
          <p:cNvSpPr/>
          <p:nvPr/>
        </p:nvSpPr>
        <p:spPr>
          <a:xfrm>
            <a:off x="4526280" y="1005840"/>
            <a:ext cx="3383280" cy="1920240"/>
          </a:xfrm>
          <a:prstGeom prst="rect">
            <a:avLst/>
          </a:prstGeom>
          <a:noFill/>
          <a:ln/>
        </p:spPr>
        <p:txBody>
          <a:bodyPr wrap="square" rtlCol="0" anchor="t"/>
          <a:lstStyle/>
          <a:p>
            <a:pPr marL="342900" indent="-342900">
              <a:lnSpc>
                <a:spcPct val="120000"/>
              </a:lnSpc>
              <a:spcAft>
                <a:spcPts val="600"/>
              </a:spcAft>
              <a:buSzPct val="100000"/>
              <a:buChar char="•"/>
            </a:pPr>
            <a:r>
              <a:rPr lang="en-US" sz="1100" dirty="0">
                <a:solidFill>
                  <a:srgbClr val="5B5F63"/>
                </a:solidFill>
                <a:latin typeface="Arial" pitchFamily="34" charset="0"/>
                <a:ea typeface="Arial" pitchFamily="34" charset="-122"/>
                <a:cs typeface="Arial" pitchFamily="34" charset="-120"/>
              </a:rPr>
              <a:t>42% of companies abandoned most AI initiatives in 2025 — up from 17% in 2024</a:t>
            </a:r>
            <a:endParaRPr lang="en-US" sz="1100" dirty="0"/>
          </a:p>
          <a:p>
            <a:pPr marL="342900" indent="-342900">
              <a:lnSpc>
                <a:spcPct val="120000"/>
              </a:lnSpc>
              <a:spcAft>
                <a:spcPts val="600"/>
              </a:spcAft>
              <a:buSzPct val="100000"/>
              <a:buChar char="•"/>
            </a:pPr>
            <a:r>
              <a:rPr lang="en-US" sz="1100" dirty="0">
                <a:solidFill>
                  <a:srgbClr val="5B5F63"/>
                </a:solidFill>
                <a:latin typeface="Arial" pitchFamily="34" charset="0"/>
                <a:ea typeface="Arial" pitchFamily="34" charset="-122"/>
                <a:cs typeface="Arial" pitchFamily="34" charset="-120"/>
              </a:rPr>
              <a:t>Over half of GenAI PoCs shelved post-prototype: killed by compliance, not technical failure</a:t>
            </a:r>
            <a:endParaRPr lang="en-US" sz="1100" dirty="0"/>
          </a:p>
          <a:p>
            <a:pPr marL="342900" indent="-342900">
              <a:lnSpc>
                <a:spcPct val="120000"/>
              </a:lnSpc>
              <a:spcAft>
                <a:spcPts val="600"/>
              </a:spcAft>
              <a:buSzPct val="100000"/>
              <a:buChar char="•"/>
            </a:pPr>
            <a:r>
              <a:rPr lang="en-US" sz="1100" dirty="0">
                <a:solidFill>
                  <a:srgbClr val="5B5F63"/>
                </a:solidFill>
                <a:latin typeface="Arial" pitchFamily="34" charset="0"/>
                <a:ea typeface="Arial" pitchFamily="34" charset="-122"/>
                <a:cs typeface="Arial" pitchFamily="34" charset="-120"/>
              </a:rPr>
              <a:t>Competitors announce AI features weekly while their projects sit in security review</a:t>
            </a:r>
            <a:endParaRPr lang="en-US" sz="1100" dirty="0"/>
          </a:p>
        </p:txBody>
      </p:sp>
      <p:sp>
        <p:nvSpPr>
          <p:cNvPr id="21" name="Shape 18"/>
          <p:cNvSpPr/>
          <p:nvPr/>
        </p:nvSpPr>
        <p:spPr>
          <a:xfrm>
            <a:off x="8183880" y="502920"/>
            <a:ext cx="3703320" cy="2560320"/>
          </a:xfrm>
          <a:prstGeom prst="rect">
            <a:avLst/>
          </a:prstGeom>
          <a:solidFill>
            <a:srgbClr val="FFFFFF"/>
          </a:solidFill>
          <a:ln/>
          <a:effectLst>
            <a:outerShdw sx="100000" sy="100000" kx="0" ky="0" algn="bl" rotWithShape="0" blurRad="6.93123996701605e+45" dist="2.7724959868064195e+45" dir="3.2651735040000005e+54">
              <a:srgbClr val="000000">
                <a:alpha val="9.999999999999999e+53"/>
              </a:srgbClr>
            </a:outerShdw>
          </a:effectLst>
        </p:spPr>
        <p:txBody>
          <a:bodyPr/>
          <a:p/>
        </p:txBody>
      </p:sp>
      <p:sp>
        <p:nvSpPr>
          <p:cNvPr id="22" name="Shape 19"/>
          <p:cNvSpPr/>
          <p:nvPr/>
        </p:nvSpPr>
        <p:spPr>
          <a:xfrm>
            <a:off x="8183880" y="502920"/>
            <a:ext cx="3703320" cy="45720"/>
          </a:xfrm>
          <a:prstGeom prst="rect">
            <a:avLst/>
          </a:prstGeom>
          <a:solidFill>
            <a:srgbClr val="788C5D"/>
          </a:solidFill>
          <a:ln/>
        </p:spPr>
        <p:txBody>
          <a:bodyPr/>
          <a:p/>
        </p:txBody>
      </p:sp>
      <p:sp>
        <p:nvSpPr>
          <p:cNvPr id="23" name="Text 20"/>
          <p:cNvSpPr/>
          <p:nvPr/>
        </p:nvSpPr>
        <p:spPr>
          <a:xfrm>
            <a:off x="8366760" y="640080"/>
            <a:ext cx="3383280" cy="274320"/>
          </a:xfrm>
          <a:prstGeom prst="rect">
            <a:avLst/>
          </a:prstGeom>
          <a:noFill/>
          <a:ln/>
        </p:spPr>
        <p:txBody>
          <a:bodyPr wrap="square" rtlCol="0" anchor="ctr"/>
          <a:lstStyle/>
          <a:p>
            <a:pPr indent="0" marL="0">
              <a:buNone/>
            </a:pPr>
            <a:r>
              <a:rPr lang="en-US" sz="1100" b="1" spc="200" kern="0" dirty="0">
                <a:solidFill>
                  <a:srgbClr val="788C5D"/>
                </a:solidFill>
                <a:latin typeface="Arial" pitchFamily="34" charset="0"/>
                <a:ea typeface="Arial" pitchFamily="34" charset="-122"/>
                <a:cs typeface="Arial" pitchFamily="34" charset="-120"/>
              </a:rPr>
              <a:t>TRIGGERS</a:t>
            </a:r>
            <a:endParaRPr lang="en-US" sz="1100" dirty="0"/>
          </a:p>
        </p:txBody>
      </p:sp>
      <p:sp>
        <p:nvSpPr>
          <p:cNvPr id="24" name="Text 21"/>
          <p:cNvSpPr/>
          <p:nvPr/>
        </p:nvSpPr>
        <p:spPr>
          <a:xfrm>
            <a:off x="8366760" y="1005840"/>
            <a:ext cx="3383280" cy="1920240"/>
          </a:xfrm>
          <a:prstGeom prst="rect">
            <a:avLst/>
          </a:prstGeom>
          <a:noFill/>
          <a:ln/>
        </p:spPr>
        <p:txBody>
          <a:bodyPr wrap="square" rtlCol="0" anchor="t"/>
          <a:lstStyle/>
          <a:p>
            <a:pPr marL="342900" indent="-342900">
              <a:lnSpc>
                <a:spcPct val="120000"/>
              </a:lnSpc>
              <a:spcAft>
                <a:spcPts val="600"/>
              </a:spcAft>
              <a:buSzPct val="100000"/>
              <a:buChar char="•"/>
            </a:pPr>
            <a:r>
              <a:rPr lang="en-US" sz="1100" dirty="0">
                <a:solidFill>
                  <a:srgbClr val="5B5F63"/>
                </a:solidFill>
                <a:latin typeface="Arial" pitchFamily="34" charset="0"/>
                <a:ea typeface="Arial" pitchFamily="34" charset="-122"/>
                <a:cs typeface="Arial" pitchFamily="34" charset="-120"/>
              </a:rPr>
              <a:t>A competitor launches an AI feature they were supposed to ship first</a:t>
            </a:r>
            <a:endParaRPr lang="en-US" sz="1100" dirty="0"/>
          </a:p>
          <a:p>
            <a:pPr marL="342900" indent="-342900">
              <a:lnSpc>
                <a:spcPct val="120000"/>
              </a:lnSpc>
              <a:spcAft>
                <a:spcPts val="600"/>
              </a:spcAft>
              <a:buSzPct val="100000"/>
              <a:buChar char="•"/>
            </a:pPr>
            <a:r>
              <a:rPr lang="en-US" sz="1100" dirty="0">
                <a:solidFill>
                  <a:srgbClr val="5B5F63"/>
                </a:solidFill>
                <a:latin typeface="Arial" pitchFamily="34" charset="0"/>
                <a:ea typeface="Arial" pitchFamily="34" charset="-122"/>
                <a:cs typeface="Arial" pitchFamily="34" charset="-120"/>
              </a:rPr>
              <a:t>Leadership asks for a status update on an initiative that's been 'in review' for months</a:t>
            </a:r>
            <a:endParaRPr lang="en-US" sz="1100" dirty="0"/>
          </a:p>
          <a:p>
            <a:pPr marL="342900" indent="-342900">
              <a:lnSpc>
                <a:spcPct val="120000"/>
              </a:lnSpc>
              <a:spcAft>
                <a:spcPts val="600"/>
              </a:spcAft>
              <a:buSzPct val="100000"/>
              <a:buChar char="•"/>
            </a:pPr>
            <a:r>
              <a:rPr lang="en-US" sz="1100" dirty="0">
                <a:solidFill>
                  <a:srgbClr val="5B5F63"/>
                </a:solidFill>
                <a:latin typeface="Arial" pitchFamily="34" charset="0"/>
                <a:ea typeface="Arial" pitchFamily="34" charset="-122"/>
                <a:cs typeface="Arial" pitchFamily="34" charset="-120"/>
              </a:rPr>
              <a:t>Security or legal quietly kills another PoC they spent three months building</a:t>
            </a:r>
            <a:endParaRPr lang="en-US" sz="1100" dirty="0"/>
          </a:p>
        </p:txBody>
      </p:sp>
      <p:sp>
        <p:nvSpPr>
          <p:cNvPr id="25" name="Shape 22"/>
          <p:cNvSpPr/>
          <p:nvPr/>
        </p:nvSpPr>
        <p:spPr>
          <a:xfrm>
            <a:off x="4343400" y="3246120"/>
            <a:ext cx="3703320" cy="2560320"/>
          </a:xfrm>
          <a:prstGeom prst="rect">
            <a:avLst/>
          </a:prstGeom>
          <a:solidFill>
            <a:srgbClr val="FFFFFF"/>
          </a:solidFill>
          <a:ln/>
          <a:effectLst>
            <a:outerShdw sx="100000" sy="100000" kx="0" ky="0" algn="bl" rotWithShape="0" blurRad="8.802674758110384e+49" dist="3.5210699032441527e+49" dir="1.9591041024000004e+59">
              <a:srgbClr val="000000">
                <a:alpha val="9.999999999999999e+58"/>
              </a:srgbClr>
            </a:outerShdw>
          </a:effectLst>
        </p:spPr>
        <p:txBody>
          <a:bodyPr/>
          <a:p/>
        </p:txBody>
      </p:sp>
      <p:sp>
        <p:nvSpPr>
          <p:cNvPr id="26" name="Shape 23"/>
          <p:cNvSpPr/>
          <p:nvPr/>
        </p:nvSpPr>
        <p:spPr>
          <a:xfrm>
            <a:off x="4343400" y="3246120"/>
            <a:ext cx="3703320" cy="45720"/>
          </a:xfrm>
          <a:prstGeom prst="rect">
            <a:avLst/>
          </a:prstGeom>
          <a:solidFill>
            <a:srgbClr val="5B5F63"/>
          </a:solidFill>
          <a:ln/>
        </p:spPr>
        <p:txBody>
          <a:bodyPr/>
          <a:p/>
        </p:txBody>
      </p:sp>
      <p:sp>
        <p:nvSpPr>
          <p:cNvPr id="27" name="Text 24"/>
          <p:cNvSpPr/>
          <p:nvPr/>
        </p:nvSpPr>
        <p:spPr>
          <a:xfrm>
            <a:off x="4526280" y="3383280"/>
            <a:ext cx="3383280" cy="274320"/>
          </a:xfrm>
          <a:prstGeom prst="rect">
            <a:avLst/>
          </a:prstGeom>
          <a:noFill/>
          <a:ln/>
        </p:spPr>
        <p:txBody>
          <a:bodyPr wrap="square" rtlCol="0" anchor="ctr"/>
          <a:lstStyle/>
          <a:p>
            <a:pPr indent="0" marL="0">
              <a:buNone/>
            </a:pPr>
            <a:r>
              <a:rPr lang="en-US" sz="1100" b="1" spc="200" kern="0" dirty="0">
                <a:solidFill>
                  <a:srgbClr val="5B5F63"/>
                </a:solidFill>
                <a:latin typeface="Arial" pitchFamily="34" charset="0"/>
                <a:ea typeface="Arial" pitchFamily="34" charset="-122"/>
                <a:cs typeface="Arial" pitchFamily="34" charset="-120"/>
              </a:rPr>
              <a:t>OBJECTIONS</a:t>
            </a:r>
            <a:endParaRPr lang="en-US" sz="1100" dirty="0"/>
          </a:p>
        </p:txBody>
      </p:sp>
      <p:sp>
        <p:nvSpPr>
          <p:cNvPr id="28" name="Text 25"/>
          <p:cNvSpPr/>
          <p:nvPr/>
        </p:nvSpPr>
        <p:spPr>
          <a:xfrm>
            <a:off x="4526280" y="3749040"/>
            <a:ext cx="3383280" cy="1920240"/>
          </a:xfrm>
          <a:prstGeom prst="rect">
            <a:avLst/>
          </a:prstGeom>
          <a:noFill/>
          <a:ln/>
        </p:spPr>
        <p:txBody>
          <a:bodyPr wrap="square" rtlCol="0" anchor="t"/>
          <a:lstStyle/>
          <a:p>
            <a:pPr marL="342900" indent="-342900">
              <a:lnSpc>
                <a:spcPct val="120000"/>
              </a:lnSpc>
              <a:spcAft>
                <a:spcPts val="600"/>
              </a:spcAft>
              <a:buSzPct val="100000"/>
              <a:buChar char="•"/>
            </a:pPr>
            <a:r>
              <a:rPr lang="en-US" sz="1100" dirty="0">
                <a:solidFill>
                  <a:srgbClr val="5B5F63"/>
                </a:solidFill>
                <a:latin typeface="Arial" pitchFamily="34" charset="0"/>
                <a:ea typeface="Arial" pitchFamily="34" charset="-122"/>
                <a:cs typeface="Arial" pitchFamily="34" charset="-120"/>
              </a:rPr>
              <a:t>Will this actually get through security review, or stall like the last three did?</a:t>
            </a:r>
            <a:endParaRPr lang="en-US" sz="1100" dirty="0"/>
          </a:p>
          <a:p>
            <a:pPr marL="342900" indent="-342900">
              <a:lnSpc>
                <a:spcPct val="120000"/>
              </a:lnSpc>
              <a:spcAft>
                <a:spcPts val="600"/>
              </a:spcAft>
              <a:buSzPct val="100000"/>
              <a:buChar char="•"/>
            </a:pPr>
            <a:r>
              <a:rPr lang="en-US" sz="1100" dirty="0">
                <a:solidFill>
                  <a:srgbClr val="5B5F63"/>
                </a:solidFill>
                <a:latin typeface="Arial" pitchFamily="34" charset="0"/>
                <a:ea typeface="Arial" pitchFamily="34" charset="-122"/>
                <a:cs typeface="Arial" pitchFamily="34" charset="-120"/>
              </a:rPr>
              <a:t>Is the developer experience good enough that my team adopts it without pressure?</a:t>
            </a:r>
            <a:endParaRPr lang="en-US" sz="1100" dirty="0"/>
          </a:p>
          <a:p>
            <a:pPr marL="342900" indent="-342900">
              <a:lnSpc>
                <a:spcPct val="120000"/>
              </a:lnSpc>
              <a:spcAft>
                <a:spcPts val="600"/>
              </a:spcAft>
              <a:buSzPct val="100000"/>
              <a:buChar char="•"/>
            </a:pPr>
            <a:r>
              <a:rPr lang="en-US" sz="1100" dirty="0">
                <a:solidFill>
                  <a:srgbClr val="5B5F63"/>
                </a:solidFill>
                <a:latin typeface="Arial" pitchFamily="34" charset="0"/>
                <a:ea typeface="Arial" pitchFamily="34" charset="-122"/>
                <a:cs typeface="Arial" pitchFamily="34" charset="-120"/>
              </a:rPr>
              <a:t>Can we start without triggering another 6-month procurement cycle?</a:t>
            </a:r>
            <a:endParaRPr lang="en-US" sz="1100" dirty="0"/>
          </a:p>
        </p:txBody>
      </p:sp>
      <p:sp>
        <p:nvSpPr>
          <p:cNvPr id="29" name="Shape 26"/>
          <p:cNvSpPr/>
          <p:nvPr/>
        </p:nvSpPr>
        <p:spPr>
          <a:xfrm>
            <a:off x="8183880" y="3246120"/>
            <a:ext cx="3703320" cy="2560320"/>
          </a:xfrm>
          <a:prstGeom prst="rect">
            <a:avLst/>
          </a:prstGeom>
          <a:solidFill>
            <a:srgbClr val="FFFFFF"/>
          </a:solidFill>
          <a:ln/>
          <a:effectLst>
            <a:outerShdw sx="100000" sy="100000" kx="0" ky="0" algn="bl" rotWithShape="0" blurRad="1.1179396942800187e+54" dist="4.471758777120074e+53" dir="1.1754624614400003e+64">
              <a:srgbClr val="000000">
                <a:alpha val="9.999999999999999e+63"/>
              </a:srgbClr>
            </a:outerShdw>
          </a:effectLst>
        </p:spPr>
        <p:txBody>
          <a:bodyPr/>
          <a:p/>
        </p:txBody>
      </p:sp>
      <p:sp>
        <p:nvSpPr>
          <p:cNvPr id="30" name="Shape 27"/>
          <p:cNvSpPr/>
          <p:nvPr/>
        </p:nvSpPr>
        <p:spPr>
          <a:xfrm>
            <a:off x="8183880" y="3246120"/>
            <a:ext cx="3703320" cy="45720"/>
          </a:xfrm>
          <a:prstGeom prst="rect">
            <a:avLst/>
          </a:prstGeom>
          <a:solidFill>
            <a:srgbClr val="185771"/>
          </a:solidFill>
          <a:ln/>
        </p:spPr>
        <p:txBody>
          <a:bodyPr/>
          <a:p/>
        </p:txBody>
      </p:sp>
      <p:sp>
        <p:nvSpPr>
          <p:cNvPr id="31" name="Text 28"/>
          <p:cNvSpPr/>
          <p:nvPr/>
        </p:nvSpPr>
        <p:spPr>
          <a:xfrm>
            <a:off x="8366760" y="3383280"/>
            <a:ext cx="3383280" cy="274320"/>
          </a:xfrm>
          <a:prstGeom prst="rect">
            <a:avLst/>
          </a:prstGeom>
          <a:noFill/>
          <a:ln/>
        </p:spPr>
        <p:txBody>
          <a:bodyPr wrap="square" rtlCol="0" anchor="ctr"/>
          <a:lstStyle/>
          <a:p>
            <a:pPr indent="0" marL="0">
              <a:buNone/>
            </a:pPr>
            <a:r>
              <a:rPr lang="en-US" sz="1100" b="1" spc="200" kern="0" dirty="0">
                <a:solidFill>
                  <a:srgbClr val="185771"/>
                </a:solidFill>
                <a:latin typeface="Arial" pitchFamily="34" charset="0"/>
                <a:ea typeface="Arial" pitchFamily="34" charset="-122"/>
                <a:cs typeface="Arial" pitchFamily="34" charset="-120"/>
              </a:rPr>
              <a:t>WHAT CONVERTS THEM</a:t>
            </a:r>
            <a:endParaRPr lang="en-US" sz="1100" dirty="0"/>
          </a:p>
        </p:txBody>
      </p:sp>
      <p:sp>
        <p:nvSpPr>
          <p:cNvPr id="32" name="Text 29"/>
          <p:cNvSpPr/>
          <p:nvPr/>
        </p:nvSpPr>
        <p:spPr>
          <a:xfrm>
            <a:off x="8366760" y="3749040"/>
            <a:ext cx="3383280" cy="1920240"/>
          </a:xfrm>
          <a:prstGeom prst="rect">
            <a:avLst/>
          </a:prstGeom>
          <a:noFill/>
          <a:ln/>
        </p:spPr>
        <p:txBody>
          <a:bodyPr wrap="square" rtlCol="0" anchor="t"/>
          <a:lstStyle/>
          <a:p>
            <a:pPr marL="342900" indent="-342900">
              <a:lnSpc>
                <a:spcPct val="120000"/>
              </a:lnSpc>
              <a:spcAft>
                <a:spcPts val="600"/>
              </a:spcAft>
              <a:buSzPct val="100000"/>
              <a:buChar char="•"/>
            </a:pPr>
            <a:r>
              <a:rPr lang="en-US" sz="1100" dirty="0">
                <a:solidFill>
                  <a:srgbClr val="5B5F63"/>
                </a:solidFill>
                <a:latin typeface="Arial" pitchFamily="34" charset="0"/>
                <a:ea typeface="Arial" pitchFamily="34" charset="-122"/>
                <a:cs typeface="Arial" pitchFamily="34" charset="-120"/>
              </a:rPr>
              <a:t>Same-day sandbox access — no procurement or legal review needed to start</a:t>
            </a:r>
            <a:endParaRPr lang="en-US" sz="1100" dirty="0"/>
          </a:p>
          <a:p>
            <a:pPr marL="342900" indent="-342900">
              <a:lnSpc>
                <a:spcPct val="120000"/>
              </a:lnSpc>
              <a:spcAft>
                <a:spcPts val="600"/>
              </a:spcAft>
              <a:buSzPct val="100000"/>
              <a:buChar char="•"/>
            </a:pPr>
            <a:r>
              <a:rPr lang="en-US" sz="1100" dirty="0">
                <a:solidFill>
                  <a:srgbClr val="5B5F63"/>
                </a:solidFill>
                <a:latin typeface="Arial" pitchFamily="34" charset="0"/>
                <a:ea typeface="Arial" pitchFamily="34" charset="-122"/>
                <a:cs typeface="Arial" pitchFamily="34" charset="-120"/>
              </a:rPr>
              <a:t>Pre-vetted with compliance: the CISO has already seen it; it arrives approved</a:t>
            </a:r>
            <a:endParaRPr lang="en-US" sz="1100" dirty="0"/>
          </a:p>
          <a:p>
            <a:pPr marL="342900" indent="-342900">
              <a:lnSpc>
                <a:spcPct val="120000"/>
              </a:lnSpc>
              <a:spcAft>
                <a:spcPts val="600"/>
              </a:spcAft>
              <a:buSzPct val="100000"/>
              <a:buChar char="•"/>
            </a:pPr>
            <a:r>
              <a:rPr lang="en-US" sz="1100" dirty="0">
                <a:solidFill>
                  <a:srgbClr val="5B5F63"/>
                </a:solidFill>
                <a:latin typeface="Arial" pitchFamily="34" charset="0"/>
                <a:ea typeface="Arial" pitchFamily="34" charset="-122"/>
                <a:cs typeface="Arial" pitchFamily="34" charset="-120"/>
              </a:rPr>
              <a:t>OpenAI-compatible drop-in: zero retooling, no migration project to justify</a:t>
            </a:r>
            <a:endParaRPr lang="en-US" sz="1100" dirty="0"/>
          </a:p>
          <a:p>
            <a:pPr marL="342900" indent="-342900">
              <a:lnSpc>
                <a:spcPct val="120000"/>
              </a:lnSpc>
              <a:spcAft>
                <a:spcPts val="600"/>
              </a:spcAft>
              <a:buSzPct val="100000"/>
              <a:buChar char="•"/>
            </a:pPr>
            <a:r>
              <a:rPr lang="en-US" sz="1100" dirty="0">
                <a:solidFill>
                  <a:srgbClr val="5B5F63"/>
                </a:solidFill>
                <a:latin typeface="Arial" pitchFamily="34" charset="0"/>
                <a:ea typeface="Arial" pitchFamily="34" charset="-122"/>
                <a:cs typeface="Arial" pitchFamily="34" charset="-120"/>
              </a:rPr>
              <a:t>First working output in under 10 minutes — time-to-value is the demo</a:t>
            </a:r>
            <a:endParaRPr lang="en-US" sz="1100" dirty="0"/>
          </a:p>
        </p:txBody>
      </p:sp>
      <p:sp>
        <p:nvSpPr>
          <p:cNvPr id="33" name="Text 30"/>
          <p:cNvSpPr/>
          <p:nvPr/>
        </p:nvSpPr>
        <p:spPr>
          <a:xfrm>
            <a:off x="11460175" y="6446520"/>
            <a:ext cx="457200" cy="274320"/>
          </a:xfrm>
          <a:prstGeom prst="rect">
            <a:avLst/>
          </a:prstGeom>
          <a:noFill/>
          <a:ln/>
        </p:spPr>
        <p:txBody>
          <a:bodyPr wrap="square" rtlCol="0" anchor="ctr"/>
          <a:lstStyle/>
          <a:p>
            <a:pPr algn="r" indent="0" marL="0">
              <a:buNone/>
            </a:pPr>
            <a:r>
              <a:rPr lang="en-US" sz="1000" dirty="0">
                <a:solidFill>
                  <a:srgbClr val="9A9A93"/>
                </a:solidFill>
                <a:latin typeface="Arial" pitchFamily="34" charset="0"/>
                <a:ea typeface="Arial" pitchFamily="34" charset="-122"/>
                <a:cs typeface="Arial"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9F5"/>
        </a:solidFill>
      </p:bgPr>
    </p:bg>
    <p:spTree>
      <p:nvGrpSpPr>
        <p:cNvPr id="1" name=""/>
        <p:cNvGrpSpPr/>
        <p:nvPr/>
      </p:nvGrpSpPr>
      <p:grpSpPr>
        <a:xfrm>
          <a:off x="0" y="0"/>
          <a:ext cx="0" cy="0"/>
          <a:chOff x="0" y="0"/>
          <a:chExt cx="0" cy="0"/>
        </a:xfrm>
      </p:grpSpPr>
      <p:sp>
        <p:nvSpPr>
          <p:cNvPr id="2" name="Shape 0"/>
          <p:cNvSpPr/>
          <p:nvPr/>
        </p:nvSpPr>
        <p:spPr>
          <a:xfrm>
            <a:off x="0" y="0"/>
            <a:ext cx="3977640" cy="6858000"/>
          </a:xfrm>
          <a:prstGeom prst="rect">
            <a:avLst/>
          </a:prstGeom>
          <a:solidFill>
            <a:srgbClr val="0E0E10"/>
          </a:solidFill>
          <a:ln/>
        </p:spPr>
        <p:txBody>
          <a:bodyPr/>
          <a:p/>
        </p:txBody>
      </p:sp>
      <p:sp>
        <p:nvSpPr>
          <p:cNvPr id="3" name="Shape 1"/>
          <p:cNvSpPr/>
          <p:nvPr/>
        </p:nvSpPr>
        <p:spPr>
          <a:xfrm>
            <a:off x="0" y="0"/>
            <a:ext cx="109728" cy="6858000"/>
          </a:xfrm>
          <a:prstGeom prst="rect">
            <a:avLst/>
          </a:prstGeom>
          <a:solidFill>
            <a:srgbClr val="C2703D"/>
          </a:solidFill>
          <a:ln/>
        </p:spPr>
        <p:txBody>
          <a:bodyPr/>
          <a:p/>
        </p:txBody>
      </p:sp>
      <p:pic>
        <p:nvPicPr>
          <p:cNvPr id="4" name="Image 0" descr="preencoded.png">    </p:cNvPr>
          <p:cNvPicPr>
            <a:picLocks noChangeAspect="1"/>
          </p:cNvPicPr>
          <p:nvPr/>
        </p:nvPicPr>
        <p:blipFill>
          <a:blip r:embed="rId1"/>
          <a:stretch>
            <a:fillRect/>
          </a:stretch>
        </p:blipFill>
        <p:spPr>
          <a:xfrm>
            <a:off x="502920" y="640080"/>
            <a:ext cx="640080" cy="640080"/>
          </a:xfrm>
          <a:prstGeom prst="rect">
            <a:avLst/>
          </a:prstGeom>
        </p:spPr>
      </p:pic>
      <p:sp>
        <p:nvSpPr>
          <p:cNvPr id="5" name="Text 2"/>
          <p:cNvSpPr/>
          <p:nvPr/>
        </p:nvSpPr>
        <p:spPr>
          <a:xfrm>
            <a:off x="502920" y="1417320"/>
            <a:ext cx="2743200" cy="274320"/>
          </a:xfrm>
          <a:prstGeom prst="rect">
            <a:avLst/>
          </a:prstGeom>
          <a:noFill/>
          <a:ln/>
        </p:spPr>
        <p:txBody>
          <a:bodyPr wrap="square" rtlCol="0" anchor="ctr"/>
          <a:lstStyle/>
          <a:p>
            <a:pPr indent="0" marL="0">
              <a:buNone/>
            </a:pPr>
            <a:r>
              <a:rPr lang="en-US" sz="1000" b="1" spc="400" kern="0" dirty="0">
                <a:solidFill>
                  <a:srgbClr val="C2703D"/>
                </a:solidFill>
                <a:latin typeface="Arial" pitchFamily="34" charset="0"/>
                <a:ea typeface="Arial" pitchFamily="34" charset="-122"/>
                <a:cs typeface="Arial" pitchFamily="34" charset="-120"/>
              </a:rPr>
              <a:t>PERSONA</a:t>
            </a:r>
            <a:endParaRPr lang="en-US" sz="1000" dirty="0"/>
          </a:p>
        </p:txBody>
      </p:sp>
      <p:sp>
        <p:nvSpPr>
          <p:cNvPr id="6" name="Text 3"/>
          <p:cNvSpPr/>
          <p:nvPr/>
        </p:nvSpPr>
        <p:spPr>
          <a:xfrm>
            <a:off x="502920" y="1691640"/>
            <a:ext cx="3200400" cy="914400"/>
          </a:xfrm>
          <a:prstGeom prst="rect">
            <a:avLst/>
          </a:prstGeom>
          <a:noFill/>
          <a:ln/>
        </p:spPr>
        <p:txBody>
          <a:bodyPr wrap="square" rtlCol="0" anchor="ctr"/>
          <a:lstStyle/>
          <a:p>
            <a:pPr indent="0" marL="0">
              <a:lnSpc>
                <a:spcPct val="95000"/>
              </a:lnSpc>
              <a:buNone/>
            </a:pPr>
            <a:r>
              <a:rPr lang="en-US" sz="2600" dirty="0">
                <a:solidFill>
                  <a:srgbClr val="FFFFFF"/>
                </a:solidFill>
                <a:latin typeface="Georgia" pitchFamily="34" charset="0"/>
                <a:ea typeface="Georgia" pitchFamily="34" charset="-122"/>
                <a:cs typeface="Georgia" pitchFamily="34" charset="-120"/>
              </a:rPr>
              <a:t>The Technical Validator</a:t>
            </a:r>
            <a:endParaRPr lang="en-US" sz="2600" dirty="0"/>
          </a:p>
        </p:txBody>
      </p:sp>
      <p:sp>
        <p:nvSpPr>
          <p:cNvPr id="7" name="Text 4"/>
          <p:cNvSpPr/>
          <p:nvPr/>
        </p:nvSpPr>
        <p:spPr>
          <a:xfrm>
            <a:off x="502920" y="2743200"/>
            <a:ext cx="3200400" cy="548640"/>
          </a:xfrm>
          <a:prstGeom prst="rect">
            <a:avLst/>
          </a:prstGeom>
          <a:noFill/>
          <a:ln/>
        </p:spPr>
        <p:txBody>
          <a:bodyPr wrap="square" rtlCol="0" anchor="ctr"/>
          <a:lstStyle/>
          <a:p>
            <a:pPr indent="0" marL="0">
              <a:lnSpc>
                <a:spcPct val="120000"/>
              </a:lnSpc>
              <a:buNone/>
            </a:pPr>
            <a:r>
              <a:rPr lang="en-US" sz="1200" dirty="0">
                <a:solidFill>
                  <a:srgbClr val="9A9A93"/>
                </a:solidFill>
                <a:latin typeface="Arial" pitchFamily="34" charset="0"/>
                <a:ea typeface="Arial" pitchFamily="34" charset="-122"/>
                <a:cs typeface="Arial" pitchFamily="34" charset="-120"/>
              </a:rPr>
              <a:t>ML Engineer  ·  Security Architect  ·  Senior Dev</a:t>
            </a:r>
            <a:endParaRPr lang="en-US" sz="1200" dirty="0"/>
          </a:p>
        </p:txBody>
      </p:sp>
      <p:sp>
        <p:nvSpPr>
          <p:cNvPr id="8" name="Shape 5"/>
          <p:cNvSpPr/>
          <p:nvPr/>
        </p:nvSpPr>
        <p:spPr>
          <a:xfrm>
            <a:off x="502920" y="3383280"/>
            <a:ext cx="2194560" cy="347472"/>
          </a:xfrm>
          <a:prstGeom prst="roundRect">
            <a:avLst>
              <a:gd name="adj" fmla="val 13158"/>
            </a:avLst>
          </a:prstGeom>
          <a:solidFill>
            <a:srgbClr val="17171B"/>
          </a:solidFill>
          <a:ln/>
        </p:spPr>
        <p:txBody>
          <a:bodyPr/>
          <a:p/>
        </p:txBody>
      </p:sp>
      <p:sp>
        <p:nvSpPr>
          <p:cNvPr id="9" name="Text 6"/>
          <p:cNvSpPr/>
          <p:nvPr/>
        </p:nvSpPr>
        <p:spPr>
          <a:xfrm>
            <a:off x="502920" y="3383280"/>
            <a:ext cx="2194560" cy="347472"/>
          </a:xfrm>
          <a:prstGeom prst="rect">
            <a:avLst/>
          </a:prstGeom>
          <a:noFill/>
          <a:ln/>
        </p:spPr>
        <p:txBody>
          <a:bodyPr wrap="square" rtlCol="0" anchor="ctr"/>
          <a:lstStyle/>
          <a:p>
            <a:pPr algn="ctr" indent="0" marL="0">
              <a:buNone/>
            </a:pPr>
            <a:r>
              <a:rPr lang="en-US" sz="1050" dirty="0">
                <a:solidFill>
                  <a:srgbClr val="ECEAE1"/>
                </a:solidFill>
                <a:latin typeface="Arial" pitchFamily="34" charset="0"/>
                <a:ea typeface="Arial" pitchFamily="34" charset="-122"/>
                <a:cs typeface="Arial" pitchFamily="34" charset="-120"/>
              </a:rPr>
              <a:t>B2B</a:t>
            </a:r>
            <a:endParaRPr lang="en-US" sz="1050" dirty="0"/>
          </a:p>
        </p:txBody>
      </p:sp>
      <p:sp>
        <p:nvSpPr>
          <p:cNvPr id="10" name="Shape 7"/>
          <p:cNvSpPr/>
          <p:nvPr/>
        </p:nvSpPr>
        <p:spPr>
          <a:xfrm>
            <a:off x="502920" y="3840480"/>
            <a:ext cx="2194560" cy="347472"/>
          </a:xfrm>
          <a:prstGeom prst="roundRect">
            <a:avLst>
              <a:gd name="adj" fmla="val 13158"/>
            </a:avLst>
          </a:prstGeom>
          <a:solidFill>
            <a:srgbClr val="17171B"/>
          </a:solidFill>
          <a:ln/>
        </p:spPr>
        <p:txBody>
          <a:bodyPr/>
          <a:p/>
        </p:txBody>
      </p:sp>
      <p:sp>
        <p:nvSpPr>
          <p:cNvPr id="11" name="Text 8"/>
          <p:cNvSpPr/>
          <p:nvPr/>
        </p:nvSpPr>
        <p:spPr>
          <a:xfrm>
            <a:off x="502920" y="3840480"/>
            <a:ext cx="2194560" cy="347472"/>
          </a:xfrm>
          <a:prstGeom prst="rect">
            <a:avLst/>
          </a:prstGeom>
          <a:noFill/>
          <a:ln/>
        </p:spPr>
        <p:txBody>
          <a:bodyPr wrap="square" rtlCol="0" anchor="ctr"/>
          <a:lstStyle/>
          <a:p>
            <a:pPr algn="ctr" indent="0" marL="0">
              <a:buNone/>
            </a:pPr>
            <a:r>
              <a:rPr lang="en-US" sz="1050" dirty="0">
                <a:solidFill>
                  <a:srgbClr val="ECEAE1"/>
                </a:solidFill>
                <a:latin typeface="Arial" pitchFamily="34" charset="0"/>
                <a:ea typeface="Arial" pitchFamily="34" charset="-122"/>
                <a:cs typeface="Arial" pitchFamily="34" charset="-120"/>
              </a:rPr>
              <a:t>Evaluator</a:t>
            </a:r>
            <a:endParaRPr lang="en-US" sz="1050" dirty="0"/>
          </a:p>
        </p:txBody>
      </p:sp>
      <p:sp>
        <p:nvSpPr>
          <p:cNvPr id="12" name="Shape 9"/>
          <p:cNvSpPr/>
          <p:nvPr/>
        </p:nvSpPr>
        <p:spPr>
          <a:xfrm>
            <a:off x="502920" y="4297680"/>
            <a:ext cx="2194560" cy="347472"/>
          </a:xfrm>
          <a:prstGeom prst="roundRect">
            <a:avLst>
              <a:gd name="adj" fmla="val 13158"/>
            </a:avLst>
          </a:prstGeom>
          <a:solidFill>
            <a:srgbClr val="17171B"/>
          </a:solidFill>
          <a:ln/>
        </p:spPr>
        <p:txBody>
          <a:bodyPr/>
          <a:p/>
        </p:txBody>
      </p:sp>
      <p:sp>
        <p:nvSpPr>
          <p:cNvPr id="13" name="Text 10"/>
          <p:cNvSpPr/>
          <p:nvPr/>
        </p:nvSpPr>
        <p:spPr>
          <a:xfrm>
            <a:off x="502920" y="4297680"/>
            <a:ext cx="2194560" cy="347472"/>
          </a:xfrm>
          <a:prstGeom prst="rect">
            <a:avLst/>
          </a:prstGeom>
          <a:noFill/>
          <a:ln/>
        </p:spPr>
        <p:txBody>
          <a:bodyPr wrap="square" rtlCol="0" anchor="ctr"/>
          <a:lstStyle/>
          <a:p>
            <a:pPr algn="ctr" indent="0" marL="0">
              <a:buNone/>
            </a:pPr>
            <a:r>
              <a:rPr lang="en-US" sz="1050" dirty="0">
                <a:solidFill>
                  <a:srgbClr val="ECEAE1"/>
                </a:solidFill>
                <a:latin typeface="Arial" pitchFamily="34" charset="0"/>
                <a:ea typeface="Arial" pitchFamily="34" charset="-122"/>
                <a:cs typeface="Arial" pitchFamily="34" charset="-120"/>
              </a:rPr>
              <a:t>Product-led</a:t>
            </a:r>
            <a:endParaRPr lang="en-US" sz="1050" dirty="0"/>
          </a:p>
        </p:txBody>
      </p:sp>
      <p:sp>
        <p:nvSpPr>
          <p:cNvPr id="14" name="Shape 11"/>
          <p:cNvSpPr/>
          <p:nvPr/>
        </p:nvSpPr>
        <p:spPr>
          <a:xfrm>
            <a:off x="502920" y="5029200"/>
            <a:ext cx="3017520" cy="18288"/>
          </a:xfrm>
          <a:prstGeom prst="rect">
            <a:avLst/>
          </a:prstGeom>
          <a:solidFill>
            <a:srgbClr val="2E2E33"/>
          </a:solidFill>
          <a:ln/>
        </p:spPr>
        <p:txBody>
          <a:bodyPr/>
          <a:p/>
        </p:txBody>
      </p:sp>
      <p:sp>
        <p:nvSpPr>
          <p:cNvPr id="15" name="Text 12"/>
          <p:cNvSpPr/>
          <p:nvPr/>
        </p:nvSpPr>
        <p:spPr>
          <a:xfrm>
            <a:off x="502920" y="5120640"/>
            <a:ext cx="3017520" cy="228600"/>
          </a:xfrm>
          <a:prstGeom prst="rect">
            <a:avLst/>
          </a:prstGeom>
          <a:noFill/>
          <a:ln/>
        </p:spPr>
        <p:txBody>
          <a:bodyPr wrap="square" rtlCol="0" anchor="ctr"/>
          <a:lstStyle/>
          <a:p>
            <a:pPr indent="0" marL="0">
              <a:buNone/>
            </a:pPr>
            <a:r>
              <a:rPr lang="en-US" sz="900" b="1" spc="200" kern="0" dirty="0">
                <a:solidFill>
                  <a:srgbClr val="C2703D"/>
                </a:solidFill>
                <a:latin typeface="Arial" pitchFamily="34" charset="0"/>
                <a:ea typeface="Arial" pitchFamily="34" charset="-122"/>
                <a:cs typeface="Arial" pitchFamily="34" charset="-120"/>
              </a:rPr>
              <a:t>WHO THEY ARE</a:t>
            </a:r>
            <a:endParaRPr lang="en-US" sz="900" dirty="0"/>
          </a:p>
        </p:txBody>
      </p:sp>
      <p:sp>
        <p:nvSpPr>
          <p:cNvPr id="16" name="Text 13"/>
          <p:cNvSpPr/>
          <p:nvPr/>
        </p:nvSpPr>
        <p:spPr>
          <a:xfrm>
            <a:off x="502920" y="5349240"/>
            <a:ext cx="3108960" cy="914400"/>
          </a:xfrm>
          <a:prstGeom prst="rect">
            <a:avLst/>
          </a:prstGeom>
          <a:noFill/>
          <a:ln/>
        </p:spPr>
        <p:txBody>
          <a:bodyPr wrap="square" rtlCol="0" anchor="ctr"/>
          <a:lstStyle/>
          <a:p>
            <a:pPr indent="0" marL="0">
              <a:lnSpc>
                <a:spcPct val="125000"/>
              </a:lnSpc>
              <a:buNone/>
            </a:pPr>
            <a:r>
              <a:rPr lang="en-US" sz="1100" dirty="0">
                <a:solidFill>
                  <a:srgbClr val="ECEAE1"/>
                </a:solidFill>
                <a:latin typeface="Arial" pitchFamily="34" charset="0"/>
                <a:ea typeface="Arial" pitchFamily="34" charset="-122"/>
                <a:cs typeface="Arial" pitchFamily="34" charset="-120"/>
              </a:rPr>
              <a:t>Assigned to POC and either validate or kill the deal. Has seen 'private AI' products that are policy promises dressed as engineering. Job is to break it before it reaches production.</a:t>
            </a:r>
            <a:endParaRPr lang="en-US" sz="1100" dirty="0"/>
          </a:p>
        </p:txBody>
      </p:sp>
      <p:sp>
        <p:nvSpPr>
          <p:cNvPr id="17" name="Shape 14"/>
          <p:cNvSpPr/>
          <p:nvPr/>
        </p:nvSpPr>
        <p:spPr>
          <a:xfrm>
            <a:off x="4343400" y="502920"/>
            <a:ext cx="3703320" cy="2560320"/>
          </a:xfrm>
          <a:prstGeom prst="rect">
            <a:avLst/>
          </a:prstGeom>
          <a:solidFill>
            <a:srgbClr val="FFFFFF"/>
          </a:solidFill>
          <a:ln/>
          <a:effectLst>
            <a:outerShdw sx="100000" sy="100000" kx="0" ky="0" algn="bl" rotWithShape="0" blurRad="1.419783411735624e+58" dist="5.679133646942494e+57" dir="7.052774768640002e+68">
              <a:srgbClr val="000000">
                <a:alpha val="9.999999999999999e+68"/>
              </a:srgbClr>
            </a:outerShdw>
          </a:effectLst>
        </p:spPr>
        <p:txBody>
          <a:bodyPr/>
          <a:p/>
        </p:txBody>
      </p:sp>
      <p:sp>
        <p:nvSpPr>
          <p:cNvPr id="18" name="Shape 15"/>
          <p:cNvSpPr/>
          <p:nvPr/>
        </p:nvSpPr>
        <p:spPr>
          <a:xfrm>
            <a:off x="4343400" y="502920"/>
            <a:ext cx="3703320" cy="45720"/>
          </a:xfrm>
          <a:prstGeom prst="rect">
            <a:avLst/>
          </a:prstGeom>
          <a:solidFill>
            <a:srgbClr val="C2703D"/>
          </a:solidFill>
          <a:ln/>
        </p:spPr>
        <p:txBody>
          <a:bodyPr/>
          <a:p/>
        </p:txBody>
      </p:sp>
      <p:sp>
        <p:nvSpPr>
          <p:cNvPr id="19" name="Text 16"/>
          <p:cNvSpPr/>
          <p:nvPr/>
        </p:nvSpPr>
        <p:spPr>
          <a:xfrm>
            <a:off x="4526280" y="640080"/>
            <a:ext cx="3383280" cy="274320"/>
          </a:xfrm>
          <a:prstGeom prst="rect">
            <a:avLst/>
          </a:prstGeom>
          <a:noFill/>
          <a:ln/>
        </p:spPr>
        <p:txBody>
          <a:bodyPr wrap="square" rtlCol="0" anchor="ctr"/>
          <a:lstStyle/>
          <a:p>
            <a:pPr indent="0" marL="0">
              <a:buNone/>
            </a:pPr>
            <a:r>
              <a:rPr lang="en-US" sz="1100" b="1" spc="200" kern="0" dirty="0">
                <a:solidFill>
                  <a:srgbClr val="C2703D"/>
                </a:solidFill>
                <a:latin typeface="Arial" pitchFamily="34" charset="0"/>
                <a:ea typeface="Arial" pitchFamily="34" charset="-122"/>
                <a:cs typeface="Arial" pitchFamily="34" charset="-120"/>
              </a:rPr>
              <a:t>PAINS</a:t>
            </a:r>
            <a:endParaRPr lang="en-US" sz="1100" dirty="0"/>
          </a:p>
        </p:txBody>
      </p:sp>
      <p:sp>
        <p:nvSpPr>
          <p:cNvPr id="20" name="Text 17"/>
          <p:cNvSpPr/>
          <p:nvPr/>
        </p:nvSpPr>
        <p:spPr>
          <a:xfrm>
            <a:off x="4526280" y="1005840"/>
            <a:ext cx="3383280" cy="1920240"/>
          </a:xfrm>
          <a:prstGeom prst="rect">
            <a:avLst/>
          </a:prstGeom>
          <a:noFill/>
          <a:ln/>
        </p:spPr>
        <p:txBody>
          <a:bodyPr wrap="square" rtlCol="0" anchor="t"/>
          <a:lstStyle/>
          <a:p>
            <a:pPr marL="342900" indent="-342900">
              <a:lnSpc>
                <a:spcPct val="120000"/>
              </a:lnSpc>
              <a:spcAft>
                <a:spcPts val="600"/>
              </a:spcAft>
              <a:buSzPct val="100000"/>
              <a:buChar char="•"/>
            </a:pPr>
            <a:r>
              <a:rPr lang="en-US" sz="1100" dirty="0">
                <a:solidFill>
                  <a:srgbClr val="5B5F63"/>
                </a:solidFill>
                <a:latin typeface="Arial" pitchFamily="34" charset="0"/>
                <a:ea typeface="Arial" pitchFamily="34" charset="-122"/>
                <a:cs typeface="Arial" pitchFamily="34" charset="-120"/>
              </a:rPr>
              <a:t>Most 'confidential AI' is theater: no cryptographic audit trail, no portable weights</a:t>
            </a:r>
            <a:endParaRPr lang="en-US" sz="1100" dirty="0"/>
          </a:p>
          <a:p>
            <a:pPr marL="342900" indent="-342900">
              <a:lnSpc>
                <a:spcPct val="120000"/>
              </a:lnSpc>
              <a:spcAft>
                <a:spcPts val="600"/>
              </a:spcAft>
              <a:buSzPct val="100000"/>
              <a:buChar char="•"/>
            </a:pPr>
            <a:r>
              <a:rPr lang="en-US" sz="1100" dirty="0">
                <a:solidFill>
                  <a:srgbClr val="5B5F63"/>
                </a:solidFill>
                <a:latin typeface="Arial" pitchFamily="34" charset="0"/>
                <a:ea typeface="Arial" pitchFamily="34" charset="-122"/>
                <a:cs typeface="Arial" pitchFamily="34" charset="-120"/>
              </a:rPr>
              <a:t>TEE products historically add 10–30% latency overhead — production teams reject it on that alone</a:t>
            </a:r>
            <a:endParaRPr lang="en-US" sz="1100" dirty="0"/>
          </a:p>
          <a:p>
            <a:pPr marL="342900" indent="-342900">
              <a:lnSpc>
                <a:spcPct val="120000"/>
              </a:lnSpc>
              <a:spcAft>
                <a:spcPts val="600"/>
              </a:spcAft>
              <a:buSzPct val="100000"/>
              <a:buChar char="•"/>
            </a:pPr>
            <a:r>
              <a:rPr lang="en-US" sz="1100" dirty="0">
                <a:solidFill>
                  <a:srgbClr val="5B5F63"/>
                </a:solidFill>
                <a:latin typeface="Arial" pitchFamily="34" charset="0"/>
                <a:ea typeface="Arial" pitchFamily="34" charset="-122"/>
                <a:cs typeface="Arial" pitchFamily="34" charset="-120"/>
              </a:rPr>
              <a:t>No open-source stack means they cannot verify the claims themselves; that alone is a veto</a:t>
            </a:r>
            <a:endParaRPr lang="en-US" sz="1100" dirty="0"/>
          </a:p>
        </p:txBody>
      </p:sp>
      <p:sp>
        <p:nvSpPr>
          <p:cNvPr id="21" name="Shape 18"/>
          <p:cNvSpPr/>
          <p:nvPr/>
        </p:nvSpPr>
        <p:spPr>
          <a:xfrm>
            <a:off x="8183880" y="502920"/>
            <a:ext cx="3703320" cy="2560320"/>
          </a:xfrm>
          <a:prstGeom prst="rect">
            <a:avLst/>
          </a:prstGeom>
          <a:solidFill>
            <a:srgbClr val="FFFFFF"/>
          </a:solidFill>
          <a:ln/>
          <a:effectLst>
            <a:outerShdw sx="100000" sy="100000" kx="0" ky="0" algn="bl" rotWithShape="0" blurRad="1.8031249329042424e+62" dist="7.212499731616968e+61" dir="4.2316648611840007e+73">
              <a:srgbClr val="000000">
                <a:alpha val="9.999999999999998e+73"/>
              </a:srgbClr>
            </a:outerShdw>
          </a:effectLst>
        </p:spPr>
        <p:txBody>
          <a:bodyPr/>
          <a:p/>
        </p:txBody>
      </p:sp>
      <p:sp>
        <p:nvSpPr>
          <p:cNvPr id="22" name="Shape 19"/>
          <p:cNvSpPr/>
          <p:nvPr/>
        </p:nvSpPr>
        <p:spPr>
          <a:xfrm>
            <a:off x="8183880" y="502920"/>
            <a:ext cx="3703320" cy="45720"/>
          </a:xfrm>
          <a:prstGeom prst="rect">
            <a:avLst/>
          </a:prstGeom>
          <a:solidFill>
            <a:srgbClr val="788C5D"/>
          </a:solidFill>
          <a:ln/>
        </p:spPr>
        <p:txBody>
          <a:bodyPr/>
          <a:p/>
        </p:txBody>
      </p:sp>
      <p:sp>
        <p:nvSpPr>
          <p:cNvPr id="23" name="Text 20"/>
          <p:cNvSpPr/>
          <p:nvPr/>
        </p:nvSpPr>
        <p:spPr>
          <a:xfrm>
            <a:off x="8366760" y="640080"/>
            <a:ext cx="3383280" cy="274320"/>
          </a:xfrm>
          <a:prstGeom prst="rect">
            <a:avLst/>
          </a:prstGeom>
          <a:noFill/>
          <a:ln/>
        </p:spPr>
        <p:txBody>
          <a:bodyPr wrap="square" rtlCol="0" anchor="ctr"/>
          <a:lstStyle/>
          <a:p>
            <a:pPr indent="0" marL="0">
              <a:buNone/>
            </a:pPr>
            <a:r>
              <a:rPr lang="en-US" sz="1100" b="1" spc="200" kern="0" dirty="0">
                <a:solidFill>
                  <a:srgbClr val="788C5D"/>
                </a:solidFill>
                <a:latin typeface="Arial" pitchFamily="34" charset="0"/>
                <a:ea typeface="Arial" pitchFamily="34" charset="-122"/>
                <a:cs typeface="Arial" pitchFamily="34" charset="-120"/>
              </a:rPr>
              <a:t>TRIGGERS</a:t>
            </a:r>
            <a:endParaRPr lang="en-US" sz="1100" dirty="0"/>
          </a:p>
        </p:txBody>
      </p:sp>
      <p:sp>
        <p:nvSpPr>
          <p:cNvPr id="24" name="Text 21"/>
          <p:cNvSpPr/>
          <p:nvPr/>
        </p:nvSpPr>
        <p:spPr>
          <a:xfrm>
            <a:off x="8366760" y="1005840"/>
            <a:ext cx="3383280" cy="1920240"/>
          </a:xfrm>
          <a:prstGeom prst="rect">
            <a:avLst/>
          </a:prstGeom>
          <a:noFill/>
          <a:ln/>
        </p:spPr>
        <p:txBody>
          <a:bodyPr wrap="square" rtlCol="0" anchor="t"/>
          <a:lstStyle/>
          <a:p>
            <a:pPr marL="342900" indent="-342900">
              <a:lnSpc>
                <a:spcPct val="120000"/>
              </a:lnSpc>
              <a:spcAft>
                <a:spcPts val="600"/>
              </a:spcAft>
              <a:buSzPct val="100000"/>
              <a:buChar char="•"/>
            </a:pPr>
            <a:r>
              <a:rPr lang="en-US" sz="1100" dirty="0">
                <a:solidFill>
                  <a:srgbClr val="5B5F63"/>
                </a:solidFill>
                <a:latin typeface="Arial" pitchFamily="34" charset="0"/>
                <a:ea typeface="Arial" pitchFamily="34" charset="-122"/>
                <a:cs typeface="Arial" pitchFamily="34" charset="-120"/>
              </a:rPr>
              <a:t>Assigned to evaluate a vendor after the Champion decides to move on it</a:t>
            </a:r>
            <a:endParaRPr lang="en-US" sz="1100" dirty="0"/>
          </a:p>
          <a:p>
            <a:pPr marL="342900" indent="-342900">
              <a:lnSpc>
                <a:spcPct val="120000"/>
              </a:lnSpc>
              <a:spcAft>
                <a:spcPts val="600"/>
              </a:spcAft>
              <a:buSzPct val="100000"/>
              <a:buChar char="•"/>
            </a:pPr>
            <a:r>
              <a:rPr lang="en-US" sz="1100" dirty="0">
                <a:solidFill>
                  <a:srgbClr val="5B5F63"/>
                </a:solidFill>
                <a:latin typeface="Arial" pitchFamily="34" charset="0"/>
                <a:ea typeface="Arial" pitchFamily="34" charset="-122"/>
                <a:cs typeface="Arial" pitchFamily="34" charset="-120"/>
              </a:rPr>
              <a:t>A specific latency, portability, or cryptographic requirement handed down from security</a:t>
            </a:r>
            <a:endParaRPr lang="en-US" sz="1100" dirty="0"/>
          </a:p>
        </p:txBody>
      </p:sp>
      <p:sp>
        <p:nvSpPr>
          <p:cNvPr id="25" name="Shape 22"/>
          <p:cNvSpPr/>
          <p:nvPr/>
        </p:nvSpPr>
        <p:spPr>
          <a:xfrm>
            <a:off x="4343400" y="3246120"/>
            <a:ext cx="3703320" cy="2560320"/>
          </a:xfrm>
          <a:prstGeom prst="rect">
            <a:avLst/>
          </a:prstGeom>
          <a:solidFill>
            <a:srgbClr val="FFFFFF"/>
          </a:solidFill>
          <a:ln/>
          <a:effectLst>
            <a:outerShdw sx="100000" sy="100000" kx="0" ky="0" algn="bl" rotWithShape="0" blurRad="2.289968664788388e+66" dist="9.15987465915355e+65" dir="2.5389989167104004e+78">
              <a:srgbClr val="000000">
                <a:alpha val="9.999999999999998e+78"/>
              </a:srgbClr>
            </a:outerShdw>
          </a:effectLst>
        </p:spPr>
        <p:txBody>
          <a:bodyPr/>
          <a:p/>
        </p:txBody>
      </p:sp>
      <p:sp>
        <p:nvSpPr>
          <p:cNvPr id="26" name="Shape 23"/>
          <p:cNvSpPr/>
          <p:nvPr/>
        </p:nvSpPr>
        <p:spPr>
          <a:xfrm>
            <a:off x="4343400" y="3246120"/>
            <a:ext cx="3703320" cy="45720"/>
          </a:xfrm>
          <a:prstGeom prst="rect">
            <a:avLst/>
          </a:prstGeom>
          <a:solidFill>
            <a:srgbClr val="5B5F63"/>
          </a:solidFill>
          <a:ln/>
        </p:spPr>
        <p:txBody>
          <a:bodyPr/>
          <a:p/>
        </p:txBody>
      </p:sp>
      <p:sp>
        <p:nvSpPr>
          <p:cNvPr id="27" name="Text 24"/>
          <p:cNvSpPr/>
          <p:nvPr/>
        </p:nvSpPr>
        <p:spPr>
          <a:xfrm>
            <a:off x="4526280" y="3383280"/>
            <a:ext cx="3383280" cy="274320"/>
          </a:xfrm>
          <a:prstGeom prst="rect">
            <a:avLst/>
          </a:prstGeom>
          <a:noFill/>
          <a:ln/>
        </p:spPr>
        <p:txBody>
          <a:bodyPr wrap="square" rtlCol="0" anchor="ctr"/>
          <a:lstStyle/>
          <a:p>
            <a:pPr indent="0" marL="0">
              <a:buNone/>
            </a:pPr>
            <a:r>
              <a:rPr lang="en-US" sz="1100" b="1" spc="200" kern="0" dirty="0">
                <a:solidFill>
                  <a:srgbClr val="5B5F63"/>
                </a:solidFill>
                <a:latin typeface="Arial" pitchFamily="34" charset="0"/>
                <a:ea typeface="Arial" pitchFamily="34" charset="-122"/>
                <a:cs typeface="Arial" pitchFamily="34" charset="-120"/>
              </a:rPr>
              <a:t>OBJECTIONS</a:t>
            </a:r>
            <a:endParaRPr lang="en-US" sz="1100" dirty="0"/>
          </a:p>
        </p:txBody>
      </p:sp>
      <p:sp>
        <p:nvSpPr>
          <p:cNvPr id="28" name="Text 25"/>
          <p:cNvSpPr/>
          <p:nvPr/>
        </p:nvSpPr>
        <p:spPr>
          <a:xfrm>
            <a:off x="4526280" y="3749040"/>
            <a:ext cx="3383280" cy="1920240"/>
          </a:xfrm>
          <a:prstGeom prst="rect">
            <a:avLst/>
          </a:prstGeom>
          <a:noFill/>
          <a:ln/>
        </p:spPr>
        <p:txBody>
          <a:bodyPr wrap="square" rtlCol="0" anchor="t"/>
          <a:lstStyle/>
          <a:p>
            <a:pPr marL="342900" indent="-342900">
              <a:lnSpc>
                <a:spcPct val="120000"/>
              </a:lnSpc>
              <a:spcAft>
                <a:spcPts val="600"/>
              </a:spcAft>
              <a:buSzPct val="100000"/>
              <a:buChar char="•"/>
            </a:pPr>
            <a:r>
              <a:rPr lang="en-US" sz="1100" dirty="0">
                <a:solidFill>
                  <a:srgbClr val="5B5F63"/>
                </a:solidFill>
                <a:latin typeface="Arial" pitchFamily="34" charset="0"/>
                <a:ea typeface="Arial" pitchFamily="34" charset="-122"/>
                <a:cs typeface="Arial" pitchFamily="34" charset="-120"/>
              </a:rPr>
              <a:t>Show me the attestation report — the signed hardware receipt, not the marketing page</a:t>
            </a:r>
            <a:endParaRPr lang="en-US" sz="1100" dirty="0"/>
          </a:p>
          <a:p>
            <a:pPr marL="342900" indent="-342900">
              <a:lnSpc>
                <a:spcPct val="120000"/>
              </a:lnSpc>
              <a:spcAft>
                <a:spcPts val="600"/>
              </a:spcAft>
              <a:buSzPct val="100000"/>
              <a:buChar char="•"/>
            </a:pPr>
            <a:r>
              <a:rPr lang="en-US" sz="1100" dirty="0">
                <a:solidFill>
                  <a:srgbClr val="5B5F63"/>
                </a:solidFill>
                <a:latin typeface="Arial" pitchFamily="34" charset="0"/>
                <a:ea typeface="Arial" pitchFamily="34" charset="-122"/>
                <a:cs typeface="Arial" pitchFamily="34" charset="-120"/>
              </a:rPr>
              <a:t>What is the actual latency delta at production scale, with reproducible numbers?</a:t>
            </a:r>
            <a:endParaRPr lang="en-US" sz="1100" dirty="0"/>
          </a:p>
          <a:p>
            <a:pPr marL="342900" indent="-342900">
              <a:lnSpc>
                <a:spcPct val="120000"/>
              </a:lnSpc>
              <a:spcAft>
                <a:spcPts val="600"/>
              </a:spcAft>
              <a:buSzPct val="100000"/>
              <a:buChar char="•"/>
            </a:pPr>
            <a:r>
              <a:rPr lang="en-US" sz="1100" dirty="0">
                <a:solidFill>
                  <a:srgbClr val="5B5F63"/>
                </a:solidFill>
                <a:latin typeface="Arial" pitchFamily="34" charset="0"/>
                <a:ea typeface="Arial" pitchFamily="34" charset="-122"/>
                <a:cs typeface="Arial" pitchFamily="34" charset="-120"/>
              </a:rPr>
              <a:t>Can I export the model weights and switch providers in under 24 hours if needed?</a:t>
            </a:r>
            <a:endParaRPr lang="en-US" sz="1100" dirty="0"/>
          </a:p>
        </p:txBody>
      </p:sp>
      <p:sp>
        <p:nvSpPr>
          <p:cNvPr id="29" name="Shape 26"/>
          <p:cNvSpPr/>
          <p:nvPr/>
        </p:nvSpPr>
        <p:spPr>
          <a:xfrm>
            <a:off x="8183880" y="3246120"/>
            <a:ext cx="3703320" cy="2560320"/>
          </a:xfrm>
          <a:prstGeom prst="rect">
            <a:avLst/>
          </a:prstGeom>
          <a:solidFill>
            <a:srgbClr val="FFFFFF"/>
          </a:solidFill>
          <a:ln/>
          <a:effectLst>
            <a:outerShdw sx="100000" sy="100000" kx="0" ky="0" algn="bl" rotWithShape="0" blurRad="2.908260204281253e+70" dist="1.1633040817125008e+70" dir="1.5233993500262402e+83">
              <a:srgbClr val="000000">
                <a:alpha val="9.999999999999998e+83"/>
              </a:srgbClr>
            </a:outerShdw>
          </a:effectLst>
        </p:spPr>
        <p:txBody>
          <a:bodyPr/>
          <a:p/>
        </p:txBody>
      </p:sp>
      <p:sp>
        <p:nvSpPr>
          <p:cNvPr id="30" name="Shape 27"/>
          <p:cNvSpPr/>
          <p:nvPr/>
        </p:nvSpPr>
        <p:spPr>
          <a:xfrm>
            <a:off x="8183880" y="3246120"/>
            <a:ext cx="3703320" cy="45720"/>
          </a:xfrm>
          <a:prstGeom prst="rect">
            <a:avLst/>
          </a:prstGeom>
          <a:solidFill>
            <a:srgbClr val="185771"/>
          </a:solidFill>
          <a:ln/>
        </p:spPr>
        <p:txBody>
          <a:bodyPr/>
          <a:p/>
        </p:txBody>
      </p:sp>
      <p:sp>
        <p:nvSpPr>
          <p:cNvPr id="31" name="Text 28"/>
          <p:cNvSpPr/>
          <p:nvPr/>
        </p:nvSpPr>
        <p:spPr>
          <a:xfrm>
            <a:off x="8366760" y="3383280"/>
            <a:ext cx="3383280" cy="274320"/>
          </a:xfrm>
          <a:prstGeom prst="rect">
            <a:avLst/>
          </a:prstGeom>
          <a:noFill/>
          <a:ln/>
        </p:spPr>
        <p:txBody>
          <a:bodyPr wrap="square" rtlCol="0" anchor="ctr"/>
          <a:lstStyle/>
          <a:p>
            <a:pPr indent="0" marL="0">
              <a:buNone/>
            </a:pPr>
            <a:r>
              <a:rPr lang="en-US" sz="1100" b="1" spc="200" kern="0" dirty="0">
                <a:solidFill>
                  <a:srgbClr val="185771"/>
                </a:solidFill>
                <a:latin typeface="Arial" pitchFamily="34" charset="0"/>
                <a:ea typeface="Arial" pitchFamily="34" charset="-122"/>
                <a:cs typeface="Arial" pitchFamily="34" charset="-120"/>
              </a:rPr>
              <a:t>WHAT CONVERTS THEM</a:t>
            </a:r>
            <a:endParaRPr lang="en-US" sz="1100" dirty="0"/>
          </a:p>
        </p:txBody>
      </p:sp>
      <p:sp>
        <p:nvSpPr>
          <p:cNvPr id="32" name="Text 29"/>
          <p:cNvSpPr/>
          <p:nvPr/>
        </p:nvSpPr>
        <p:spPr>
          <a:xfrm>
            <a:off x="8366760" y="3749040"/>
            <a:ext cx="3383280" cy="1920240"/>
          </a:xfrm>
          <a:prstGeom prst="rect">
            <a:avLst/>
          </a:prstGeom>
          <a:noFill/>
          <a:ln/>
        </p:spPr>
        <p:txBody>
          <a:bodyPr wrap="square" rtlCol="0" anchor="t"/>
          <a:lstStyle/>
          <a:p>
            <a:pPr marL="342900" indent="-342900">
              <a:lnSpc>
                <a:spcPct val="120000"/>
              </a:lnSpc>
              <a:spcAft>
                <a:spcPts val="600"/>
              </a:spcAft>
              <a:buSzPct val="100000"/>
              <a:buChar char="•"/>
            </a:pPr>
            <a:r>
              <a:rPr lang="en-US" sz="1100" dirty="0">
                <a:solidFill>
                  <a:srgbClr val="5B5F63"/>
                </a:solidFill>
                <a:latin typeface="Arial" pitchFamily="34" charset="0"/>
                <a:ea typeface="Arial" pitchFamily="34" charset="-122"/>
                <a:cs typeface="Arial" pitchFamily="34" charset="-120"/>
              </a:rPr>
              <a:t>Reticle: open-source verification stack they can audit, fork, and run themselves</a:t>
            </a:r>
            <a:endParaRPr lang="en-US" sz="1100" dirty="0"/>
          </a:p>
          <a:p>
            <a:pPr marL="342900" indent="-342900">
              <a:lnSpc>
                <a:spcPct val="120000"/>
              </a:lnSpc>
              <a:spcAft>
                <a:spcPts val="600"/>
              </a:spcAft>
              <a:buSzPct val="100000"/>
              <a:buChar char="•"/>
            </a:pPr>
            <a:r>
              <a:rPr lang="en-US" sz="1100" dirty="0">
                <a:solidFill>
                  <a:srgbClr val="5B5F63"/>
                </a:solidFill>
                <a:latin typeface="Arial" pitchFamily="34" charset="0"/>
                <a:ea typeface="Arial" pitchFamily="34" charset="-122"/>
                <a:cs typeface="Arial" pitchFamily="34" charset="-120"/>
              </a:rPr>
              <a:t>Published benchmarks: latency delta vs. baseline, reproducible, not marketing-generated</a:t>
            </a:r>
            <a:endParaRPr lang="en-US" sz="1100" dirty="0"/>
          </a:p>
          <a:p>
            <a:pPr marL="342900" indent="-342900">
              <a:lnSpc>
                <a:spcPct val="120000"/>
              </a:lnSpc>
              <a:spcAft>
                <a:spcPts val="600"/>
              </a:spcAft>
              <a:buSzPct val="100000"/>
              <a:buChar char="•"/>
            </a:pPr>
            <a:r>
              <a:rPr lang="en-US" sz="1100" dirty="0">
                <a:solidFill>
                  <a:srgbClr val="5B5F63"/>
                </a:solidFill>
                <a:latin typeface="Arial" pitchFamily="34" charset="0"/>
                <a:ea typeface="Arial" pitchFamily="34" charset="-122"/>
                <a:cs typeface="Arial" pitchFamily="34" charset="-120"/>
              </a:rPr>
              <a:t>OpenAI-compatible: one-line switch to test end-to-end — zero retooling required</a:t>
            </a:r>
            <a:endParaRPr lang="en-US" sz="1100" dirty="0"/>
          </a:p>
          <a:p>
            <a:pPr marL="342900" indent="-342900">
              <a:lnSpc>
                <a:spcPct val="120000"/>
              </a:lnSpc>
              <a:spcAft>
                <a:spcPts val="600"/>
              </a:spcAft>
              <a:buSzPct val="100000"/>
              <a:buChar char="•"/>
            </a:pPr>
            <a:r>
              <a:rPr lang="en-US" sz="1100" dirty="0">
                <a:solidFill>
                  <a:srgbClr val="5B5F63"/>
                </a:solidFill>
                <a:latin typeface="Arial" pitchFamily="34" charset="0"/>
                <a:ea typeface="Arial" pitchFamily="34" charset="-122"/>
                <a:cs typeface="Arial" pitchFamily="34" charset="-120"/>
              </a:rPr>
              <a:t>Post-quantum roadmap: specific algorithms, timelines, and public commitments</a:t>
            </a:r>
            <a:endParaRPr lang="en-US" sz="1100" dirty="0"/>
          </a:p>
        </p:txBody>
      </p:sp>
      <p:sp>
        <p:nvSpPr>
          <p:cNvPr id="33" name="Text 30"/>
          <p:cNvSpPr/>
          <p:nvPr/>
        </p:nvSpPr>
        <p:spPr>
          <a:xfrm>
            <a:off x="11460175" y="6446520"/>
            <a:ext cx="457200" cy="274320"/>
          </a:xfrm>
          <a:prstGeom prst="rect">
            <a:avLst/>
          </a:prstGeom>
          <a:noFill/>
          <a:ln/>
        </p:spPr>
        <p:txBody>
          <a:bodyPr wrap="square" rtlCol="0" anchor="ctr"/>
          <a:lstStyle/>
          <a:p>
            <a:pPr algn="r" indent="0" marL="0">
              <a:buNone/>
            </a:pPr>
            <a:r>
              <a:rPr lang="en-US" sz="1000" dirty="0">
                <a:solidFill>
                  <a:srgbClr val="9A9A93"/>
                </a:solidFill>
                <a:latin typeface="Arial" pitchFamily="34" charset="0"/>
                <a:ea typeface="Arial" pitchFamily="34" charset="-122"/>
                <a:cs typeface="Arial"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9F5"/>
        </a:solidFill>
      </p:bgPr>
    </p:bg>
    <p:spTree>
      <p:nvGrpSpPr>
        <p:cNvPr id="1" name=""/>
        <p:cNvGrpSpPr/>
        <p:nvPr/>
      </p:nvGrpSpPr>
      <p:grpSpPr>
        <a:xfrm>
          <a:off x="0" y="0"/>
          <a:ext cx="0" cy="0"/>
          <a:chOff x="0" y="0"/>
          <a:chExt cx="0" cy="0"/>
        </a:xfrm>
      </p:grpSpPr>
      <p:sp>
        <p:nvSpPr>
          <p:cNvPr id="2" name="Shape 0"/>
          <p:cNvSpPr/>
          <p:nvPr/>
        </p:nvSpPr>
        <p:spPr>
          <a:xfrm>
            <a:off x="0" y="0"/>
            <a:ext cx="3977640" cy="6858000"/>
          </a:xfrm>
          <a:prstGeom prst="rect">
            <a:avLst/>
          </a:prstGeom>
          <a:solidFill>
            <a:srgbClr val="0E0E10"/>
          </a:solidFill>
          <a:ln/>
        </p:spPr>
        <p:txBody>
          <a:bodyPr/>
          <a:p/>
        </p:txBody>
      </p:sp>
      <p:sp>
        <p:nvSpPr>
          <p:cNvPr id="3" name="Shape 1"/>
          <p:cNvSpPr/>
          <p:nvPr/>
        </p:nvSpPr>
        <p:spPr>
          <a:xfrm>
            <a:off x="0" y="0"/>
            <a:ext cx="109728" cy="6858000"/>
          </a:xfrm>
          <a:prstGeom prst="rect">
            <a:avLst/>
          </a:prstGeom>
          <a:solidFill>
            <a:srgbClr val="185771"/>
          </a:solidFill>
          <a:ln/>
        </p:spPr>
        <p:txBody>
          <a:bodyPr/>
          <a:p/>
        </p:txBody>
      </p:sp>
      <p:pic>
        <p:nvPicPr>
          <p:cNvPr id="4" name="Image 0" descr="preencoded.png">    </p:cNvPr>
          <p:cNvPicPr>
            <a:picLocks noChangeAspect="1"/>
          </p:cNvPicPr>
          <p:nvPr/>
        </p:nvPicPr>
        <p:blipFill>
          <a:blip r:embed="rId1"/>
          <a:stretch>
            <a:fillRect/>
          </a:stretch>
        </p:blipFill>
        <p:spPr>
          <a:xfrm>
            <a:off x="502920" y="640080"/>
            <a:ext cx="640080" cy="640080"/>
          </a:xfrm>
          <a:prstGeom prst="rect">
            <a:avLst/>
          </a:prstGeom>
        </p:spPr>
      </p:pic>
      <p:sp>
        <p:nvSpPr>
          <p:cNvPr id="5" name="Text 2"/>
          <p:cNvSpPr/>
          <p:nvPr/>
        </p:nvSpPr>
        <p:spPr>
          <a:xfrm>
            <a:off x="502920" y="1417320"/>
            <a:ext cx="2743200" cy="274320"/>
          </a:xfrm>
          <a:prstGeom prst="rect">
            <a:avLst/>
          </a:prstGeom>
          <a:noFill/>
          <a:ln/>
        </p:spPr>
        <p:txBody>
          <a:bodyPr wrap="square" rtlCol="0" anchor="ctr"/>
          <a:lstStyle/>
          <a:p>
            <a:pPr indent="0" marL="0">
              <a:buNone/>
            </a:pPr>
            <a:r>
              <a:rPr lang="en-US" sz="1000" b="1" spc="400" kern="0" dirty="0">
                <a:solidFill>
                  <a:srgbClr val="185771"/>
                </a:solidFill>
                <a:latin typeface="Arial" pitchFamily="34" charset="0"/>
                <a:ea typeface="Arial" pitchFamily="34" charset="-122"/>
                <a:cs typeface="Arial" pitchFamily="34" charset="-120"/>
              </a:rPr>
              <a:t>PERSONA</a:t>
            </a:r>
            <a:endParaRPr lang="en-US" sz="1000" dirty="0"/>
          </a:p>
        </p:txBody>
      </p:sp>
      <p:sp>
        <p:nvSpPr>
          <p:cNvPr id="6" name="Text 3"/>
          <p:cNvSpPr/>
          <p:nvPr/>
        </p:nvSpPr>
        <p:spPr>
          <a:xfrm>
            <a:off x="502920" y="1691640"/>
            <a:ext cx="3200400" cy="914400"/>
          </a:xfrm>
          <a:prstGeom prst="rect">
            <a:avLst/>
          </a:prstGeom>
          <a:noFill/>
          <a:ln/>
        </p:spPr>
        <p:txBody>
          <a:bodyPr wrap="square" rtlCol="0" anchor="ctr"/>
          <a:lstStyle/>
          <a:p>
            <a:pPr indent="0" marL="0">
              <a:lnSpc>
                <a:spcPct val="95000"/>
              </a:lnSpc>
              <a:buNone/>
            </a:pPr>
            <a:r>
              <a:rPr lang="en-US" sz="2600" dirty="0">
                <a:solidFill>
                  <a:srgbClr val="FFFFFF"/>
                </a:solidFill>
                <a:latin typeface="Georgia" pitchFamily="34" charset="0"/>
                <a:ea typeface="Georgia" pitchFamily="34" charset="-122"/>
                <a:cs typeface="Georgia" pitchFamily="34" charset="-120"/>
              </a:rPr>
              <a:t>The Vertical Buyer</a:t>
            </a:r>
            <a:endParaRPr lang="en-US" sz="2600" dirty="0"/>
          </a:p>
        </p:txBody>
      </p:sp>
      <p:sp>
        <p:nvSpPr>
          <p:cNvPr id="7" name="Text 4"/>
          <p:cNvSpPr/>
          <p:nvPr/>
        </p:nvSpPr>
        <p:spPr>
          <a:xfrm>
            <a:off x="502920" y="2743200"/>
            <a:ext cx="3200400" cy="548640"/>
          </a:xfrm>
          <a:prstGeom prst="rect">
            <a:avLst/>
          </a:prstGeom>
          <a:noFill/>
          <a:ln/>
        </p:spPr>
        <p:txBody>
          <a:bodyPr wrap="square" rtlCol="0" anchor="ctr"/>
          <a:lstStyle/>
          <a:p>
            <a:pPr indent="0" marL="0">
              <a:lnSpc>
                <a:spcPct val="120000"/>
              </a:lnSpc>
              <a:buNone/>
            </a:pPr>
            <a:r>
              <a:rPr lang="en-US" sz="1200" dirty="0">
                <a:solidFill>
                  <a:srgbClr val="9A9A93"/>
                </a:solidFill>
                <a:latin typeface="Arial" pitchFamily="34" charset="0"/>
                <a:ea typeface="Arial" pitchFamily="34" charset="-122"/>
                <a:cs typeface="Arial" pitchFamily="34" charset="-120"/>
              </a:rPr>
              <a:t>Legal: Innovation Partner  ·  KM Director  ·  Managing Partner</a:t>
            </a:r>
            <a:endParaRPr lang="en-US" sz="1200" dirty="0"/>
          </a:p>
        </p:txBody>
      </p:sp>
      <p:sp>
        <p:nvSpPr>
          <p:cNvPr id="8" name="Shape 5"/>
          <p:cNvSpPr/>
          <p:nvPr/>
        </p:nvSpPr>
        <p:spPr>
          <a:xfrm>
            <a:off x="502920" y="3383280"/>
            <a:ext cx="2194560" cy="347472"/>
          </a:xfrm>
          <a:prstGeom prst="roundRect">
            <a:avLst>
              <a:gd name="adj" fmla="val 13158"/>
            </a:avLst>
          </a:prstGeom>
          <a:solidFill>
            <a:srgbClr val="17171B"/>
          </a:solidFill>
          <a:ln/>
        </p:spPr>
        <p:txBody>
          <a:bodyPr/>
          <a:p/>
        </p:txBody>
      </p:sp>
      <p:sp>
        <p:nvSpPr>
          <p:cNvPr id="9" name="Text 6"/>
          <p:cNvSpPr/>
          <p:nvPr/>
        </p:nvSpPr>
        <p:spPr>
          <a:xfrm>
            <a:off x="502920" y="3383280"/>
            <a:ext cx="2194560" cy="347472"/>
          </a:xfrm>
          <a:prstGeom prst="rect">
            <a:avLst/>
          </a:prstGeom>
          <a:noFill/>
          <a:ln/>
        </p:spPr>
        <p:txBody>
          <a:bodyPr wrap="square" rtlCol="0" anchor="ctr"/>
          <a:lstStyle/>
          <a:p>
            <a:pPr algn="ctr" indent="0" marL="0">
              <a:buNone/>
            </a:pPr>
            <a:r>
              <a:rPr lang="en-US" sz="1050" dirty="0">
                <a:solidFill>
                  <a:srgbClr val="ECEAE1"/>
                </a:solidFill>
                <a:latin typeface="Arial" pitchFamily="34" charset="0"/>
                <a:ea typeface="Arial" pitchFamily="34" charset="-122"/>
                <a:cs typeface="Arial" pitchFamily="34" charset="-120"/>
              </a:rPr>
              <a:t>B2B</a:t>
            </a:r>
            <a:endParaRPr lang="en-US" sz="1050" dirty="0"/>
          </a:p>
        </p:txBody>
      </p:sp>
      <p:sp>
        <p:nvSpPr>
          <p:cNvPr id="10" name="Shape 7"/>
          <p:cNvSpPr/>
          <p:nvPr/>
        </p:nvSpPr>
        <p:spPr>
          <a:xfrm>
            <a:off x="502920" y="3840480"/>
            <a:ext cx="2194560" cy="347472"/>
          </a:xfrm>
          <a:prstGeom prst="roundRect">
            <a:avLst>
              <a:gd name="adj" fmla="val 13158"/>
            </a:avLst>
          </a:prstGeom>
          <a:solidFill>
            <a:srgbClr val="17171B"/>
          </a:solidFill>
          <a:ln/>
        </p:spPr>
        <p:txBody>
          <a:bodyPr/>
          <a:p/>
        </p:txBody>
      </p:sp>
      <p:sp>
        <p:nvSpPr>
          <p:cNvPr id="11" name="Text 8"/>
          <p:cNvSpPr/>
          <p:nvPr/>
        </p:nvSpPr>
        <p:spPr>
          <a:xfrm>
            <a:off x="502920" y="3840480"/>
            <a:ext cx="2194560" cy="347472"/>
          </a:xfrm>
          <a:prstGeom prst="rect">
            <a:avLst/>
          </a:prstGeom>
          <a:noFill/>
          <a:ln/>
        </p:spPr>
        <p:txBody>
          <a:bodyPr wrap="square" rtlCol="0" anchor="ctr"/>
          <a:lstStyle/>
          <a:p>
            <a:pPr algn="ctr" indent="0" marL="0">
              <a:buNone/>
            </a:pPr>
            <a:r>
              <a:rPr lang="en-US" sz="1050" dirty="0">
                <a:solidFill>
                  <a:srgbClr val="ECEAE1"/>
                </a:solidFill>
                <a:latin typeface="Arial" pitchFamily="34" charset="0"/>
                <a:ea typeface="Arial" pitchFamily="34" charset="-122"/>
                <a:cs typeface="Arial" pitchFamily="34" charset="-120"/>
              </a:rPr>
              <a:t>Vertical</a:t>
            </a:r>
            <a:endParaRPr lang="en-US" sz="1050" dirty="0"/>
          </a:p>
        </p:txBody>
      </p:sp>
      <p:sp>
        <p:nvSpPr>
          <p:cNvPr id="12" name="Shape 9"/>
          <p:cNvSpPr/>
          <p:nvPr/>
        </p:nvSpPr>
        <p:spPr>
          <a:xfrm>
            <a:off x="502920" y="4297680"/>
            <a:ext cx="2194560" cy="347472"/>
          </a:xfrm>
          <a:prstGeom prst="roundRect">
            <a:avLst>
              <a:gd name="adj" fmla="val 13158"/>
            </a:avLst>
          </a:prstGeom>
          <a:solidFill>
            <a:srgbClr val="17171B"/>
          </a:solidFill>
          <a:ln/>
        </p:spPr>
        <p:txBody>
          <a:bodyPr/>
          <a:p/>
        </p:txBody>
      </p:sp>
      <p:sp>
        <p:nvSpPr>
          <p:cNvPr id="13" name="Text 10"/>
          <p:cNvSpPr/>
          <p:nvPr/>
        </p:nvSpPr>
        <p:spPr>
          <a:xfrm>
            <a:off x="502920" y="4297680"/>
            <a:ext cx="2194560" cy="347472"/>
          </a:xfrm>
          <a:prstGeom prst="rect">
            <a:avLst/>
          </a:prstGeom>
          <a:noFill/>
          <a:ln/>
        </p:spPr>
        <p:txBody>
          <a:bodyPr wrap="square" rtlCol="0" anchor="ctr"/>
          <a:lstStyle/>
          <a:p>
            <a:pPr algn="ctr" indent="0" marL="0">
              <a:buNone/>
            </a:pPr>
            <a:r>
              <a:rPr lang="en-US" sz="1050" dirty="0">
                <a:solidFill>
                  <a:srgbClr val="ECEAE1"/>
                </a:solidFill>
                <a:latin typeface="Arial" pitchFamily="34" charset="0"/>
                <a:ea typeface="Arial" pitchFamily="34" charset="-122"/>
                <a:cs typeface="Arial" pitchFamily="34" charset="-120"/>
              </a:rPr>
              <a:t>Sales-led + Co-brand</a:t>
            </a:r>
            <a:endParaRPr lang="en-US" sz="1050" dirty="0"/>
          </a:p>
        </p:txBody>
      </p:sp>
      <p:sp>
        <p:nvSpPr>
          <p:cNvPr id="14" name="Shape 11"/>
          <p:cNvSpPr/>
          <p:nvPr/>
        </p:nvSpPr>
        <p:spPr>
          <a:xfrm>
            <a:off x="502920" y="5029200"/>
            <a:ext cx="3017520" cy="18288"/>
          </a:xfrm>
          <a:prstGeom prst="rect">
            <a:avLst/>
          </a:prstGeom>
          <a:solidFill>
            <a:srgbClr val="2E2E33"/>
          </a:solidFill>
          <a:ln/>
        </p:spPr>
        <p:txBody>
          <a:bodyPr/>
          <a:p/>
        </p:txBody>
      </p:sp>
      <p:sp>
        <p:nvSpPr>
          <p:cNvPr id="15" name="Text 12"/>
          <p:cNvSpPr/>
          <p:nvPr/>
        </p:nvSpPr>
        <p:spPr>
          <a:xfrm>
            <a:off x="502920" y="5120640"/>
            <a:ext cx="3017520" cy="228600"/>
          </a:xfrm>
          <a:prstGeom prst="rect">
            <a:avLst/>
          </a:prstGeom>
          <a:noFill/>
          <a:ln/>
        </p:spPr>
        <p:txBody>
          <a:bodyPr wrap="square" rtlCol="0" anchor="ctr"/>
          <a:lstStyle/>
          <a:p>
            <a:pPr indent="0" marL="0">
              <a:buNone/>
            </a:pPr>
            <a:r>
              <a:rPr lang="en-US" sz="900" b="1" spc="200" kern="0" dirty="0">
                <a:solidFill>
                  <a:srgbClr val="185771"/>
                </a:solidFill>
                <a:latin typeface="Arial" pitchFamily="34" charset="0"/>
                <a:ea typeface="Arial" pitchFamily="34" charset="-122"/>
                <a:cs typeface="Arial" pitchFamily="34" charset="-120"/>
              </a:rPr>
              <a:t>WHO THEY ARE</a:t>
            </a:r>
            <a:endParaRPr lang="en-US" sz="900" dirty="0"/>
          </a:p>
        </p:txBody>
      </p:sp>
      <p:sp>
        <p:nvSpPr>
          <p:cNvPr id="16" name="Text 13"/>
          <p:cNvSpPr/>
          <p:nvPr/>
        </p:nvSpPr>
        <p:spPr>
          <a:xfrm>
            <a:off x="502920" y="5349240"/>
            <a:ext cx="3108960" cy="914400"/>
          </a:xfrm>
          <a:prstGeom prst="rect">
            <a:avLst/>
          </a:prstGeom>
          <a:noFill/>
          <a:ln/>
        </p:spPr>
        <p:txBody>
          <a:bodyPr wrap="square" rtlCol="0" anchor="ctr"/>
          <a:lstStyle/>
          <a:p>
            <a:pPr indent="0" marL="0">
              <a:lnSpc>
                <a:spcPct val="125000"/>
              </a:lnSpc>
              <a:buNone/>
            </a:pPr>
            <a:r>
              <a:rPr lang="en-US" sz="1100" dirty="0">
                <a:solidFill>
                  <a:srgbClr val="ECEAE1"/>
                </a:solidFill>
                <a:latin typeface="Arial" pitchFamily="34" charset="0"/>
                <a:ea typeface="Arial" pitchFamily="34" charset="-122"/>
                <a:cs typeface="Arial" pitchFamily="34" charset="-120"/>
              </a:rPr>
              <a:t>AmLaw 100 associates bill above $1,000/hour. Every minute AI handles is pure margin recapture. But one hallucination in a filing — or one privilege breach — ends careers and client relationships.</a:t>
            </a:r>
            <a:endParaRPr lang="en-US" sz="1100" dirty="0"/>
          </a:p>
        </p:txBody>
      </p:sp>
      <p:sp>
        <p:nvSpPr>
          <p:cNvPr id="17" name="Shape 14"/>
          <p:cNvSpPr/>
          <p:nvPr/>
        </p:nvSpPr>
        <p:spPr>
          <a:xfrm>
            <a:off x="4343400" y="502920"/>
            <a:ext cx="3703320" cy="2560320"/>
          </a:xfrm>
          <a:prstGeom prst="rect">
            <a:avLst/>
          </a:prstGeom>
          <a:solidFill>
            <a:srgbClr val="FFFFFF"/>
          </a:solidFill>
          <a:ln/>
          <a:effectLst>
            <a:outerShdw sx="100000" sy="100000" kx="0" ky="0" algn="bl" rotWithShape="0" blurRad="3.693490459437191e+74" dist="1.477396183774876e+74" dir="9.14039610015744e+87">
              <a:srgbClr val="000000">
                <a:alpha val="9.999999999999999e+88"/>
              </a:srgbClr>
            </a:outerShdw>
          </a:effectLst>
        </p:spPr>
        <p:txBody>
          <a:bodyPr/>
          <a:p/>
        </p:txBody>
      </p:sp>
      <p:sp>
        <p:nvSpPr>
          <p:cNvPr id="18" name="Shape 15"/>
          <p:cNvSpPr/>
          <p:nvPr/>
        </p:nvSpPr>
        <p:spPr>
          <a:xfrm>
            <a:off x="4343400" y="502920"/>
            <a:ext cx="3703320" cy="45720"/>
          </a:xfrm>
          <a:prstGeom prst="rect">
            <a:avLst/>
          </a:prstGeom>
          <a:solidFill>
            <a:srgbClr val="C2703D"/>
          </a:solidFill>
          <a:ln/>
        </p:spPr>
        <p:txBody>
          <a:bodyPr/>
          <a:p/>
        </p:txBody>
      </p:sp>
      <p:sp>
        <p:nvSpPr>
          <p:cNvPr id="19" name="Text 16"/>
          <p:cNvSpPr/>
          <p:nvPr/>
        </p:nvSpPr>
        <p:spPr>
          <a:xfrm>
            <a:off x="4526280" y="640080"/>
            <a:ext cx="3383280" cy="274320"/>
          </a:xfrm>
          <a:prstGeom prst="rect">
            <a:avLst/>
          </a:prstGeom>
          <a:noFill/>
          <a:ln/>
        </p:spPr>
        <p:txBody>
          <a:bodyPr wrap="square" rtlCol="0" anchor="ctr"/>
          <a:lstStyle/>
          <a:p>
            <a:pPr indent="0" marL="0">
              <a:buNone/>
            </a:pPr>
            <a:r>
              <a:rPr lang="en-US" sz="1100" b="1" spc="200" kern="0" dirty="0">
                <a:solidFill>
                  <a:srgbClr val="C2703D"/>
                </a:solidFill>
                <a:latin typeface="Arial" pitchFamily="34" charset="0"/>
                <a:ea typeface="Arial" pitchFamily="34" charset="-122"/>
                <a:cs typeface="Arial" pitchFamily="34" charset="-120"/>
              </a:rPr>
              <a:t>PAINS</a:t>
            </a:r>
            <a:endParaRPr lang="en-US" sz="1100" dirty="0"/>
          </a:p>
        </p:txBody>
      </p:sp>
      <p:sp>
        <p:nvSpPr>
          <p:cNvPr id="20" name="Text 17"/>
          <p:cNvSpPr/>
          <p:nvPr/>
        </p:nvSpPr>
        <p:spPr>
          <a:xfrm>
            <a:off x="4526280" y="1005840"/>
            <a:ext cx="3383280" cy="1920240"/>
          </a:xfrm>
          <a:prstGeom prst="rect">
            <a:avLst/>
          </a:prstGeom>
          <a:noFill/>
          <a:ln/>
        </p:spPr>
        <p:txBody>
          <a:bodyPr wrap="square" rtlCol="0" anchor="t"/>
          <a:lstStyle/>
          <a:p>
            <a:pPr marL="342900" indent="-342900">
              <a:lnSpc>
                <a:spcPct val="120000"/>
              </a:lnSpc>
              <a:spcAft>
                <a:spcPts val="600"/>
              </a:spcAft>
              <a:buSzPct val="100000"/>
              <a:buChar char="•"/>
            </a:pPr>
            <a:r>
              <a:rPr lang="en-US" sz="1100" dirty="0">
                <a:solidFill>
                  <a:srgbClr val="5B5F63"/>
                </a:solidFill>
                <a:latin typeface="Arial" pitchFamily="34" charset="0"/>
                <a:ea typeface="Arial" pitchFamily="34" charset="-122"/>
                <a:cs typeface="Arial" pitchFamily="34" charset="-120"/>
              </a:rPr>
              <a:t>Harvey: $12k–$24k per lawyer/year, min $288k floor — only makes sense for Am Law 100</a:t>
            </a:r>
            <a:endParaRPr lang="en-US" sz="1100" dirty="0"/>
          </a:p>
          <a:p>
            <a:pPr marL="342900" indent="-342900">
              <a:lnSpc>
                <a:spcPct val="120000"/>
              </a:lnSpc>
              <a:spcAft>
                <a:spcPts val="600"/>
              </a:spcAft>
              <a:buSzPct val="100000"/>
              <a:buChar char="•"/>
            </a:pPr>
            <a:r>
              <a:rPr lang="en-US" sz="1100" dirty="0">
                <a:solidFill>
                  <a:srgbClr val="5B5F63"/>
                </a:solidFill>
                <a:latin typeface="Arial" pitchFamily="34" charset="0"/>
                <a:ea typeface="Arial" pitchFamily="34" charset="-122"/>
                <a:cs typeface="Arial" pitchFamily="34" charset="-120"/>
              </a:rPr>
              <a:t>Hallucination in a brief or memo is a malpractice event, not a product bug</a:t>
            </a:r>
            <a:endParaRPr lang="en-US" sz="1100" dirty="0"/>
          </a:p>
          <a:p>
            <a:pPr marL="342900" indent="-342900">
              <a:lnSpc>
                <a:spcPct val="120000"/>
              </a:lnSpc>
              <a:spcAft>
                <a:spcPts val="600"/>
              </a:spcAft>
              <a:buSzPct val="100000"/>
              <a:buChar char="•"/>
            </a:pPr>
            <a:r>
              <a:rPr lang="en-US" sz="1100" dirty="0">
                <a:solidFill>
                  <a:srgbClr val="5B5F63"/>
                </a:solidFill>
                <a:latin typeface="Arial" pitchFamily="34" charset="0"/>
                <a:ea typeface="Arial" pitchFamily="34" charset="-122"/>
                <a:cs typeface="Arial" pitchFamily="34" charset="-120"/>
              </a:rPr>
              <a:t>Privilege requires architectural guarantees — contractual promises won't survive discovery</a:t>
            </a:r>
            <a:endParaRPr lang="en-US" sz="1100" dirty="0"/>
          </a:p>
        </p:txBody>
      </p:sp>
      <p:sp>
        <p:nvSpPr>
          <p:cNvPr id="21" name="Shape 18"/>
          <p:cNvSpPr/>
          <p:nvPr/>
        </p:nvSpPr>
        <p:spPr>
          <a:xfrm>
            <a:off x="8183880" y="502920"/>
            <a:ext cx="3703320" cy="2560320"/>
          </a:xfrm>
          <a:prstGeom prst="rect">
            <a:avLst/>
          </a:prstGeom>
          <a:solidFill>
            <a:srgbClr val="FFFFFF"/>
          </a:solidFill>
          <a:ln/>
          <a:effectLst>
            <a:outerShdw sx="100000" sy="100000" kx="0" ky="0" algn="bl" rotWithShape="0" blurRad="4.690732883485232e+78" dist="1.8762931533940924e+78" dir="5.484237660094465e+92">
              <a:srgbClr val="000000">
                <a:alpha val="9.999999999999998e+93"/>
              </a:srgbClr>
            </a:outerShdw>
          </a:effectLst>
        </p:spPr>
        <p:txBody>
          <a:bodyPr/>
          <a:p/>
        </p:txBody>
      </p:sp>
      <p:sp>
        <p:nvSpPr>
          <p:cNvPr id="22" name="Shape 19"/>
          <p:cNvSpPr/>
          <p:nvPr/>
        </p:nvSpPr>
        <p:spPr>
          <a:xfrm>
            <a:off x="8183880" y="502920"/>
            <a:ext cx="3703320" cy="45720"/>
          </a:xfrm>
          <a:prstGeom prst="rect">
            <a:avLst/>
          </a:prstGeom>
          <a:solidFill>
            <a:srgbClr val="788C5D"/>
          </a:solidFill>
          <a:ln/>
        </p:spPr>
        <p:txBody>
          <a:bodyPr/>
          <a:p/>
        </p:txBody>
      </p:sp>
      <p:sp>
        <p:nvSpPr>
          <p:cNvPr id="23" name="Text 20"/>
          <p:cNvSpPr/>
          <p:nvPr/>
        </p:nvSpPr>
        <p:spPr>
          <a:xfrm>
            <a:off x="8366760" y="640080"/>
            <a:ext cx="3383280" cy="274320"/>
          </a:xfrm>
          <a:prstGeom prst="rect">
            <a:avLst/>
          </a:prstGeom>
          <a:noFill/>
          <a:ln/>
        </p:spPr>
        <p:txBody>
          <a:bodyPr wrap="square" rtlCol="0" anchor="ctr"/>
          <a:lstStyle/>
          <a:p>
            <a:pPr indent="0" marL="0">
              <a:buNone/>
            </a:pPr>
            <a:r>
              <a:rPr lang="en-US" sz="1100" b="1" spc="200" kern="0" dirty="0">
                <a:solidFill>
                  <a:srgbClr val="788C5D"/>
                </a:solidFill>
                <a:latin typeface="Arial" pitchFamily="34" charset="0"/>
                <a:ea typeface="Arial" pitchFamily="34" charset="-122"/>
                <a:cs typeface="Arial" pitchFamily="34" charset="-120"/>
              </a:rPr>
              <a:t>TRIGGERS</a:t>
            </a:r>
            <a:endParaRPr lang="en-US" sz="1100" dirty="0"/>
          </a:p>
        </p:txBody>
      </p:sp>
      <p:sp>
        <p:nvSpPr>
          <p:cNvPr id="24" name="Text 21"/>
          <p:cNvSpPr/>
          <p:nvPr/>
        </p:nvSpPr>
        <p:spPr>
          <a:xfrm>
            <a:off x="8366760" y="1005840"/>
            <a:ext cx="3383280" cy="1920240"/>
          </a:xfrm>
          <a:prstGeom prst="rect">
            <a:avLst/>
          </a:prstGeom>
          <a:noFill/>
          <a:ln/>
        </p:spPr>
        <p:txBody>
          <a:bodyPr wrap="square" rtlCol="0" anchor="t"/>
          <a:lstStyle/>
          <a:p>
            <a:pPr marL="342900" indent="-342900">
              <a:lnSpc>
                <a:spcPct val="120000"/>
              </a:lnSpc>
              <a:spcAft>
                <a:spcPts val="600"/>
              </a:spcAft>
              <a:buSzPct val="100000"/>
              <a:buChar char="•"/>
            </a:pPr>
            <a:r>
              <a:rPr lang="en-US" sz="1100" dirty="0">
                <a:solidFill>
                  <a:srgbClr val="5B5F63"/>
                </a:solidFill>
                <a:latin typeface="Arial" pitchFamily="34" charset="0"/>
                <a:ea typeface="Arial" pitchFamily="34" charset="-122"/>
                <a:cs typeface="Arial" pitchFamily="34" charset="-120"/>
              </a:rPr>
              <a:t>A peer firm announces an AI initiative or a case win attributed to AI</a:t>
            </a:r>
            <a:endParaRPr lang="en-US" sz="1100" dirty="0"/>
          </a:p>
          <a:p>
            <a:pPr marL="342900" indent="-342900">
              <a:lnSpc>
                <a:spcPct val="120000"/>
              </a:lnSpc>
              <a:spcAft>
                <a:spcPts val="600"/>
              </a:spcAft>
              <a:buSzPct val="100000"/>
              <a:buChar char="•"/>
            </a:pPr>
            <a:r>
              <a:rPr lang="en-US" sz="1100" dirty="0">
                <a:solidFill>
                  <a:srgbClr val="5B5F63"/>
                </a:solidFill>
                <a:latin typeface="Arial" pitchFamily="34" charset="0"/>
                <a:ea typeface="Arial" pitchFamily="34" charset="-122"/>
                <a:cs typeface="Arial" pitchFamily="34" charset="-120"/>
              </a:rPr>
              <a:t>A client directly asks which AI tools are used on their matter</a:t>
            </a:r>
            <a:endParaRPr lang="en-US" sz="1100" dirty="0"/>
          </a:p>
          <a:p>
            <a:pPr marL="342900" indent="-342900">
              <a:lnSpc>
                <a:spcPct val="120000"/>
              </a:lnSpc>
              <a:spcAft>
                <a:spcPts val="600"/>
              </a:spcAft>
              <a:buSzPct val="100000"/>
              <a:buChar char="•"/>
            </a:pPr>
            <a:r>
              <a:rPr lang="en-US" sz="1100" dirty="0">
                <a:solidFill>
                  <a:srgbClr val="5B5F63"/>
                </a:solidFill>
                <a:latin typeface="Arial" pitchFamily="34" charset="0"/>
                <a:ea typeface="Arial" pitchFamily="34" charset="-122"/>
                <a:cs typeface="Arial" pitchFamily="34" charset="-120"/>
              </a:rPr>
              <a:t>Renewal window opens on Harvey or CoCounsel — renegotiation is the trigger</a:t>
            </a:r>
            <a:endParaRPr lang="en-US" sz="1100" dirty="0"/>
          </a:p>
        </p:txBody>
      </p:sp>
      <p:sp>
        <p:nvSpPr>
          <p:cNvPr id="25" name="Shape 22"/>
          <p:cNvSpPr/>
          <p:nvPr/>
        </p:nvSpPr>
        <p:spPr>
          <a:xfrm>
            <a:off x="4343400" y="3246120"/>
            <a:ext cx="3703320" cy="2560320"/>
          </a:xfrm>
          <a:prstGeom prst="rect">
            <a:avLst/>
          </a:prstGeom>
          <a:solidFill>
            <a:srgbClr val="FFFFFF"/>
          </a:solidFill>
          <a:ln/>
          <a:effectLst>
            <a:outerShdw sx="100000" sy="100000" kx="0" ky="0" algn="bl" rotWithShape="0" blurRad="5.957230762026245e+82" dist="2.3828923048104974e+82" dir="3.2905425960566786e+97">
              <a:srgbClr val="000000">
                <a:alpha val="9.999999999999998e+98"/>
              </a:srgbClr>
            </a:outerShdw>
          </a:effectLst>
        </p:spPr>
        <p:txBody>
          <a:bodyPr/>
          <a:p/>
        </p:txBody>
      </p:sp>
      <p:sp>
        <p:nvSpPr>
          <p:cNvPr id="26" name="Shape 23"/>
          <p:cNvSpPr/>
          <p:nvPr/>
        </p:nvSpPr>
        <p:spPr>
          <a:xfrm>
            <a:off x="4343400" y="3246120"/>
            <a:ext cx="3703320" cy="45720"/>
          </a:xfrm>
          <a:prstGeom prst="rect">
            <a:avLst/>
          </a:prstGeom>
          <a:solidFill>
            <a:srgbClr val="5B5F63"/>
          </a:solidFill>
          <a:ln/>
        </p:spPr>
        <p:txBody>
          <a:bodyPr/>
          <a:p/>
        </p:txBody>
      </p:sp>
      <p:sp>
        <p:nvSpPr>
          <p:cNvPr id="27" name="Text 24"/>
          <p:cNvSpPr/>
          <p:nvPr/>
        </p:nvSpPr>
        <p:spPr>
          <a:xfrm>
            <a:off x="4526280" y="3383280"/>
            <a:ext cx="3383280" cy="274320"/>
          </a:xfrm>
          <a:prstGeom prst="rect">
            <a:avLst/>
          </a:prstGeom>
          <a:noFill/>
          <a:ln/>
        </p:spPr>
        <p:txBody>
          <a:bodyPr wrap="square" rtlCol="0" anchor="ctr"/>
          <a:lstStyle/>
          <a:p>
            <a:pPr indent="0" marL="0">
              <a:buNone/>
            </a:pPr>
            <a:r>
              <a:rPr lang="en-US" sz="1100" b="1" spc="200" kern="0" dirty="0">
                <a:solidFill>
                  <a:srgbClr val="5B5F63"/>
                </a:solidFill>
                <a:latin typeface="Arial" pitchFamily="34" charset="0"/>
                <a:ea typeface="Arial" pitchFamily="34" charset="-122"/>
                <a:cs typeface="Arial" pitchFamily="34" charset="-120"/>
              </a:rPr>
              <a:t>OBJECTIONS</a:t>
            </a:r>
            <a:endParaRPr lang="en-US" sz="1100" dirty="0"/>
          </a:p>
        </p:txBody>
      </p:sp>
      <p:sp>
        <p:nvSpPr>
          <p:cNvPr id="28" name="Text 25"/>
          <p:cNvSpPr/>
          <p:nvPr/>
        </p:nvSpPr>
        <p:spPr>
          <a:xfrm>
            <a:off x="4526280" y="3749040"/>
            <a:ext cx="3383280" cy="1920240"/>
          </a:xfrm>
          <a:prstGeom prst="rect">
            <a:avLst/>
          </a:prstGeom>
          <a:noFill/>
          <a:ln/>
        </p:spPr>
        <p:txBody>
          <a:bodyPr wrap="square" rtlCol="0" anchor="t"/>
          <a:lstStyle/>
          <a:p>
            <a:pPr marL="342900" indent="-342900">
              <a:lnSpc>
                <a:spcPct val="120000"/>
              </a:lnSpc>
              <a:spcAft>
                <a:spcPts val="600"/>
              </a:spcAft>
              <a:buSzPct val="100000"/>
              <a:buChar char="•"/>
            </a:pPr>
            <a:r>
              <a:rPr lang="en-US" sz="1100" dirty="0">
                <a:solidFill>
                  <a:srgbClr val="5B5F63"/>
                </a:solidFill>
                <a:latin typeface="Arial" pitchFamily="34" charset="0"/>
                <a:ea typeface="Arial" pitchFamily="34" charset="-122"/>
                <a:cs typeface="Arial" pitchFamily="34" charset="-120"/>
              </a:rPr>
              <a:t>Accurate enough for actual work product — real memos, briefs, not demo prompts?</a:t>
            </a:r>
            <a:endParaRPr lang="en-US" sz="1100" dirty="0"/>
          </a:p>
          <a:p>
            <a:pPr marL="342900" indent="-342900">
              <a:lnSpc>
                <a:spcPct val="120000"/>
              </a:lnSpc>
              <a:spcAft>
                <a:spcPts val="600"/>
              </a:spcAft>
              <a:buSzPct val="100000"/>
              <a:buChar char="•"/>
            </a:pPr>
            <a:r>
              <a:rPr lang="en-US" sz="1100" dirty="0">
                <a:solidFill>
                  <a:srgbClr val="5B5F63"/>
                </a:solidFill>
                <a:latin typeface="Arial" pitchFamily="34" charset="0"/>
                <a:ea typeface="Arial" pitchFamily="34" charset="-122"/>
                <a:cs typeface="Arial" pitchFamily="34" charset="-120"/>
              </a:rPr>
              <a:t>How is privilege protected: architecturally, not just contractually?</a:t>
            </a:r>
            <a:endParaRPr lang="en-US" sz="1100" dirty="0"/>
          </a:p>
          <a:p>
            <a:pPr marL="342900" indent="-342900">
              <a:lnSpc>
                <a:spcPct val="120000"/>
              </a:lnSpc>
              <a:spcAft>
                <a:spcPts val="600"/>
              </a:spcAft>
              <a:buSzPct val="100000"/>
              <a:buChar char="•"/>
            </a:pPr>
            <a:r>
              <a:rPr lang="en-US" sz="1100" dirty="0">
                <a:solidFill>
                  <a:srgbClr val="5B5F63"/>
                </a:solidFill>
                <a:latin typeface="Arial" pitchFamily="34" charset="0"/>
                <a:ea typeface="Arial" pitchFamily="34" charset="-122"/>
                <a:cs typeface="Arial" pitchFamily="34" charset="-120"/>
              </a:rPr>
              <a:t>Proven at a real firm we would recognize — not a pilot or a named testimonial?</a:t>
            </a:r>
            <a:endParaRPr lang="en-US" sz="1100" dirty="0"/>
          </a:p>
        </p:txBody>
      </p:sp>
      <p:sp>
        <p:nvSpPr>
          <p:cNvPr id="29" name="Shape 26"/>
          <p:cNvSpPr/>
          <p:nvPr/>
        </p:nvSpPr>
        <p:spPr>
          <a:xfrm>
            <a:off x="8183880" y="3246120"/>
            <a:ext cx="3703320" cy="2560320"/>
          </a:xfrm>
          <a:prstGeom prst="rect">
            <a:avLst/>
          </a:prstGeom>
          <a:solidFill>
            <a:srgbClr val="FFFFFF"/>
          </a:solidFill>
          <a:ln/>
          <a:effectLst>
            <a:outerShdw sx="100000" sy="100000" kx="0" ky="0" algn="bl" rotWithShape="0" blurRad="7.565683067773332e+86" dist="3.0262732271093317e+86" dir="1.9743255576340073e+102">
              <a:srgbClr val="000000">
                <a:alpha val="9.999999999999998e+103"/>
              </a:srgbClr>
            </a:outerShdw>
          </a:effectLst>
        </p:spPr>
        <p:txBody>
          <a:bodyPr/>
          <a:p/>
        </p:txBody>
      </p:sp>
      <p:sp>
        <p:nvSpPr>
          <p:cNvPr id="30" name="Shape 27"/>
          <p:cNvSpPr/>
          <p:nvPr/>
        </p:nvSpPr>
        <p:spPr>
          <a:xfrm>
            <a:off x="8183880" y="3246120"/>
            <a:ext cx="3703320" cy="45720"/>
          </a:xfrm>
          <a:prstGeom prst="rect">
            <a:avLst/>
          </a:prstGeom>
          <a:solidFill>
            <a:srgbClr val="185771"/>
          </a:solidFill>
          <a:ln/>
        </p:spPr>
        <p:txBody>
          <a:bodyPr/>
          <a:p/>
        </p:txBody>
      </p:sp>
      <p:sp>
        <p:nvSpPr>
          <p:cNvPr id="31" name="Text 28"/>
          <p:cNvSpPr/>
          <p:nvPr/>
        </p:nvSpPr>
        <p:spPr>
          <a:xfrm>
            <a:off x="8366760" y="3383280"/>
            <a:ext cx="3383280" cy="274320"/>
          </a:xfrm>
          <a:prstGeom prst="rect">
            <a:avLst/>
          </a:prstGeom>
          <a:noFill/>
          <a:ln/>
        </p:spPr>
        <p:txBody>
          <a:bodyPr wrap="square" rtlCol="0" anchor="ctr"/>
          <a:lstStyle/>
          <a:p>
            <a:pPr indent="0" marL="0">
              <a:buNone/>
            </a:pPr>
            <a:r>
              <a:rPr lang="en-US" sz="1100" b="1" spc="200" kern="0" dirty="0">
                <a:solidFill>
                  <a:srgbClr val="185771"/>
                </a:solidFill>
                <a:latin typeface="Arial" pitchFamily="34" charset="0"/>
                <a:ea typeface="Arial" pitchFamily="34" charset="-122"/>
                <a:cs typeface="Arial" pitchFamily="34" charset="-120"/>
              </a:rPr>
              <a:t>WHAT CONVERTS THEM</a:t>
            </a:r>
            <a:endParaRPr lang="en-US" sz="1100" dirty="0"/>
          </a:p>
        </p:txBody>
      </p:sp>
      <p:sp>
        <p:nvSpPr>
          <p:cNvPr id="32" name="Text 29"/>
          <p:cNvSpPr/>
          <p:nvPr/>
        </p:nvSpPr>
        <p:spPr>
          <a:xfrm>
            <a:off x="8366760" y="3749040"/>
            <a:ext cx="3383280" cy="1920240"/>
          </a:xfrm>
          <a:prstGeom prst="rect">
            <a:avLst/>
          </a:prstGeom>
          <a:noFill/>
          <a:ln/>
        </p:spPr>
        <p:txBody>
          <a:bodyPr wrap="square" rtlCol="0" anchor="t"/>
          <a:lstStyle/>
          <a:p>
            <a:pPr marL="342900" indent="-342900">
              <a:lnSpc>
                <a:spcPct val="120000"/>
              </a:lnSpc>
              <a:spcAft>
                <a:spcPts val="600"/>
              </a:spcAft>
              <a:buSzPct val="100000"/>
              <a:buChar char="•"/>
            </a:pPr>
            <a:r>
              <a:rPr lang="en-US" sz="1100" dirty="0">
                <a:solidFill>
                  <a:srgbClr val="5B5F63"/>
                </a:solidFill>
                <a:latin typeface="Arial" pitchFamily="34" charset="0"/>
                <a:ea typeface="Arial" pitchFamily="34" charset="-122"/>
                <a:cs typeface="Arial" pitchFamily="34" charset="-120"/>
              </a:rPr>
              <a:t>Co-developed with a named firm: their credibility pre-answers 'is this proven?'</a:t>
            </a:r>
            <a:endParaRPr lang="en-US" sz="1100" dirty="0"/>
          </a:p>
          <a:p>
            <a:pPr marL="342900" indent="-342900">
              <a:lnSpc>
                <a:spcPct val="120000"/>
              </a:lnSpc>
              <a:spcAft>
                <a:spcPts val="600"/>
              </a:spcAft>
              <a:buSzPct val="100000"/>
              <a:buChar char="•"/>
            </a:pPr>
            <a:r>
              <a:rPr lang="en-US" sz="1100" dirty="0">
                <a:solidFill>
                  <a:srgbClr val="5B5F63"/>
                </a:solidFill>
                <a:latin typeface="Arial" pitchFamily="34" charset="0"/>
                <a:ea typeface="Arial" pitchFamily="34" charset="-122"/>
                <a:cs typeface="Arial" pitchFamily="34" charset="-120"/>
              </a:rPr>
              <a:t>Price materially below Harvey — managing partner sees the math on first contact</a:t>
            </a:r>
            <a:endParaRPr lang="en-US" sz="1100" dirty="0"/>
          </a:p>
          <a:p>
            <a:pPr marL="342900" indent="-342900">
              <a:lnSpc>
                <a:spcPct val="120000"/>
              </a:lnSpc>
              <a:spcAft>
                <a:spcPts val="600"/>
              </a:spcAft>
              <a:buSzPct val="100000"/>
              <a:buChar char="•"/>
            </a:pPr>
            <a:r>
              <a:rPr lang="en-US" sz="1100" dirty="0">
                <a:solidFill>
                  <a:srgbClr val="5B5F63"/>
                </a:solidFill>
                <a:latin typeface="Arial" pitchFamily="34" charset="0"/>
                <a:ea typeface="Arial" pitchFamily="34" charset="-122"/>
                <a:cs typeface="Arial" pitchFamily="34" charset="-120"/>
              </a:rPr>
              <a:t>Grounded output: AI drafts, lawyer judges — malpractice risk stays with the human</a:t>
            </a:r>
            <a:endParaRPr lang="en-US" sz="1100" dirty="0"/>
          </a:p>
          <a:p>
            <a:pPr marL="342900" indent="-342900">
              <a:lnSpc>
                <a:spcPct val="120000"/>
              </a:lnSpc>
              <a:spcAft>
                <a:spcPts val="600"/>
              </a:spcAft>
              <a:buSzPct val="100000"/>
              <a:buChar char="•"/>
            </a:pPr>
            <a:r>
              <a:rPr lang="en-US" sz="1100" dirty="0">
                <a:solidFill>
                  <a:srgbClr val="5B5F63"/>
                </a:solidFill>
                <a:latin typeface="Arial" pitchFamily="34" charset="0"/>
                <a:ea typeface="Arial" pitchFamily="34" charset="-122"/>
                <a:cs typeface="Arial" pitchFamily="34" charset="-120"/>
              </a:rPr>
              <a:t>Privilege-safe by architecture: cryptographic proof that client data never left</a:t>
            </a:r>
            <a:endParaRPr lang="en-US" sz="1100" dirty="0"/>
          </a:p>
        </p:txBody>
      </p:sp>
      <p:sp>
        <p:nvSpPr>
          <p:cNvPr id="33" name="Text 30"/>
          <p:cNvSpPr/>
          <p:nvPr/>
        </p:nvSpPr>
        <p:spPr>
          <a:xfrm>
            <a:off x="11460175" y="6446520"/>
            <a:ext cx="457200" cy="274320"/>
          </a:xfrm>
          <a:prstGeom prst="rect">
            <a:avLst/>
          </a:prstGeom>
          <a:noFill/>
          <a:ln/>
        </p:spPr>
        <p:txBody>
          <a:bodyPr wrap="square" rtlCol="0" anchor="ctr"/>
          <a:lstStyle/>
          <a:p>
            <a:pPr algn="r" indent="0" marL="0">
              <a:buNone/>
            </a:pPr>
            <a:r>
              <a:rPr lang="en-US" sz="1000" dirty="0">
                <a:solidFill>
                  <a:srgbClr val="9A9A93"/>
                </a:solidFill>
                <a:latin typeface="Arial" pitchFamily="34" charset="0"/>
                <a:ea typeface="Arial" pitchFamily="34" charset="-122"/>
                <a:cs typeface="Arial"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9F5"/>
        </a:solidFill>
      </p:bgPr>
    </p:bg>
    <p:spTree>
      <p:nvGrpSpPr>
        <p:cNvPr id="1" name=""/>
        <p:cNvGrpSpPr/>
        <p:nvPr/>
      </p:nvGrpSpPr>
      <p:grpSpPr>
        <a:xfrm>
          <a:off x="0" y="0"/>
          <a:ext cx="0" cy="0"/>
          <a:chOff x="0" y="0"/>
          <a:chExt cx="0" cy="0"/>
        </a:xfrm>
      </p:grpSpPr>
      <p:sp>
        <p:nvSpPr>
          <p:cNvPr id="2" name="Shape 0"/>
          <p:cNvSpPr/>
          <p:nvPr/>
        </p:nvSpPr>
        <p:spPr>
          <a:xfrm>
            <a:off x="0" y="0"/>
            <a:ext cx="3977640" cy="6858000"/>
          </a:xfrm>
          <a:prstGeom prst="rect">
            <a:avLst/>
          </a:prstGeom>
          <a:solidFill>
            <a:srgbClr val="0E0E10"/>
          </a:solidFill>
          <a:ln/>
        </p:spPr>
        <p:txBody>
          <a:bodyPr/>
          <a:p/>
        </p:txBody>
      </p:sp>
      <p:sp>
        <p:nvSpPr>
          <p:cNvPr id="3" name="Shape 1"/>
          <p:cNvSpPr/>
          <p:nvPr/>
        </p:nvSpPr>
        <p:spPr>
          <a:xfrm>
            <a:off x="0" y="0"/>
            <a:ext cx="109728" cy="6858000"/>
          </a:xfrm>
          <a:prstGeom prst="rect">
            <a:avLst/>
          </a:prstGeom>
          <a:solidFill>
            <a:srgbClr val="C2703D"/>
          </a:solidFill>
          <a:ln/>
        </p:spPr>
        <p:txBody>
          <a:bodyPr/>
          <a:p/>
        </p:txBody>
      </p:sp>
      <p:pic>
        <p:nvPicPr>
          <p:cNvPr id="4" name="Image 0" descr="preencoded.png">    </p:cNvPr>
          <p:cNvPicPr>
            <a:picLocks noChangeAspect="1"/>
          </p:cNvPicPr>
          <p:nvPr/>
        </p:nvPicPr>
        <p:blipFill>
          <a:blip r:embed="rId1"/>
          <a:stretch>
            <a:fillRect/>
          </a:stretch>
        </p:blipFill>
        <p:spPr>
          <a:xfrm>
            <a:off x="502920" y="640080"/>
            <a:ext cx="640080" cy="640080"/>
          </a:xfrm>
          <a:prstGeom prst="rect">
            <a:avLst/>
          </a:prstGeom>
        </p:spPr>
      </p:pic>
      <p:sp>
        <p:nvSpPr>
          <p:cNvPr id="5" name="Text 2"/>
          <p:cNvSpPr/>
          <p:nvPr/>
        </p:nvSpPr>
        <p:spPr>
          <a:xfrm>
            <a:off x="502920" y="1417320"/>
            <a:ext cx="2743200" cy="274320"/>
          </a:xfrm>
          <a:prstGeom prst="rect">
            <a:avLst/>
          </a:prstGeom>
          <a:noFill/>
          <a:ln/>
        </p:spPr>
        <p:txBody>
          <a:bodyPr wrap="square" rtlCol="0" anchor="ctr"/>
          <a:lstStyle/>
          <a:p>
            <a:pPr indent="0" marL="0">
              <a:buNone/>
            </a:pPr>
            <a:r>
              <a:rPr lang="en-US" sz="1000" b="1" spc="400" kern="0" dirty="0">
                <a:solidFill>
                  <a:srgbClr val="C2703D"/>
                </a:solidFill>
                <a:latin typeface="Arial" pitchFamily="34" charset="0"/>
                <a:ea typeface="Arial" pitchFamily="34" charset="-122"/>
                <a:cs typeface="Arial" pitchFamily="34" charset="-120"/>
              </a:rPr>
              <a:t>PERSONA</a:t>
            </a:r>
            <a:endParaRPr lang="en-US" sz="1000" dirty="0"/>
          </a:p>
        </p:txBody>
      </p:sp>
      <p:sp>
        <p:nvSpPr>
          <p:cNvPr id="6" name="Text 3"/>
          <p:cNvSpPr/>
          <p:nvPr/>
        </p:nvSpPr>
        <p:spPr>
          <a:xfrm>
            <a:off x="502920" y="1691640"/>
            <a:ext cx="3200400" cy="914400"/>
          </a:xfrm>
          <a:prstGeom prst="rect">
            <a:avLst/>
          </a:prstGeom>
          <a:noFill/>
          <a:ln/>
        </p:spPr>
        <p:txBody>
          <a:bodyPr wrap="square" rtlCol="0" anchor="ctr"/>
          <a:lstStyle/>
          <a:p>
            <a:pPr indent="0" marL="0">
              <a:lnSpc>
                <a:spcPct val="95000"/>
              </a:lnSpc>
              <a:buNone/>
            </a:pPr>
            <a:r>
              <a:rPr lang="en-US" sz="2600" dirty="0">
                <a:solidFill>
                  <a:srgbClr val="FFFFFF"/>
                </a:solidFill>
                <a:latin typeface="Georgia" pitchFamily="34" charset="0"/>
                <a:ea typeface="Georgia" pitchFamily="34" charset="-122"/>
                <a:cs typeface="Georgia" pitchFamily="34" charset="-120"/>
              </a:rPr>
              <a:t>The Developer</a:t>
            </a:r>
            <a:endParaRPr lang="en-US" sz="2600" dirty="0"/>
          </a:p>
        </p:txBody>
      </p:sp>
      <p:sp>
        <p:nvSpPr>
          <p:cNvPr id="7" name="Text 4"/>
          <p:cNvSpPr/>
          <p:nvPr/>
        </p:nvSpPr>
        <p:spPr>
          <a:xfrm>
            <a:off x="502920" y="2743200"/>
            <a:ext cx="3200400" cy="548640"/>
          </a:xfrm>
          <a:prstGeom prst="rect">
            <a:avLst/>
          </a:prstGeom>
          <a:noFill/>
          <a:ln/>
        </p:spPr>
        <p:txBody>
          <a:bodyPr wrap="square" rtlCol="0" anchor="ctr"/>
          <a:lstStyle/>
          <a:p>
            <a:pPr indent="0" marL="0">
              <a:lnSpc>
                <a:spcPct val="120000"/>
              </a:lnSpc>
              <a:buNone/>
            </a:pPr>
            <a:r>
              <a:rPr lang="en-US" sz="1200" dirty="0">
                <a:solidFill>
                  <a:srgbClr val="9A9A93"/>
                </a:solidFill>
                <a:latin typeface="Arial" pitchFamily="34" charset="0"/>
                <a:ea typeface="Arial" pitchFamily="34" charset="-122"/>
                <a:cs typeface="Arial" pitchFamily="34" charset="-120"/>
              </a:rPr>
              <a:t>Indie dev  ·  Startup engineer  ·  Builder</a:t>
            </a:r>
            <a:endParaRPr lang="en-US" sz="1200" dirty="0"/>
          </a:p>
        </p:txBody>
      </p:sp>
      <p:sp>
        <p:nvSpPr>
          <p:cNvPr id="8" name="Shape 5"/>
          <p:cNvSpPr/>
          <p:nvPr/>
        </p:nvSpPr>
        <p:spPr>
          <a:xfrm>
            <a:off x="502920" y="3383280"/>
            <a:ext cx="2194560" cy="347472"/>
          </a:xfrm>
          <a:prstGeom prst="roundRect">
            <a:avLst>
              <a:gd name="adj" fmla="val 13158"/>
            </a:avLst>
          </a:prstGeom>
          <a:solidFill>
            <a:srgbClr val="17171B"/>
          </a:solidFill>
          <a:ln/>
        </p:spPr>
        <p:txBody>
          <a:bodyPr/>
          <a:p/>
        </p:txBody>
      </p:sp>
      <p:sp>
        <p:nvSpPr>
          <p:cNvPr id="9" name="Text 6"/>
          <p:cNvSpPr/>
          <p:nvPr/>
        </p:nvSpPr>
        <p:spPr>
          <a:xfrm>
            <a:off x="502920" y="3383280"/>
            <a:ext cx="2194560" cy="347472"/>
          </a:xfrm>
          <a:prstGeom prst="rect">
            <a:avLst/>
          </a:prstGeom>
          <a:noFill/>
          <a:ln/>
        </p:spPr>
        <p:txBody>
          <a:bodyPr wrap="square" rtlCol="0" anchor="ctr"/>
          <a:lstStyle/>
          <a:p>
            <a:pPr algn="ctr" indent="0" marL="0">
              <a:buNone/>
            </a:pPr>
            <a:r>
              <a:rPr lang="en-US" sz="1050" dirty="0">
                <a:solidFill>
                  <a:srgbClr val="ECEAE1"/>
                </a:solidFill>
                <a:latin typeface="Arial" pitchFamily="34" charset="0"/>
                <a:ea typeface="Arial" pitchFamily="34" charset="-122"/>
                <a:cs typeface="Arial" pitchFamily="34" charset="-120"/>
              </a:rPr>
              <a:t>B2C</a:t>
            </a:r>
            <a:endParaRPr lang="en-US" sz="1050" dirty="0"/>
          </a:p>
        </p:txBody>
      </p:sp>
      <p:sp>
        <p:nvSpPr>
          <p:cNvPr id="10" name="Shape 7"/>
          <p:cNvSpPr/>
          <p:nvPr/>
        </p:nvSpPr>
        <p:spPr>
          <a:xfrm>
            <a:off x="502920" y="3840480"/>
            <a:ext cx="2194560" cy="347472"/>
          </a:xfrm>
          <a:prstGeom prst="roundRect">
            <a:avLst>
              <a:gd name="adj" fmla="val 13158"/>
            </a:avLst>
          </a:prstGeom>
          <a:solidFill>
            <a:srgbClr val="17171B"/>
          </a:solidFill>
          <a:ln/>
        </p:spPr>
        <p:txBody>
          <a:bodyPr/>
          <a:p/>
        </p:txBody>
      </p:sp>
      <p:sp>
        <p:nvSpPr>
          <p:cNvPr id="11" name="Text 8"/>
          <p:cNvSpPr/>
          <p:nvPr/>
        </p:nvSpPr>
        <p:spPr>
          <a:xfrm>
            <a:off x="502920" y="3840480"/>
            <a:ext cx="2194560" cy="347472"/>
          </a:xfrm>
          <a:prstGeom prst="rect">
            <a:avLst/>
          </a:prstGeom>
          <a:noFill/>
          <a:ln/>
        </p:spPr>
        <p:txBody>
          <a:bodyPr wrap="square" rtlCol="0" anchor="ctr"/>
          <a:lstStyle/>
          <a:p>
            <a:pPr algn="ctr" indent="0" marL="0">
              <a:buNone/>
            </a:pPr>
            <a:r>
              <a:rPr lang="en-US" sz="1050" dirty="0">
                <a:solidFill>
                  <a:srgbClr val="ECEAE1"/>
                </a:solidFill>
                <a:latin typeface="Arial" pitchFamily="34" charset="0"/>
                <a:ea typeface="Arial" pitchFamily="34" charset="-122"/>
                <a:cs typeface="Arial" pitchFamily="34" charset="-120"/>
              </a:rPr>
              <a:t>PLG</a:t>
            </a:r>
            <a:endParaRPr lang="en-US" sz="1050" dirty="0"/>
          </a:p>
        </p:txBody>
      </p:sp>
      <p:sp>
        <p:nvSpPr>
          <p:cNvPr id="12" name="Shape 9"/>
          <p:cNvSpPr/>
          <p:nvPr/>
        </p:nvSpPr>
        <p:spPr>
          <a:xfrm>
            <a:off x="502920" y="4297680"/>
            <a:ext cx="2194560" cy="347472"/>
          </a:xfrm>
          <a:prstGeom prst="roundRect">
            <a:avLst>
              <a:gd name="adj" fmla="val 13158"/>
            </a:avLst>
          </a:prstGeom>
          <a:solidFill>
            <a:srgbClr val="17171B"/>
          </a:solidFill>
          <a:ln/>
        </p:spPr>
        <p:txBody>
          <a:bodyPr/>
          <a:p/>
        </p:txBody>
      </p:sp>
      <p:sp>
        <p:nvSpPr>
          <p:cNvPr id="13" name="Text 10"/>
          <p:cNvSpPr/>
          <p:nvPr/>
        </p:nvSpPr>
        <p:spPr>
          <a:xfrm>
            <a:off x="502920" y="4297680"/>
            <a:ext cx="2194560" cy="347472"/>
          </a:xfrm>
          <a:prstGeom prst="rect">
            <a:avLst/>
          </a:prstGeom>
          <a:noFill/>
          <a:ln/>
        </p:spPr>
        <p:txBody>
          <a:bodyPr wrap="square" rtlCol="0" anchor="ctr"/>
          <a:lstStyle/>
          <a:p>
            <a:pPr algn="ctr" indent="0" marL="0">
              <a:buNone/>
            </a:pPr>
            <a:r>
              <a:rPr lang="en-US" sz="1050" dirty="0">
                <a:solidFill>
                  <a:srgbClr val="ECEAE1"/>
                </a:solidFill>
                <a:latin typeface="Arial" pitchFamily="34" charset="0"/>
                <a:ea typeface="Arial" pitchFamily="34" charset="-122"/>
                <a:cs typeface="Arial" pitchFamily="34" charset="-120"/>
              </a:rPr>
              <a:t>Self-serve</a:t>
            </a:r>
            <a:endParaRPr lang="en-US" sz="1050" dirty="0"/>
          </a:p>
        </p:txBody>
      </p:sp>
      <p:sp>
        <p:nvSpPr>
          <p:cNvPr id="14" name="Shape 11"/>
          <p:cNvSpPr/>
          <p:nvPr/>
        </p:nvSpPr>
        <p:spPr>
          <a:xfrm>
            <a:off x="502920" y="5029200"/>
            <a:ext cx="3017520" cy="18288"/>
          </a:xfrm>
          <a:prstGeom prst="rect">
            <a:avLst/>
          </a:prstGeom>
          <a:solidFill>
            <a:srgbClr val="2E2E33"/>
          </a:solidFill>
          <a:ln/>
        </p:spPr>
        <p:txBody>
          <a:bodyPr/>
          <a:p/>
        </p:txBody>
      </p:sp>
      <p:sp>
        <p:nvSpPr>
          <p:cNvPr id="15" name="Text 12"/>
          <p:cNvSpPr/>
          <p:nvPr/>
        </p:nvSpPr>
        <p:spPr>
          <a:xfrm>
            <a:off x="502920" y="5120640"/>
            <a:ext cx="3017520" cy="228600"/>
          </a:xfrm>
          <a:prstGeom prst="rect">
            <a:avLst/>
          </a:prstGeom>
          <a:noFill/>
          <a:ln/>
        </p:spPr>
        <p:txBody>
          <a:bodyPr wrap="square" rtlCol="0" anchor="ctr"/>
          <a:lstStyle/>
          <a:p>
            <a:pPr indent="0" marL="0">
              <a:buNone/>
            </a:pPr>
            <a:r>
              <a:rPr lang="en-US" sz="900" b="1" spc="200" kern="0" dirty="0">
                <a:solidFill>
                  <a:srgbClr val="C2703D"/>
                </a:solidFill>
                <a:latin typeface="Arial" pitchFamily="34" charset="0"/>
                <a:ea typeface="Arial" pitchFamily="34" charset="-122"/>
                <a:cs typeface="Arial" pitchFamily="34" charset="-120"/>
              </a:rPr>
              <a:t>WHO THEY ARE</a:t>
            </a:r>
            <a:endParaRPr lang="en-US" sz="900" dirty="0"/>
          </a:p>
        </p:txBody>
      </p:sp>
      <p:sp>
        <p:nvSpPr>
          <p:cNvPr id="16" name="Text 13"/>
          <p:cNvSpPr/>
          <p:nvPr/>
        </p:nvSpPr>
        <p:spPr>
          <a:xfrm>
            <a:off x="502920" y="5349240"/>
            <a:ext cx="3108960" cy="914400"/>
          </a:xfrm>
          <a:prstGeom prst="rect">
            <a:avLst/>
          </a:prstGeom>
          <a:noFill/>
          <a:ln/>
        </p:spPr>
        <p:txBody>
          <a:bodyPr wrap="square" rtlCol="0" anchor="ctr"/>
          <a:lstStyle/>
          <a:p>
            <a:pPr indent="0" marL="0">
              <a:lnSpc>
                <a:spcPct val="125000"/>
              </a:lnSpc>
              <a:buNone/>
            </a:pPr>
            <a:r>
              <a:rPr lang="en-US" sz="1100" dirty="0">
                <a:solidFill>
                  <a:srgbClr val="ECEAE1"/>
                </a:solidFill>
                <a:latin typeface="Arial" pitchFamily="34" charset="0"/>
                <a:ea typeface="Arial" pitchFamily="34" charset="-122"/>
                <a:cs typeface="Arial" pitchFamily="34" charset="-120"/>
              </a:rPr>
              <a:t>Building a product that handles user data. Knows OpenAI's standard tiers allow data use for safety training by default. Wants private AI without writing a crypto library. Signs up with a card, not a contract.</a:t>
            </a:r>
            <a:endParaRPr lang="en-US" sz="1100" dirty="0"/>
          </a:p>
        </p:txBody>
      </p:sp>
      <p:sp>
        <p:nvSpPr>
          <p:cNvPr id="17" name="Shape 14"/>
          <p:cNvSpPr/>
          <p:nvPr/>
        </p:nvSpPr>
        <p:spPr>
          <a:xfrm>
            <a:off x="4343400" y="502920"/>
            <a:ext cx="3703320" cy="2560320"/>
          </a:xfrm>
          <a:prstGeom prst="rect">
            <a:avLst/>
          </a:prstGeom>
          <a:solidFill>
            <a:srgbClr val="FFFFFF"/>
          </a:solidFill>
          <a:ln/>
          <a:effectLst>
            <a:outerShdw sx="100000" sy="100000" kx="0" ky="0" algn="bl" rotWithShape="0" blurRad="9.608417496072131e+90" dist="3.8433669984288512e+90" dir="1.1845953345804043e+107">
              <a:srgbClr val="000000">
                <a:alpha val="9.999999999999998e+108"/>
              </a:srgbClr>
            </a:outerShdw>
          </a:effectLst>
        </p:spPr>
        <p:txBody>
          <a:bodyPr/>
          <a:p/>
        </p:txBody>
      </p:sp>
      <p:sp>
        <p:nvSpPr>
          <p:cNvPr id="18" name="Shape 15"/>
          <p:cNvSpPr/>
          <p:nvPr/>
        </p:nvSpPr>
        <p:spPr>
          <a:xfrm>
            <a:off x="4343400" y="502920"/>
            <a:ext cx="3703320" cy="45720"/>
          </a:xfrm>
          <a:prstGeom prst="rect">
            <a:avLst/>
          </a:prstGeom>
          <a:solidFill>
            <a:srgbClr val="C2703D"/>
          </a:solidFill>
          <a:ln/>
        </p:spPr>
        <p:txBody>
          <a:bodyPr/>
          <a:p/>
        </p:txBody>
      </p:sp>
      <p:sp>
        <p:nvSpPr>
          <p:cNvPr id="19" name="Text 16"/>
          <p:cNvSpPr/>
          <p:nvPr/>
        </p:nvSpPr>
        <p:spPr>
          <a:xfrm>
            <a:off x="4526280" y="640080"/>
            <a:ext cx="3383280" cy="274320"/>
          </a:xfrm>
          <a:prstGeom prst="rect">
            <a:avLst/>
          </a:prstGeom>
          <a:noFill/>
          <a:ln/>
        </p:spPr>
        <p:txBody>
          <a:bodyPr wrap="square" rtlCol="0" anchor="ctr"/>
          <a:lstStyle/>
          <a:p>
            <a:pPr indent="0" marL="0">
              <a:buNone/>
            </a:pPr>
            <a:r>
              <a:rPr lang="en-US" sz="1100" b="1" spc="200" kern="0" dirty="0">
                <a:solidFill>
                  <a:srgbClr val="C2703D"/>
                </a:solidFill>
                <a:latin typeface="Arial" pitchFamily="34" charset="0"/>
                <a:ea typeface="Arial" pitchFamily="34" charset="-122"/>
                <a:cs typeface="Arial" pitchFamily="34" charset="-120"/>
              </a:rPr>
              <a:t>PAINS</a:t>
            </a:r>
            <a:endParaRPr lang="en-US" sz="1100" dirty="0"/>
          </a:p>
        </p:txBody>
      </p:sp>
      <p:sp>
        <p:nvSpPr>
          <p:cNvPr id="20" name="Text 17"/>
          <p:cNvSpPr/>
          <p:nvPr/>
        </p:nvSpPr>
        <p:spPr>
          <a:xfrm>
            <a:off x="4526280" y="1005840"/>
            <a:ext cx="3383280" cy="1920240"/>
          </a:xfrm>
          <a:prstGeom prst="rect">
            <a:avLst/>
          </a:prstGeom>
          <a:noFill/>
          <a:ln/>
        </p:spPr>
        <p:txBody>
          <a:bodyPr wrap="square" rtlCol="0" anchor="t"/>
          <a:lstStyle/>
          <a:p>
            <a:pPr marL="342900" indent="-342900">
              <a:lnSpc>
                <a:spcPct val="120000"/>
              </a:lnSpc>
              <a:spcAft>
                <a:spcPts val="600"/>
              </a:spcAft>
              <a:buSzPct val="100000"/>
              <a:buChar char="•"/>
            </a:pPr>
            <a:r>
              <a:rPr lang="en-US" sz="1100" dirty="0">
                <a:solidFill>
                  <a:srgbClr val="5B5F63"/>
                </a:solidFill>
                <a:latin typeface="Arial" pitchFamily="34" charset="0"/>
                <a:ea typeface="Arial" pitchFamily="34" charset="-122"/>
                <a:cs typeface="Arial" pitchFamily="34" charset="-120"/>
              </a:rPr>
              <a:t>OpenAI standard tiers allow data use for safety training by default — most devs learn this after a user complaint</a:t>
            </a:r>
            <a:endParaRPr lang="en-US" sz="1100" dirty="0"/>
          </a:p>
          <a:p>
            <a:pPr marL="342900" indent="-342900">
              <a:lnSpc>
                <a:spcPct val="120000"/>
              </a:lnSpc>
              <a:spcAft>
                <a:spcPts val="600"/>
              </a:spcAft>
              <a:buSzPct val="100000"/>
              <a:buChar char="•"/>
            </a:pPr>
            <a:r>
              <a:rPr lang="en-US" sz="1100" dirty="0">
                <a:solidFill>
                  <a:srgbClr val="5B5F63"/>
                </a:solidFill>
                <a:latin typeface="Arial" pitchFamily="34" charset="0"/>
                <a:ea typeface="Arial" pitchFamily="34" charset="-122"/>
                <a:cs typeface="Arial" pitchFamily="34" charset="-120"/>
              </a:rPr>
              <a:t>Migrating LLM providers at scale costs weeks of re-testing; projects lock in before they realize it</a:t>
            </a:r>
            <a:endParaRPr lang="en-US" sz="1100" dirty="0"/>
          </a:p>
          <a:p>
            <a:pPr marL="342900" indent="-342900">
              <a:lnSpc>
                <a:spcPct val="120000"/>
              </a:lnSpc>
              <a:spcAft>
                <a:spcPts val="600"/>
              </a:spcAft>
              <a:buSzPct val="100000"/>
              <a:buChar char="•"/>
            </a:pPr>
            <a:r>
              <a:rPr lang="en-US" sz="1100" dirty="0">
                <a:solidFill>
                  <a:srgbClr val="5B5F63"/>
                </a:solidFill>
                <a:latin typeface="Arial" pitchFamily="34" charset="0"/>
                <a:ea typeface="Arial" pitchFamily="34" charset="-122"/>
                <a:cs typeface="Arial" pitchFamily="34" charset="-120"/>
              </a:rPr>
              <a:t>TEE integration, attestation, key management: a week-long detour before any product code gets written</a:t>
            </a:r>
            <a:endParaRPr lang="en-US" sz="1100" dirty="0"/>
          </a:p>
        </p:txBody>
      </p:sp>
      <p:sp>
        <p:nvSpPr>
          <p:cNvPr id="21" name="Shape 18"/>
          <p:cNvSpPr/>
          <p:nvPr/>
        </p:nvSpPr>
        <p:spPr>
          <a:xfrm>
            <a:off x="8183880" y="502920"/>
            <a:ext cx="3703320" cy="2560320"/>
          </a:xfrm>
          <a:prstGeom prst="rect">
            <a:avLst/>
          </a:prstGeom>
          <a:solidFill>
            <a:srgbClr val="FFFFFF"/>
          </a:solidFill>
          <a:ln/>
          <a:effectLst>
            <a:outerShdw sx="100000" sy="100000" kx="0" ky="0" algn="bl" rotWithShape="0" blurRad="1.2202690220011606e+95" dist="4.8810760880046414e+94" dir="7.107572007482426e+111">
              <a:srgbClr val="000000">
                <a:alpha val="9.999999999999997e+113"/>
              </a:srgbClr>
            </a:outerShdw>
          </a:effectLst>
        </p:spPr>
        <p:txBody>
          <a:bodyPr/>
          <a:p/>
        </p:txBody>
      </p:sp>
      <p:sp>
        <p:nvSpPr>
          <p:cNvPr id="22" name="Shape 19"/>
          <p:cNvSpPr/>
          <p:nvPr/>
        </p:nvSpPr>
        <p:spPr>
          <a:xfrm>
            <a:off x="8183880" y="502920"/>
            <a:ext cx="3703320" cy="45720"/>
          </a:xfrm>
          <a:prstGeom prst="rect">
            <a:avLst/>
          </a:prstGeom>
          <a:solidFill>
            <a:srgbClr val="788C5D"/>
          </a:solidFill>
          <a:ln/>
        </p:spPr>
        <p:txBody>
          <a:bodyPr/>
          <a:p/>
        </p:txBody>
      </p:sp>
      <p:sp>
        <p:nvSpPr>
          <p:cNvPr id="23" name="Text 20"/>
          <p:cNvSpPr/>
          <p:nvPr/>
        </p:nvSpPr>
        <p:spPr>
          <a:xfrm>
            <a:off x="8366760" y="640080"/>
            <a:ext cx="3383280" cy="274320"/>
          </a:xfrm>
          <a:prstGeom prst="rect">
            <a:avLst/>
          </a:prstGeom>
          <a:noFill/>
          <a:ln/>
        </p:spPr>
        <p:txBody>
          <a:bodyPr wrap="square" rtlCol="0" anchor="ctr"/>
          <a:lstStyle/>
          <a:p>
            <a:pPr indent="0" marL="0">
              <a:buNone/>
            </a:pPr>
            <a:r>
              <a:rPr lang="en-US" sz="1100" b="1" spc="200" kern="0" dirty="0">
                <a:solidFill>
                  <a:srgbClr val="788C5D"/>
                </a:solidFill>
                <a:latin typeface="Arial" pitchFamily="34" charset="0"/>
                <a:ea typeface="Arial" pitchFamily="34" charset="-122"/>
                <a:cs typeface="Arial" pitchFamily="34" charset="-120"/>
              </a:rPr>
              <a:t>TRIGGERS</a:t>
            </a:r>
            <a:endParaRPr lang="en-US" sz="1100" dirty="0"/>
          </a:p>
        </p:txBody>
      </p:sp>
      <p:sp>
        <p:nvSpPr>
          <p:cNvPr id="24" name="Text 21"/>
          <p:cNvSpPr/>
          <p:nvPr/>
        </p:nvSpPr>
        <p:spPr>
          <a:xfrm>
            <a:off x="8366760" y="1005840"/>
            <a:ext cx="3383280" cy="1920240"/>
          </a:xfrm>
          <a:prstGeom prst="rect">
            <a:avLst/>
          </a:prstGeom>
          <a:noFill/>
          <a:ln/>
        </p:spPr>
        <p:txBody>
          <a:bodyPr wrap="square" rtlCol="0" anchor="t"/>
          <a:lstStyle/>
          <a:p>
            <a:pPr marL="342900" indent="-342900">
              <a:lnSpc>
                <a:spcPct val="120000"/>
              </a:lnSpc>
              <a:spcAft>
                <a:spcPts val="600"/>
              </a:spcAft>
              <a:buSzPct val="100000"/>
              <a:buChar char="•"/>
            </a:pPr>
            <a:r>
              <a:rPr lang="en-US" sz="1100" dirty="0">
                <a:solidFill>
                  <a:srgbClr val="5B5F63"/>
                </a:solidFill>
                <a:latin typeface="Arial" pitchFamily="34" charset="0"/>
                <a:ea typeface="Arial" pitchFamily="34" charset="-122"/>
                <a:cs typeface="Arial" pitchFamily="34" charset="-120"/>
              </a:rPr>
              <a:t>An enterprise customer asks for a data privacy guarantee before they'll sign</a:t>
            </a:r>
            <a:endParaRPr lang="en-US" sz="1100" dirty="0"/>
          </a:p>
          <a:p>
            <a:pPr marL="342900" indent="-342900">
              <a:lnSpc>
                <a:spcPct val="120000"/>
              </a:lnSpc>
              <a:spcAft>
                <a:spcPts val="600"/>
              </a:spcAft>
              <a:buSzPct val="100000"/>
              <a:buChar char="•"/>
            </a:pPr>
            <a:r>
              <a:rPr lang="en-US" sz="1100" dirty="0">
                <a:solidFill>
                  <a:srgbClr val="5B5F63"/>
                </a:solidFill>
                <a:latin typeface="Arial" pitchFamily="34" charset="0"/>
                <a:ea typeface="Arial" pitchFamily="34" charset="-122"/>
                <a:cs typeface="Arial" pitchFamily="34" charset="-120"/>
              </a:rPr>
              <a:t>A news cycle about an AI provider's data practices triggers user questions they can't answer</a:t>
            </a:r>
            <a:endParaRPr lang="en-US" sz="1100" dirty="0"/>
          </a:p>
          <a:p>
            <a:pPr marL="342900" indent="-342900">
              <a:lnSpc>
                <a:spcPct val="120000"/>
              </a:lnSpc>
              <a:spcAft>
                <a:spcPts val="600"/>
              </a:spcAft>
              <a:buSzPct val="100000"/>
              <a:buChar char="•"/>
            </a:pPr>
            <a:r>
              <a:rPr lang="en-US" sz="1100" dirty="0">
                <a:solidFill>
                  <a:srgbClr val="5B5F63"/>
                </a:solidFill>
                <a:latin typeface="Arial" pitchFamily="34" charset="0"/>
                <a:ea typeface="Arial" pitchFamily="34" charset="-122"/>
                <a:cs typeface="Arial" pitchFamily="34" charset="-120"/>
              </a:rPr>
              <a:t>Frustration with a current provider's ToS, latency, or pricing as usage scales</a:t>
            </a:r>
            <a:endParaRPr lang="en-US" sz="1100" dirty="0"/>
          </a:p>
        </p:txBody>
      </p:sp>
      <p:sp>
        <p:nvSpPr>
          <p:cNvPr id="25" name="Shape 22"/>
          <p:cNvSpPr/>
          <p:nvPr/>
        </p:nvSpPr>
        <p:spPr>
          <a:xfrm>
            <a:off x="4343400" y="3246120"/>
            <a:ext cx="3703320" cy="2560320"/>
          </a:xfrm>
          <a:prstGeom prst="rect">
            <a:avLst/>
          </a:prstGeom>
          <a:solidFill>
            <a:srgbClr val="FFFFFF"/>
          </a:solidFill>
          <a:ln/>
          <a:effectLst>
            <a:outerShdw sx="100000" sy="100000" kx="0" ky="0" algn="bl" rotWithShape="0" blurRad="1.549741657941474e+99" dist="6.198966631765894e+98" dir="4.2645432044894554e+116">
              <a:srgbClr val="000000">
                <a:alpha val="9.999999999999998e+118"/>
              </a:srgbClr>
            </a:outerShdw>
          </a:effectLst>
        </p:spPr>
        <p:txBody>
          <a:bodyPr/>
          <a:p/>
        </p:txBody>
      </p:sp>
      <p:sp>
        <p:nvSpPr>
          <p:cNvPr id="26" name="Shape 23"/>
          <p:cNvSpPr/>
          <p:nvPr/>
        </p:nvSpPr>
        <p:spPr>
          <a:xfrm>
            <a:off x="4343400" y="3246120"/>
            <a:ext cx="3703320" cy="45720"/>
          </a:xfrm>
          <a:prstGeom prst="rect">
            <a:avLst/>
          </a:prstGeom>
          <a:solidFill>
            <a:srgbClr val="5B5F63"/>
          </a:solidFill>
          <a:ln/>
        </p:spPr>
        <p:txBody>
          <a:bodyPr/>
          <a:p/>
        </p:txBody>
      </p:sp>
      <p:sp>
        <p:nvSpPr>
          <p:cNvPr id="27" name="Text 24"/>
          <p:cNvSpPr/>
          <p:nvPr/>
        </p:nvSpPr>
        <p:spPr>
          <a:xfrm>
            <a:off x="4526280" y="3383280"/>
            <a:ext cx="3383280" cy="274320"/>
          </a:xfrm>
          <a:prstGeom prst="rect">
            <a:avLst/>
          </a:prstGeom>
          <a:noFill/>
          <a:ln/>
        </p:spPr>
        <p:txBody>
          <a:bodyPr wrap="square" rtlCol="0" anchor="ctr"/>
          <a:lstStyle/>
          <a:p>
            <a:pPr indent="0" marL="0">
              <a:buNone/>
            </a:pPr>
            <a:r>
              <a:rPr lang="en-US" sz="1100" b="1" spc="200" kern="0" dirty="0">
                <a:solidFill>
                  <a:srgbClr val="5B5F63"/>
                </a:solidFill>
                <a:latin typeface="Arial" pitchFamily="34" charset="0"/>
                <a:ea typeface="Arial" pitchFamily="34" charset="-122"/>
                <a:cs typeface="Arial" pitchFamily="34" charset="-120"/>
              </a:rPr>
              <a:t>OBJECTIONS</a:t>
            </a:r>
            <a:endParaRPr lang="en-US" sz="1100" dirty="0"/>
          </a:p>
        </p:txBody>
      </p:sp>
      <p:sp>
        <p:nvSpPr>
          <p:cNvPr id="28" name="Text 25"/>
          <p:cNvSpPr/>
          <p:nvPr/>
        </p:nvSpPr>
        <p:spPr>
          <a:xfrm>
            <a:off x="4526280" y="3749040"/>
            <a:ext cx="3383280" cy="1920240"/>
          </a:xfrm>
          <a:prstGeom prst="rect">
            <a:avLst/>
          </a:prstGeom>
          <a:noFill/>
          <a:ln/>
        </p:spPr>
        <p:txBody>
          <a:bodyPr wrap="square" rtlCol="0" anchor="t"/>
          <a:lstStyle/>
          <a:p>
            <a:pPr marL="342900" indent="-342900">
              <a:lnSpc>
                <a:spcPct val="120000"/>
              </a:lnSpc>
              <a:spcAft>
                <a:spcPts val="600"/>
              </a:spcAft>
              <a:buSzPct val="100000"/>
              <a:buChar char="•"/>
            </a:pPr>
            <a:r>
              <a:rPr lang="en-US" sz="1100" dirty="0">
                <a:solidFill>
                  <a:srgbClr val="5B5F63"/>
                </a:solidFill>
                <a:latin typeface="Arial" pitchFamily="34" charset="0"/>
                <a:ea typeface="Arial" pitchFamily="34" charset="-122"/>
                <a:cs typeface="Arial" pitchFamily="34" charset="-120"/>
              </a:rPr>
              <a:t>Is it actually OpenAI-compatible — one line, or a multi-day migration project?</a:t>
            </a:r>
            <a:endParaRPr lang="en-US" sz="1100" dirty="0"/>
          </a:p>
          <a:p>
            <a:pPr marL="342900" indent="-342900">
              <a:lnSpc>
                <a:spcPct val="120000"/>
              </a:lnSpc>
              <a:spcAft>
                <a:spcPts val="600"/>
              </a:spcAft>
              <a:buSzPct val="100000"/>
              <a:buChar char="•"/>
            </a:pPr>
            <a:r>
              <a:rPr lang="en-US" sz="1100" dirty="0">
                <a:solidFill>
                  <a:srgbClr val="5B5F63"/>
                </a:solidFill>
                <a:latin typeface="Arial" pitchFamily="34" charset="0"/>
                <a:ea typeface="Arial" pitchFamily="34" charset="-122"/>
                <a:cs typeface="Arial" pitchFamily="34" charset="-120"/>
              </a:rPr>
              <a:t>What does it cost at real scale vs. OpenAI API pricing?</a:t>
            </a:r>
            <a:endParaRPr lang="en-US" sz="1100" dirty="0"/>
          </a:p>
          <a:p>
            <a:pPr marL="342900" indent="-342900">
              <a:lnSpc>
                <a:spcPct val="120000"/>
              </a:lnSpc>
              <a:spcAft>
                <a:spcPts val="600"/>
              </a:spcAft>
              <a:buSzPct val="100000"/>
              <a:buChar char="•"/>
            </a:pPr>
            <a:r>
              <a:rPr lang="en-US" sz="1100" dirty="0">
                <a:solidFill>
                  <a:srgbClr val="5B5F63"/>
                </a:solidFill>
                <a:latin typeface="Arial" pitchFamily="34" charset="0"/>
                <a:ea typeface="Arial" pitchFamily="34" charset="-122"/>
                <a:cs typeface="Arial" pitchFamily="34" charset="-120"/>
              </a:rPr>
              <a:t>Is the privacy technically real, or a policy claim dressed up as a feature?</a:t>
            </a:r>
            <a:endParaRPr lang="en-US" sz="1100" dirty="0"/>
          </a:p>
        </p:txBody>
      </p:sp>
      <p:sp>
        <p:nvSpPr>
          <p:cNvPr id="29" name="Shape 26"/>
          <p:cNvSpPr/>
          <p:nvPr/>
        </p:nvSpPr>
        <p:spPr>
          <a:xfrm>
            <a:off x="8183880" y="3246120"/>
            <a:ext cx="3703320" cy="2560320"/>
          </a:xfrm>
          <a:prstGeom prst="rect">
            <a:avLst/>
          </a:prstGeom>
          <a:solidFill>
            <a:srgbClr val="FFFFFF"/>
          </a:solidFill>
          <a:ln/>
          <a:effectLst>
            <a:outerShdw sx="100000" sy="100000" kx="0" ky="0" algn="bl" rotWithShape="0" blurRad="1.9681719055856718e+103" dist="7.872687622342685e+102" dir="2.5587259226936733e+121">
              <a:srgbClr val="000000">
                <a:alpha val="9.999999999999997e+123"/>
              </a:srgbClr>
            </a:outerShdw>
          </a:effectLst>
        </p:spPr>
        <p:txBody>
          <a:bodyPr/>
          <a:p/>
        </p:txBody>
      </p:sp>
      <p:sp>
        <p:nvSpPr>
          <p:cNvPr id="30" name="Shape 27"/>
          <p:cNvSpPr/>
          <p:nvPr/>
        </p:nvSpPr>
        <p:spPr>
          <a:xfrm>
            <a:off x="8183880" y="3246120"/>
            <a:ext cx="3703320" cy="45720"/>
          </a:xfrm>
          <a:prstGeom prst="rect">
            <a:avLst/>
          </a:prstGeom>
          <a:solidFill>
            <a:srgbClr val="185771"/>
          </a:solidFill>
          <a:ln/>
        </p:spPr>
        <p:txBody>
          <a:bodyPr/>
          <a:p/>
        </p:txBody>
      </p:sp>
      <p:sp>
        <p:nvSpPr>
          <p:cNvPr id="31" name="Text 28"/>
          <p:cNvSpPr/>
          <p:nvPr/>
        </p:nvSpPr>
        <p:spPr>
          <a:xfrm>
            <a:off x="8366760" y="3383280"/>
            <a:ext cx="3383280" cy="274320"/>
          </a:xfrm>
          <a:prstGeom prst="rect">
            <a:avLst/>
          </a:prstGeom>
          <a:noFill/>
          <a:ln/>
        </p:spPr>
        <p:txBody>
          <a:bodyPr wrap="square" rtlCol="0" anchor="ctr"/>
          <a:lstStyle/>
          <a:p>
            <a:pPr indent="0" marL="0">
              <a:buNone/>
            </a:pPr>
            <a:r>
              <a:rPr lang="en-US" sz="1100" b="1" spc="200" kern="0" dirty="0">
                <a:solidFill>
                  <a:srgbClr val="185771"/>
                </a:solidFill>
                <a:latin typeface="Arial" pitchFamily="34" charset="0"/>
                <a:ea typeface="Arial" pitchFamily="34" charset="-122"/>
                <a:cs typeface="Arial" pitchFamily="34" charset="-120"/>
              </a:rPr>
              <a:t>WHAT CONVERTS THEM</a:t>
            </a:r>
            <a:endParaRPr lang="en-US" sz="1100" dirty="0"/>
          </a:p>
        </p:txBody>
      </p:sp>
      <p:sp>
        <p:nvSpPr>
          <p:cNvPr id="32" name="Text 29"/>
          <p:cNvSpPr/>
          <p:nvPr/>
        </p:nvSpPr>
        <p:spPr>
          <a:xfrm>
            <a:off x="8366760" y="3749040"/>
            <a:ext cx="3383280" cy="1920240"/>
          </a:xfrm>
          <a:prstGeom prst="rect">
            <a:avLst/>
          </a:prstGeom>
          <a:noFill/>
          <a:ln/>
        </p:spPr>
        <p:txBody>
          <a:bodyPr wrap="square" rtlCol="0" anchor="t"/>
          <a:lstStyle/>
          <a:p>
            <a:pPr marL="342900" indent="-342900">
              <a:lnSpc>
                <a:spcPct val="120000"/>
              </a:lnSpc>
              <a:spcAft>
                <a:spcPts val="600"/>
              </a:spcAft>
              <a:buSzPct val="100000"/>
              <a:buChar char="•"/>
            </a:pPr>
            <a:r>
              <a:rPr lang="en-US" sz="1100" dirty="0">
                <a:solidFill>
                  <a:srgbClr val="5B5F63"/>
                </a:solidFill>
                <a:latin typeface="Arial" pitchFamily="34" charset="0"/>
                <a:ea typeface="Arial" pitchFamily="34" charset="-122"/>
                <a:cs typeface="Arial" pitchFamily="34" charset="-120"/>
              </a:rPr>
              <a:t>OpenAI-compatible API: genuinely one-line switch, verified by real developers</a:t>
            </a:r>
            <a:endParaRPr lang="en-US" sz="1100" dirty="0"/>
          </a:p>
          <a:p>
            <a:pPr marL="342900" indent="-342900">
              <a:lnSpc>
                <a:spcPct val="120000"/>
              </a:lnSpc>
              <a:spcAft>
                <a:spcPts val="600"/>
              </a:spcAft>
              <a:buSzPct val="100000"/>
              <a:buChar char="•"/>
            </a:pPr>
            <a:r>
              <a:rPr lang="en-US" sz="1100" dirty="0">
                <a:solidFill>
                  <a:srgbClr val="5B5F63"/>
                </a:solidFill>
                <a:latin typeface="Arial" pitchFamily="34" charset="0"/>
                <a:ea typeface="Arial" pitchFamily="34" charset="-122"/>
                <a:cs typeface="Arial" pitchFamily="34" charset="-120"/>
              </a:rPr>
              <a:t>Free credits to test at real scale — not a toy example with a request limit</a:t>
            </a:r>
            <a:endParaRPr lang="en-US" sz="1100" dirty="0"/>
          </a:p>
          <a:p>
            <a:pPr marL="342900" indent="-342900">
              <a:lnSpc>
                <a:spcPct val="120000"/>
              </a:lnSpc>
              <a:spcAft>
                <a:spcPts val="600"/>
              </a:spcAft>
              <a:buSzPct val="100000"/>
              <a:buChar char="•"/>
            </a:pPr>
            <a:r>
              <a:rPr lang="en-US" sz="1100" dirty="0">
                <a:solidFill>
                  <a:srgbClr val="5B5F63"/>
                </a:solidFill>
                <a:latin typeface="Arial" pitchFamily="34" charset="0"/>
                <a:ea typeface="Arial" pitchFamily="34" charset="-122"/>
                <a:cs typeface="Arial" pitchFamily="34" charset="-120"/>
              </a:rPr>
              <a:t>Reticle open-source: read the attestation code, not just the marketing page</a:t>
            </a:r>
            <a:endParaRPr lang="en-US" sz="1100" dirty="0"/>
          </a:p>
          <a:p>
            <a:pPr marL="342900" indent="-342900">
              <a:lnSpc>
                <a:spcPct val="120000"/>
              </a:lnSpc>
              <a:spcAft>
                <a:spcPts val="600"/>
              </a:spcAft>
              <a:buSzPct val="100000"/>
              <a:buChar char="•"/>
            </a:pPr>
            <a:r>
              <a:rPr lang="en-US" sz="1100" dirty="0">
                <a:solidFill>
                  <a:srgbClr val="5B5F63"/>
                </a:solidFill>
                <a:latin typeface="Arial" pitchFamily="34" charset="0"/>
                <a:ea typeface="Arial" pitchFamily="34" charset="-122"/>
                <a:cs typeface="Arial" pitchFamily="34" charset="-120"/>
              </a:rPr>
              <a:t>Docs that answer their questions before they need to open a support ticket</a:t>
            </a:r>
            <a:endParaRPr lang="en-US" sz="1100" dirty="0"/>
          </a:p>
        </p:txBody>
      </p:sp>
      <p:sp>
        <p:nvSpPr>
          <p:cNvPr id="33" name="Text 30"/>
          <p:cNvSpPr/>
          <p:nvPr/>
        </p:nvSpPr>
        <p:spPr>
          <a:xfrm>
            <a:off x="11460175" y="6446520"/>
            <a:ext cx="457200" cy="274320"/>
          </a:xfrm>
          <a:prstGeom prst="rect">
            <a:avLst/>
          </a:prstGeom>
          <a:noFill/>
          <a:ln/>
        </p:spPr>
        <p:txBody>
          <a:bodyPr wrap="square" rtlCol="0" anchor="ctr"/>
          <a:lstStyle/>
          <a:p>
            <a:pPr algn="r" indent="0" marL="0">
              <a:buNone/>
            </a:pPr>
            <a:r>
              <a:rPr lang="en-US" sz="1000" dirty="0">
                <a:solidFill>
                  <a:srgbClr val="9A9A93"/>
                </a:solidFill>
                <a:latin typeface="Arial" pitchFamily="34" charset="0"/>
                <a:ea typeface="Arial" pitchFamily="34" charset="-122"/>
                <a:cs typeface="Arial"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9F5"/>
        </a:solidFill>
      </p:bgPr>
    </p:bg>
    <p:spTree>
      <p:nvGrpSpPr>
        <p:cNvPr id="1" name=""/>
        <p:cNvGrpSpPr/>
        <p:nvPr/>
      </p:nvGrpSpPr>
      <p:grpSpPr>
        <a:xfrm>
          <a:off x="0" y="0"/>
          <a:ext cx="0" cy="0"/>
          <a:chOff x="0" y="0"/>
          <a:chExt cx="0" cy="0"/>
        </a:xfrm>
      </p:grpSpPr>
      <p:sp>
        <p:nvSpPr>
          <p:cNvPr id="2" name="Shape 0"/>
          <p:cNvSpPr/>
          <p:nvPr/>
        </p:nvSpPr>
        <p:spPr>
          <a:xfrm>
            <a:off x="0" y="0"/>
            <a:ext cx="3977640" cy="6858000"/>
          </a:xfrm>
          <a:prstGeom prst="rect">
            <a:avLst/>
          </a:prstGeom>
          <a:solidFill>
            <a:srgbClr val="0E0E10"/>
          </a:solidFill>
          <a:ln/>
        </p:spPr>
        <p:txBody>
          <a:bodyPr/>
          <a:p/>
        </p:txBody>
      </p:sp>
      <p:sp>
        <p:nvSpPr>
          <p:cNvPr id="3" name="Shape 1"/>
          <p:cNvSpPr/>
          <p:nvPr/>
        </p:nvSpPr>
        <p:spPr>
          <a:xfrm>
            <a:off x="0" y="0"/>
            <a:ext cx="109728" cy="6858000"/>
          </a:xfrm>
          <a:prstGeom prst="rect">
            <a:avLst/>
          </a:prstGeom>
          <a:solidFill>
            <a:srgbClr val="788C5D"/>
          </a:solidFill>
          <a:ln/>
        </p:spPr>
        <p:txBody>
          <a:bodyPr/>
          <a:p/>
        </p:txBody>
      </p:sp>
      <p:pic>
        <p:nvPicPr>
          <p:cNvPr id="4" name="Image 0" descr="preencoded.png">    </p:cNvPr>
          <p:cNvPicPr>
            <a:picLocks noChangeAspect="1"/>
          </p:cNvPicPr>
          <p:nvPr/>
        </p:nvPicPr>
        <p:blipFill>
          <a:blip r:embed="rId1"/>
          <a:stretch>
            <a:fillRect/>
          </a:stretch>
        </p:blipFill>
        <p:spPr>
          <a:xfrm>
            <a:off x="502920" y="640080"/>
            <a:ext cx="640080" cy="640080"/>
          </a:xfrm>
          <a:prstGeom prst="rect">
            <a:avLst/>
          </a:prstGeom>
        </p:spPr>
      </p:pic>
      <p:sp>
        <p:nvSpPr>
          <p:cNvPr id="5" name="Text 2"/>
          <p:cNvSpPr/>
          <p:nvPr/>
        </p:nvSpPr>
        <p:spPr>
          <a:xfrm>
            <a:off x="502920" y="1417320"/>
            <a:ext cx="2743200" cy="274320"/>
          </a:xfrm>
          <a:prstGeom prst="rect">
            <a:avLst/>
          </a:prstGeom>
          <a:noFill/>
          <a:ln/>
        </p:spPr>
        <p:txBody>
          <a:bodyPr wrap="square" rtlCol="0" anchor="ctr"/>
          <a:lstStyle/>
          <a:p>
            <a:pPr indent="0" marL="0">
              <a:buNone/>
            </a:pPr>
            <a:r>
              <a:rPr lang="en-US" sz="1000" b="1" spc="400" kern="0" dirty="0">
                <a:solidFill>
                  <a:srgbClr val="788C5D"/>
                </a:solidFill>
                <a:latin typeface="Arial" pitchFamily="34" charset="0"/>
                <a:ea typeface="Arial" pitchFamily="34" charset="-122"/>
                <a:cs typeface="Arial" pitchFamily="34" charset="-120"/>
              </a:rPr>
              <a:t>PERSONA</a:t>
            </a:r>
            <a:endParaRPr lang="en-US" sz="1000" dirty="0"/>
          </a:p>
        </p:txBody>
      </p:sp>
      <p:sp>
        <p:nvSpPr>
          <p:cNvPr id="6" name="Text 3"/>
          <p:cNvSpPr/>
          <p:nvPr/>
        </p:nvSpPr>
        <p:spPr>
          <a:xfrm>
            <a:off x="502920" y="1691640"/>
            <a:ext cx="3200400" cy="914400"/>
          </a:xfrm>
          <a:prstGeom prst="rect">
            <a:avLst/>
          </a:prstGeom>
          <a:noFill/>
          <a:ln/>
        </p:spPr>
        <p:txBody>
          <a:bodyPr wrap="square" rtlCol="0" anchor="ctr"/>
          <a:lstStyle/>
          <a:p>
            <a:pPr indent="0" marL="0">
              <a:lnSpc>
                <a:spcPct val="95000"/>
              </a:lnSpc>
              <a:buNone/>
            </a:pPr>
            <a:r>
              <a:rPr lang="en-US" sz="2600" dirty="0">
                <a:solidFill>
                  <a:srgbClr val="FFFFFF"/>
                </a:solidFill>
                <a:latin typeface="Georgia" pitchFamily="34" charset="0"/>
                <a:ea typeface="Georgia" pitchFamily="34" charset="-122"/>
                <a:cs typeface="Georgia" pitchFamily="34" charset="-120"/>
              </a:rPr>
              <a:t>The Prosumer</a:t>
            </a:r>
            <a:endParaRPr lang="en-US" sz="2600" dirty="0"/>
          </a:p>
        </p:txBody>
      </p:sp>
      <p:sp>
        <p:nvSpPr>
          <p:cNvPr id="7" name="Text 4"/>
          <p:cNvSpPr/>
          <p:nvPr/>
        </p:nvSpPr>
        <p:spPr>
          <a:xfrm>
            <a:off x="502920" y="2743200"/>
            <a:ext cx="3200400" cy="548640"/>
          </a:xfrm>
          <a:prstGeom prst="rect">
            <a:avLst/>
          </a:prstGeom>
          <a:noFill/>
          <a:ln/>
        </p:spPr>
        <p:txBody>
          <a:bodyPr wrap="square" rtlCol="0" anchor="ctr"/>
          <a:lstStyle/>
          <a:p>
            <a:pPr indent="0" marL="0">
              <a:lnSpc>
                <a:spcPct val="120000"/>
              </a:lnSpc>
              <a:buNone/>
            </a:pPr>
            <a:r>
              <a:rPr lang="en-US" sz="1200" dirty="0">
                <a:solidFill>
                  <a:srgbClr val="9A9A93"/>
                </a:solidFill>
                <a:latin typeface="Arial" pitchFamily="34" charset="0"/>
                <a:ea typeface="Arial" pitchFamily="34" charset="-122"/>
                <a:cs typeface="Arial" pitchFamily="34" charset="-120"/>
              </a:rPr>
              <a:t>Founder  ·  Consultant  ·  Knowledge worker</a:t>
            </a:r>
            <a:endParaRPr lang="en-US" sz="1200" dirty="0"/>
          </a:p>
        </p:txBody>
      </p:sp>
      <p:sp>
        <p:nvSpPr>
          <p:cNvPr id="8" name="Shape 5"/>
          <p:cNvSpPr/>
          <p:nvPr/>
        </p:nvSpPr>
        <p:spPr>
          <a:xfrm>
            <a:off x="502920" y="3383280"/>
            <a:ext cx="2194560" cy="347472"/>
          </a:xfrm>
          <a:prstGeom prst="roundRect">
            <a:avLst>
              <a:gd name="adj" fmla="val 13158"/>
            </a:avLst>
          </a:prstGeom>
          <a:solidFill>
            <a:srgbClr val="17171B"/>
          </a:solidFill>
          <a:ln/>
        </p:spPr>
        <p:txBody>
          <a:bodyPr/>
          <a:p/>
        </p:txBody>
      </p:sp>
      <p:sp>
        <p:nvSpPr>
          <p:cNvPr id="9" name="Text 6"/>
          <p:cNvSpPr/>
          <p:nvPr/>
        </p:nvSpPr>
        <p:spPr>
          <a:xfrm>
            <a:off x="502920" y="3383280"/>
            <a:ext cx="2194560" cy="347472"/>
          </a:xfrm>
          <a:prstGeom prst="rect">
            <a:avLst/>
          </a:prstGeom>
          <a:noFill/>
          <a:ln/>
        </p:spPr>
        <p:txBody>
          <a:bodyPr wrap="square" rtlCol="0" anchor="ctr"/>
          <a:lstStyle/>
          <a:p>
            <a:pPr algn="ctr" indent="0" marL="0">
              <a:buNone/>
            </a:pPr>
            <a:r>
              <a:rPr lang="en-US" sz="1050" dirty="0">
                <a:solidFill>
                  <a:srgbClr val="ECEAE1"/>
                </a:solidFill>
                <a:latin typeface="Arial" pitchFamily="34" charset="0"/>
                <a:ea typeface="Arial" pitchFamily="34" charset="-122"/>
                <a:cs typeface="Arial" pitchFamily="34" charset="-120"/>
              </a:rPr>
              <a:t>B2C</a:t>
            </a:r>
            <a:endParaRPr lang="en-US" sz="1050" dirty="0"/>
          </a:p>
        </p:txBody>
      </p:sp>
      <p:sp>
        <p:nvSpPr>
          <p:cNvPr id="10" name="Shape 7"/>
          <p:cNvSpPr/>
          <p:nvPr/>
        </p:nvSpPr>
        <p:spPr>
          <a:xfrm>
            <a:off x="502920" y="3840480"/>
            <a:ext cx="2194560" cy="347472"/>
          </a:xfrm>
          <a:prstGeom prst="roundRect">
            <a:avLst>
              <a:gd name="adj" fmla="val 13158"/>
            </a:avLst>
          </a:prstGeom>
          <a:solidFill>
            <a:srgbClr val="17171B"/>
          </a:solidFill>
          <a:ln/>
        </p:spPr>
        <p:txBody>
          <a:bodyPr/>
          <a:p/>
        </p:txBody>
      </p:sp>
      <p:sp>
        <p:nvSpPr>
          <p:cNvPr id="11" name="Text 8"/>
          <p:cNvSpPr/>
          <p:nvPr/>
        </p:nvSpPr>
        <p:spPr>
          <a:xfrm>
            <a:off x="502920" y="3840480"/>
            <a:ext cx="2194560" cy="347472"/>
          </a:xfrm>
          <a:prstGeom prst="rect">
            <a:avLst/>
          </a:prstGeom>
          <a:noFill/>
          <a:ln/>
        </p:spPr>
        <p:txBody>
          <a:bodyPr wrap="square" rtlCol="0" anchor="ctr"/>
          <a:lstStyle/>
          <a:p>
            <a:pPr algn="ctr" indent="0" marL="0">
              <a:buNone/>
            </a:pPr>
            <a:r>
              <a:rPr lang="en-US" sz="1050" dirty="0">
                <a:solidFill>
                  <a:srgbClr val="ECEAE1"/>
                </a:solidFill>
                <a:latin typeface="Arial" pitchFamily="34" charset="0"/>
                <a:ea typeface="Arial" pitchFamily="34" charset="-122"/>
                <a:cs typeface="Arial" pitchFamily="34" charset="-120"/>
              </a:rPr>
              <a:t>PLG</a:t>
            </a:r>
            <a:endParaRPr lang="en-US" sz="1050" dirty="0"/>
          </a:p>
        </p:txBody>
      </p:sp>
      <p:sp>
        <p:nvSpPr>
          <p:cNvPr id="12" name="Shape 9"/>
          <p:cNvSpPr/>
          <p:nvPr/>
        </p:nvSpPr>
        <p:spPr>
          <a:xfrm>
            <a:off x="502920" y="4297680"/>
            <a:ext cx="2194560" cy="347472"/>
          </a:xfrm>
          <a:prstGeom prst="roundRect">
            <a:avLst>
              <a:gd name="adj" fmla="val 13158"/>
            </a:avLst>
          </a:prstGeom>
          <a:solidFill>
            <a:srgbClr val="17171B"/>
          </a:solidFill>
          <a:ln/>
        </p:spPr>
        <p:txBody>
          <a:bodyPr/>
          <a:p/>
        </p:txBody>
      </p:sp>
      <p:sp>
        <p:nvSpPr>
          <p:cNvPr id="13" name="Text 10"/>
          <p:cNvSpPr/>
          <p:nvPr/>
        </p:nvSpPr>
        <p:spPr>
          <a:xfrm>
            <a:off x="502920" y="4297680"/>
            <a:ext cx="2194560" cy="347472"/>
          </a:xfrm>
          <a:prstGeom prst="rect">
            <a:avLst/>
          </a:prstGeom>
          <a:noFill/>
          <a:ln/>
        </p:spPr>
        <p:txBody>
          <a:bodyPr wrap="square" rtlCol="0" anchor="ctr"/>
          <a:lstStyle/>
          <a:p>
            <a:pPr algn="ctr" indent="0" marL="0">
              <a:buNone/>
            </a:pPr>
            <a:r>
              <a:rPr lang="en-US" sz="1050" dirty="0">
                <a:solidFill>
                  <a:srgbClr val="ECEAE1"/>
                </a:solidFill>
                <a:latin typeface="Arial" pitchFamily="34" charset="0"/>
                <a:ea typeface="Arial" pitchFamily="34" charset="-122"/>
                <a:cs typeface="Arial" pitchFamily="34" charset="-120"/>
              </a:rPr>
              <a:t>Self-serve</a:t>
            </a:r>
            <a:endParaRPr lang="en-US" sz="1050" dirty="0"/>
          </a:p>
        </p:txBody>
      </p:sp>
      <p:sp>
        <p:nvSpPr>
          <p:cNvPr id="14" name="Shape 11"/>
          <p:cNvSpPr/>
          <p:nvPr/>
        </p:nvSpPr>
        <p:spPr>
          <a:xfrm>
            <a:off x="502920" y="5029200"/>
            <a:ext cx="3017520" cy="18288"/>
          </a:xfrm>
          <a:prstGeom prst="rect">
            <a:avLst/>
          </a:prstGeom>
          <a:solidFill>
            <a:srgbClr val="2E2E33"/>
          </a:solidFill>
          <a:ln/>
        </p:spPr>
        <p:txBody>
          <a:bodyPr/>
          <a:p/>
        </p:txBody>
      </p:sp>
      <p:sp>
        <p:nvSpPr>
          <p:cNvPr id="15" name="Text 12"/>
          <p:cNvSpPr/>
          <p:nvPr/>
        </p:nvSpPr>
        <p:spPr>
          <a:xfrm>
            <a:off x="502920" y="5120640"/>
            <a:ext cx="3017520" cy="228600"/>
          </a:xfrm>
          <a:prstGeom prst="rect">
            <a:avLst/>
          </a:prstGeom>
          <a:noFill/>
          <a:ln/>
        </p:spPr>
        <p:txBody>
          <a:bodyPr wrap="square" rtlCol="0" anchor="ctr"/>
          <a:lstStyle/>
          <a:p>
            <a:pPr indent="0" marL="0">
              <a:buNone/>
            </a:pPr>
            <a:r>
              <a:rPr lang="en-US" sz="900" b="1" spc="200" kern="0" dirty="0">
                <a:solidFill>
                  <a:srgbClr val="788C5D"/>
                </a:solidFill>
                <a:latin typeface="Arial" pitchFamily="34" charset="0"/>
                <a:ea typeface="Arial" pitchFamily="34" charset="-122"/>
                <a:cs typeface="Arial" pitchFamily="34" charset="-120"/>
              </a:rPr>
              <a:t>WHO THEY ARE</a:t>
            </a:r>
            <a:endParaRPr lang="en-US" sz="900" dirty="0"/>
          </a:p>
        </p:txBody>
      </p:sp>
      <p:sp>
        <p:nvSpPr>
          <p:cNvPr id="16" name="Text 13"/>
          <p:cNvSpPr/>
          <p:nvPr/>
        </p:nvSpPr>
        <p:spPr>
          <a:xfrm>
            <a:off x="502920" y="5349240"/>
            <a:ext cx="3108960" cy="914400"/>
          </a:xfrm>
          <a:prstGeom prst="rect">
            <a:avLst/>
          </a:prstGeom>
          <a:noFill/>
          <a:ln/>
        </p:spPr>
        <p:txBody>
          <a:bodyPr wrap="square" rtlCol="0" anchor="ctr"/>
          <a:lstStyle/>
          <a:p>
            <a:pPr indent="0" marL="0">
              <a:lnSpc>
                <a:spcPct val="125000"/>
              </a:lnSpc>
              <a:buNone/>
            </a:pPr>
            <a:r>
              <a:rPr lang="en-US" sz="1100" dirty="0">
                <a:solidFill>
                  <a:srgbClr val="ECEAE1"/>
                </a:solidFill>
                <a:latin typeface="Arial" pitchFamily="34" charset="0"/>
                <a:ea typeface="Arial" pitchFamily="34" charset="-122"/>
                <a:cs typeface="Arial" pitchFamily="34" charset="-120"/>
              </a:rPr>
              <a:t>Manages 10+ apps, switches context 25 times/day. Spends 60% of their working time on 'work about work' — not the skilled output they were hired for. Wants a tool that actually finishes the job.</a:t>
            </a:r>
            <a:endParaRPr lang="en-US" sz="1100" dirty="0"/>
          </a:p>
        </p:txBody>
      </p:sp>
      <p:sp>
        <p:nvSpPr>
          <p:cNvPr id="17" name="Shape 14"/>
          <p:cNvSpPr/>
          <p:nvPr/>
        </p:nvSpPr>
        <p:spPr>
          <a:xfrm>
            <a:off x="4343400" y="502920"/>
            <a:ext cx="3703320" cy="2560320"/>
          </a:xfrm>
          <a:prstGeom prst="rect">
            <a:avLst/>
          </a:prstGeom>
          <a:solidFill>
            <a:srgbClr val="FFFFFF"/>
          </a:solidFill>
          <a:ln/>
          <a:effectLst>
            <a:outerShdw sx="100000" sy="100000" kx="0" ky="0" algn="bl" rotWithShape="0" blurRad="2.4995783200938032e+107" dist="9.998313280375211e+106" dir="1.535235553616204e+126">
              <a:srgbClr val="000000">
                <a:alpha val="9.999999999999997e+128"/>
              </a:srgbClr>
            </a:outerShdw>
          </a:effectLst>
        </p:spPr>
        <p:txBody>
          <a:bodyPr/>
          <a:p/>
        </p:txBody>
      </p:sp>
      <p:sp>
        <p:nvSpPr>
          <p:cNvPr id="18" name="Shape 15"/>
          <p:cNvSpPr/>
          <p:nvPr/>
        </p:nvSpPr>
        <p:spPr>
          <a:xfrm>
            <a:off x="4343400" y="502920"/>
            <a:ext cx="3703320" cy="45720"/>
          </a:xfrm>
          <a:prstGeom prst="rect">
            <a:avLst/>
          </a:prstGeom>
          <a:solidFill>
            <a:srgbClr val="C2703D"/>
          </a:solidFill>
          <a:ln/>
        </p:spPr>
        <p:txBody>
          <a:bodyPr/>
          <a:p/>
        </p:txBody>
      </p:sp>
      <p:sp>
        <p:nvSpPr>
          <p:cNvPr id="19" name="Text 16"/>
          <p:cNvSpPr/>
          <p:nvPr/>
        </p:nvSpPr>
        <p:spPr>
          <a:xfrm>
            <a:off x="4526280" y="640080"/>
            <a:ext cx="3383280" cy="274320"/>
          </a:xfrm>
          <a:prstGeom prst="rect">
            <a:avLst/>
          </a:prstGeom>
          <a:noFill/>
          <a:ln/>
        </p:spPr>
        <p:txBody>
          <a:bodyPr wrap="square" rtlCol="0" anchor="ctr"/>
          <a:lstStyle/>
          <a:p>
            <a:pPr indent="0" marL="0">
              <a:buNone/>
            </a:pPr>
            <a:r>
              <a:rPr lang="en-US" sz="1100" b="1" spc="200" kern="0" dirty="0">
                <a:solidFill>
                  <a:srgbClr val="C2703D"/>
                </a:solidFill>
                <a:latin typeface="Arial" pitchFamily="34" charset="0"/>
                <a:ea typeface="Arial" pitchFamily="34" charset="-122"/>
                <a:cs typeface="Arial" pitchFamily="34" charset="-120"/>
              </a:rPr>
              <a:t>PAINS</a:t>
            </a:r>
            <a:endParaRPr lang="en-US" sz="1100" dirty="0"/>
          </a:p>
        </p:txBody>
      </p:sp>
      <p:sp>
        <p:nvSpPr>
          <p:cNvPr id="20" name="Text 17"/>
          <p:cNvSpPr/>
          <p:nvPr/>
        </p:nvSpPr>
        <p:spPr>
          <a:xfrm>
            <a:off x="4526280" y="1005840"/>
            <a:ext cx="3383280" cy="1920240"/>
          </a:xfrm>
          <a:prstGeom prst="rect">
            <a:avLst/>
          </a:prstGeom>
          <a:noFill/>
          <a:ln/>
        </p:spPr>
        <p:txBody>
          <a:bodyPr wrap="square" rtlCol="0" anchor="t"/>
          <a:lstStyle/>
          <a:p>
            <a:pPr marL="342900" indent="-342900">
              <a:lnSpc>
                <a:spcPct val="120000"/>
              </a:lnSpc>
              <a:spcAft>
                <a:spcPts val="600"/>
              </a:spcAft>
              <a:buSzPct val="100000"/>
              <a:buChar char="•"/>
            </a:pPr>
            <a:r>
              <a:rPr lang="en-US" sz="1100" dirty="0">
                <a:solidFill>
                  <a:srgbClr val="5B5F63"/>
                </a:solidFill>
                <a:latin typeface="Arial" pitchFamily="34" charset="0"/>
                <a:ea typeface="Arial" pitchFamily="34" charset="-122"/>
                <a:cs typeface="Arial" pitchFamily="34" charset="-120"/>
              </a:rPr>
              <a:t>59 min/day lost searching for information across tools — before the real work even starts</a:t>
            </a:r>
            <a:endParaRPr lang="en-US" sz="1100" dirty="0"/>
          </a:p>
          <a:p>
            <a:pPr marL="342900" indent="-342900">
              <a:lnSpc>
                <a:spcPct val="120000"/>
              </a:lnSpc>
              <a:spcAft>
                <a:spcPts val="600"/>
              </a:spcAft>
              <a:buSzPct val="100000"/>
              <a:buChar char="•"/>
            </a:pPr>
            <a:r>
              <a:rPr lang="en-US" sz="1100" dirty="0">
                <a:solidFill>
                  <a:srgbClr val="5B5F63"/>
                </a:solidFill>
                <a:latin typeface="Arial" pitchFamily="34" charset="0"/>
                <a:ea typeface="Arial" pitchFamily="34" charset="-122"/>
                <a:cs typeface="Arial" pitchFamily="34" charset="-120"/>
              </a:rPr>
              <a:t>60% of knowledge-worker time consumed by 'work about work': chasing status, reformatting, prepping</a:t>
            </a:r>
            <a:endParaRPr lang="en-US" sz="1100" dirty="0"/>
          </a:p>
          <a:p>
            <a:pPr marL="342900" indent="-342900">
              <a:lnSpc>
                <a:spcPct val="120000"/>
              </a:lnSpc>
              <a:spcAft>
                <a:spcPts val="600"/>
              </a:spcAft>
              <a:buSzPct val="100000"/>
              <a:buChar char="•"/>
            </a:pPr>
            <a:r>
              <a:rPr lang="en-US" sz="1100" dirty="0">
                <a:solidFill>
                  <a:srgbClr val="5B5F63"/>
                </a:solidFill>
                <a:latin typeface="Arial" pitchFamily="34" charset="0"/>
                <a:ea typeface="Arial" pitchFamily="34" charset="-122"/>
                <a:cs typeface="Arial" pitchFamily="34" charset="-120"/>
              </a:rPr>
              <a:t>AI that chats but doesn't execute — 30 min of prompting for a task that should take 30 seconds</a:t>
            </a:r>
            <a:endParaRPr lang="en-US" sz="1100" dirty="0"/>
          </a:p>
        </p:txBody>
      </p:sp>
      <p:sp>
        <p:nvSpPr>
          <p:cNvPr id="21" name="Shape 18"/>
          <p:cNvSpPr/>
          <p:nvPr/>
        </p:nvSpPr>
        <p:spPr>
          <a:xfrm>
            <a:off x="8183880" y="502920"/>
            <a:ext cx="3703320" cy="2560320"/>
          </a:xfrm>
          <a:prstGeom prst="rect">
            <a:avLst/>
          </a:prstGeom>
          <a:solidFill>
            <a:srgbClr val="FFFFFF"/>
          </a:solidFill>
          <a:ln/>
          <a:effectLst>
            <a:outerShdw sx="100000" sy="100000" kx="0" ky="0" algn="bl" rotWithShape="0" blurRad="3.17446446651913e+111" dist="1.2697857866076517e+111" dir="9.211413321697224e+130">
              <a:srgbClr val="000000">
                <a:alpha val="9.999999999999997e+133"/>
              </a:srgbClr>
            </a:outerShdw>
          </a:effectLst>
        </p:spPr>
        <p:txBody>
          <a:bodyPr/>
          <a:p/>
        </p:txBody>
      </p:sp>
      <p:sp>
        <p:nvSpPr>
          <p:cNvPr id="22" name="Shape 19"/>
          <p:cNvSpPr/>
          <p:nvPr/>
        </p:nvSpPr>
        <p:spPr>
          <a:xfrm>
            <a:off x="8183880" y="502920"/>
            <a:ext cx="3703320" cy="45720"/>
          </a:xfrm>
          <a:prstGeom prst="rect">
            <a:avLst/>
          </a:prstGeom>
          <a:solidFill>
            <a:srgbClr val="788C5D"/>
          </a:solidFill>
          <a:ln/>
        </p:spPr>
        <p:txBody>
          <a:bodyPr/>
          <a:p/>
        </p:txBody>
      </p:sp>
      <p:sp>
        <p:nvSpPr>
          <p:cNvPr id="23" name="Text 20"/>
          <p:cNvSpPr/>
          <p:nvPr/>
        </p:nvSpPr>
        <p:spPr>
          <a:xfrm>
            <a:off x="8366760" y="640080"/>
            <a:ext cx="3383280" cy="274320"/>
          </a:xfrm>
          <a:prstGeom prst="rect">
            <a:avLst/>
          </a:prstGeom>
          <a:noFill/>
          <a:ln/>
        </p:spPr>
        <p:txBody>
          <a:bodyPr wrap="square" rtlCol="0" anchor="ctr"/>
          <a:lstStyle/>
          <a:p>
            <a:pPr indent="0" marL="0">
              <a:buNone/>
            </a:pPr>
            <a:r>
              <a:rPr lang="en-US" sz="1100" b="1" spc="200" kern="0" dirty="0">
                <a:solidFill>
                  <a:srgbClr val="788C5D"/>
                </a:solidFill>
                <a:latin typeface="Arial" pitchFamily="34" charset="0"/>
                <a:ea typeface="Arial" pitchFamily="34" charset="-122"/>
                <a:cs typeface="Arial" pitchFamily="34" charset="-120"/>
              </a:rPr>
              <a:t>TRIGGERS</a:t>
            </a:r>
            <a:endParaRPr lang="en-US" sz="1100" dirty="0"/>
          </a:p>
        </p:txBody>
      </p:sp>
      <p:sp>
        <p:nvSpPr>
          <p:cNvPr id="24" name="Text 21"/>
          <p:cNvSpPr/>
          <p:nvPr/>
        </p:nvSpPr>
        <p:spPr>
          <a:xfrm>
            <a:off x="8366760" y="1005840"/>
            <a:ext cx="3383280" cy="1920240"/>
          </a:xfrm>
          <a:prstGeom prst="rect">
            <a:avLst/>
          </a:prstGeom>
          <a:noFill/>
          <a:ln/>
        </p:spPr>
        <p:txBody>
          <a:bodyPr wrap="square" rtlCol="0" anchor="t"/>
          <a:lstStyle/>
          <a:p>
            <a:pPr marL="342900" indent="-342900">
              <a:lnSpc>
                <a:spcPct val="120000"/>
              </a:lnSpc>
              <a:spcAft>
                <a:spcPts val="600"/>
              </a:spcAft>
              <a:buSzPct val="100000"/>
              <a:buChar char="•"/>
            </a:pPr>
            <a:r>
              <a:rPr lang="en-US" sz="1100" dirty="0">
                <a:solidFill>
                  <a:srgbClr val="5B5F63"/>
                </a:solidFill>
                <a:latin typeface="Arial" pitchFamily="34" charset="0"/>
                <a:ea typeface="Arial" pitchFamily="34" charset="-122"/>
                <a:cs typeface="Arial" pitchFamily="34" charset="-120"/>
              </a:rPr>
              <a:t>A viral demo of Fluso completing a real, recognizable task — not a curated toy example</a:t>
            </a:r>
            <a:endParaRPr lang="en-US" sz="1100" dirty="0"/>
          </a:p>
          <a:p>
            <a:pPr marL="342900" indent="-342900">
              <a:lnSpc>
                <a:spcPct val="120000"/>
              </a:lnSpc>
              <a:spcAft>
                <a:spcPts val="600"/>
              </a:spcAft>
              <a:buSzPct val="100000"/>
              <a:buChar char="•"/>
            </a:pPr>
            <a:r>
              <a:rPr lang="en-US" sz="1100" dirty="0">
                <a:solidFill>
                  <a:srgbClr val="5B5F63"/>
                </a:solidFill>
                <a:latin typeface="Arial" pitchFamily="34" charset="0"/>
                <a:ea typeface="Arial" pitchFamily="34" charset="-122"/>
                <a:cs typeface="Arial" pitchFamily="34" charset="-120"/>
              </a:rPr>
              <a:t>A trusted recommendation from someone in their network</a:t>
            </a:r>
            <a:endParaRPr lang="en-US" sz="1100" dirty="0"/>
          </a:p>
          <a:p>
            <a:pPr marL="342900" indent="-342900">
              <a:lnSpc>
                <a:spcPct val="120000"/>
              </a:lnSpc>
              <a:spcAft>
                <a:spcPts val="600"/>
              </a:spcAft>
              <a:buSzPct val="100000"/>
              <a:buChar char="•"/>
            </a:pPr>
            <a:r>
              <a:rPr lang="en-US" sz="1100" dirty="0">
                <a:solidFill>
                  <a:srgbClr val="5B5F63"/>
                </a:solidFill>
                <a:latin typeface="Arial" pitchFamily="34" charset="0"/>
                <a:ea typeface="Arial" pitchFamily="34" charset="-122"/>
                <a:cs typeface="Arial" pitchFamily="34" charset="-120"/>
              </a:rPr>
              <a:t>Quarterly subscription audit: tired of 10 tools each doing 10% of the job</a:t>
            </a:r>
            <a:endParaRPr lang="en-US" sz="1100" dirty="0"/>
          </a:p>
        </p:txBody>
      </p:sp>
      <p:sp>
        <p:nvSpPr>
          <p:cNvPr id="25" name="Shape 22"/>
          <p:cNvSpPr/>
          <p:nvPr/>
        </p:nvSpPr>
        <p:spPr>
          <a:xfrm>
            <a:off x="4343400" y="3246120"/>
            <a:ext cx="3703320" cy="2560320"/>
          </a:xfrm>
          <a:prstGeom prst="rect">
            <a:avLst/>
          </a:prstGeom>
          <a:solidFill>
            <a:srgbClr val="FFFFFF"/>
          </a:solidFill>
          <a:ln/>
          <a:effectLst>
            <a:outerShdw sx="100000" sy="100000" kx="0" ky="0" algn="bl" rotWithShape="0" blurRad="4.0315698724792955e+115" dist="1.6126279489917177e+115" dir="5.526847993018334e+135">
              <a:srgbClr val="000000">
                <a:alpha val="9.999999999999998e+138"/>
              </a:srgbClr>
            </a:outerShdw>
          </a:effectLst>
        </p:spPr>
        <p:txBody>
          <a:bodyPr/>
          <a:p/>
        </p:txBody>
      </p:sp>
      <p:sp>
        <p:nvSpPr>
          <p:cNvPr id="26" name="Shape 23"/>
          <p:cNvSpPr/>
          <p:nvPr/>
        </p:nvSpPr>
        <p:spPr>
          <a:xfrm>
            <a:off x="4343400" y="3246120"/>
            <a:ext cx="3703320" cy="45720"/>
          </a:xfrm>
          <a:prstGeom prst="rect">
            <a:avLst/>
          </a:prstGeom>
          <a:solidFill>
            <a:srgbClr val="5B5F63"/>
          </a:solidFill>
          <a:ln/>
        </p:spPr>
        <p:txBody>
          <a:bodyPr/>
          <a:p/>
        </p:txBody>
      </p:sp>
      <p:sp>
        <p:nvSpPr>
          <p:cNvPr id="27" name="Text 24"/>
          <p:cNvSpPr/>
          <p:nvPr/>
        </p:nvSpPr>
        <p:spPr>
          <a:xfrm>
            <a:off x="4526280" y="3383280"/>
            <a:ext cx="3383280" cy="274320"/>
          </a:xfrm>
          <a:prstGeom prst="rect">
            <a:avLst/>
          </a:prstGeom>
          <a:noFill/>
          <a:ln/>
        </p:spPr>
        <p:txBody>
          <a:bodyPr wrap="square" rtlCol="0" anchor="ctr"/>
          <a:lstStyle/>
          <a:p>
            <a:pPr indent="0" marL="0">
              <a:buNone/>
            </a:pPr>
            <a:r>
              <a:rPr lang="en-US" sz="1100" b="1" spc="200" kern="0" dirty="0">
                <a:solidFill>
                  <a:srgbClr val="5B5F63"/>
                </a:solidFill>
                <a:latin typeface="Arial" pitchFamily="34" charset="0"/>
                <a:ea typeface="Arial" pitchFamily="34" charset="-122"/>
                <a:cs typeface="Arial" pitchFamily="34" charset="-120"/>
              </a:rPr>
              <a:t>OBJECTIONS</a:t>
            </a:r>
            <a:endParaRPr lang="en-US" sz="1100" dirty="0"/>
          </a:p>
        </p:txBody>
      </p:sp>
      <p:sp>
        <p:nvSpPr>
          <p:cNvPr id="28" name="Text 25"/>
          <p:cNvSpPr/>
          <p:nvPr/>
        </p:nvSpPr>
        <p:spPr>
          <a:xfrm>
            <a:off x="4526280" y="3749040"/>
            <a:ext cx="3383280" cy="1920240"/>
          </a:xfrm>
          <a:prstGeom prst="rect">
            <a:avLst/>
          </a:prstGeom>
          <a:noFill/>
          <a:ln/>
        </p:spPr>
        <p:txBody>
          <a:bodyPr wrap="square" rtlCol="0" anchor="t"/>
          <a:lstStyle/>
          <a:p>
            <a:pPr marL="342900" indent="-342900">
              <a:lnSpc>
                <a:spcPct val="120000"/>
              </a:lnSpc>
              <a:spcAft>
                <a:spcPts val="600"/>
              </a:spcAft>
              <a:buSzPct val="100000"/>
              <a:buChar char="•"/>
            </a:pPr>
            <a:r>
              <a:rPr lang="en-US" sz="1100" dirty="0">
                <a:solidFill>
                  <a:srgbClr val="5B5F63"/>
                </a:solidFill>
                <a:latin typeface="Arial" pitchFamily="34" charset="0"/>
                <a:ea typeface="Arial" pitchFamily="34" charset="-122"/>
                <a:cs typeface="Arial" pitchFamily="34" charset="-120"/>
              </a:rPr>
              <a:t>Another subscription in a stack where ~30% of SaaS spend is already wasted on unused tools?</a:t>
            </a:r>
            <a:endParaRPr lang="en-US" sz="1100" dirty="0"/>
          </a:p>
          <a:p>
            <a:pPr marL="342900" indent="-342900">
              <a:lnSpc>
                <a:spcPct val="120000"/>
              </a:lnSpc>
              <a:spcAft>
                <a:spcPts val="600"/>
              </a:spcAft>
              <a:buSzPct val="100000"/>
              <a:buChar char="•"/>
            </a:pPr>
            <a:r>
              <a:rPr lang="en-US" sz="1100" dirty="0">
                <a:solidFill>
                  <a:srgbClr val="5B5F63"/>
                </a:solidFill>
                <a:latin typeface="Arial" pitchFamily="34" charset="0"/>
                <a:ea typeface="Arial" pitchFamily="34" charset="-122"/>
                <a:cs typeface="Arial" pitchFamily="34" charset="-120"/>
              </a:rPr>
              <a:t>Will it save time, or require hours of setup and prompting to get one good output?</a:t>
            </a:r>
            <a:endParaRPr lang="en-US" sz="1100" dirty="0"/>
          </a:p>
          <a:p>
            <a:pPr marL="342900" indent="-342900">
              <a:lnSpc>
                <a:spcPct val="120000"/>
              </a:lnSpc>
              <a:spcAft>
                <a:spcPts val="600"/>
              </a:spcAft>
              <a:buSzPct val="100000"/>
              <a:buChar char="•"/>
            </a:pPr>
            <a:r>
              <a:rPr lang="en-US" sz="1100" dirty="0">
                <a:solidFill>
                  <a:srgbClr val="5B5F63"/>
                </a:solidFill>
                <a:latin typeface="Arial" pitchFamily="34" charset="0"/>
                <a:ea typeface="Arial" pitchFamily="34" charset="-122"/>
                <a:cs typeface="Arial" pitchFamily="34" charset="-120"/>
              </a:rPr>
              <a:t>Is my data being trained on — and can I actually verify it, or is it buried in the ToS?</a:t>
            </a:r>
            <a:endParaRPr lang="en-US" sz="1100" dirty="0"/>
          </a:p>
        </p:txBody>
      </p:sp>
      <p:sp>
        <p:nvSpPr>
          <p:cNvPr id="29" name="Shape 26"/>
          <p:cNvSpPr/>
          <p:nvPr/>
        </p:nvSpPr>
        <p:spPr>
          <a:xfrm>
            <a:off x="8183880" y="3246120"/>
            <a:ext cx="3703320" cy="2560320"/>
          </a:xfrm>
          <a:prstGeom prst="rect">
            <a:avLst/>
          </a:prstGeom>
          <a:solidFill>
            <a:srgbClr val="FFFFFF"/>
          </a:solidFill>
          <a:ln/>
          <a:effectLst>
            <a:outerShdw sx="100000" sy="100000" kx="0" ky="0" algn="bl" rotWithShape="0" blurRad="5.120093738048705e+119" dist="2.0480374952194813e+119" dir="3.3161087958110005e+140">
              <a:srgbClr val="000000">
                <a:alpha val="9.999999999999999e+143"/>
              </a:srgbClr>
            </a:outerShdw>
          </a:effectLst>
        </p:spPr>
        <p:txBody>
          <a:bodyPr/>
          <a:p/>
        </p:txBody>
      </p:sp>
      <p:sp>
        <p:nvSpPr>
          <p:cNvPr id="30" name="Shape 27"/>
          <p:cNvSpPr/>
          <p:nvPr/>
        </p:nvSpPr>
        <p:spPr>
          <a:xfrm>
            <a:off x="8183880" y="3246120"/>
            <a:ext cx="3703320" cy="45720"/>
          </a:xfrm>
          <a:prstGeom prst="rect">
            <a:avLst/>
          </a:prstGeom>
          <a:solidFill>
            <a:srgbClr val="185771"/>
          </a:solidFill>
          <a:ln/>
        </p:spPr>
        <p:txBody>
          <a:bodyPr/>
          <a:p/>
        </p:txBody>
      </p:sp>
      <p:sp>
        <p:nvSpPr>
          <p:cNvPr id="31" name="Text 28"/>
          <p:cNvSpPr/>
          <p:nvPr/>
        </p:nvSpPr>
        <p:spPr>
          <a:xfrm>
            <a:off x="8366760" y="3383280"/>
            <a:ext cx="3383280" cy="274320"/>
          </a:xfrm>
          <a:prstGeom prst="rect">
            <a:avLst/>
          </a:prstGeom>
          <a:noFill/>
          <a:ln/>
        </p:spPr>
        <p:txBody>
          <a:bodyPr wrap="square" rtlCol="0" anchor="ctr"/>
          <a:lstStyle/>
          <a:p>
            <a:pPr indent="0" marL="0">
              <a:buNone/>
            </a:pPr>
            <a:r>
              <a:rPr lang="en-US" sz="1100" b="1" spc="200" kern="0" dirty="0">
                <a:solidFill>
                  <a:srgbClr val="185771"/>
                </a:solidFill>
                <a:latin typeface="Arial" pitchFamily="34" charset="0"/>
                <a:ea typeface="Arial" pitchFamily="34" charset="-122"/>
                <a:cs typeface="Arial" pitchFamily="34" charset="-120"/>
              </a:rPr>
              <a:t>WHAT CONVERTS THEM</a:t>
            </a:r>
            <a:endParaRPr lang="en-US" sz="1100" dirty="0"/>
          </a:p>
        </p:txBody>
      </p:sp>
      <p:sp>
        <p:nvSpPr>
          <p:cNvPr id="32" name="Text 29"/>
          <p:cNvSpPr/>
          <p:nvPr/>
        </p:nvSpPr>
        <p:spPr>
          <a:xfrm>
            <a:off x="8366760" y="3749040"/>
            <a:ext cx="3383280" cy="1920240"/>
          </a:xfrm>
          <a:prstGeom prst="rect">
            <a:avLst/>
          </a:prstGeom>
          <a:noFill/>
          <a:ln/>
        </p:spPr>
        <p:txBody>
          <a:bodyPr wrap="square" rtlCol="0" anchor="t"/>
          <a:lstStyle/>
          <a:p>
            <a:pPr marL="342900" indent="-342900">
              <a:lnSpc>
                <a:spcPct val="120000"/>
              </a:lnSpc>
              <a:spcAft>
                <a:spcPts val="600"/>
              </a:spcAft>
              <a:buSzPct val="100000"/>
              <a:buChar char="•"/>
            </a:pPr>
            <a:r>
              <a:rPr lang="en-US" sz="1100" dirty="0">
                <a:solidFill>
                  <a:srgbClr val="5B5F63"/>
                </a:solidFill>
                <a:latin typeface="Arial" pitchFamily="34" charset="0"/>
                <a:ea typeface="Arial" pitchFamily="34" charset="-122"/>
                <a:cs typeface="Arial" pitchFamily="34" charset="-120"/>
              </a:rPr>
              <a:t>Free tier with a real task completed in under 5 minutes — no setup required</a:t>
            </a:r>
            <a:endParaRPr lang="en-US" sz="1100" dirty="0"/>
          </a:p>
          <a:p>
            <a:pPr marL="342900" indent="-342900">
              <a:lnSpc>
                <a:spcPct val="120000"/>
              </a:lnSpc>
              <a:spcAft>
                <a:spcPts val="600"/>
              </a:spcAft>
              <a:buSzPct val="100000"/>
              <a:buChar char="•"/>
            </a:pPr>
            <a:r>
              <a:rPr lang="en-US" sz="1100" dirty="0">
                <a:solidFill>
                  <a:srgbClr val="5B5F63"/>
                </a:solidFill>
                <a:latin typeface="Arial" pitchFamily="34" charset="0"/>
                <a:ea typeface="Arial" pitchFamily="34" charset="-122"/>
                <a:cs typeface="Arial" pitchFamily="34" charset="-120"/>
              </a:rPr>
              <a:t>Demo mapped to their actual day: meeting notes → action items → drafted email, done</a:t>
            </a:r>
            <a:endParaRPr lang="en-US" sz="1100" dirty="0"/>
          </a:p>
          <a:p>
            <a:pPr marL="342900" indent="-342900">
              <a:lnSpc>
                <a:spcPct val="120000"/>
              </a:lnSpc>
              <a:spcAft>
                <a:spcPts val="600"/>
              </a:spcAft>
              <a:buSzPct val="100000"/>
              <a:buChar char="•"/>
            </a:pPr>
            <a:r>
              <a:rPr lang="en-US" sz="1100" dirty="0">
                <a:solidFill>
                  <a:srgbClr val="5B5F63"/>
                </a:solidFill>
                <a:latin typeface="Arial" pitchFamily="34" charset="0"/>
                <a:ea typeface="Arial" pitchFamily="34" charset="-122"/>
                <a:cs typeface="Arial" pitchFamily="34" charset="-120"/>
              </a:rPr>
              <a:t>Private by default: not policy-buried, explicit and verifiable</a:t>
            </a:r>
            <a:endParaRPr lang="en-US" sz="1100" dirty="0"/>
          </a:p>
          <a:p>
            <a:pPr marL="342900" indent="-342900">
              <a:lnSpc>
                <a:spcPct val="120000"/>
              </a:lnSpc>
              <a:spcAft>
                <a:spcPts val="600"/>
              </a:spcAft>
              <a:buSzPct val="100000"/>
              <a:buChar char="•"/>
            </a:pPr>
            <a:r>
              <a:rPr lang="en-US" sz="1100" dirty="0">
                <a:solidFill>
                  <a:srgbClr val="5B5F63"/>
                </a:solidFill>
                <a:latin typeface="Arial" pitchFamily="34" charset="0"/>
                <a:ea typeface="Arial" pitchFamily="34" charset="-122"/>
                <a:cs typeface="Arial" pitchFamily="34" charset="-120"/>
              </a:rPr>
              <a:t>One workspace that replaces five tools they're already paying for</a:t>
            </a:r>
            <a:endParaRPr lang="en-US" sz="1100" dirty="0"/>
          </a:p>
        </p:txBody>
      </p:sp>
      <p:sp>
        <p:nvSpPr>
          <p:cNvPr id="33" name="Text 30"/>
          <p:cNvSpPr/>
          <p:nvPr/>
        </p:nvSpPr>
        <p:spPr>
          <a:xfrm>
            <a:off x="11460175" y="6446520"/>
            <a:ext cx="457200" cy="274320"/>
          </a:xfrm>
          <a:prstGeom prst="rect">
            <a:avLst/>
          </a:prstGeom>
          <a:noFill/>
          <a:ln/>
        </p:spPr>
        <p:txBody>
          <a:bodyPr wrap="square" rtlCol="0" anchor="ctr"/>
          <a:lstStyle/>
          <a:p>
            <a:pPr algn="r" indent="0" marL="0">
              <a:buNone/>
            </a:pPr>
            <a:r>
              <a:rPr lang="en-US" sz="1000" dirty="0">
                <a:solidFill>
                  <a:srgbClr val="9A9A93"/>
                </a:solidFill>
                <a:latin typeface="Arial" pitchFamily="34" charset="0"/>
                <a:ea typeface="Arial" pitchFamily="34" charset="-122"/>
                <a:cs typeface="Arial"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9F5"/>
        </a:solidFill>
      </p:bgPr>
    </p:bg>
    <p:spTree>
      <p:nvGrpSpPr>
        <p:cNvPr id="1" name=""/>
        <p:cNvGrpSpPr/>
        <p:nvPr/>
      </p:nvGrpSpPr>
      <p:grpSpPr>
        <a:xfrm>
          <a:off x="0" y="0"/>
          <a:ext cx="0" cy="0"/>
          <a:chOff x="0" y="0"/>
          <a:chExt cx="0" cy="0"/>
        </a:xfrm>
      </p:grpSpPr>
      <p:sp>
        <p:nvSpPr>
          <p:cNvPr id="2" name="Text 0"/>
          <p:cNvSpPr/>
          <p:nvPr/>
        </p:nvSpPr>
        <p:spPr>
          <a:xfrm>
            <a:off x="640080" y="411480"/>
            <a:ext cx="10058400" cy="274320"/>
          </a:xfrm>
          <a:prstGeom prst="rect">
            <a:avLst/>
          </a:prstGeom>
          <a:noFill/>
          <a:ln/>
        </p:spPr>
        <p:txBody>
          <a:bodyPr wrap="square" rtlCol="0" anchor="ctr"/>
          <a:lstStyle/>
          <a:p>
            <a:pPr indent="0" marL="0">
              <a:buNone/>
            </a:pPr>
            <a:r>
              <a:rPr lang="en-US" sz="1100" b="1" spc="500" kern="0" dirty="0">
                <a:solidFill>
                  <a:srgbClr val="788C5D"/>
                </a:solidFill>
                <a:latin typeface="Arial" pitchFamily="34" charset="0"/>
                <a:ea typeface="Arial" pitchFamily="34" charset="-122"/>
                <a:cs typeface="Arial" pitchFamily="34" charset="-120"/>
              </a:rPr>
              <a:t>AUDIENCE &amp; MOTION</a:t>
            </a:r>
            <a:endParaRPr lang="en-US" sz="1100" dirty="0"/>
          </a:p>
        </p:txBody>
      </p:sp>
      <p:sp>
        <p:nvSpPr>
          <p:cNvPr id="3" name="Text 1"/>
          <p:cNvSpPr/>
          <p:nvPr/>
        </p:nvSpPr>
        <p:spPr>
          <a:xfrm>
            <a:off x="640080" y="658368"/>
            <a:ext cx="10972800" cy="640080"/>
          </a:xfrm>
          <a:prstGeom prst="rect">
            <a:avLst/>
          </a:prstGeom>
          <a:noFill/>
          <a:ln/>
        </p:spPr>
        <p:txBody>
          <a:bodyPr wrap="square" rtlCol="0" anchor="ctr"/>
          <a:lstStyle/>
          <a:p>
            <a:pPr indent="0" marL="0">
              <a:buNone/>
            </a:pPr>
            <a:r>
              <a:rPr lang="en-US" sz="2900" dirty="0">
                <a:solidFill>
                  <a:srgbClr val="0E0E10"/>
                </a:solidFill>
                <a:latin typeface="Georgia" pitchFamily="34" charset="0"/>
                <a:ea typeface="Georgia" pitchFamily="34" charset="-122"/>
                <a:cs typeface="Georgia" pitchFamily="34" charset="-120"/>
              </a:rPr>
              <a:t>80 / 20, and How Each Is Won</a:t>
            </a:r>
            <a:endParaRPr lang="en-US" sz="2900" dirty="0"/>
          </a:p>
        </p:txBody>
      </p:sp>
      <p:sp>
        <p:nvSpPr>
          <p:cNvPr id="4" name="Text 2"/>
          <p:cNvSpPr/>
          <p:nvPr/>
        </p:nvSpPr>
        <p:spPr>
          <a:xfrm>
            <a:off x="11460175" y="6446520"/>
            <a:ext cx="457200" cy="274320"/>
          </a:xfrm>
          <a:prstGeom prst="rect">
            <a:avLst/>
          </a:prstGeom>
          <a:noFill/>
          <a:ln/>
        </p:spPr>
        <p:txBody>
          <a:bodyPr wrap="square" rtlCol="0" anchor="ctr"/>
          <a:lstStyle/>
          <a:p>
            <a:pPr algn="r" indent="0" marL="0">
              <a:buNone/>
            </a:pPr>
            <a:r>
              <a:rPr lang="en-US" sz="1000" dirty="0">
                <a:solidFill>
                  <a:srgbClr val="9A9A93"/>
                </a:solidFill>
                <a:latin typeface="Arial" pitchFamily="34" charset="0"/>
                <a:ea typeface="Arial" pitchFamily="34" charset="-122"/>
                <a:cs typeface="Arial" pitchFamily="34" charset="-120"/>
              </a:rPr>
              <a:t>11</a:t>
            </a:r>
            <a:endParaRPr lang="en-US" sz="1000" dirty="0"/>
          </a:p>
        </p:txBody>
      </p:sp>
      <p:sp>
        <p:nvSpPr>
          <p:cNvPr id="5" name="Text 3"/>
          <p:cNvSpPr/>
          <p:nvPr/>
        </p:nvSpPr>
        <p:spPr>
          <a:xfrm>
            <a:off x="640080" y="1325880"/>
            <a:ext cx="10881360" cy="548640"/>
          </a:xfrm>
          <a:prstGeom prst="rect">
            <a:avLst/>
          </a:prstGeom>
          <a:noFill/>
          <a:ln/>
        </p:spPr>
        <p:txBody>
          <a:bodyPr wrap="square" rtlCol="0" anchor="ctr"/>
          <a:lstStyle/>
          <a:p>
            <a:pPr indent="0" marL="0">
              <a:lnSpc>
                <a:spcPct val="130000"/>
              </a:lnSpc>
              <a:buNone/>
            </a:pPr>
            <a:r>
              <a:rPr lang="en-US" sz="1350" dirty="0">
                <a:solidFill>
                  <a:srgbClr val="5B5F63"/>
                </a:solidFill>
                <a:latin typeface="Arial" pitchFamily="34" charset="0"/>
                <a:ea typeface="Arial" pitchFamily="34" charset="-122"/>
                <a:cs typeface="Arial" pitchFamily="34" charset="-120"/>
              </a:rPr>
              <a:t>Effort weights to B2B, where the budgets are. B2C is a deliberate minority play that feeds the top of the funnel. The motion differs by who we are reaching.</a:t>
            </a:r>
            <a:endParaRPr lang="en-US" sz="1350" dirty="0"/>
          </a:p>
        </p:txBody>
      </p:sp>
      <p:sp>
        <p:nvSpPr>
          <p:cNvPr id="6" name="Shape 4"/>
          <p:cNvSpPr/>
          <p:nvPr/>
        </p:nvSpPr>
        <p:spPr>
          <a:xfrm>
            <a:off x="640080" y="2057400"/>
            <a:ext cx="6858000" cy="3794760"/>
          </a:xfrm>
          <a:prstGeom prst="rect">
            <a:avLst/>
          </a:prstGeom>
          <a:solidFill>
            <a:srgbClr val="0E0E10"/>
          </a:solidFill>
          <a:ln/>
          <a:effectLst>
            <a:outerShdw sx="100000" sy="100000" kx="0" ky="0" algn="bl" rotWithShape="0" blurRad="6.502519047321855e+123" dist="2.6010076189287412e+123" dir="1.9896652774866004e+145">
              <a:srgbClr val="000000">
                <a:alpha val="9.999999999999998e+148"/>
              </a:srgbClr>
            </a:outerShdw>
          </a:effectLst>
        </p:spPr>
      </p:sp>
      <p:pic>
        <p:nvPicPr>
          <p:cNvPr id="7" name="Image 0" descr="preencoded.png">    </p:cNvPr>
          <p:cNvPicPr>
            <a:picLocks noChangeAspect="1"/>
          </p:cNvPicPr>
          <p:nvPr/>
        </p:nvPicPr>
        <p:blipFill>
          <a:blip r:embed="rId1"/>
          <a:stretch>
            <a:fillRect/>
          </a:stretch>
        </p:blipFill>
        <p:spPr>
          <a:xfrm>
            <a:off x="914400" y="2331720"/>
            <a:ext cx="411480" cy="411480"/>
          </a:xfrm>
          <a:prstGeom prst="rect">
            <a:avLst/>
          </a:prstGeom>
        </p:spPr>
      </p:pic>
      <p:sp>
        <p:nvSpPr>
          <p:cNvPr id="8" name="Text 5"/>
          <p:cNvSpPr/>
          <p:nvPr/>
        </p:nvSpPr>
        <p:spPr>
          <a:xfrm>
            <a:off x="1463040" y="2286000"/>
            <a:ext cx="2743200" cy="457200"/>
          </a:xfrm>
          <a:prstGeom prst="rect">
            <a:avLst/>
          </a:prstGeom>
          <a:noFill/>
          <a:ln/>
        </p:spPr>
        <p:txBody>
          <a:bodyPr wrap="square" rtlCol="0" anchor="ctr"/>
          <a:lstStyle/>
          <a:p>
            <a:pPr indent="0" marL="0">
              <a:buNone/>
            </a:pPr>
            <a:r>
              <a:rPr lang="en-US" sz="2200" b="1" dirty="0">
                <a:solidFill>
                  <a:srgbClr val="FFFFFF"/>
                </a:solidFill>
                <a:latin typeface="Georgia" pitchFamily="34" charset="0"/>
                <a:ea typeface="Georgia" pitchFamily="34" charset="-122"/>
                <a:cs typeface="Georgia" pitchFamily="34" charset="-120"/>
              </a:rPr>
              <a:t>B2B</a:t>
            </a:r>
            <a:endParaRPr lang="en-US" sz="2200" dirty="0"/>
          </a:p>
        </p:txBody>
      </p:sp>
      <p:sp>
        <p:nvSpPr>
          <p:cNvPr id="9" name="Text 6"/>
          <p:cNvSpPr/>
          <p:nvPr/>
        </p:nvSpPr>
        <p:spPr>
          <a:xfrm>
            <a:off x="5486400" y="2240280"/>
            <a:ext cx="1828800" cy="640080"/>
          </a:xfrm>
          <a:prstGeom prst="rect">
            <a:avLst/>
          </a:prstGeom>
          <a:noFill/>
          <a:ln/>
        </p:spPr>
        <p:txBody>
          <a:bodyPr wrap="square" rtlCol="0" anchor="ctr"/>
          <a:lstStyle/>
          <a:p>
            <a:pPr algn="r" indent="0" marL="0">
              <a:buNone/>
            </a:pPr>
            <a:r>
              <a:rPr lang="en-US" sz="4000" b="1" dirty="0">
                <a:solidFill>
                  <a:srgbClr val="788C5D"/>
                </a:solidFill>
                <a:latin typeface="Georgia" pitchFamily="34" charset="0"/>
                <a:ea typeface="Georgia" pitchFamily="34" charset="-122"/>
                <a:cs typeface="Georgia" pitchFamily="34" charset="-120"/>
              </a:rPr>
              <a:t>80%</a:t>
            </a:r>
            <a:endParaRPr lang="en-US" sz="4000" dirty="0"/>
          </a:p>
        </p:txBody>
      </p:sp>
      <p:sp>
        <p:nvSpPr>
          <p:cNvPr id="10" name="Text 7"/>
          <p:cNvSpPr/>
          <p:nvPr/>
        </p:nvSpPr>
        <p:spPr>
          <a:xfrm>
            <a:off x="914400" y="2834640"/>
            <a:ext cx="6400800" cy="365760"/>
          </a:xfrm>
          <a:prstGeom prst="rect">
            <a:avLst/>
          </a:prstGeom>
          <a:noFill/>
          <a:ln/>
        </p:spPr>
        <p:txBody>
          <a:bodyPr wrap="square" rtlCol="0" anchor="ctr"/>
          <a:lstStyle/>
          <a:p>
            <a:pPr indent="0" marL="0">
              <a:buNone/>
            </a:pPr>
            <a:r>
              <a:rPr lang="en-US" sz="1250" dirty="0">
                <a:solidFill>
                  <a:srgbClr val="ECEAE1"/>
                </a:solidFill>
                <a:latin typeface="Arial" pitchFamily="34" charset="0"/>
                <a:ea typeface="Arial" pitchFamily="34" charset="-122"/>
                <a:cs typeface="Arial" pitchFamily="34" charset="-120"/>
              </a:rPr>
              <a:t>Regulated enterprises (finance, healthcare, legal, public sector) plus the vertical wedge.</a:t>
            </a:r>
            <a:endParaRPr lang="en-US" sz="1250" dirty="0"/>
          </a:p>
        </p:txBody>
      </p:sp>
      <p:sp>
        <p:nvSpPr>
          <p:cNvPr id="11" name="Text 8"/>
          <p:cNvSpPr/>
          <p:nvPr/>
        </p:nvSpPr>
        <p:spPr>
          <a:xfrm>
            <a:off x="914400" y="3291840"/>
            <a:ext cx="6400800" cy="2468880"/>
          </a:xfrm>
          <a:prstGeom prst="rect">
            <a:avLst/>
          </a:prstGeom>
          <a:noFill/>
          <a:ln/>
        </p:spPr>
        <p:txBody>
          <a:bodyPr wrap="square" rtlCol="0" anchor="ctr"/>
          <a:lstStyle/>
          <a:p>
            <a:pPr marL="342900" indent="-342900">
              <a:lnSpc>
                <a:spcPct val="130000"/>
              </a:lnSpc>
              <a:spcAft>
                <a:spcPts val="900"/>
              </a:spcAft>
              <a:buSzPct val="100000"/>
              <a:buChar char="•"/>
            </a:pPr>
            <a:r>
              <a:rPr lang="en-US" sz="1200" dirty="0">
                <a:solidFill>
                  <a:srgbClr val="9A9A93"/>
                </a:solidFill>
                <a:latin typeface="Arial" pitchFamily="34" charset="0"/>
                <a:ea typeface="Arial" pitchFamily="34" charset="-122"/>
                <a:cs typeface="Arial" pitchFamily="34" charset="-120"/>
              </a:rPr>
              <a:t>Personas: Compliance Owner, Champion, Technical Validator, Vertical Buyer</a:t>
            </a:r>
            <a:endParaRPr lang="en-US" sz="1200" dirty="0"/>
          </a:p>
          <a:p>
            <a:pPr marL="342900" indent="-342900">
              <a:lnSpc>
                <a:spcPct val="130000"/>
              </a:lnSpc>
              <a:spcAft>
                <a:spcPts val="900"/>
              </a:spcAft>
              <a:buSzPct val="100000"/>
              <a:buChar char="•"/>
            </a:pPr>
            <a:r>
              <a:rPr lang="en-US" sz="1200" dirty="0">
                <a:solidFill>
                  <a:srgbClr val="9A9A93"/>
                </a:solidFill>
                <a:latin typeface="Arial" pitchFamily="34" charset="0"/>
                <a:ea typeface="Arial" pitchFamily="34" charset="-122"/>
                <a:cs typeface="Arial" pitchFamily="34" charset="-120"/>
              </a:rPr>
              <a:t>Motion: mostly sales-led (ABM, events, co-brand), with PLG entry via the Champion and Validator</a:t>
            </a:r>
            <a:endParaRPr lang="en-US" sz="1200" dirty="0"/>
          </a:p>
          <a:p>
            <a:pPr marL="342900" indent="-342900">
              <a:lnSpc>
                <a:spcPct val="130000"/>
              </a:lnSpc>
              <a:spcAft>
                <a:spcPts val="900"/>
              </a:spcAft>
              <a:buSzPct val="100000"/>
              <a:buChar char="•"/>
            </a:pPr>
            <a:r>
              <a:rPr lang="en-US" sz="1200" dirty="0">
                <a:solidFill>
                  <a:srgbClr val="9A9A93"/>
                </a:solidFill>
                <a:latin typeface="Arial" pitchFamily="34" charset="0"/>
                <a:ea typeface="Arial" pitchFamily="34" charset="-122"/>
                <a:cs typeface="Arial" pitchFamily="34" charset="-120"/>
              </a:rPr>
              <a:t>Where the revenue and the defensibility live</a:t>
            </a:r>
            <a:endParaRPr lang="en-US" sz="1200" dirty="0"/>
          </a:p>
        </p:txBody>
      </p:sp>
      <p:sp>
        <p:nvSpPr>
          <p:cNvPr id="12" name="Shape 9"/>
          <p:cNvSpPr/>
          <p:nvPr/>
        </p:nvSpPr>
        <p:spPr>
          <a:xfrm>
            <a:off x="7635240" y="2057400"/>
            <a:ext cx="3913632" cy="3794760"/>
          </a:xfrm>
          <a:prstGeom prst="rect">
            <a:avLst/>
          </a:prstGeom>
          <a:solidFill>
            <a:srgbClr val="ECEAE1"/>
          </a:solidFill>
          <a:ln/>
        </p:spPr>
      </p:sp>
      <p:pic>
        <p:nvPicPr>
          <p:cNvPr id="13" name="Image 1" descr="preencoded.png">    </p:cNvPr>
          <p:cNvPicPr>
            <a:picLocks noChangeAspect="1"/>
          </p:cNvPicPr>
          <p:nvPr/>
        </p:nvPicPr>
        <p:blipFill>
          <a:blip r:embed="rId2"/>
          <a:stretch>
            <a:fillRect/>
          </a:stretch>
        </p:blipFill>
        <p:spPr>
          <a:xfrm>
            <a:off x="7863840" y="2331720"/>
            <a:ext cx="365760" cy="365760"/>
          </a:xfrm>
          <a:prstGeom prst="rect">
            <a:avLst/>
          </a:prstGeom>
        </p:spPr>
      </p:pic>
      <p:sp>
        <p:nvSpPr>
          <p:cNvPr id="14" name="Text 10"/>
          <p:cNvSpPr/>
          <p:nvPr/>
        </p:nvSpPr>
        <p:spPr>
          <a:xfrm>
            <a:off x="8275320" y="2304288"/>
            <a:ext cx="1828800" cy="411480"/>
          </a:xfrm>
          <a:prstGeom prst="rect">
            <a:avLst/>
          </a:prstGeom>
          <a:noFill/>
          <a:ln/>
        </p:spPr>
        <p:txBody>
          <a:bodyPr wrap="square" rtlCol="0" anchor="ctr"/>
          <a:lstStyle/>
          <a:p>
            <a:pPr indent="0" marL="0">
              <a:buNone/>
            </a:pPr>
            <a:r>
              <a:rPr lang="en-US" sz="1800" b="1" dirty="0">
                <a:solidFill>
                  <a:srgbClr val="0E0E10"/>
                </a:solidFill>
                <a:latin typeface="Georgia" pitchFamily="34" charset="0"/>
                <a:ea typeface="Georgia" pitchFamily="34" charset="-122"/>
                <a:cs typeface="Georgia" pitchFamily="34" charset="-120"/>
              </a:rPr>
              <a:t>B2C</a:t>
            </a:r>
            <a:endParaRPr lang="en-US" sz="1800" dirty="0"/>
          </a:p>
        </p:txBody>
      </p:sp>
      <p:sp>
        <p:nvSpPr>
          <p:cNvPr id="15" name="Text 11"/>
          <p:cNvSpPr/>
          <p:nvPr/>
        </p:nvSpPr>
        <p:spPr>
          <a:xfrm>
            <a:off x="7863840" y="2834640"/>
            <a:ext cx="3291840" cy="548640"/>
          </a:xfrm>
          <a:prstGeom prst="rect">
            <a:avLst/>
          </a:prstGeom>
          <a:noFill/>
          <a:ln/>
        </p:spPr>
        <p:txBody>
          <a:bodyPr wrap="square" rtlCol="0" anchor="ctr"/>
          <a:lstStyle/>
          <a:p>
            <a:pPr indent="0" marL="0">
              <a:buNone/>
            </a:pPr>
            <a:r>
              <a:rPr lang="en-US" sz="3000" b="1" dirty="0">
                <a:solidFill>
                  <a:srgbClr val="C2703D"/>
                </a:solidFill>
                <a:latin typeface="Georgia" pitchFamily="34" charset="0"/>
                <a:ea typeface="Georgia" pitchFamily="34" charset="-122"/>
                <a:cs typeface="Georgia" pitchFamily="34" charset="-120"/>
              </a:rPr>
              <a:t>20%</a:t>
            </a:r>
            <a:endParaRPr lang="en-US" sz="3000" dirty="0"/>
          </a:p>
        </p:txBody>
      </p:sp>
      <p:sp>
        <p:nvSpPr>
          <p:cNvPr id="16" name="Text 12"/>
          <p:cNvSpPr/>
          <p:nvPr/>
        </p:nvSpPr>
        <p:spPr>
          <a:xfrm>
            <a:off x="7863840" y="3429000"/>
            <a:ext cx="3474720" cy="2286000"/>
          </a:xfrm>
          <a:prstGeom prst="rect">
            <a:avLst/>
          </a:prstGeom>
          <a:noFill/>
          <a:ln/>
        </p:spPr>
        <p:txBody>
          <a:bodyPr wrap="square" rtlCol="0" anchor="ctr"/>
          <a:lstStyle/>
          <a:p>
            <a:pPr marL="342900" indent="-342900">
              <a:lnSpc>
                <a:spcPct val="125000"/>
              </a:lnSpc>
              <a:spcAft>
                <a:spcPts val="800"/>
              </a:spcAft>
              <a:buSzPct val="100000"/>
              <a:buChar char="•"/>
            </a:pPr>
            <a:r>
              <a:rPr lang="en-US" sz="1150" dirty="0">
                <a:solidFill>
                  <a:srgbClr val="5B5F63"/>
                </a:solidFill>
                <a:latin typeface="Arial" pitchFamily="34" charset="0"/>
                <a:ea typeface="Arial" pitchFamily="34" charset="-122"/>
                <a:cs typeface="Arial" pitchFamily="34" charset="-120"/>
              </a:rPr>
              <a:t>Personas: Developer, Prosumer</a:t>
            </a:r>
            <a:endParaRPr lang="en-US" sz="1150" dirty="0"/>
          </a:p>
          <a:p>
            <a:pPr marL="342900" indent="-342900">
              <a:lnSpc>
                <a:spcPct val="125000"/>
              </a:lnSpc>
              <a:spcAft>
                <a:spcPts val="800"/>
              </a:spcAft>
              <a:buSzPct val="100000"/>
              <a:buChar char="•"/>
            </a:pPr>
            <a:r>
              <a:rPr lang="en-US" sz="1150" dirty="0">
                <a:solidFill>
                  <a:srgbClr val="5B5F63"/>
                </a:solidFill>
                <a:latin typeface="Arial" pitchFamily="34" charset="0"/>
                <a:ea typeface="Arial" pitchFamily="34" charset="-122"/>
                <a:cs typeface="Arial" pitchFamily="34" charset="-120"/>
              </a:rPr>
              <a:t>Motion: pure PLG, self-serve, free tier</a:t>
            </a:r>
            <a:endParaRPr lang="en-US" sz="1150" dirty="0"/>
          </a:p>
          <a:p>
            <a:pPr marL="342900" indent="-342900">
              <a:lnSpc>
                <a:spcPct val="125000"/>
              </a:lnSpc>
              <a:spcAft>
                <a:spcPts val="800"/>
              </a:spcAft>
              <a:buSzPct val="100000"/>
              <a:buChar char="•"/>
            </a:pPr>
            <a:r>
              <a:rPr lang="en-US" sz="1150" dirty="0">
                <a:solidFill>
                  <a:srgbClr val="5B5F63"/>
                </a:solidFill>
                <a:latin typeface="Arial" pitchFamily="34" charset="0"/>
                <a:ea typeface="Arial" pitchFamily="34" charset="-122"/>
                <a:cs typeface="Arial" pitchFamily="34" charset="-120"/>
              </a:rPr>
              <a:t>Role: top-of-funnel reach and bottom-up advocacy that pulls Prem into companies</a:t>
            </a:r>
            <a:endParaRPr lang="en-US" sz="1150" dirty="0"/>
          </a:p>
        </p:txBody>
      </p:sp>
      <p:sp>
        <p:nvSpPr>
          <p:cNvPr id="17" name="TextBox 16"/>
          <p:cNvSpPr txBox="1"/>
          <p:nvPr/>
        </p:nvSpPr>
        <p:spPr>
          <a:xfrm>
            <a:off x="640080" y="5833872"/>
            <a:ext cx="10908792" cy="512064"/>
          </a:xfrm>
          <a:prstGeom prst="rect">
            <a:avLst/>
          </a:prstGeom>
          <a:solidFill>
            <a:srgbClr val="DBEAFE"/>
          </a:solidFill>
          <a:ln w="12700">
            <a:solidFill>
              <a:srgbClr val="1E3A8A"/>
            </a:solidFill>
          </a:ln>
        </p:spPr>
        <p:txBody>
          <a:bodyPr wrap="square">
            <a:spAutoFit/>
          </a:bodyPr>
          <a:lstStyle/>
          <a:p>
            <a:pPr algn="l"/>
            <a:r>
              <a:rPr sz="850" b="1">
                <a:solidFill>
                  <a:srgbClr val="1E3A8A"/>
                </a:solidFill>
              </a:rPr>
              <a:t>DATA  </a:t>
            </a:r>
            <a:r>
              <a:rPr sz="850" b="0">
                <a:solidFill>
                  <a:srgbClr val="111827"/>
                </a:solidFill>
              </a:rPr>
              <a:t>Enterprise AI: $107B (2025) → $641B by 2035 (+19.6% CAGR). BFSI: 23.67% of market. Healthcare AI spend tripled in 2025 ($1.4B). 91% of B2B SaaS &gt;$50M ARR use PLG — validates the 20% B2C feeder motion. [Acumen Research / Menlo Ventures 2025]</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9F5"/>
        </a:solidFill>
      </p:bgPr>
    </p:bg>
    <p:spTree>
      <p:nvGrpSpPr>
        <p:cNvPr id="1" name=""/>
        <p:cNvGrpSpPr/>
        <p:nvPr/>
      </p:nvGrpSpPr>
      <p:grpSpPr>
        <a:xfrm>
          <a:off x="0" y="0"/>
          <a:ext cx="0" cy="0"/>
          <a:chOff x="0" y="0"/>
          <a:chExt cx="0" cy="0"/>
        </a:xfrm>
      </p:grpSpPr>
      <p:sp>
        <p:nvSpPr>
          <p:cNvPr id="2" name="Text 0"/>
          <p:cNvSpPr/>
          <p:nvPr/>
        </p:nvSpPr>
        <p:spPr>
          <a:xfrm>
            <a:off x="640080" y="411480"/>
            <a:ext cx="10058400" cy="274320"/>
          </a:xfrm>
          <a:prstGeom prst="rect">
            <a:avLst/>
          </a:prstGeom>
          <a:noFill/>
          <a:ln/>
        </p:spPr>
        <p:txBody>
          <a:bodyPr wrap="square" rtlCol="0" anchor="ctr"/>
          <a:lstStyle/>
          <a:p>
            <a:pPr indent="0" marL="0">
              <a:buNone/>
            </a:pPr>
            <a:r>
              <a:rPr lang="en-US" sz="1100" b="1" spc="500" kern="0" dirty="0">
                <a:solidFill>
                  <a:srgbClr val="788C5D"/>
                </a:solidFill>
                <a:latin typeface="Arial" pitchFamily="34" charset="0"/>
                <a:ea typeface="Arial" pitchFamily="34" charset="-122"/>
                <a:cs typeface="Arial" pitchFamily="34" charset="-120"/>
              </a:rPr>
              <a:t>MESSAGING ARCHITECTURE</a:t>
            </a:r>
            <a:endParaRPr lang="en-US" sz="1100" dirty="0"/>
          </a:p>
        </p:txBody>
      </p:sp>
      <p:sp>
        <p:nvSpPr>
          <p:cNvPr id="3" name="Text 1"/>
          <p:cNvSpPr/>
          <p:nvPr/>
        </p:nvSpPr>
        <p:spPr>
          <a:xfrm>
            <a:off x="640080" y="658368"/>
            <a:ext cx="10972800" cy="640080"/>
          </a:xfrm>
          <a:prstGeom prst="rect">
            <a:avLst/>
          </a:prstGeom>
          <a:noFill/>
          <a:ln/>
        </p:spPr>
        <p:txBody>
          <a:bodyPr wrap="square" rtlCol="0" anchor="ctr"/>
          <a:lstStyle/>
          <a:p>
            <a:pPr indent="0" marL="0">
              <a:buNone/>
            </a:pPr>
            <a:r>
              <a:rPr lang="en-US" sz="2900" dirty="0">
                <a:solidFill>
                  <a:srgbClr val="0E0E10"/>
                </a:solidFill>
                <a:latin typeface="Georgia" pitchFamily="34" charset="0"/>
                <a:ea typeface="Georgia" pitchFamily="34" charset="-122"/>
                <a:cs typeface="Georgia" pitchFamily="34" charset="-120"/>
              </a:rPr>
              <a:t>One Master Message, Three Edges</a:t>
            </a:r>
            <a:endParaRPr lang="en-US" sz="2900" dirty="0"/>
          </a:p>
        </p:txBody>
      </p:sp>
      <p:sp>
        <p:nvSpPr>
          <p:cNvPr id="4" name="Text 2"/>
          <p:cNvSpPr/>
          <p:nvPr/>
        </p:nvSpPr>
        <p:spPr>
          <a:xfrm>
            <a:off x="11460175" y="6446520"/>
            <a:ext cx="457200" cy="274320"/>
          </a:xfrm>
          <a:prstGeom prst="rect">
            <a:avLst/>
          </a:prstGeom>
          <a:noFill/>
          <a:ln/>
        </p:spPr>
        <p:txBody>
          <a:bodyPr wrap="square" rtlCol="0" anchor="ctr"/>
          <a:lstStyle/>
          <a:p>
            <a:pPr algn="r" indent="0" marL="0">
              <a:buNone/>
            </a:pPr>
            <a:r>
              <a:rPr lang="en-US" sz="1000" dirty="0">
                <a:solidFill>
                  <a:srgbClr val="9A9A93"/>
                </a:solidFill>
                <a:latin typeface="Arial" pitchFamily="34" charset="0"/>
                <a:ea typeface="Arial" pitchFamily="34" charset="-122"/>
                <a:cs typeface="Arial" pitchFamily="34" charset="-120"/>
              </a:rPr>
              <a:t>12</a:t>
            </a:r>
            <a:endParaRPr lang="en-US" sz="1000" dirty="0"/>
          </a:p>
        </p:txBody>
      </p:sp>
      <p:sp>
        <p:nvSpPr>
          <p:cNvPr id="5" name="Shape 3"/>
          <p:cNvSpPr/>
          <p:nvPr/>
        </p:nvSpPr>
        <p:spPr>
          <a:xfrm>
            <a:off x="640080" y="1325880"/>
            <a:ext cx="10908792" cy="777240"/>
          </a:xfrm>
          <a:prstGeom prst="rect">
            <a:avLst/>
          </a:prstGeom>
          <a:solidFill>
            <a:srgbClr val="0E0E10"/>
          </a:solidFill>
          <a:ln/>
        </p:spPr>
      </p:sp>
      <p:sp>
        <p:nvSpPr>
          <p:cNvPr id="6" name="Text 4"/>
          <p:cNvSpPr/>
          <p:nvPr/>
        </p:nvSpPr>
        <p:spPr>
          <a:xfrm>
            <a:off x="868680" y="1325880"/>
            <a:ext cx="10424160" cy="777240"/>
          </a:xfrm>
          <a:prstGeom prst="rect">
            <a:avLst/>
          </a:prstGeom>
          <a:noFill/>
          <a:ln/>
        </p:spPr>
        <p:txBody>
          <a:bodyPr wrap="square" rtlCol="0" anchor="ctr"/>
          <a:lstStyle/>
          <a:p>
            <a:pPr indent="0" marL="0">
              <a:buNone/>
            </a:pPr>
            <a:r>
              <a:rPr lang="en-US" sz="1400" i="1" dirty="0">
                <a:solidFill>
                  <a:srgbClr val="FFFFFF"/>
                </a:solidFill>
                <a:latin typeface="Georgia" pitchFamily="34" charset="0"/>
                <a:ea typeface="Georgia" pitchFamily="34" charset="-122"/>
                <a:cs typeface="Georgia" pitchFamily="34" charset="-120"/>
              </a:rPr>
              <a:t>“AI is the most powerful technology of our era. Prem makes it private, verifiable, and sovereign.”</a:t>
            </a:r>
            <a:endParaRPr lang="en-US" sz="1400" dirty="0"/>
          </a:p>
        </p:txBody>
      </p:sp>
      <p:sp>
        <p:nvSpPr>
          <p:cNvPr id="7" name="Shape 5"/>
          <p:cNvSpPr/>
          <p:nvPr/>
        </p:nvSpPr>
        <p:spPr>
          <a:xfrm>
            <a:off x="640080" y="2331720"/>
            <a:ext cx="10908792" cy="1078992"/>
          </a:xfrm>
          <a:prstGeom prst="rect">
            <a:avLst/>
          </a:prstGeom>
          <a:solidFill>
            <a:srgbClr val="FFFFFF"/>
          </a:solidFill>
          <a:ln/>
          <a:effectLst>
            <a:outerShdw sx="100000" sy="100000" kx="0" ky="0" algn="bl" rotWithShape="0" blurRad="8.258199190098756e+127" dist="3.303279676039501e+127" dir="1.1937991664919603e+150">
              <a:srgbClr val="000000">
                <a:alpha val="9.999999999999999e+153"/>
              </a:srgbClr>
            </a:outerShdw>
          </a:effectLst>
        </p:spPr>
      </p:sp>
      <p:sp>
        <p:nvSpPr>
          <p:cNvPr id="8" name="Shape 6"/>
          <p:cNvSpPr/>
          <p:nvPr/>
        </p:nvSpPr>
        <p:spPr>
          <a:xfrm>
            <a:off x="640080" y="2331720"/>
            <a:ext cx="91440" cy="1078992"/>
          </a:xfrm>
          <a:prstGeom prst="rect">
            <a:avLst/>
          </a:prstGeom>
          <a:solidFill>
            <a:srgbClr val="C2703D"/>
          </a:solidFill>
          <a:ln/>
        </p:spPr>
      </p:sp>
      <p:sp>
        <p:nvSpPr>
          <p:cNvPr id="9" name="Text 7"/>
          <p:cNvSpPr/>
          <p:nvPr/>
        </p:nvSpPr>
        <p:spPr>
          <a:xfrm>
            <a:off x="914400" y="2441448"/>
            <a:ext cx="2377440" cy="411480"/>
          </a:xfrm>
          <a:prstGeom prst="rect">
            <a:avLst/>
          </a:prstGeom>
          <a:noFill/>
          <a:ln/>
        </p:spPr>
        <p:txBody>
          <a:bodyPr wrap="square" rtlCol="0" anchor="ctr"/>
          <a:lstStyle/>
          <a:p>
            <a:pPr indent="0" marL="0">
              <a:buNone/>
            </a:pPr>
            <a:r>
              <a:rPr lang="en-US" sz="1700" b="1" dirty="0">
                <a:solidFill>
                  <a:srgbClr val="0E0E10"/>
                </a:solidFill>
                <a:latin typeface="Georgia" pitchFamily="34" charset="0"/>
                <a:ea typeface="Georgia" pitchFamily="34" charset="-122"/>
                <a:cs typeface="Georgia" pitchFamily="34" charset="-120"/>
              </a:rPr>
              <a:t>Fluso</a:t>
            </a:r>
            <a:endParaRPr lang="en-US" sz="1700" dirty="0"/>
          </a:p>
        </p:txBody>
      </p:sp>
      <p:sp>
        <p:nvSpPr>
          <p:cNvPr id="10" name="Text 8"/>
          <p:cNvSpPr/>
          <p:nvPr/>
        </p:nvSpPr>
        <p:spPr>
          <a:xfrm>
            <a:off x="914400" y="2898648"/>
            <a:ext cx="2377440" cy="365760"/>
          </a:xfrm>
          <a:prstGeom prst="rect">
            <a:avLst/>
          </a:prstGeom>
          <a:noFill/>
          <a:ln/>
        </p:spPr>
        <p:txBody>
          <a:bodyPr wrap="square" rtlCol="0" anchor="ctr"/>
          <a:lstStyle/>
          <a:p>
            <a:pPr indent="0" marL="0">
              <a:buNone/>
            </a:pPr>
            <a:r>
              <a:rPr lang="en-US" sz="1100" b="1" dirty="0">
                <a:solidFill>
                  <a:srgbClr val="C2703D"/>
                </a:solidFill>
                <a:latin typeface="Arial" pitchFamily="34" charset="0"/>
                <a:ea typeface="Arial" pitchFamily="34" charset="-122"/>
                <a:cs typeface="Arial" pitchFamily="34" charset="-120"/>
              </a:rPr>
              <a:t>Utility-led</a:t>
            </a:r>
            <a:endParaRPr lang="en-US" sz="1100" dirty="0"/>
          </a:p>
        </p:txBody>
      </p:sp>
      <p:sp>
        <p:nvSpPr>
          <p:cNvPr id="11" name="Text 9"/>
          <p:cNvSpPr/>
          <p:nvPr/>
        </p:nvSpPr>
        <p:spPr>
          <a:xfrm>
            <a:off x="3474720" y="2468880"/>
            <a:ext cx="5486400" cy="502920"/>
          </a:xfrm>
          <a:prstGeom prst="rect">
            <a:avLst/>
          </a:prstGeom>
          <a:noFill/>
          <a:ln/>
        </p:spPr>
        <p:txBody>
          <a:bodyPr wrap="square" rtlCol="0" anchor="ctr"/>
          <a:lstStyle/>
          <a:p>
            <a:pPr indent="0" marL="0">
              <a:buNone/>
            </a:pPr>
            <a:r>
              <a:rPr lang="en-US" sz="1350" i="1" dirty="0">
                <a:solidFill>
                  <a:srgbClr val="0E0E10"/>
                </a:solidFill>
                <a:latin typeface="Georgia" pitchFamily="34" charset="0"/>
                <a:ea typeface="Georgia" pitchFamily="34" charset="-122"/>
                <a:cs typeface="Georgia" pitchFamily="34" charset="-120"/>
              </a:rPr>
              <a:t>“The AI workspace that does the work around your work.”</a:t>
            </a:r>
            <a:endParaRPr lang="en-US" sz="1350" dirty="0"/>
          </a:p>
        </p:txBody>
      </p:sp>
      <p:sp>
        <p:nvSpPr>
          <p:cNvPr id="12" name="Text 10"/>
          <p:cNvSpPr/>
          <p:nvPr/>
        </p:nvSpPr>
        <p:spPr>
          <a:xfrm>
            <a:off x="3474720" y="2990088"/>
            <a:ext cx="7772400" cy="320040"/>
          </a:xfrm>
          <a:prstGeom prst="rect">
            <a:avLst/>
          </a:prstGeom>
          <a:noFill/>
          <a:ln/>
        </p:spPr>
        <p:txBody>
          <a:bodyPr wrap="square" rtlCol="0" anchor="ctr"/>
          <a:lstStyle/>
          <a:p>
            <a:pPr indent="0" marL="0">
              <a:buNone/>
            </a:pPr>
            <a:r>
              <a:rPr lang="en-US" sz="1100" dirty="0">
                <a:solidFill>
                  <a:srgbClr val="5B5F63"/>
                </a:solidFill>
                <a:latin typeface="Arial" pitchFamily="34" charset="0"/>
                <a:ea typeface="Arial" pitchFamily="34" charset="-122"/>
                <a:cs typeface="Arial" pitchFamily="34" charset="-120"/>
              </a:rPr>
              <a:t>Privacy is the trust layer underneath.</a:t>
            </a:r>
            <a:endParaRPr lang="en-US" sz="1100" dirty="0"/>
          </a:p>
        </p:txBody>
      </p:sp>
      <p:sp>
        <p:nvSpPr>
          <p:cNvPr id="13" name="Shape 11"/>
          <p:cNvSpPr/>
          <p:nvPr/>
        </p:nvSpPr>
        <p:spPr>
          <a:xfrm>
            <a:off x="640080" y="3547872"/>
            <a:ext cx="10908792" cy="1078992"/>
          </a:xfrm>
          <a:prstGeom prst="rect">
            <a:avLst/>
          </a:prstGeom>
          <a:solidFill>
            <a:srgbClr val="FFFFFF"/>
          </a:solidFill>
          <a:ln/>
          <a:effectLst>
            <a:outerShdw sx="100000" sy="100000" kx="0" ky="0" algn="bl" rotWithShape="0" blurRad="1.0487912971425421e+132" dist="4.195165188570166e+131" dir="7.162794998951762e+154">
              <a:srgbClr val="000000">
                <a:alpha val="1e+159"/>
              </a:srgbClr>
            </a:outerShdw>
          </a:effectLst>
        </p:spPr>
      </p:sp>
      <p:sp>
        <p:nvSpPr>
          <p:cNvPr id="14" name="Shape 12"/>
          <p:cNvSpPr/>
          <p:nvPr/>
        </p:nvSpPr>
        <p:spPr>
          <a:xfrm>
            <a:off x="640080" y="3547872"/>
            <a:ext cx="91440" cy="1078992"/>
          </a:xfrm>
          <a:prstGeom prst="rect">
            <a:avLst/>
          </a:prstGeom>
          <a:solidFill>
            <a:srgbClr val="185771"/>
          </a:solidFill>
          <a:ln/>
        </p:spPr>
      </p:sp>
      <p:sp>
        <p:nvSpPr>
          <p:cNvPr id="15" name="Text 13"/>
          <p:cNvSpPr/>
          <p:nvPr/>
        </p:nvSpPr>
        <p:spPr>
          <a:xfrm>
            <a:off x="914400" y="3657600"/>
            <a:ext cx="2377440" cy="411480"/>
          </a:xfrm>
          <a:prstGeom prst="rect">
            <a:avLst/>
          </a:prstGeom>
          <a:noFill/>
          <a:ln/>
        </p:spPr>
        <p:txBody>
          <a:bodyPr wrap="square" rtlCol="0" anchor="ctr"/>
          <a:lstStyle/>
          <a:p>
            <a:pPr indent="0" marL="0">
              <a:buNone/>
            </a:pPr>
            <a:r>
              <a:rPr lang="en-US" sz="1700" b="1" dirty="0">
                <a:solidFill>
                  <a:srgbClr val="0E0E10"/>
                </a:solidFill>
                <a:latin typeface="Georgia" pitchFamily="34" charset="0"/>
                <a:ea typeface="Georgia" pitchFamily="34" charset="-122"/>
                <a:cs typeface="Georgia" pitchFamily="34" charset="-120"/>
              </a:rPr>
              <a:t>Confidential API</a:t>
            </a:r>
            <a:endParaRPr lang="en-US" sz="1700" dirty="0"/>
          </a:p>
        </p:txBody>
      </p:sp>
      <p:sp>
        <p:nvSpPr>
          <p:cNvPr id="16" name="Text 14"/>
          <p:cNvSpPr/>
          <p:nvPr/>
        </p:nvSpPr>
        <p:spPr>
          <a:xfrm>
            <a:off x="914400" y="4114800"/>
            <a:ext cx="2377440" cy="365760"/>
          </a:xfrm>
          <a:prstGeom prst="rect">
            <a:avLst/>
          </a:prstGeom>
          <a:noFill/>
          <a:ln/>
        </p:spPr>
        <p:txBody>
          <a:bodyPr wrap="square" rtlCol="0" anchor="ctr"/>
          <a:lstStyle/>
          <a:p>
            <a:pPr indent="0" marL="0">
              <a:buNone/>
            </a:pPr>
            <a:r>
              <a:rPr lang="en-US" sz="1100" b="1" dirty="0">
                <a:solidFill>
                  <a:srgbClr val="185771"/>
                </a:solidFill>
                <a:latin typeface="Arial" pitchFamily="34" charset="0"/>
                <a:ea typeface="Arial" pitchFamily="34" charset="-122"/>
                <a:cs typeface="Arial" pitchFamily="34" charset="-120"/>
              </a:rPr>
              <a:t>Sovereignty-led</a:t>
            </a:r>
            <a:endParaRPr lang="en-US" sz="1100" dirty="0"/>
          </a:p>
        </p:txBody>
      </p:sp>
      <p:sp>
        <p:nvSpPr>
          <p:cNvPr id="17" name="Text 15"/>
          <p:cNvSpPr/>
          <p:nvPr/>
        </p:nvSpPr>
        <p:spPr>
          <a:xfrm>
            <a:off x="3474720" y="3685032"/>
            <a:ext cx="5486400" cy="502920"/>
          </a:xfrm>
          <a:prstGeom prst="rect">
            <a:avLst/>
          </a:prstGeom>
          <a:noFill/>
          <a:ln/>
        </p:spPr>
        <p:txBody>
          <a:bodyPr wrap="square" rtlCol="0" anchor="ctr"/>
          <a:lstStyle/>
          <a:p>
            <a:pPr indent="0" marL="0">
              <a:buNone/>
            </a:pPr>
            <a:r>
              <a:rPr lang="en-US" sz="1350" i="1" dirty="0">
                <a:solidFill>
                  <a:srgbClr val="0E0E10"/>
                </a:solidFill>
                <a:latin typeface="Georgia" pitchFamily="34" charset="0"/>
                <a:ea typeface="Georgia" pitchFamily="34" charset="-122"/>
                <a:cs typeface="Georgia" pitchFamily="34" charset="-120"/>
              </a:rPr>
              <a:t>“Standard AI APIs require a leap of faith. Prem proves it.”</a:t>
            </a:r>
            <a:endParaRPr lang="en-US" sz="1350" dirty="0"/>
          </a:p>
        </p:txBody>
      </p:sp>
      <p:sp>
        <p:nvSpPr>
          <p:cNvPr id="18" name="Text 16"/>
          <p:cNvSpPr/>
          <p:nvPr/>
        </p:nvSpPr>
        <p:spPr>
          <a:xfrm>
            <a:off x="3474720" y="4206240"/>
            <a:ext cx="7772400" cy="320040"/>
          </a:xfrm>
          <a:prstGeom prst="rect">
            <a:avLst/>
          </a:prstGeom>
          <a:noFill/>
          <a:ln/>
        </p:spPr>
        <p:txBody>
          <a:bodyPr wrap="square" rtlCol="0" anchor="ctr"/>
          <a:lstStyle/>
          <a:p>
            <a:pPr indent="0" marL="0">
              <a:buNone/>
            </a:pPr>
            <a:r>
              <a:rPr lang="en-US" sz="1100" dirty="0">
                <a:solidFill>
                  <a:srgbClr val="5B5F63"/>
                </a:solidFill>
                <a:latin typeface="Arial" pitchFamily="34" charset="0"/>
                <a:ea typeface="Arial" pitchFamily="34" charset="-122"/>
                <a:cs typeface="Arial" pitchFamily="34" charset="-120"/>
              </a:rPr>
              <a:t>Utility (drop-in, zero code change) underneath.</a:t>
            </a:r>
            <a:endParaRPr lang="en-US" sz="1100" dirty="0"/>
          </a:p>
        </p:txBody>
      </p:sp>
      <p:sp>
        <p:nvSpPr>
          <p:cNvPr id="19" name="Shape 17"/>
          <p:cNvSpPr/>
          <p:nvPr/>
        </p:nvSpPr>
        <p:spPr>
          <a:xfrm>
            <a:off x="640080" y="4764024"/>
            <a:ext cx="10908792" cy="1078992"/>
          </a:xfrm>
          <a:prstGeom prst="rect">
            <a:avLst/>
          </a:prstGeom>
          <a:solidFill>
            <a:srgbClr val="FFFFFF"/>
          </a:solidFill>
          <a:ln/>
          <a:effectLst>
            <a:outerShdw sx="100000" sy="100000" kx="0" ky="0" algn="bl" rotWithShape="0" blurRad="1.3319649473710286e+136" dist="5.327859789484111e+135" dir="4.297676999371057e+159">
              <a:srgbClr val="000000">
                <a:alpha val="9.999999999999999e+163"/>
              </a:srgbClr>
            </a:outerShdw>
          </a:effectLst>
        </p:spPr>
      </p:sp>
      <p:sp>
        <p:nvSpPr>
          <p:cNvPr id="20" name="Shape 18"/>
          <p:cNvSpPr/>
          <p:nvPr/>
        </p:nvSpPr>
        <p:spPr>
          <a:xfrm>
            <a:off x="640080" y="4764024"/>
            <a:ext cx="91440" cy="1078992"/>
          </a:xfrm>
          <a:prstGeom prst="rect">
            <a:avLst/>
          </a:prstGeom>
          <a:solidFill>
            <a:srgbClr val="788C5D"/>
          </a:solidFill>
          <a:ln/>
        </p:spPr>
      </p:sp>
      <p:sp>
        <p:nvSpPr>
          <p:cNvPr id="21" name="Text 19"/>
          <p:cNvSpPr/>
          <p:nvPr/>
        </p:nvSpPr>
        <p:spPr>
          <a:xfrm>
            <a:off x="914400" y="4873752"/>
            <a:ext cx="2377440" cy="411480"/>
          </a:xfrm>
          <a:prstGeom prst="rect">
            <a:avLst/>
          </a:prstGeom>
          <a:noFill/>
          <a:ln/>
        </p:spPr>
        <p:txBody>
          <a:bodyPr wrap="square" rtlCol="0" anchor="ctr"/>
          <a:lstStyle/>
          <a:p>
            <a:pPr indent="0" marL="0">
              <a:buNone/>
            </a:pPr>
            <a:r>
              <a:rPr lang="en-US" sz="1700" b="1" dirty="0">
                <a:solidFill>
                  <a:srgbClr val="0E0E10"/>
                </a:solidFill>
                <a:latin typeface="Georgia" pitchFamily="34" charset="0"/>
                <a:ea typeface="Georgia" pitchFamily="34" charset="-122"/>
                <a:cs typeface="Georgia" pitchFamily="34" charset="-120"/>
              </a:rPr>
              <a:t>Prem (master)</a:t>
            </a:r>
            <a:endParaRPr lang="en-US" sz="1700" dirty="0"/>
          </a:p>
        </p:txBody>
      </p:sp>
      <p:sp>
        <p:nvSpPr>
          <p:cNvPr id="22" name="Text 20"/>
          <p:cNvSpPr/>
          <p:nvPr/>
        </p:nvSpPr>
        <p:spPr>
          <a:xfrm>
            <a:off x="914400" y="5330952"/>
            <a:ext cx="2377440" cy="365760"/>
          </a:xfrm>
          <a:prstGeom prst="rect">
            <a:avLst/>
          </a:prstGeom>
          <a:noFill/>
          <a:ln/>
        </p:spPr>
        <p:txBody>
          <a:bodyPr wrap="square" rtlCol="0" anchor="ctr"/>
          <a:lstStyle/>
          <a:p>
            <a:pPr indent="0" marL="0">
              <a:buNone/>
            </a:pPr>
            <a:r>
              <a:rPr lang="en-US" sz="1100" b="1" dirty="0">
                <a:solidFill>
                  <a:srgbClr val="788C5D"/>
                </a:solidFill>
                <a:latin typeface="Arial" pitchFamily="34" charset="0"/>
                <a:ea typeface="Arial" pitchFamily="34" charset="-122"/>
                <a:cs typeface="Arial" pitchFamily="34" charset="-120"/>
              </a:rPr>
              <a:t>Both, equally</a:t>
            </a:r>
            <a:endParaRPr lang="en-US" sz="1100" dirty="0"/>
          </a:p>
        </p:txBody>
      </p:sp>
      <p:sp>
        <p:nvSpPr>
          <p:cNvPr id="23" name="Text 21"/>
          <p:cNvSpPr/>
          <p:nvPr/>
        </p:nvSpPr>
        <p:spPr>
          <a:xfrm>
            <a:off x="3474720" y="4901184"/>
            <a:ext cx="5486400" cy="502920"/>
          </a:xfrm>
          <a:prstGeom prst="rect">
            <a:avLst/>
          </a:prstGeom>
          <a:noFill/>
          <a:ln/>
        </p:spPr>
        <p:txBody>
          <a:bodyPr wrap="square" rtlCol="0" anchor="ctr"/>
          <a:lstStyle/>
          <a:p>
            <a:pPr indent="0" marL="0">
              <a:buNone/>
            </a:pPr>
            <a:r>
              <a:rPr lang="en-US" sz="1350" i="1" dirty="0">
                <a:solidFill>
                  <a:srgbClr val="0E0E10"/>
                </a:solidFill>
                <a:latin typeface="Georgia" pitchFamily="34" charset="0"/>
                <a:ea typeface="Georgia" pitchFamily="34" charset="-122"/>
                <a:cs typeface="Georgia" pitchFamily="34" charset="-120"/>
              </a:rPr>
              <a:t>“Private Super Intelligence.”</a:t>
            </a:r>
            <a:endParaRPr lang="en-US" sz="1350" dirty="0"/>
          </a:p>
        </p:txBody>
      </p:sp>
      <p:sp>
        <p:nvSpPr>
          <p:cNvPr id="24" name="Text 22"/>
          <p:cNvSpPr/>
          <p:nvPr/>
        </p:nvSpPr>
        <p:spPr>
          <a:xfrm>
            <a:off x="3474720" y="5422392"/>
            <a:ext cx="7772400" cy="320040"/>
          </a:xfrm>
          <a:prstGeom prst="rect">
            <a:avLst/>
          </a:prstGeom>
          <a:noFill/>
          <a:ln/>
        </p:spPr>
        <p:txBody>
          <a:bodyPr wrap="square" rtlCol="0" anchor="ctr"/>
          <a:lstStyle/>
          <a:p>
            <a:pPr indent="0" marL="0">
              <a:buNone/>
            </a:pPr>
            <a:r>
              <a:rPr lang="en-US" sz="1100" dirty="0">
                <a:solidFill>
                  <a:srgbClr val="5B5F63"/>
                </a:solidFill>
                <a:latin typeface="Arial" pitchFamily="34" charset="0"/>
                <a:ea typeface="Arial" pitchFamily="34" charset="-122"/>
                <a:cs typeface="Arial" pitchFamily="34" charset="-120"/>
              </a:rPr>
              <a:t>The parent brand holds trust and utility together.</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9F5"/>
        </a:solidFill>
      </p:bgPr>
    </p:bg>
    <p:spTree>
      <p:nvGrpSpPr>
        <p:cNvPr id="1" name=""/>
        <p:cNvGrpSpPr/>
        <p:nvPr/>
      </p:nvGrpSpPr>
      <p:grpSpPr>
        <a:xfrm>
          <a:off x="0" y="0"/>
          <a:ext cx="0" cy="0"/>
          <a:chOff x="0" y="0"/>
          <a:chExt cx="0" cy="0"/>
        </a:xfrm>
      </p:grpSpPr>
      <p:sp>
        <p:nvSpPr>
          <p:cNvPr id="2" name="Text 0"/>
          <p:cNvSpPr/>
          <p:nvPr/>
        </p:nvSpPr>
        <p:spPr>
          <a:xfrm>
            <a:off x="640080" y="411480"/>
            <a:ext cx="10058400" cy="274320"/>
          </a:xfrm>
          <a:prstGeom prst="rect">
            <a:avLst/>
          </a:prstGeom>
          <a:noFill/>
          <a:ln/>
        </p:spPr>
        <p:txBody>
          <a:bodyPr wrap="square" rtlCol="0" anchor="ctr"/>
          <a:lstStyle/>
          <a:p>
            <a:pPr indent="0" marL="0">
              <a:buNone/>
            </a:pPr>
            <a:r>
              <a:rPr lang="en-US" sz="1100" b="1" spc="500" kern="0" dirty="0">
                <a:solidFill>
                  <a:srgbClr val="788C5D"/>
                </a:solidFill>
                <a:latin typeface="Arial" pitchFamily="34" charset="0"/>
                <a:ea typeface="Arial" pitchFamily="34" charset="-122"/>
                <a:cs typeface="Arial" pitchFamily="34" charset="-120"/>
              </a:rPr>
              <a:t>THE CHANNEL ENGINE</a:t>
            </a:r>
            <a:endParaRPr lang="en-US" sz="1100" dirty="0"/>
          </a:p>
        </p:txBody>
      </p:sp>
      <p:sp>
        <p:nvSpPr>
          <p:cNvPr id="3" name="Text 1"/>
          <p:cNvSpPr/>
          <p:nvPr/>
        </p:nvSpPr>
        <p:spPr>
          <a:xfrm>
            <a:off x="640080" y="658368"/>
            <a:ext cx="10972800" cy="640080"/>
          </a:xfrm>
          <a:prstGeom prst="rect">
            <a:avLst/>
          </a:prstGeom>
          <a:noFill/>
          <a:ln/>
        </p:spPr>
        <p:txBody>
          <a:bodyPr wrap="square" rtlCol="0" anchor="ctr"/>
          <a:lstStyle/>
          <a:p>
            <a:pPr indent="0" marL="0">
              <a:buNone/>
            </a:pPr>
            <a:r>
              <a:rPr lang="en-US" sz="2900" dirty="0">
                <a:solidFill>
                  <a:srgbClr val="0E0E10"/>
                </a:solidFill>
                <a:latin typeface="Georgia" pitchFamily="34" charset="0"/>
                <a:ea typeface="Georgia" pitchFamily="34" charset="-122"/>
                <a:cs typeface="Georgia" pitchFamily="34" charset="-120"/>
              </a:rPr>
              <a:t>The Full Architecture, at a Glance</a:t>
            </a:r>
            <a:endParaRPr lang="en-US" sz="2900" dirty="0"/>
          </a:p>
        </p:txBody>
      </p:sp>
      <p:sp>
        <p:nvSpPr>
          <p:cNvPr id="4" name="Text 2"/>
          <p:cNvSpPr/>
          <p:nvPr/>
        </p:nvSpPr>
        <p:spPr>
          <a:xfrm>
            <a:off x="11460175" y="6446520"/>
            <a:ext cx="457200" cy="274320"/>
          </a:xfrm>
          <a:prstGeom prst="rect">
            <a:avLst/>
          </a:prstGeom>
          <a:noFill/>
          <a:ln/>
        </p:spPr>
        <p:txBody>
          <a:bodyPr wrap="square" rtlCol="0" anchor="ctr"/>
          <a:lstStyle/>
          <a:p>
            <a:pPr algn="r" indent="0" marL="0">
              <a:buNone/>
            </a:pPr>
            <a:r>
              <a:rPr lang="en-US" sz="1000" dirty="0">
                <a:solidFill>
                  <a:srgbClr val="9A9A93"/>
                </a:solidFill>
                <a:latin typeface="Arial" pitchFamily="34" charset="0"/>
                <a:ea typeface="Arial" pitchFamily="34" charset="-122"/>
                <a:cs typeface="Arial" pitchFamily="34" charset="-120"/>
              </a:rPr>
              <a:t>13</a:t>
            </a:r>
            <a:endParaRPr lang="en-US" sz="1000" dirty="0"/>
          </a:p>
        </p:txBody>
      </p:sp>
      <p:sp>
        <p:nvSpPr>
          <p:cNvPr id="5" name="Text 3"/>
          <p:cNvSpPr/>
          <p:nvPr/>
        </p:nvSpPr>
        <p:spPr>
          <a:xfrm>
            <a:off x="640080" y="1325880"/>
            <a:ext cx="10881360" cy="457200"/>
          </a:xfrm>
          <a:prstGeom prst="rect">
            <a:avLst/>
          </a:prstGeom>
          <a:noFill/>
          <a:ln/>
        </p:spPr>
        <p:txBody>
          <a:bodyPr wrap="square" rtlCol="0" anchor="ctr"/>
          <a:lstStyle/>
          <a:p>
            <a:pPr indent="0" marL="0">
              <a:lnSpc>
                <a:spcPct val="130000"/>
              </a:lnSpc>
              <a:buNone/>
            </a:pPr>
            <a:r>
              <a:rPr lang="en-US" sz="1300" dirty="0">
                <a:solidFill>
                  <a:srgbClr val="5B5F63"/>
                </a:solidFill>
                <a:latin typeface="Arial" pitchFamily="34" charset="0"/>
                <a:ea typeface="Arial" pitchFamily="34" charset="-122"/>
                <a:cs typeface="Arial" pitchFamily="34" charset="-120"/>
              </a:rPr>
              <a:t>Eleven channels, mapped to the funnel stage they serve and the motion they power. The detail follows, one channel per slide.</a:t>
            </a:r>
            <a:endParaRPr lang="en-US" sz="1300" dirty="0"/>
          </a:p>
        </p:txBody>
      </p:sp>
      <p:sp>
        <p:nvSpPr>
          <p:cNvPr id="6" name="Shape 4"/>
          <p:cNvSpPr/>
          <p:nvPr/>
        </p:nvSpPr>
        <p:spPr>
          <a:xfrm>
            <a:off x="640080" y="1965960"/>
            <a:ext cx="2743200" cy="868680"/>
          </a:xfrm>
          <a:prstGeom prst="rect">
            <a:avLst/>
          </a:prstGeom>
          <a:solidFill>
            <a:srgbClr val="788C5D"/>
          </a:solidFill>
          <a:ln/>
        </p:spPr>
      </p:sp>
      <p:sp>
        <p:nvSpPr>
          <p:cNvPr id="7" name="Text 5"/>
          <p:cNvSpPr/>
          <p:nvPr/>
        </p:nvSpPr>
        <p:spPr>
          <a:xfrm>
            <a:off x="777240" y="1965960"/>
            <a:ext cx="2560320" cy="868680"/>
          </a:xfrm>
          <a:prstGeom prst="rect">
            <a:avLst/>
          </a:prstGeom>
          <a:noFill/>
          <a:ln/>
        </p:spPr>
        <p:txBody>
          <a:bodyPr wrap="square" rtlCol="0" anchor="ctr"/>
          <a:lstStyle/>
          <a:p>
            <a:pPr indent="0" marL="0">
              <a:buNone/>
            </a:pPr>
            <a:r>
              <a:rPr lang="en-US" sz="1250" b="1" dirty="0">
                <a:solidFill>
                  <a:srgbClr val="FFFFFF"/>
                </a:solidFill>
                <a:latin typeface="Arial" pitchFamily="34" charset="0"/>
                <a:ea typeface="Arial" pitchFamily="34" charset="-122"/>
                <a:cs typeface="Arial" pitchFamily="34" charset="-120"/>
              </a:rPr>
              <a:t>AWARENESS</a:t>
            </a:r>
            <a:endParaRPr lang="en-US" sz="1250" dirty="0"/>
          </a:p>
        </p:txBody>
      </p:sp>
      <p:sp>
        <p:nvSpPr>
          <p:cNvPr id="8" name="Shape 6"/>
          <p:cNvSpPr/>
          <p:nvPr/>
        </p:nvSpPr>
        <p:spPr>
          <a:xfrm>
            <a:off x="3474720" y="1965960"/>
            <a:ext cx="8074152" cy="868680"/>
          </a:xfrm>
          <a:prstGeom prst="rect">
            <a:avLst/>
          </a:prstGeom>
          <a:solidFill>
            <a:srgbClr val="FFFFFF"/>
          </a:solidFill>
          <a:ln/>
          <a:effectLst>
            <a:outerShdw sx="100000" sy="100000" kx="0" ky="0" algn="bl" rotWithShape="0" blurRad="1.6915954831612062e+140" dist="6.766381932644821e+139" dir="2.5786061996226343e+164">
              <a:srgbClr val="000000">
                <a:alpha val="1e+169"/>
              </a:srgbClr>
            </a:outerShdw>
          </a:effectLst>
        </p:spPr>
      </p:sp>
      <p:sp>
        <p:nvSpPr>
          <p:cNvPr id="9" name="Text 7"/>
          <p:cNvSpPr/>
          <p:nvPr/>
        </p:nvSpPr>
        <p:spPr>
          <a:xfrm>
            <a:off x="3703320" y="1965960"/>
            <a:ext cx="7680960" cy="868680"/>
          </a:xfrm>
          <a:prstGeom prst="rect">
            <a:avLst/>
          </a:prstGeom>
          <a:noFill/>
          <a:ln/>
        </p:spPr>
        <p:txBody>
          <a:bodyPr wrap="square" rtlCol="0" anchor="ctr"/>
          <a:lstStyle/>
          <a:p>
            <a:pPr indent="0" marL="0">
              <a:lnSpc>
                <a:spcPct val="115000"/>
              </a:lnSpc>
              <a:buNone/>
            </a:pPr>
            <a:r>
              <a:rPr lang="en-US" sz="1300" dirty="0">
                <a:solidFill>
                  <a:srgbClr val="5B5F63"/>
                </a:solidFill>
                <a:latin typeface="Arial" pitchFamily="34" charset="0"/>
                <a:ea typeface="Arial" pitchFamily="34" charset="-122"/>
                <a:cs typeface="Arial" pitchFamily="34" charset="-120"/>
              </a:rPr>
              <a:t>Content &amp; SEO, Social, PR &amp; Analyst, Podcasts, Influencers</a:t>
            </a:r>
            <a:endParaRPr lang="en-US" sz="1300" dirty="0"/>
          </a:p>
        </p:txBody>
      </p:sp>
      <p:sp>
        <p:nvSpPr>
          <p:cNvPr id="10" name="Shape 8"/>
          <p:cNvSpPr/>
          <p:nvPr/>
        </p:nvSpPr>
        <p:spPr>
          <a:xfrm>
            <a:off x="640080" y="2953512"/>
            <a:ext cx="2743200" cy="868680"/>
          </a:xfrm>
          <a:prstGeom prst="rect">
            <a:avLst/>
          </a:prstGeom>
          <a:solidFill>
            <a:srgbClr val="185771"/>
          </a:solidFill>
          <a:ln/>
        </p:spPr>
      </p:sp>
      <p:sp>
        <p:nvSpPr>
          <p:cNvPr id="11" name="Text 9"/>
          <p:cNvSpPr/>
          <p:nvPr/>
        </p:nvSpPr>
        <p:spPr>
          <a:xfrm>
            <a:off x="777240" y="2953512"/>
            <a:ext cx="2560320" cy="868680"/>
          </a:xfrm>
          <a:prstGeom prst="rect">
            <a:avLst/>
          </a:prstGeom>
          <a:noFill/>
          <a:ln/>
        </p:spPr>
        <p:txBody>
          <a:bodyPr wrap="square" rtlCol="0" anchor="ctr"/>
          <a:lstStyle/>
          <a:p>
            <a:pPr indent="0" marL="0">
              <a:buNone/>
            </a:pPr>
            <a:r>
              <a:rPr lang="en-US" sz="1250" b="1" dirty="0">
                <a:solidFill>
                  <a:srgbClr val="FFFFFF"/>
                </a:solidFill>
                <a:latin typeface="Arial" pitchFamily="34" charset="0"/>
                <a:ea typeface="Arial" pitchFamily="34" charset="-122"/>
                <a:cs typeface="Arial" pitchFamily="34" charset="-120"/>
              </a:rPr>
              <a:t>CONSIDERATION</a:t>
            </a:r>
            <a:endParaRPr lang="en-US" sz="1250" dirty="0"/>
          </a:p>
        </p:txBody>
      </p:sp>
      <p:sp>
        <p:nvSpPr>
          <p:cNvPr id="12" name="Shape 10"/>
          <p:cNvSpPr/>
          <p:nvPr/>
        </p:nvSpPr>
        <p:spPr>
          <a:xfrm>
            <a:off x="3474720" y="2953512"/>
            <a:ext cx="8074152" cy="868680"/>
          </a:xfrm>
          <a:prstGeom prst="rect">
            <a:avLst/>
          </a:prstGeom>
          <a:solidFill>
            <a:srgbClr val="FFFFFF"/>
          </a:solidFill>
          <a:ln/>
          <a:effectLst>
            <a:outerShdw sx="100000" sy="100000" kx="0" ky="0" algn="bl" rotWithShape="0" blurRad="2.148326263614732e+144" dist="8.593305054458923e+143" dir="1.5471637197735807e+169">
              <a:srgbClr val="000000">
                <a:alpha val="9.999999999999998e+173"/>
              </a:srgbClr>
            </a:outerShdw>
          </a:effectLst>
        </p:spPr>
      </p:sp>
      <p:sp>
        <p:nvSpPr>
          <p:cNvPr id="13" name="Text 11"/>
          <p:cNvSpPr/>
          <p:nvPr/>
        </p:nvSpPr>
        <p:spPr>
          <a:xfrm>
            <a:off x="3703320" y="2953512"/>
            <a:ext cx="7680960" cy="868680"/>
          </a:xfrm>
          <a:prstGeom prst="rect">
            <a:avLst/>
          </a:prstGeom>
          <a:noFill/>
          <a:ln/>
        </p:spPr>
        <p:txBody>
          <a:bodyPr wrap="square" rtlCol="0" anchor="ctr"/>
          <a:lstStyle/>
          <a:p>
            <a:pPr indent="0" marL="0">
              <a:lnSpc>
                <a:spcPct val="115000"/>
              </a:lnSpc>
              <a:buNone/>
            </a:pPr>
            <a:r>
              <a:rPr lang="en-US" sz="1300" dirty="0">
                <a:solidFill>
                  <a:srgbClr val="5B5F63"/>
                </a:solidFill>
                <a:latin typeface="Arial" pitchFamily="34" charset="0"/>
                <a:ea typeface="Arial" pitchFamily="34" charset="-122"/>
                <a:cs typeface="Arial" pitchFamily="34" charset="-120"/>
              </a:rPr>
              <a:t>Comparison content, Webinars &amp; Events, DevRel &amp; Docs, Case studies</a:t>
            </a:r>
            <a:endParaRPr lang="en-US" sz="1300" dirty="0"/>
          </a:p>
        </p:txBody>
      </p:sp>
      <p:sp>
        <p:nvSpPr>
          <p:cNvPr id="14" name="Shape 12"/>
          <p:cNvSpPr/>
          <p:nvPr/>
        </p:nvSpPr>
        <p:spPr>
          <a:xfrm>
            <a:off x="640080" y="3941064"/>
            <a:ext cx="2743200" cy="868680"/>
          </a:xfrm>
          <a:prstGeom prst="rect">
            <a:avLst/>
          </a:prstGeom>
          <a:solidFill>
            <a:srgbClr val="C2703D"/>
          </a:solidFill>
          <a:ln/>
        </p:spPr>
      </p:sp>
      <p:sp>
        <p:nvSpPr>
          <p:cNvPr id="15" name="Text 13"/>
          <p:cNvSpPr/>
          <p:nvPr/>
        </p:nvSpPr>
        <p:spPr>
          <a:xfrm>
            <a:off x="777240" y="3941064"/>
            <a:ext cx="2560320" cy="868680"/>
          </a:xfrm>
          <a:prstGeom prst="rect">
            <a:avLst/>
          </a:prstGeom>
          <a:noFill/>
          <a:ln/>
        </p:spPr>
        <p:txBody>
          <a:bodyPr wrap="square" rtlCol="0" anchor="ctr"/>
          <a:lstStyle/>
          <a:p>
            <a:pPr indent="0" marL="0">
              <a:buNone/>
            </a:pPr>
            <a:r>
              <a:rPr lang="en-US" sz="1250" b="1" dirty="0">
                <a:solidFill>
                  <a:srgbClr val="FFFFFF"/>
                </a:solidFill>
                <a:latin typeface="Arial" pitchFamily="34" charset="0"/>
                <a:ea typeface="Arial" pitchFamily="34" charset="-122"/>
                <a:cs typeface="Arial" pitchFamily="34" charset="-120"/>
              </a:rPr>
              <a:t>CONVERSION</a:t>
            </a:r>
            <a:endParaRPr lang="en-US" sz="1250" dirty="0"/>
          </a:p>
        </p:txBody>
      </p:sp>
      <p:sp>
        <p:nvSpPr>
          <p:cNvPr id="16" name="Shape 14"/>
          <p:cNvSpPr/>
          <p:nvPr/>
        </p:nvSpPr>
        <p:spPr>
          <a:xfrm>
            <a:off x="3474720" y="3941064"/>
            <a:ext cx="8074152" cy="868680"/>
          </a:xfrm>
          <a:prstGeom prst="rect">
            <a:avLst/>
          </a:prstGeom>
          <a:solidFill>
            <a:srgbClr val="FFFFFF"/>
          </a:solidFill>
          <a:ln/>
          <a:effectLst>
            <a:outerShdw sx="100000" sy="100000" kx="0" ky="0" algn="bl" rotWithShape="0" blurRad="2.7283743547907096e+148" dist="1.0913497419162833e+148" dir="9.282982318641485e+173">
              <a:srgbClr val="000000">
                <a:alpha val="9.999999999999998e+178"/>
              </a:srgbClr>
            </a:outerShdw>
          </a:effectLst>
        </p:spPr>
      </p:sp>
      <p:sp>
        <p:nvSpPr>
          <p:cNvPr id="17" name="Text 15"/>
          <p:cNvSpPr/>
          <p:nvPr/>
        </p:nvSpPr>
        <p:spPr>
          <a:xfrm>
            <a:off x="3703320" y="3941064"/>
            <a:ext cx="7680960" cy="868680"/>
          </a:xfrm>
          <a:prstGeom prst="rect">
            <a:avLst/>
          </a:prstGeom>
          <a:noFill/>
          <a:ln/>
        </p:spPr>
        <p:txBody>
          <a:bodyPr wrap="square" rtlCol="0" anchor="ctr"/>
          <a:lstStyle/>
          <a:p>
            <a:pPr indent="0" marL="0">
              <a:lnSpc>
                <a:spcPct val="115000"/>
              </a:lnSpc>
              <a:buNone/>
            </a:pPr>
            <a:r>
              <a:rPr lang="en-US" sz="1300" dirty="0">
                <a:solidFill>
                  <a:srgbClr val="5B5F63"/>
                </a:solidFill>
                <a:latin typeface="Arial" pitchFamily="34" charset="0"/>
                <a:ea typeface="Arial" pitchFamily="34" charset="-122"/>
                <a:cs typeface="Arial" pitchFamily="34" charset="-120"/>
              </a:rPr>
              <a:t>ABM, Sales-assist email, Free tier &amp; onboarding, Paid retargeting</a:t>
            </a:r>
            <a:endParaRPr lang="en-US" sz="1300" dirty="0"/>
          </a:p>
        </p:txBody>
      </p:sp>
      <p:sp>
        <p:nvSpPr>
          <p:cNvPr id="18" name="Shape 16"/>
          <p:cNvSpPr/>
          <p:nvPr/>
        </p:nvSpPr>
        <p:spPr>
          <a:xfrm>
            <a:off x="640080" y="4928616"/>
            <a:ext cx="2743200" cy="868680"/>
          </a:xfrm>
          <a:prstGeom prst="rect">
            <a:avLst/>
          </a:prstGeom>
          <a:solidFill>
            <a:srgbClr val="5B5F63"/>
          </a:solidFill>
          <a:ln/>
        </p:spPr>
      </p:sp>
      <p:sp>
        <p:nvSpPr>
          <p:cNvPr id="19" name="Text 17"/>
          <p:cNvSpPr/>
          <p:nvPr/>
        </p:nvSpPr>
        <p:spPr>
          <a:xfrm>
            <a:off x="777240" y="4928616"/>
            <a:ext cx="2560320" cy="868680"/>
          </a:xfrm>
          <a:prstGeom prst="rect">
            <a:avLst/>
          </a:prstGeom>
          <a:noFill/>
          <a:ln/>
        </p:spPr>
        <p:txBody>
          <a:bodyPr wrap="square" rtlCol="0" anchor="ctr"/>
          <a:lstStyle/>
          <a:p>
            <a:pPr indent="0" marL="0">
              <a:buNone/>
            </a:pPr>
            <a:r>
              <a:rPr lang="en-US" sz="1250" b="1" dirty="0">
                <a:solidFill>
                  <a:srgbClr val="FFFFFF"/>
                </a:solidFill>
                <a:latin typeface="Arial" pitchFamily="34" charset="0"/>
                <a:ea typeface="Arial" pitchFamily="34" charset="-122"/>
                <a:cs typeface="Arial" pitchFamily="34" charset="-120"/>
              </a:rPr>
              <a:t>RETENTION / ADVOCACY</a:t>
            </a:r>
            <a:endParaRPr lang="en-US" sz="1250" dirty="0"/>
          </a:p>
        </p:txBody>
      </p:sp>
      <p:sp>
        <p:nvSpPr>
          <p:cNvPr id="20" name="Shape 18"/>
          <p:cNvSpPr/>
          <p:nvPr/>
        </p:nvSpPr>
        <p:spPr>
          <a:xfrm>
            <a:off x="3474720" y="4928616"/>
            <a:ext cx="8074152" cy="868680"/>
          </a:xfrm>
          <a:prstGeom prst="rect">
            <a:avLst/>
          </a:prstGeom>
          <a:solidFill>
            <a:srgbClr val="FFFFFF"/>
          </a:solidFill>
          <a:ln/>
          <a:effectLst>
            <a:outerShdw sx="100000" sy="100000" kx="0" ky="0" algn="bl" rotWithShape="0" blurRad="3.465035430584201e+152" dist="1.38601417223368e+152" dir="5.569789391184891e+178">
              <a:srgbClr val="000000">
                <a:alpha val="9.999999999999998e+183"/>
              </a:srgbClr>
            </a:outerShdw>
          </a:effectLst>
        </p:spPr>
      </p:sp>
      <p:sp>
        <p:nvSpPr>
          <p:cNvPr id="21" name="Text 19"/>
          <p:cNvSpPr/>
          <p:nvPr/>
        </p:nvSpPr>
        <p:spPr>
          <a:xfrm>
            <a:off x="3703320" y="4928616"/>
            <a:ext cx="7680960" cy="868680"/>
          </a:xfrm>
          <a:prstGeom prst="rect">
            <a:avLst/>
          </a:prstGeom>
          <a:noFill/>
          <a:ln/>
        </p:spPr>
        <p:txBody>
          <a:bodyPr wrap="square" rtlCol="0" anchor="ctr"/>
          <a:lstStyle/>
          <a:p>
            <a:pPr indent="0" marL="0">
              <a:lnSpc>
                <a:spcPct val="115000"/>
              </a:lnSpc>
              <a:buNone/>
            </a:pPr>
            <a:r>
              <a:rPr lang="en-US" sz="1300" dirty="0">
                <a:solidFill>
                  <a:srgbClr val="5B5F63"/>
                </a:solidFill>
                <a:latin typeface="Arial" pitchFamily="34" charset="0"/>
                <a:ea typeface="Arial" pitchFamily="34" charset="-122"/>
                <a:cs typeface="Arial" pitchFamily="34" charset="-120"/>
              </a:rPr>
              <a:t>Community, Lifecycle email, Partnerships, Referrals</a:t>
            </a:r>
            <a:endParaRPr lang="en-US" sz="1300" dirty="0"/>
          </a:p>
        </p:txBody>
      </p:sp>
      <p:sp>
        <p:nvSpPr>
          <p:cNvPr id="22" name="Text 20"/>
          <p:cNvSpPr/>
          <p:nvPr/>
        </p:nvSpPr>
        <p:spPr>
          <a:xfrm>
            <a:off x="640080" y="6126480"/>
            <a:ext cx="10881360" cy="274320"/>
          </a:xfrm>
          <a:prstGeom prst="rect">
            <a:avLst/>
          </a:prstGeom>
          <a:noFill/>
          <a:ln/>
        </p:spPr>
        <p:txBody>
          <a:bodyPr wrap="square" rtlCol="0" anchor="ctr"/>
          <a:lstStyle/>
          <a:p>
            <a:pPr indent="0" marL="0">
              <a:buNone/>
            </a:pPr>
            <a:r>
              <a:rPr lang="en-US" sz="1000" i="1" dirty="0">
                <a:solidFill>
                  <a:srgbClr val="9A9A93"/>
                </a:solidFill>
                <a:latin typeface="Arial" pitchFamily="34" charset="0"/>
                <a:ea typeface="Arial" pitchFamily="34" charset="-122"/>
                <a:cs typeface="Arial" pitchFamily="34" charset="-120"/>
              </a:rPr>
              <a:t>PLG channels and sales-led channels overlap by design: the same content that pulls a developer also arms a sales rep.</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9F5"/>
        </a:solidFill>
      </p:bgPr>
    </p:bg>
    <p:spTree>
      <p:nvGrpSpPr>
        <p:cNvPr id="1" name=""/>
        <p:cNvGrpSpPr/>
        <p:nvPr/>
      </p:nvGrpSpPr>
      <p:grpSpPr>
        <a:xfrm>
          <a:off x="0" y="0"/>
          <a:ext cx="0" cy="0"/>
          <a:chOff x="0" y="0"/>
          <a:chExt cx="0" cy="0"/>
        </a:xfrm>
      </p:grpSpPr>
      <p:sp>
        <p:nvSpPr>
          <p:cNvPr id="2" name="Text 0"/>
          <p:cNvSpPr/>
          <p:nvPr/>
        </p:nvSpPr>
        <p:spPr>
          <a:xfrm>
            <a:off x="640080" y="411480"/>
            <a:ext cx="10058400" cy="274320"/>
          </a:xfrm>
          <a:prstGeom prst="rect">
            <a:avLst/>
          </a:prstGeom>
          <a:noFill/>
          <a:ln/>
        </p:spPr>
        <p:txBody>
          <a:bodyPr wrap="square" rtlCol="0" anchor="ctr"/>
          <a:lstStyle/>
          <a:p>
            <a:pPr indent="0" marL="0">
              <a:buNone/>
            </a:pPr>
            <a:r>
              <a:rPr lang="en-US" sz="1100" b="1" spc="500" kern="0" dirty="0">
                <a:solidFill>
                  <a:srgbClr val="788C5D"/>
                </a:solidFill>
                <a:latin typeface="Arial" pitchFamily="34" charset="0"/>
                <a:ea typeface="Arial" pitchFamily="34" charset="-122"/>
                <a:cs typeface="Arial" pitchFamily="34" charset="-120"/>
              </a:rPr>
              <a:t>CHANNEL PLAYBOOK</a:t>
            </a:r>
            <a:endParaRPr lang="en-US" sz="1100" dirty="0"/>
          </a:p>
        </p:txBody>
      </p:sp>
      <p:pic>
        <p:nvPicPr>
          <p:cNvPr id="3" name="Image 0" descr="preencoded.png">    </p:cNvPr>
          <p:cNvPicPr>
            <a:picLocks noChangeAspect="1"/>
          </p:cNvPicPr>
          <p:nvPr/>
        </p:nvPicPr>
        <p:blipFill>
          <a:blip r:embed="rId1"/>
          <a:stretch>
            <a:fillRect/>
          </a:stretch>
        </p:blipFill>
        <p:spPr>
          <a:xfrm>
            <a:off x="640080" y="658368"/>
            <a:ext cx="457200" cy="457200"/>
          </a:xfrm>
          <a:prstGeom prst="rect">
            <a:avLst/>
          </a:prstGeom>
        </p:spPr>
      </p:pic>
      <p:sp>
        <p:nvSpPr>
          <p:cNvPr id="4" name="Text 1"/>
          <p:cNvSpPr/>
          <p:nvPr/>
        </p:nvSpPr>
        <p:spPr>
          <a:xfrm>
            <a:off x="1234440" y="658368"/>
            <a:ext cx="10058400" cy="502920"/>
          </a:xfrm>
          <a:prstGeom prst="rect">
            <a:avLst/>
          </a:prstGeom>
          <a:noFill/>
          <a:ln/>
        </p:spPr>
        <p:txBody>
          <a:bodyPr wrap="square" rtlCol="0" anchor="ctr"/>
          <a:lstStyle/>
          <a:p>
            <a:pPr indent="0" marL="0">
              <a:buNone/>
            </a:pPr>
            <a:r>
              <a:rPr lang="en-US" sz="2600" dirty="0">
                <a:solidFill>
                  <a:srgbClr val="0E0E10"/>
                </a:solidFill>
                <a:latin typeface="Georgia" pitchFamily="34" charset="0"/>
                <a:ea typeface="Georgia" pitchFamily="34" charset="-122"/>
                <a:cs typeface="Georgia" pitchFamily="34" charset="-120"/>
              </a:rPr>
              <a:t>Content &amp; Blog Engine</a:t>
            </a:r>
            <a:endParaRPr lang="en-US" sz="2600" dirty="0"/>
          </a:p>
        </p:txBody>
      </p:sp>
      <p:sp>
        <p:nvSpPr>
          <p:cNvPr id="5" name="Shape 2"/>
          <p:cNvSpPr/>
          <p:nvPr/>
        </p:nvSpPr>
        <p:spPr>
          <a:xfrm>
            <a:off x="640080" y="1371600"/>
            <a:ext cx="10908792" cy="640080"/>
          </a:xfrm>
          <a:prstGeom prst="rect">
            <a:avLst/>
          </a:prstGeom>
          <a:solidFill>
            <a:srgbClr val="17171B"/>
          </a:solidFill>
          <a:ln/>
        </p:spPr>
      </p:sp>
      <p:sp>
        <p:nvSpPr>
          <p:cNvPr id="6" name="Text 3"/>
          <p:cNvSpPr/>
          <p:nvPr/>
        </p:nvSpPr>
        <p:spPr>
          <a:xfrm>
            <a:off x="868680" y="1371600"/>
            <a:ext cx="10424160" cy="640080"/>
          </a:xfrm>
          <a:prstGeom prst="rect">
            <a:avLst/>
          </a:prstGeom>
          <a:noFill/>
          <a:ln/>
        </p:spPr>
        <p:txBody>
          <a:bodyPr wrap="square" rtlCol="0" anchor="ctr"/>
          <a:lstStyle/>
          <a:p>
            <a:pPr indent="0" marL="0">
              <a:buNone/>
            </a:pPr>
            <a:r>
              <a:rPr lang="en-US" sz="1250" i="1" dirty="0">
                <a:solidFill>
                  <a:srgbClr val="ECEAE1"/>
                </a:solidFill>
                <a:latin typeface="Georgia" pitchFamily="34" charset="0"/>
                <a:ea typeface="Georgia" pitchFamily="34" charset="-122"/>
                <a:cs typeface="Georgia" pitchFamily="34" charset="-120"/>
              </a:rPr>
              <a:t>Own the questions our buyers ask. Educate first, sell second. This is the compounding core of everything.</a:t>
            </a:r>
            <a:endParaRPr lang="en-US" sz="1250" dirty="0"/>
          </a:p>
        </p:txBody>
      </p:sp>
      <p:sp>
        <p:nvSpPr>
          <p:cNvPr id="7" name="Shape 4"/>
          <p:cNvSpPr/>
          <p:nvPr/>
        </p:nvSpPr>
        <p:spPr>
          <a:xfrm>
            <a:off x="640080" y="2240280"/>
            <a:ext cx="5376672" cy="3429000"/>
          </a:xfrm>
          <a:prstGeom prst="rect">
            <a:avLst/>
          </a:prstGeom>
          <a:solidFill>
            <a:srgbClr val="FFFFFF"/>
          </a:solidFill>
          <a:ln/>
          <a:effectLst>
            <a:outerShdw sx="100000" sy="100000" kx="0" ky="0" algn="bl" rotWithShape="0" blurRad="4.400594996841935e+156" dist="1.7602379987367734e+156" dir="3.3418736347109347e+183">
              <a:srgbClr val="000000">
                <a:alpha val="9.999999999999998e+188"/>
              </a:srgbClr>
            </a:outerShdw>
          </a:effectLst>
        </p:spPr>
      </p:sp>
      <p:sp>
        <p:nvSpPr>
          <p:cNvPr id="8" name="Shape 5"/>
          <p:cNvSpPr/>
          <p:nvPr/>
        </p:nvSpPr>
        <p:spPr>
          <a:xfrm>
            <a:off x="640080" y="2240280"/>
            <a:ext cx="5376672" cy="457200"/>
          </a:xfrm>
          <a:prstGeom prst="rect">
            <a:avLst/>
          </a:prstGeom>
          <a:solidFill>
            <a:srgbClr val="185771"/>
          </a:solidFill>
          <a:ln/>
        </p:spPr>
      </p:sp>
      <p:sp>
        <p:nvSpPr>
          <p:cNvPr id="9" name="Text 6"/>
          <p:cNvSpPr/>
          <p:nvPr/>
        </p:nvSpPr>
        <p:spPr>
          <a:xfrm>
            <a:off x="868680" y="2240280"/>
            <a:ext cx="4937760" cy="457200"/>
          </a:xfrm>
          <a:prstGeom prst="rect">
            <a:avLst/>
          </a:prstGeom>
          <a:noFill/>
          <a:ln/>
        </p:spPr>
        <p:txBody>
          <a:bodyPr wrap="square" rtlCol="0" anchor="ctr"/>
          <a:lstStyle/>
          <a:p>
            <a:pPr indent="0" marL="0">
              <a:buNone/>
            </a:pPr>
            <a:r>
              <a:rPr lang="en-US" sz="1300" b="1" spc="200" kern="0" dirty="0">
                <a:solidFill>
                  <a:srgbClr val="FFFFFF"/>
                </a:solidFill>
                <a:latin typeface="Arial" pitchFamily="34" charset="0"/>
                <a:ea typeface="Arial" pitchFamily="34" charset="-122"/>
                <a:cs typeface="Arial" pitchFamily="34" charset="-120"/>
              </a:rPr>
              <a:t>CONTENT PILLARS</a:t>
            </a:r>
            <a:endParaRPr lang="en-US" sz="1300" dirty="0"/>
          </a:p>
        </p:txBody>
      </p:sp>
      <p:sp>
        <p:nvSpPr>
          <p:cNvPr id="10" name="Text 7"/>
          <p:cNvSpPr/>
          <p:nvPr/>
        </p:nvSpPr>
        <p:spPr>
          <a:xfrm>
            <a:off x="868680" y="2834640"/>
            <a:ext cx="4937760" cy="2743200"/>
          </a:xfrm>
          <a:prstGeom prst="rect">
            <a:avLst/>
          </a:prstGeom>
          <a:noFill/>
          <a:ln/>
        </p:spPr>
        <p:txBody>
          <a:bodyPr wrap="square" rtlCol="0" anchor="t"/>
          <a:lstStyle/>
          <a:p>
            <a:pPr marL="342900" indent="-342900">
              <a:lnSpc>
                <a:spcPct val="125000"/>
              </a:lnSpc>
              <a:spcAft>
                <a:spcPts val="800"/>
              </a:spcAft>
              <a:buSzPct val="100000"/>
              <a:buChar char="•"/>
            </a:pPr>
            <a:r>
              <a:rPr lang="en-US" sz="1150" dirty="0">
                <a:solidFill>
                  <a:srgbClr val="5B5F63"/>
                </a:solidFill>
                <a:latin typeface="Arial" pitchFamily="34" charset="0"/>
                <a:ea typeface="Arial" pitchFamily="34" charset="-122"/>
                <a:cs typeface="Arial" pitchFamily="34" charset="-120"/>
              </a:rPr>
              <a:t>AI utility: how to get real leverage from AI (flagship series)</a:t>
            </a:r>
            <a:endParaRPr lang="en-US" sz="1150" dirty="0"/>
          </a:p>
          <a:p>
            <a:pPr marL="342900" indent="-342900">
              <a:lnSpc>
                <a:spcPct val="125000"/>
              </a:lnSpc>
              <a:spcAft>
                <a:spcPts val="800"/>
              </a:spcAft>
              <a:buSzPct val="100000"/>
              <a:buChar char="•"/>
            </a:pPr>
            <a:r>
              <a:rPr lang="en-US" sz="1150" dirty="0">
                <a:solidFill>
                  <a:srgbClr val="5B5F63"/>
                </a:solidFill>
                <a:latin typeface="Arial" pitchFamily="34" charset="0"/>
                <a:ea typeface="Arial" pitchFamily="34" charset="-122"/>
                <a:cs typeface="Arial" pitchFamily="34" charset="-120"/>
              </a:rPr>
              <a:t>Sovereignty and trust explainers</a:t>
            </a:r>
            <a:endParaRPr lang="en-US" sz="1150" dirty="0"/>
          </a:p>
          <a:p>
            <a:pPr marL="342900" indent="-342900">
              <a:lnSpc>
                <a:spcPct val="125000"/>
              </a:lnSpc>
              <a:spcAft>
                <a:spcPts val="800"/>
              </a:spcAft>
              <a:buSzPct val="100000"/>
              <a:buChar char="•"/>
            </a:pPr>
            <a:r>
              <a:rPr lang="en-US" sz="1150" dirty="0">
                <a:solidFill>
                  <a:srgbClr val="5B5F63"/>
                </a:solidFill>
                <a:latin typeface="Arial" pitchFamily="34" charset="0"/>
                <a:ea typeface="Arial" pitchFamily="34" charset="-122"/>
                <a:cs typeface="Arial" pitchFamily="34" charset="-120"/>
              </a:rPr>
              <a:t>Regulated-industry playbooks: legal, finance, health</a:t>
            </a:r>
            <a:endParaRPr lang="en-US" sz="1150" dirty="0"/>
          </a:p>
          <a:p>
            <a:pPr marL="342900" indent="-342900">
              <a:lnSpc>
                <a:spcPct val="125000"/>
              </a:lnSpc>
              <a:spcAft>
                <a:spcPts val="800"/>
              </a:spcAft>
              <a:buSzPct val="100000"/>
              <a:buChar char="•"/>
            </a:pPr>
            <a:r>
              <a:rPr lang="en-US" sz="1150" dirty="0">
                <a:solidFill>
                  <a:srgbClr val="5B5F63"/>
                </a:solidFill>
                <a:latin typeface="Arial" pitchFamily="34" charset="0"/>
                <a:ea typeface="Arial" pitchFamily="34" charset="-122"/>
                <a:cs typeface="Arial" pitchFamily="34" charset="-120"/>
              </a:rPr>
              <a:t>Build-in-public and benchmarks</a:t>
            </a:r>
            <a:endParaRPr lang="en-US" sz="1150" dirty="0"/>
          </a:p>
          <a:p>
            <a:pPr marL="342900" indent="-342900">
              <a:lnSpc>
                <a:spcPct val="125000"/>
              </a:lnSpc>
              <a:spcAft>
                <a:spcPts val="800"/>
              </a:spcAft>
              <a:buSzPct val="100000"/>
              <a:buChar char="•"/>
            </a:pPr>
            <a:r>
              <a:rPr lang="en-US" sz="1150" dirty="0">
                <a:solidFill>
                  <a:srgbClr val="5B5F63"/>
                </a:solidFill>
                <a:latin typeface="Arial" pitchFamily="34" charset="0"/>
                <a:ea typeface="Arial" pitchFamily="34" charset="-122"/>
                <a:cs typeface="Arial" pitchFamily="34" charset="-120"/>
              </a:rPr>
              <a:t>Customer outcomes and proof</a:t>
            </a:r>
            <a:endParaRPr lang="en-US" sz="1150" dirty="0"/>
          </a:p>
        </p:txBody>
      </p:sp>
      <p:sp>
        <p:nvSpPr>
          <p:cNvPr id="11" name="Shape 8"/>
          <p:cNvSpPr/>
          <p:nvPr/>
        </p:nvSpPr>
        <p:spPr>
          <a:xfrm>
            <a:off x="6172200" y="2240280"/>
            <a:ext cx="5376672" cy="3429000"/>
          </a:xfrm>
          <a:prstGeom prst="rect">
            <a:avLst/>
          </a:prstGeom>
          <a:solidFill>
            <a:srgbClr val="FFFFFF"/>
          </a:solidFill>
          <a:ln/>
          <a:effectLst>
            <a:outerShdw sx="100000" sy="100000" kx="0" ky="0" algn="bl" rotWithShape="0" blurRad="5.588755645989258e+160" dist="2.235502258395702e+160" dir="2.0051241808265608e+188">
              <a:srgbClr val="000000">
                <a:alpha val="9.999999999999998e+193"/>
              </a:srgbClr>
            </a:outerShdw>
          </a:effectLst>
        </p:spPr>
      </p:sp>
      <p:sp>
        <p:nvSpPr>
          <p:cNvPr id="12" name="Shape 9"/>
          <p:cNvSpPr/>
          <p:nvPr/>
        </p:nvSpPr>
        <p:spPr>
          <a:xfrm>
            <a:off x="6172200" y="2240280"/>
            <a:ext cx="5376672" cy="457200"/>
          </a:xfrm>
          <a:prstGeom prst="rect">
            <a:avLst/>
          </a:prstGeom>
          <a:solidFill>
            <a:srgbClr val="C2703D"/>
          </a:solidFill>
          <a:ln/>
        </p:spPr>
      </p:sp>
      <p:sp>
        <p:nvSpPr>
          <p:cNvPr id="13" name="Text 10"/>
          <p:cNvSpPr/>
          <p:nvPr/>
        </p:nvSpPr>
        <p:spPr>
          <a:xfrm>
            <a:off x="6400800" y="2240280"/>
            <a:ext cx="4937760" cy="457200"/>
          </a:xfrm>
          <a:prstGeom prst="rect">
            <a:avLst/>
          </a:prstGeom>
          <a:noFill/>
          <a:ln/>
        </p:spPr>
        <p:txBody>
          <a:bodyPr wrap="square" rtlCol="0" anchor="ctr"/>
          <a:lstStyle/>
          <a:p>
            <a:pPr indent="0" marL="0">
              <a:buNone/>
            </a:pPr>
            <a:r>
              <a:rPr lang="en-US" sz="1300" b="1" spc="200" kern="0" dirty="0">
                <a:solidFill>
                  <a:srgbClr val="FFFFFF"/>
                </a:solidFill>
                <a:latin typeface="Arial" pitchFamily="34" charset="0"/>
                <a:ea typeface="Arial" pitchFamily="34" charset="-122"/>
                <a:cs typeface="Arial" pitchFamily="34" charset="-120"/>
              </a:rPr>
              <a:t>EDITORIAL SYSTEM</a:t>
            </a:r>
            <a:endParaRPr lang="en-US" sz="1300" dirty="0"/>
          </a:p>
        </p:txBody>
      </p:sp>
      <p:sp>
        <p:nvSpPr>
          <p:cNvPr id="14" name="Text 11"/>
          <p:cNvSpPr/>
          <p:nvPr/>
        </p:nvSpPr>
        <p:spPr>
          <a:xfrm>
            <a:off x="6400800" y="2834640"/>
            <a:ext cx="4937760" cy="2743200"/>
          </a:xfrm>
          <a:prstGeom prst="rect">
            <a:avLst/>
          </a:prstGeom>
          <a:noFill/>
          <a:ln/>
        </p:spPr>
        <p:txBody>
          <a:bodyPr wrap="square" rtlCol="0" anchor="t"/>
          <a:lstStyle/>
          <a:p>
            <a:pPr marL="342900" indent="-342900">
              <a:lnSpc>
                <a:spcPct val="125000"/>
              </a:lnSpc>
              <a:spcAft>
                <a:spcPts val="800"/>
              </a:spcAft>
              <a:buSzPct val="100000"/>
              <a:buChar char="•"/>
            </a:pPr>
            <a:r>
              <a:rPr lang="en-US" sz="1150" dirty="0">
                <a:solidFill>
                  <a:srgbClr val="5B5F63"/>
                </a:solidFill>
                <a:latin typeface="Arial" pitchFamily="34" charset="0"/>
                <a:ea typeface="Arial" pitchFamily="34" charset="-122"/>
                <a:cs typeface="Arial" pitchFamily="34" charset="-120"/>
              </a:rPr>
              <a:t>Home: resources.premai.io (Ghost). Eng blog stays clean.</a:t>
            </a:r>
            <a:endParaRPr lang="en-US" sz="1150" dirty="0"/>
          </a:p>
          <a:p>
            <a:pPr marL="342900" indent="-342900">
              <a:lnSpc>
                <a:spcPct val="125000"/>
              </a:lnSpc>
              <a:spcAft>
                <a:spcPts val="800"/>
              </a:spcAft>
              <a:buSzPct val="100000"/>
              <a:buChar char="•"/>
            </a:pPr>
            <a:r>
              <a:rPr lang="en-US" sz="1150" dirty="0">
                <a:solidFill>
                  <a:srgbClr val="5B5F63"/>
                </a:solidFill>
                <a:latin typeface="Arial" pitchFamily="34" charset="0"/>
                <a:ea typeface="Arial" pitchFamily="34" charset="-122"/>
                <a:cs typeface="Arial" pitchFamily="34" charset="-120"/>
              </a:rPr>
              <a:t>Cadence: 2 deep pieces + 1 outcome story weekly</a:t>
            </a:r>
            <a:endParaRPr lang="en-US" sz="1150" dirty="0"/>
          </a:p>
          <a:p>
            <a:pPr marL="342900" indent="-342900">
              <a:lnSpc>
                <a:spcPct val="125000"/>
              </a:lnSpc>
              <a:spcAft>
                <a:spcPts val="800"/>
              </a:spcAft>
              <a:buSzPct val="100000"/>
              <a:buChar char="•"/>
            </a:pPr>
            <a:r>
              <a:rPr lang="en-US" sz="1150" dirty="0">
                <a:solidFill>
                  <a:srgbClr val="5B5F63"/>
                </a:solidFill>
                <a:latin typeface="Arial" pitchFamily="34" charset="0"/>
                <a:ea typeface="Arial" pitchFamily="34" charset="-122"/>
                <a:cs typeface="Arial" pitchFamily="34" charset="-120"/>
              </a:rPr>
              <a:t>Every piece maps to a persona and a funnel stage</a:t>
            </a:r>
            <a:endParaRPr lang="en-US" sz="1150" dirty="0"/>
          </a:p>
          <a:p>
            <a:pPr marL="342900" indent="-342900">
              <a:lnSpc>
                <a:spcPct val="125000"/>
              </a:lnSpc>
              <a:spcAft>
                <a:spcPts val="800"/>
              </a:spcAft>
              <a:buSzPct val="100000"/>
              <a:buChar char="•"/>
            </a:pPr>
            <a:r>
              <a:rPr lang="en-US" sz="1150" dirty="0">
                <a:solidFill>
                  <a:srgbClr val="5B5F63"/>
                </a:solidFill>
                <a:latin typeface="Arial" pitchFamily="34" charset="0"/>
                <a:ea typeface="Arial" pitchFamily="34" charset="-122"/>
                <a:cs typeface="Arial" pitchFamily="34" charset="-120"/>
              </a:rPr>
              <a:t>Repurpose each into social, email, and a thread</a:t>
            </a:r>
            <a:endParaRPr lang="en-US" sz="1150" dirty="0"/>
          </a:p>
          <a:p>
            <a:pPr marL="342900" indent="-342900">
              <a:lnSpc>
                <a:spcPct val="125000"/>
              </a:lnSpc>
              <a:spcAft>
                <a:spcPts val="800"/>
              </a:spcAft>
              <a:buSzPct val="100000"/>
              <a:buChar char="•"/>
            </a:pPr>
            <a:r>
              <a:rPr lang="en-US" sz="1150" dirty="0">
                <a:solidFill>
                  <a:srgbClr val="5B5F63"/>
                </a:solidFill>
                <a:latin typeface="Arial" pitchFamily="34" charset="0"/>
                <a:ea typeface="Arial" pitchFamily="34" charset="-122"/>
                <a:cs typeface="Arial" pitchFamily="34" charset="-120"/>
              </a:rPr>
              <a:t>Flagship: 'How to use AI for your real advantage'</a:t>
            </a:r>
            <a:endParaRPr lang="en-US" sz="1150" dirty="0"/>
          </a:p>
        </p:txBody>
      </p:sp>
      <p:sp>
        <p:nvSpPr>
          <p:cNvPr id="15" name="Text 12"/>
          <p:cNvSpPr/>
          <p:nvPr/>
        </p:nvSpPr>
        <p:spPr>
          <a:xfrm>
            <a:off x="640080" y="5897880"/>
            <a:ext cx="10908792" cy="365760"/>
          </a:xfrm>
          <a:prstGeom prst="rect">
            <a:avLst/>
          </a:prstGeom>
          <a:noFill/>
          <a:ln/>
        </p:spPr>
        <p:txBody>
          <a:bodyPr wrap="square" rtlCol="0" anchor="ctr"/>
          <a:lstStyle/>
          <a:p>
            <a:pPr indent="0" marL="0">
              <a:buNone/>
            </a:pPr>
            <a:r>
              <a:rPr lang="en-US" sz="1050" i="1" dirty="0">
                <a:solidFill>
                  <a:srgbClr val="9A9A93"/>
                </a:solidFill>
                <a:latin typeface="Arial" pitchFamily="34" charset="0"/>
                <a:ea typeface="Arial" pitchFamily="34" charset="-122"/>
                <a:cs typeface="Arial" pitchFamily="34" charset="-120"/>
              </a:rPr>
              <a:t>Motion: feeds PLG pull and arms sales-led proof  ·  Owner: Marketing + Fluso editorial</a:t>
            </a:r>
            <a:endParaRPr lang="en-US" sz="1050" dirty="0"/>
          </a:p>
        </p:txBody>
      </p:sp>
      <p:sp>
        <p:nvSpPr>
          <p:cNvPr id="16" name="Text 13"/>
          <p:cNvSpPr/>
          <p:nvPr/>
        </p:nvSpPr>
        <p:spPr>
          <a:xfrm>
            <a:off x="11460175" y="6446520"/>
            <a:ext cx="457200" cy="274320"/>
          </a:xfrm>
          <a:prstGeom prst="rect">
            <a:avLst/>
          </a:prstGeom>
          <a:noFill/>
          <a:ln/>
        </p:spPr>
        <p:txBody>
          <a:bodyPr wrap="square" rtlCol="0" anchor="ctr"/>
          <a:lstStyle/>
          <a:p>
            <a:pPr algn="r" indent="0" marL="0">
              <a:buNone/>
            </a:pPr>
            <a:r>
              <a:rPr lang="en-US" sz="1000" dirty="0">
                <a:solidFill>
                  <a:srgbClr val="9A9A93"/>
                </a:solidFill>
                <a:latin typeface="Arial" pitchFamily="34" charset="0"/>
                <a:ea typeface="Arial" pitchFamily="34" charset="-122"/>
                <a:cs typeface="Arial"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9F5"/>
        </a:solidFill>
      </p:bgPr>
    </p:bg>
    <p:spTree>
      <p:nvGrpSpPr>
        <p:cNvPr id="1" name=""/>
        <p:cNvGrpSpPr/>
        <p:nvPr/>
      </p:nvGrpSpPr>
      <p:grpSpPr>
        <a:xfrm>
          <a:off x="0" y="0"/>
          <a:ext cx="0" cy="0"/>
          <a:chOff x="0" y="0"/>
          <a:chExt cx="0" cy="0"/>
        </a:xfrm>
      </p:grpSpPr>
      <p:sp>
        <p:nvSpPr>
          <p:cNvPr id="2" name="Text 0"/>
          <p:cNvSpPr/>
          <p:nvPr/>
        </p:nvSpPr>
        <p:spPr>
          <a:xfrm>
            <a:off x="640080" y="411480"/>
            <a:ext cx="10058400" cy="274320"/>
          </a:xfrm>
          <a:prstGeom prst="rect">
            <a:avLst/>
          </a:prstGeom>
          <a:noFill/>
          <a:ln/>
        </p:spPr>
        <p:txBody>
          <a:bodyPr wrap="square" rtlCol="0" anchor="ctr"/>
          <a:lstStyle/>
          <a:p>
            <a:pPr indent="0" marL="0">
              <a:buNone/>
            </a:pPr>
            <a:r>
              <a:rPr lang="en-US" sz="1100" b="1" spc="500" kern="0" dirty="0">
                <a:solidFill>
                  <a:srgbClr val="185771"/>
                </a:solidFill>
                <a:latin typeface="Arial" pitchFamily="34" charset="0"/>
                <a:ea typeface="Arial" pitchFamily="34" charset="-122"/>
                <a:cs typeface="Arial" pitchFamily="34" charset="-120"/>
              </a:rPr>
              <a:t>CHANNEL PLAYBOOK</a:t>
            </a:r>
            <a:endParaRPr lang="en-US" sz="1100" dirty="0"/>
          </a:p>
        </p:txBody>
      </p:sp>
      <p:pic>
        <p:nvPicPr>
          <p:cNvPr id="3" name="Image 0" descr="preencoded.png">    </p:cNvPr>
          <p:cNvPicPr>
            <a:picLocks noChangeAspect="1"/>
          </p:cNvPicPr>
          <p:nvPr/>
        </p:nvPicPr>
        <p:blipFill>
          <a:blip r:embed="rId1"/>
          <a:stretch>
            <a:fillRect/>
          </a:stretch>
        </p:blipFill>
        <p:spPr>
          <a:xfrm>
            <a:off x="640080" y="658368"/>
            <a:ext cx="457200" cy="457200"/>
          </a:xfrm>
          <a:prstGeom prst="rect">
            <a:avLst/>
          </a:prstGeom>
        </p:spPr>
      </p:pic>
      <p:sp>
        <p:nvSpPr>
          <p:cNvPr id="4" name="Text 1"/>
          <p:cNvSpPr/>
          <p:nvPr/>
        </p:nvSpPr>
        <p:spPr>
          <a:xfrm>
            <a:off x="1234440" y="658368"/>
            <a:ext cx="10058400" cy="502920"/>
          </a:xfrm>
          <a:prstGeom prst="rect">
            <a:avLst/>
          </a:prstGeom>
          <a:noFill/>
          <a:ln/>
        </p:spPr>
        <p:txBody>
          <a:bodyPr wrap="square" rtlCol="0" anchor="ctr"/>
          <a:lstStyle/>
          <a:p>
            <a:pPr indent="0" marL="0">
              <a:buNone/>
            </a:pPr>
            <a:r>
              <a:rPr lang="en-US" sz="2600" dirty="0">
                <a:solidFill>
                  <a:srgbClr val="0E0E10"/>
                </a:solidFill>
                <a:latin typeface="Georgia" pitchFamily="34" charset="0"/>
                <a:ea typeface="Georgia" pitchFamily="34" charset="-122"/>
                <a:cs typeface="Georgia" pitchFamily="34" charset="-120"/>
              </a:rPr>
              <a:t>SEO &amp; Owned Search</a:t>
            </a:r>
            <a:endParaRPr lang="en-US" sz="2600" dirty="0"/>
          </a:p>
        </p:txBody>
      </p:sp>
      <p:sp>
        <p:nvSpPr>
          <p:cNvPr id="5" name="Shape 2"/>
          <p:cNvSpPr/>
          <p:nvPr/>
        </p:nvSpPr>
        <p:spPr>
          <a:xfrm>
            <a:off x="640080" y="1371600"/>
            <a:ext cx="10908792" cy="640080"/>
          </a:xfrm>
          <a:prstGeom prst="rect">
            <a:avLst/>
          </a:prstGeom>
          <a:solidFill>
            <a:srgbClr val="17171B"/>
          </a:solidFill>
          <a:ln/>
        </p:spPr>
      </p:sp>
      <p:sp>
        <p:nvSpPr>
          <p:cNvPr id="6" name="Text 3"/>
          <p:cNvSpPr/>
          <p:nvPr/>
        </p:nvSpPr>
        <p:spPr>
          <a:xfrm>
            <a:off x="868680" y="1371600"/>
            <a:ext cx="10424160" cy="640080"/>
          </a:xfrm>
          <a:prstGeom prst="rect">
            <a:avLst/>
          </a:prstGeom>
          <a:noFill/>
          <a:ln/>
        </p:spPr>
        <p:txBody>
          <a:bodyPr wrap="square" rtlCol="0" anchor="ctr"/>
          <a:lstStyle/>
          <a:p>
            <a:pPr indent="0" marL="0">
              <a:buNone/>
            </a:pPr>
            <a:r>
              <a:rPr lang="en-US" sz="1250" i="1" dirty="0">
                <a:solidFill>
                  <a:srgbClr val="ECEAE1"/>
                </a:solidFill>
                <a:latin typeface="Georgia" pitchFamily="34" charset="0"/>
                <a:ea typeface="Georgia" pitchFamily="34" charset="-122"/>
                <a:cs typeface="Georgia" pitchFamily="34" charset="-120"/>
              </a:rPr>
              <a:t>Be the answer when buyers search. Capture intent we don't pay for, routed to signup and contact-form.</a:t>
            </a:r>
            <a:endParaRPr lang="en-US" sz="1250" dirty="0"/>
          </a:p>
        </p:txBody>
      </p:sp>
      <p:sp>
        <p:nvSpPr>
          <p:cNvPr id="7" name="Shape 4"/>
          <p:cNvSpPr/>
          <p:nvPr/>
        </p:nvSpPr>
        <p:spPr>
          <a:xfrm>
            <a:off x="640080" y="2240280"/>
            <a:ext cx="5376672" cy="3429000"/>
          </a:xfrm>
          <a:prstGeom prst="rect">
            <a:avLst/>
          </a:prstGeom>
          <a:solidFill>
            <a:srgbClr val="FFFFFF"/>
          </a:solidFill>
          <a:ln/>
          <a:effectLst>
            <a:outerShdw sx="100000" sy="100000" kx="0" ky="0" algn="bl" rotWithShape="0" blurRad="7.097719670406357e+164" dist="2.8390878681625417e+164" dir="1.2030745084959364e+193">
              <a:srgbClr val="000000">
                <a:alpha val="9.999999999999999e+198"/>
              </a:srgbClr>
            </a:outerShdw>
          </a:effectLst>
        </p:spPr>
      </p:sp>
      <p:sp>
        <p:nvSpPr>
          <p:cNvPr id="8" name="Shape 5"/>
          <p:cNvSpPr/>
          <p:nvPr/>
        </p:nvSpPr>
        <p:spPr>
          <a:xfrm>
            <a:off x="640080" y="2240280"/>
            <a:ext cx="5376672" cy="457200"/>
          </a:xfrm>
          <a:prstGeom prst="rect">
            <a:avLst/>
          </a:prstGeom>
          <a:solidFill>
            <a:srgbClr val="185771"/>
          </a:solidFill>
          <a:ln/>
        </p:spPr>
      </p:sp>
      <p:sp>
        <p:nvSpPr>
          <p:cNvPr id="9" name="Text 6"/>
          <p:cNvSpPr/>
          <p:nvPr/>
        </p:nvSpPr>
        <p:spPr>
          <a:xfrm>
            <a:off x="868680" y="2240280"/>
            <a:ext cx="4937760" cy="457200"/>
          </a:xfrm>
          <a:prstGeom prst="rect">
            <a:avLst/>
          </a:prstGeom>
          <a:noFill/>
          <a:ln/>
        </p:spPr>
        <p:txBody>
          <a:bodyPr wrap="square" rtlCol="0" anchor="ctr"/>
          <a:lstStyle/>
          <a:p>
            <a:pPr indent="0" marL="0">
              <a:buNone/>
            </a:pPr>
            <a:r>
              <a:rPr lang="en-US" sz="1300" b="1" spc="200" kern="0" dirty="0">
                <a:solidFill>
                  <a:srgbClr val="FFFFFF"/>
                </a:solidFill>
                <a:latin typeface="Arial" pitchFamily="34" charset="0"/>
                <a:ea typeface="Arial" pitchFamily="34" charset="-122"/>
                <a:cs typeface="Arial" pitchFamily="34" charset="-120"/>
              </a:rPr>
              <a:t>B2B / API INTENT</a:t>
            </a:r>
            <a:endParaRPr lang="en-US" sz="1300" dirty="0"/>
          </a:p>
        </p:txBody>
      </p:sp>
      <p:sp>
        <p:nvSpPr>
          <p:cNvPr id="10" name="Text 7"/>
          <p:cNvSpPr/>
          <p:nvPr/>
        </p:nvSpPr>
        <p:spPr>
          <a:xfrm>
            <a:off x="868680" y="2834640"/>
            <a:ext cx="4937760" cy="2743200"/>
          </a:xfrm>
          <a:prstGeom prst="rect">
            <a:avLst/>
          </a:prstGeom>
          <a:noFill/>
          <a:ln/>
        </p:spPr>
        <p:txBody>
          <a:bodyPr wrap="square" rtlCol="0" anchor="t"/>
          <a:lstStyle/>
          <a:p>
            <a:pPr marL="342900" indent="-342900">
              <a:lnSpc>
                <a:spcPct val="125000"/>
              </a:lnSpc>
              <a:spcAft>
                <a:spcPts val="800"/>
              </a:spcAft>
              <a:buSzPct val="100000"/>
              <a:buChar char="•"/>
            </a:pPr>
            <a:r>
              <a:rPr lang="en-US" sz="1150" dirty="0">
                <a:solidFill>
                  <a:srgbClr val="5B5F63"/>
                </a:solidFill>
                <a:latin typeface="Arial" pitchFamily="34" charset="0"/>
                <a:ea typeface="Arial" pitchFamily="34" charset="-122"/>
                <a:cs typeface="Arial" pitchFamily="34" charset="-120"/>
              </a:rPr>
              <a:t>Target: confidential computing, sovereign AI, HIPAA-compliant AI, on-prem LLM</a:t>
            </a:r>
            <a:endParaRPr lang="en-US" sz="1150" dirty="0"/>
          </a:p>
          <a:p>
            <a:pPr marL="342900" indent="-342900">
              <a:lnSpc>
                <a:spcPct val="125000"/>
              </a:lnSpc>
              <a:spcAft>
                <a:spcPts val="800"/>
              </a:spcAft>
              <a:buSzPct val="100000"/>
              <a:buChar char="•"/>
            </a:pPr>
            <a:r>
              <a:rPr lang="en-US" sz="1150" dirty="0">
                <a:solidFill>
                  <a:srgbClr val="5B5F63"/>
                </a:solidFill>
                <a:latin typeface="Arial" pitchFamily="34" charset="0"/>
                <a:ea typeface="Arial" pitchFamily="34" charset="-122"/>
                <a:cs typeface="Arial" pitchFamily="34" charset="-120"/>
              </a:rPr>
              <a:t>Comparison pages: Prem vs alternatives</a:t>
            </a:r>
            <a:endParaRPr lang="en-US" sz="1150" dirty="0"/>
          </a:p>
          <a:p>
            <a:pPr marL="342900" indent="-342900">
              <a:lnSpc>
                <a:spcPct val="125000"/>
              </a:lnSpc>
              <a:spcAft>
                <a:spcPts val="800"/>
              </a:spcAft>
              <a:buSzPct val="100000"/>
              <a:buChar char="•"/>
            </a:pPr>
            <a:r>
              <a:rPr lang="en-US" sz="1150" dirty="0">
                <a:solidFill>
                  <a:srgbClr val="5B5F63"/>
                </a:solidFill>
                <a:latin typeface="Arial" pitchFamily="34" charset="0"/>
                <a:ea typeface="Arial" pitchFamily="34" charset="-122"/>
                <a:cs typeface="Arial" pitchFamily="34" charset="-120"/>
              </a:rPr>
              <a:t>Whitepapers and deep dives for backlinks</a:t>
            </a:r>
            <a:endParaRPr lang="en-US" sz="1150" dirty="0"/>
          </a:p>
          <a:p>
            <a:pPr marL="342900" indent="-342900">
              <a:lnSpc>
                <a:spcPct val="125000"/>
              </a:lnSpc>
              <a:spcAft>
                <a:spcPts val="800"/>
              </a:spcAft>
              <a:buSzPct val="100000"/>
              <a:buChar char="•"/>
            </a:pPr>
            <a:r>
              <a:rPr lang="en-US" sz="1150" dirty="0">
                <a:solidFill>
                  <a:srgbClr val="5B5F63"/>
                </a:solidFill>
                <a:latin typeface="Arial" pitchFamily="34" charset="0"/>
                <a:ea typeface="Arial" pitchFamily="34" charset="-122"/>
                <a:cs typeface="Arial" pitchFamily="34" charset="-120"/>
              </a:rPr>
              <a:t>Goal: contact-form inquiries</a:t>
            </a:r>
            <a:endParaRPr lang="en-US" sz="1150" dirty="0"/>
          </a:p>
        </p:txBody>
      </p:sp>
      <p:sp>
        <p:nvSpPr>
          <p:cNvPr id="11" name="Shape 8"/>
          <p:cNvSpPr/>
          <p:nvPr/>
        </p:nvSpPr>
        <p:spPr>
          <a:xfrm>
            <a:off x="6172200" y="2240280"/>
            <a:ext cx="5376672" cy="3429000"/>
          </a:xfrm>
          <a:prstGeom prst="rect">
            <a:avLst/>
          </a:prstGeom>
          <a:solidFill>
            <a:srgbClr val="FFFFFF"/>
          </a:solidFill>
          <a:ln/>
          <a:effectLst>
            <a:outerShdw sx="100000" sy="100000" kx="0" ky="0" algn="bl" rotWithShape="0" blurRad="9.014103981416073e+168" dist="3.605641592566428e+168" dir="7.218447050975619e+197">
              <a:srgbClr val="000000">
                <a:alpha val="9.999999999999998e+203"/>
              </a:srgbClr>
            </a:outerShdw>
          </a:effectLst>
        </p:spPr>
      </p:sp>
      <p:sp>
        <p:nvSpPr>
          <p:cNvPr id="12" name="Shape 9"/>
          <p:cNvSpPr/>
          <p:nvPr/>
        </p:nvSpPr>
        <p:spPr>
          <a:xfrm>
            <a:off x="6172200" y="2240280"/>
            <a:ext cx="5376672" cy="457200"/>
          </a:xfrm>
          <a:prstGeom prst="rect">
            <a:avLst/>
          </a:prstGeom>
          <a:solidFill>
            <a:srgbClr val="C2703D"/>
          </a:solidFill>
          <a:ln/>
        </p:spPr>
      </p:sp>
      <p:sp>
        <p:nvSpPr>
          <p:cNvPr id="13" name="Text 10"/>
          <p:cNvSpPr/>
          <p:nvPr/>
        </p:nvSpPr>
        <p:spPr>
          <a:xfrm>
            <a:off x="6400800" y="2240280"/>
            <a:ext cx="4937760" cy="457200"/>
          </a:xfrm>
          <a:prstGeom prst="rect">
            <a:avLst/>
          </a:prstGeom>
          <a:noFill/>
          <a:ln/>
        </p:spPr>
        <p:txBody>
          <a:bodyPr wrap="square" rtlCol="0" anchor="ctr"/>
          <a:lstStyle/>
          <a:p>
            <a:pPr indent="0" marL="0">
              <a:buNone/>
            </a:pPr>
            <a:r>
              <a:rPr lang="en-US" sz="1300" b="1" spc="200" kern="0" dirty="0">
                <a:solidFill>
                  <a:srgbClr val="FFFFFF"/>
                </a:solidFill>
                <a:latin typeface="Arial" pitchFamily="34" charset="0"/>
                <a:ea typeface="Arial" pitchFamily="34" charset="-122"/>
                <a:cs typeface="Arial" pitchFamily="34" charset="-120"/>
              </a:rPr>
              <a:t>B2C / FLUSO INTENT</a:t>
            </a:r>
            <a:endParaRPr lang="en-US" sz="1300" dirty="0"/>
          </a:p>
        </p:txBody>
      </p:sp>
      <p:sp>
        <p:nvSpPr>
          <p:cNvPr id="14" name="Text 11"/>
          <p:cNvSpPr/>
          <p:nvPr/>
        </p:nvSpPr>
        <p:spPr>
          <a:xfrm>
            <a:off x="6400800" y="2834640"/>
            <a:ext cx="4937760" cy="2743200"/>
          </a:xfrm>
          <a:prstGeom prst="rect">
            <a:avLst/>
          </a:prstGeom>
          <a:noFill/>
          <a:ln/>
        </p:spPr>
        <p:txBody>
          <a:bodyPr wrap="square" rtlCol="0" anchor="t"/>
          <a:lstStyle/>
          <a:p>
            <a:pPr marL="342900" indent="-342900">
              <a:lnSpc>
                <a:spcPct val="125000"/>
              </a:lnSpc>
              <a:spcAft>
                <a:spcPts val="800"/>
              </a:spcAft>
              <a:buSzPct val="100000"/>
              <a:buChar char="•"/>
            </a:pPr>
            <a:r>
              <a:rPr lang="en-US" sz="1150" dirty="0">
                <a:solidFill>
                  <a:srgbClr val="5B5F63"/>
                </a:solidFill>
                <a:latin typeface="Arial" pitchFamily="34" charset="0"/>
                <a:ea typeface="Arial" pitchFamily="34" charset="-122"/>
                <a:cs typeface="Arial" pitchFamily="34" charset="-120"/>
              </a:rPr>
              <a:t>Target: AI workspace, 'automate X', alternative-to queries</a:t>
            </a:r>
            <a:endParaRPr lang="en-US" sz="1150" dirty="0"/>
          </a:p>
          <a:p>
            <a:pPr marL="342900" indent="-342900">
              <a:lnSpc>
                <a:spcPct val="125000"/>
              </a:lnSpc>
              <a:spcAft>
                <a:spcPts val="800"/>
              </a:spcAft>
              <a:buSzPct val="100000"/>
              <a:buChar char="•"/>
            </a:pPr>
            <a:r>
              <a:rPr lang="en-US" sz="1150" dirty="0">
                <a:solidFill>
                  <a:srgbClr val="5B5F63"/>
                </a:solidFill>
                <a:latin typeface="Arial" pitchFamily="34" charset="0"/>
                <a:ea typeface="Arial" pitchFamily="34" charset="-122"/>
                <a:cs typeface="Arial" pitchFamily="34" charset="-120"/>
              </a:rPr>
              <a:t>Programmatic use-case and how-to pages</a:t>
            </a:r>
            <a:endParaRPr lang="en-US" sz="1150" dirty="0"/>
          </a:p>
          <a:p>
            <a:pPr marL="342900" indent="-342900">
              <a:lnSpc>
                <a:spcPct val="125000"/>
              </a:lnSpc>
              <a:spcAft>
                <a:spcPts val="800"/>
              </a:spcAft>
              <a:buSzPct val="100000"/>
              <a:buChar char="•"/>
            </a:pPr>
            <a:r>
              <a:rPr lang="en-US" sz="1150" dirty="0">
                <a:solidFill>
                  <a:srgbClr val="5B5F63"/>
                </a:solidFill>
                <a:latin typeface="Arial" pitchFamily="34" charset="0"/>
                <a:ea typeface="Arial" pitchFamily="34" charset="-122"/>
                <a:cs typeface="Arial" pitchFamily="34" charset="-120"/>
              </a:rPr>
              <a:t>Goal: signups and downloads</a:t>
            </a:r>
            <a:endParaRPr lang="en-US" sz="1150" dirty="0"/>
          </a:p>
          <a:p>
            <a:pPr marL="342900" indent="-342900">
              <a:lnSpc>
                <a:spcPct val="125000"/>
              </a:lnSpc>
              <a:spcAft>
                <a:spcPts val="800"/>
              </a:spcAft>
              <a:buSzPct val="100000"/>
              <a:buChar char="•"/>
            </a:pPr>
            <a:r>
              <a:rPr lang="en-US" sz="1150" dirty="0">
                <a:solidFill>
                  <a:srgbClr val="5B5F63"/>
                </a:solidFill>
                <a:latin typeface="Arial" pitchFamily="34" charset="0"/>
                <a:ea typeface="Arial" pitchFamily="34" charset="-122"/>
                <a:cs typeface="Arial" pitchFamily="34" charset="-120"/>
              </a:rPr>
              <a:t>Open question: cross-domain authority premai.io to fluso.ai</a:t>
            </a:r>
            <a:endParaRPr lang="en-US" sz="1150" dirty="0"/>
          </a:p>
        </p:txBody>
      </p:sp>
      <p:sp>
        <p:nvSpPr>
          <p:cNvPr id="15" name="Text 12"/>
          <p:cNvSpPr/>
          <p:nvPr/>
        </p:nvSpPr>
        <p:spPr>
          <a:xfrm>
            <a:off x="640080" y="5897880"/>
            <a:ext cx="10908792" cy="365760"/>
          </a:xfrm>
          <a:prstGeom prst="rect">
            <a:avLst/>
          </a:prstGeom>
          <a:noFill/>
          <a:ln/>
        </p:spPr>
        <p:txBody>
          <a:bodyPr wrap="square" rtlCol="0" anchor="ctr"/>
          <a:lstStyle/>
          <a:p>
            <a:pPr indent="0" marL="0">
              <a:buNone/>
            </a:pPr>
            <a:r>
              <a:rPr lang="en-US" sz="1050" i="1" dirty="0">
                <a:solidFill>
                  <a:srgbClr val="9A9A93"/>
                </a:solidFill>
                <a:latin typeface="Arial" pitchFamily="34" charset="0"/>
                <a:ea typeface="Arial" pitchFamily="34" charset="-122"/>
                <a:cs typeface="Arial" pitchFamily="34" charset="-120"/>
              </a:rPr>
              <a:t>Note: resources subdomain starts at zero authority; ranking compounds over months  ·  Owner: Marketing + SEO agency</a:t>
            </a:r>
            <a:endParaRPr lang="en-US" sz="1050" dirty="0"/>
          </a:p>
        </p:txBody>
      </p:sp>
      <p:sp>
        <p:nvSpPr>
          <p:cNvPr id="16" name="Text 13"/>
          <p:cNvSpPr/>
          <p:nvPr/>
        </p:nvSpPr>
        <p:spPr>
          <a:xfrm>
            <a:off x="11460175" y="6446520"/>
            <a:ext cx="457200" cy="274320"/>
          </a:xfrm>
          <a:prstGeom prst="rect">
            <a:avLst/>
          </a:prstGeom>
          <a:noFill/>
          <a:ln/>
        </p:spPr>
        <p:txBody>
          <a:bodyPr wrap="square" rtlCol="0" anchor="ctr"/>
          <a:lstStyle/>
          <a:p>
            <a:pPr algn="r" indent="0" marL="0">
              <a:buNone/>
            </a:pPr>
            <a:r>
              <a:rPr lang="en-US" sz="1000" dirty="0">
                <a:solidFill>
                  <a:srgbClr val="9A9A93"/>
                </a:solidFill>
                <a:latin typeface="Arial" pitchFamily="34" charset="0"/>
                <a:ea typeface="Arial" pitchFamily="34" charset="-122"/>
                <a:cs typeface="Arial"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9F5"/>
        </a:solidFill>
      </p:bgPr>
    </p:bg>
    <p:spTree>
      <p:nvGrpSpPr>
        <p:cNvPr id="1" name=""/>
        <p:cNvGrpSpPr/>
        <p:nvPr/>
      </p:nvGrpSpPr>
      <p:grpSpPr>
        <a:xfrm>
          <a:off x="0" y="0"/>
          <a:ext cx="0" cy="0"/>
          <a:chOff x="0" y="0"/>
          <a:chExt cx="0" cy="0"/>
        </a:xfrm>
      </p:grpSpPr>
      <p:sp>
        <p:nvSpPr>
          <p:cNvPr id="2" name="Text 0"/>
          <p:cNvSpPr/>
          <p:nvPr/>
        </p:nvSpPr>
        <p:spPr>
          <a:xfrm>
            <a:off x="640080" y="411480"/>
            <a:ext cx="10058400" cy="274320"/>
          </a:xfrm>
          <a:prstGeom prst="rect">
            <a:avLst/>
          </a:prstGeom>
          <a:noFill/>
          <a:ln/>
        </p:spPr>
        <p:txBody>
          <a:bodyPr wrap="square" rtlCol="0" anchor="ctr"/>
          <a:lstStyle/>
          <a:p>
            <a:pPr indent="0" marL="0">
              <a:buNone/>
            </a:pPr>
            <a:r>
              <a:rPr lang="en-US" sz="1100" b="1" spc="500" kern="0" dirty="0">
                <a:solidFill>
                  <a:srgbClr val="C2703D"/>
                </a:solidFill>
                <a:latin typeface="Arial" pitchFamily="34" charset="0"/>
                <a:ea typeface="Arial" pitchFamily="34" charset="-122"/>
                <a:cs typeface="Arial" pitchFamily="34" charset="-120"/>
              </a:rPr>
              <a:t>CHANNEL PLAYBOOK</a:t>
            </a:r>
            <a:endParaRPr lang="en-US" sz="1100" dirty="0"/>
          </a:p>
        </p:txBody>
      </p:sp>
      <p:pic>
        <p:nvPicPr>
          <p:cNvPr id="3" name="Image 0" descr="preencoded.png">    </p:cNvPr>
          <p:cNvPicPr>
            <a:picLocks noChangeAspect="1"/>
          </p:cNvPicPr>
          <p:nvPr/>
        </p:nvPicPr>
        <p:blipFill>
          <a:blip r:embed="rId1"/>
          <a:stretch>
            <a:fillRect/>
          </a:stretch>
        </p:blipFill>
        <p:spPr>
          <a:xfrm>
            <a:off x="640080" y="658368"/>
            <a:ext cx="457200" cy="457200"/>
          </a:xfrm>
          <a:prstGeom prst="rect">
            <a:avLst/>
          </a:prstGeom>
        </p:spPr>
      </p:pic>
      <p:sp>
        <p:nvSpPr>
          <p:cNvPr id="4" name="Text 1"/>
          <p:cNvSpPr/>
          <p:nvPr/>
        </p:nvSpPr>
        <p:spPr>
          <a:xfrm>
            <a:off x="1234440" y="658368"/>
            <a:ext cx="10058400" cy="502920"/>
          </a:xfrm>
          <a:prstGeom prst="rect">
            <a:avLst/>
          </a:prstGeom>
          <a:noFill/>
          <a:ln/>
        </p:spPr>
        <p:txBody>
          <a:bodyPr wrap="square" rtlCol="0" anchor="ctr"/>
          <a:lstStyle/>
          <a:p>
            <a:pPr indent="0" marL="0">
              <a:buNone/>
            </a:pPr>
            <a:r>
              <a:rPr lang="en-US" sz="2600" dirty="0">
                <a:solidFill>
                  <a:srgbClr val="0E0E10"/>
                </a:solidFill>
                <a:latin typeface="Georgia" pitchFamily="34" charset="0"/>
                <a:ea typeface="Georgia" pitchFamily="34" charset="-122"/>
                <a:cs typeface="Georgia" pitchFamily="34" charset="-120"/>
              </a:rPr>
              <a:t>Email &amp; Lifecycle</a:t>
            </a:r>
            <a:endParaRPr lang="en-US" sz="2600" dirty="0"/>
          </a:p>
        </p:txBody>
      </p:sp>
      <p:sp>
        <p:nvSpPr>
          <p:cNvPr id="5" name="Shape 2"/>
          <p:cNvSpPr/>
          <p:nvPr/>
        </p:nvSpPr>
        <p:spPr>
          <a:xfrm>
            <a:off x="640080" y="1371600"/>
            <a:ext cx="10908792" cy="640080"/>
          </a:xfrm>
          <a:prstGeom prst="rect">
            <a:avLst/>
          </a:prstGeom>
          <a:solidFill>
            <a:srgbClr val="17171B"/>
          </a:solidFill>
          <a:ln/>
        </p:spPr>
      </p:sp>
      <p:sp>
        <p:nvSpPr>
          <p:cNvPr id="6" name="Text 3"/>
          <p:cNvSpPr/>
          <p:nvPr/>
        </p:nvSpPr>
        <p:spPr>
          <a:xfrm>
            <a:off x="868680" y="1371600"/>
            <a:ext cx="10424160" cy="640080"/>
          </a:xfrm>
          <a:prstGeom prst="rect">
            <a:avLst/>
          </a:prstGeom>
          <a:noFill/>
          <a:ln/>
        </p:spPr>
        <p:txBody>
          <a:bodyPr wrap="square" rtlCol="0" anchor="ctr"/>
          <a:lstStyle/>
          <a:p>
            <a:pPr indent="0" marL="0">
              <a:buNone/>
            </a:pPr>
            <a:r>
              <a:rPr lang="en-US" sz="1250" i="1" dirty="0">
                <a:solidFill>
                  <a:srgbClr val="ECEAE1"/>
                </a:solidFill>
                <a:latin typeface="Georgia" pitchFamily="34" charset="0"/>
                <a:ea typeface="Georgia" pitchFamily="34" charset="-122"/>
                <a:cs typeface="Georgia" pitchFamily="34" charset="-120"/>
              </a:rPr>
              <a:t>Turn attention into activation, and activation into expansion. The one channel we fully own, no algorithm between us and them.</a:t>
            </a:r>
            <a:endParaRPr lang="en-US" sz="1250" dirty="0"/>
          </a:p>
        </p:txBody>
      </p:sp>
      <p:sp>
        <p:nvSpPr>
          <p:cNvPr id="7" name="Shape 4"/>
          <p:cNvSpPr/>
          <p:nvPr/>
        </p:nvSpPr>
        <p:spPr>
          <a:xfrm>
            <a:off x="640080" y="2240280"/>
            <a:ext cx="5376672" cy="3429000"/>
          </a:xfrm>
          <a:prstGeom prst="rect">
            <a:avLst/>
          </a:prstGeom>
          <a:solidFill>
            <a:srgbClr val="FFFFFF"/>
          </a:solidFill>
          <a:ln/>
          <a:effectLst>
            <a:outerShdw sx="100000" sy="100000" kx="0" ky="0" algn="bl" rotWithShape="0" blurRad="1.1447912056398413e+173" dist="4.579164822559364e+172" dir="4.3310682305853715e+202">
              <a:srgbClr val="000000">
                <a:alpha val="9.999999999999999e+208"/>
              </a:srgbClr>
            </a:outerShdw>
          </a:effectLst>
        </p:spPr>
      </p:sp>
      <p:sp>
        <p:nvSpPr>
          <p:cNvPr id="8" name="Shape 5"/>
          <p:cNvSpPr/>
          <p:nvPr/>
        </p:nvSpPr>
        <p:spPr>
          <a:xfrm>
            <a:off x="640080" y="2240280"/>
            <a:ext cx="5376672" cy="457200"/>
          </a:xfrm>
          <a:prstGeom prst="rect">
            <a:avLst/>
          </a:prstGeom>
          <a:solidFill>
            <a:srgbClr val="185771"/>
          </a:solidFill>
          <a:ln/>
        </p:spPr>
      </p:sp>
      <p:sp>
        <p:nvSpPr>
          <p:cNvPr id="9" name="Text 6"/>
          <p:cNvSpPr/>
          <p:nvPr/>
        </p:nvSpPr>
        <p:spPr>
          <a:xfrm>
            <a:off x="868680" y="2240280"/>
            <a:ext cx="4937760" cy="457200"/>
          </a:xfrm>
          <a:prstGeom prst="rect">
            <a:avLst/>
          </a:prstGeom>
          <a:noFill/>
          <a:ln/>
        </p:spPr>
        <p:txBody>
          <a:bodyPr wrap="square" rtlCol="0" anchor="ctr"/>
          <a:lstStyle/>
          <a:p>
            <a:pPr indent="0" marL="0">
              <a:buNone/>
            </a:pPr>
            <a:r>
              <a:rPr lang="en-US" sz="1300" b="1" spc="200" kern="0" dirty="0">
                <a:solidFill>
                  <a:srgbClr val="FFFFFF"/>
                </a:solidFill>
                <a:latin typeface="Arial" pitchFamily="34" charset="0"/>
                <a:ea typeface="Arial" pitchFamily="34" charset="-122"/>
                <a:cs typeface="Arial" pitchFamily="34" charset="-120"/>
              </a:rPr>
              <a:t>B2B / SALES-ASSIST</a:t>
            </a:r>
            <a:endParaRPr lang="en-US" sz="1300" dirty="0"/>
          </a:p>
        </p:txBody>
      </p:sp>
      <p:sp>
        <p:nvSpPr>
          <p:cNvPr id="10" name="Text 7"/>
          <p:cNvSpPr/>
          <p:nvPr/>
        </p:nvSpPr>
        <p:spPr>
          <a:xfrm>
            <a:off x="868680" y="2834640"/>
            <a:ext cx="4937760" cy="2743200"/>
          </a:xfrm>
          <a:prstGeom prst="rect">
            <a:avLst/>
          </a:prstGeom>
          <a:noFill/>
          <a:ln/>
        </p:spPr>
        <p:txBody>
          <a:bodyPr wrap="square" rtlCol="0" anchor="t"/>
          <a:lstStyle/>
          <a:p>
            <a:pPr marL="342900" indent="-342900">
              <a:lnSpc>
                <a:spcPct val="125000"/>
              </a:lnSpc>
              <a:spcAft>
                <a:spcPts val="800"/>
              </a:spcAft>
              <a:buSzPct val="100000"/>
              <a:buChar char="•"/>
            </a:pPr>
            <a:r>
              <a:rPr lang="en-US" sz="1150" dirty="0">
                <a:solidFill>
                  <a:srgbClr val="5B5F63"/>
                </a:solidFill>
                <a:latin typeface="Arial" pitchFamily="34" charset="0"/>
                <a:ea typeface="Arial" pitchFamily="34" charset="-122"/>
                <a:cs typeface="Arial" pitchFamily="34" charset="-120"/>
              </a:rPr>
              <a:t>Nurture: educational drips by persona and industry</a:t>
            </a:r>
            <a:endParaRPr lang="en-US" sz="1150" dirty="0"/>
          </a:p>
          <a:p>
            <a:pPr marL="342900" indent="-342900">
              <a:lnSpc>
                <a:spcPct val="125000"/>
              </a:lnSpc>
              <a:spcAft>
                <a:spcPts val="800"/>
              </a:spcAft>
              <a:buSzPct val="100000"/>
              <a:buChar char="•"/>
            </a:pPr>
            <a:r>
              <a:rPr lang="en-US" sz="1150" dirty="0">
                <a:solidFill>
                  <a:srgbClr val="5B5F63"/>
                </a:solidFill>
                <a:latin typeface="Arial" pitchFamily="34" charset="0"/>
                <a:ea typeface="Arial" pitchFamily="34" charset="-122"/>
                <a:cs typeface="Arial" pitchFamily="34" charset="-120"/>
              </a:rPr>
              <a:t>Lead scoring to flag sales-ready accounts</a:t>
            </a:r>
            <a:endParaRPr lang="en-US" sz="1150" dirty="0"/>
          </a:p>
          <a:p>
            <a:pPr marL="342900" indent="-342900">
              <a:lnSpc>
                <a:spcPct val="125000"/>
              </a:lnSpc>
              <a:spcAft>
                <a:spcPts val="800"/>
              </a:spcAft>
              <a:buSzPct val="100000"/>
              <a:buChar char="•"/>
            </a:pPr>
            <a:r>
              <a:rPr lang="en-US" sz="1150" dirty="0">
                <a:solidFill>
                  <a:srgbClr val="5B5F63"/>
                </a:solidFill>
                <a:latin typeface="Arial" pitchFamily="34" charset="0"/>
                <a:ea typeface="Arial" pitchFamily="34" charset="-122"/>
                <a:cs typeface="Arial" pitchFamily="34" charset="-120"/>
              </a:rPr>
              <a:t>Hand-raisers routed to the sales team</a:t>
            </a:r>
            <a:endParaRPr lang="en-US" sz="1150" dirty="0"/>
          </a:p>
          <a:p>
            <a:pPr marL="342900" indent="-342900">
              <a:lnSpc>
                <a:spcPct val="125000"/>
              </a:lnSpc>
              <a:spcAft>
                <a:spcPts val="800"/>
              </a:spcAft>
              <a:buSzPct val="100000"/>
              <a:buChar char="•"/>
            </a:pPr>
            <a:r>
              <a:rPr lang="en-US" sz="1150" dirty="0">
                <a:solidFill>
                  <a:srgbClr val="5B5F63"/>
                </a:solidFill>
                <a:latin typeface="Arial" pitchFamily="34" charset="0"/>
                <a:ea typeface="Arial" pitchFamily="34" charset="-122"/>
                <a:cs typeface="Arial" pitchFamily="34" charset="-120"/>
              </a:rPr>
              <a:t>Re-engagement for stalled deals</a:t>
            </a:r>
            <a:endParaRPr lang="en-US" sz="1150" dirty="0"/>
          </a:p>
        </p:txBody>
      </p:sp>
      <p:sp>
        <p:nvSpPr>
          <p:cNvPr id="11" name="Shape 8"/>
          <p:cNvSpPr/>
          <p:nvPr/>
        </p:nvSpPr>
        <p:spPr>
          <a:xfrm>
            <a:off x="6172200" y="2240280"/>
            <a:ext cx="5376672" cy="3429000"/>
          </a:xfrm>
          <a:prstGeom prst="rect">
            <a:avLst/>
          </a:prstGeom>
          <a:solidFill>
            <a:srgbClr val="FFFFFF"/>
          </a:solidFill>
          <a:ln/>
          <a:effectLst>
            <a:outerShdw sx="100000" sy="100000" kx="0" ky="0" algn="bl" rotWithShape="0" blurRad="1.4538848311625985e+177" dist="5.815539324650392e+176" dir="2.598640938351223e+207">
              <a:srgbClr val="000000">
                <a:alpha val="9.999999999999998e+213"/>
              </a:srgbClr>
            </a:outerShdw>
          </a:effectLst>
        </p:spPr>
      </p:sp>
      <p:sp>
        <p:nvSpPr>
          <p:cNvPr id="12" name="Shape 9"/>
          <p:cNvSpPr/>
          <p:nvPr/>
        </p:nvSpPr>
        <p:spPr>
          <a:xfrm>
            <a:off x="6172200" y="2240280"/>
            <a:ext cx="5376672" cy="457200"/>
          </a:xfrm>
          <a:prstGeom prst="rect">
            <a:avLst/>
          </a:prstGeom>
          <a:solidFill>
            <a:srgbClr val="C2703D"/>
          </a:solidFill>
          <a:ln/>
        </p:spPr>
      </p:sp>
      <p:sp>
        <p:nvSpPr>
          <p:cNvPr id="13" name="Text 10"/>
          <p:cNvSpPr/>
          <p:nvPr/>
        </p:nvSpPr>
        <p:spPr>
          <a:xfrm>
            <a:off x="6400800" y="2240280"/>
            <a:ext cx="4937760" cy="457200"/>
          </a:xfrm>
          <a:prstGeom prst="rect">
            <a:avLst/>
          </a:prstGeom>
          <a:noFill/>
          <a:ln/>
        </p:spPr>
        <p:txBody>
          <a:bodyPr wrap="square" rtlCol="0" anchor="ctr"/>
          <a:lstStyle/>
          <a:p>
            <a:pPr indent="0" marL="0">
              <a:buNone/>
            </a:pPr>
            <a:r>
              <a:rPr lang="en-US" sz="1300" b="1" spc="200" kern="0" dirty="0">
                <a:solidFill>
                  <a:srgbClr val="FFFFFF"/>
                </a:solidFill>
                <a:latin typeface="Arial" pitchFamily="34" charset="0"/>
                <a:ea typeface="Arial" pitchFamily="34" charset="-122"/>
                <a:cs typeface="Arial" pitchFamily="34" charset="-120"/>
              </a:rPr>
              <a:t>B2C / PLG LIFECYCLE</a:t>
            </a:r>
            <a:endParaRPr lang="en-US" sz="1300" dirty="0"/>
          </a:p>
        </p:txBody>
      </p:sp>
      <p:sp>
        <p:nvSpPr>
          <p:cNvPr id="14" name="Text 11"/>
          <p:cNvSpPr/>
          <p:nvPr/>
        </p:nvSpPr>
        <p:spPr>
          <a:xfrm>
            <a:off x="6400800" y="2834640"/>
            <a:ext cx="4937760" cy="2743200"/>
          </a:xfrm>
          <a:prstGeom prst="rect">
            <a:avLst/>
          </a:prstGeom>
          <a:noFill/>
          <a:ln/>
        </p:spPr>
        <p:txBody>
          <a:bodyPr wrap="square" rtlCol="0" anchor="t"/>
          <a:lstStyle/>
          <a:p>
            <a:pPr marL="342900" indent="-342900">
              <a:lnSpc>
                <a:spcPct val="125000"/>
              </a:lnSpc>
              <a:spcAft>
                <a:spcPts val="800"/>
              </a:spcAft>
              <a:buSzPct val="100000"/>
              <a:buChar char="•"/>
            </a:pPr>
            <a:r>
              <a:rPr lang="en-US" sz="1150" dirty="0">
                <a:solidFill>
                  <a:srgbClr val="5B5F63"/>
                </a:solidFill>
                <a:latin typeface="Arial" pitchFamily="34" charset="0"/>
                <a:ea typeface="Arial" pitchFamily="34" charset="-122"/>
                <a:cs typeface="Arial" pitchFamily="34" charset="-120"/>
              </a:rPr>
              <a:t>Onboarding: reach first value fast (activation)</a:t>
            </a:r>
            <a:endParaRPr lang="en-US" sz="1150" dirty="0"/>
          </a:p>
          <a:p>
            <a:pPr marL="342900" indent="-342900">
              <a:lnSpc>
                <a:spcPct val="125000"/>
              </a:lnSpc>
              <a:spcAft>
                <a:spcPts val="800"/>
              </a:spcAft>
              <a:buSzPct val="100000"/>
              <a:buChar char="•"/>
            </a:pPr>
            <a:r>
              <a:rPr lang="en-US" sz="1150" dirty="0">
                <a:solidFill>
                  <a:srgbClr val="5B5F63"/>
                </a:solidFill>
                <a:latin typeface="Arial" pitchFamily="34" charset="0"/>
                <a:ea typeface="Arial" pitchFamily="34" charset="-122"/>
                <a:cs typeface="Arial" pitchFamily="34" charset="-120"/>
              </a:rPr>
              <a:t>Behavioral triggers nudge unused features</a:t>
            </a:r>
            <a:endParaRPr lang="en-US" sz="1150" dirty="0"/>
          </a:p>
          <a:p>
            <a:pPr marL="342900" indent="-342900">
              <a:lnSpc>
                <a:spcPct val="125000"/>
              </a:lnSpc>
              <a:spcAft>
                <a:spcPts val="800"/>
              </a:spcAft>
              <a:buSzPct val="100000"/>
              <a:buChar char="•"/>
            </a:pPr>
            <a:r>
              <a:rPr lang="en-US" sz="1150" dirty="0">
                <a:solidFill>
                  <a:srgbClr val="5B5F63"/>
                </a:solidFill>
                <a:latin typeface="Arial" pitchFamily="34" charset="0"/>
                <a:ea typeface="Arial" pitchFamily="34" charset="-122"/>
                <a:cs typeface="Arial" pitchFamily="34" charset="-120"/>
              </a:rPr>
              <a:t>Free-to-paid conversion sequences</a:t>
            </a:r>
            <a:endParaRPr lang="en-US" sz="1150" dirty="0"/>
          </a:p>
          <a:p>
            <a:pPr marL="342900" indent="-342900">
              <a:lnSpc>
                <a:spcPct val="125000"/>
              </a:lnSpc>
              <a:spcAft>
                <a:spcPts val="800"/>
              </a:spcAft>
              <a:buSzPct val="100000"/>
              <a:buChar char="•"/>
            </a:pPr>
            <a:r>
              <a:rPr lang="en-US" sz="1150" dirty="0">
                <a:solidFill>
                  <a:srgbClr val="5B5F63"/>
                </a:solidFill>
                <a:latin typeface="Arial" pitchFamily="34" charset="0"/>
                <a:ea typeface="Arial" pitchFamily="34" charset="-122"/>
                <a:cs typeface="Arial" pitchFamily="34" charset="-120"/>
              </a:rPr>
              <a:t>Power-user and referral prompts</a:t>
            </a:r>
            <a:endParaRPr lang="en-US" sz="1150" dirty="0"/>
          </a:p>
        </p:txBody>
      </p:sp>
      <p:sp>
        <p:nvSpPr>
          <p:cNvPr id="15" name="Text 12"/>
          <p:cNvSpPr/>
          <p:nvPr/>
        </p:nvSpPr>
        <p:spPr>
          <a:xfrm>
            <a:off x="640080" y="5897880"/>
            <a:ext cx="10908792" cy="365760"/>
          </a:xfrm>
          <a:prstGeom prst="rect">
            <a:avLst/>
          </a:prstGeom>
          <a:noFill/>
          <a:ln/>
        </p:spPr>
        <p:txBody>
          <a:bodyPr wrap="square" rtlCol="0" anchor="ctr"/>
          <a:lstStyle/>
          <a:p>
            <a:pPr indent="0" marL="0">
              <a:buNone/>
            </a:pPr>
            <a:r>
              <a:rPr lang="en-US" sz="1050" i="1" dirty="0">
                <a:solidFill>
                  <a:srgbClr val="9A9A93"/>
                </a:solidFill>
                <a:latin typeface="Arial" pitchFamily="34" charset="0"/>
                <a:ea typeface="Arial" pitchFamily="34" charset="-122"/>
                <a:cs typeface="Arial" pitchFamily="34" charset="-120"/>
              </a:rPr>
              <a:t>Motion: the connective tissue across both engines  ·  Owner: Marketing (lifecycle)</a:t>
            </a:r>
            <a:endParaRPr lang="en-US" sz="1050" dirty="0"/>
          </a:p>
        </p:txBody>
      </p:sp>
      <p:sp>
        <p:nvSpPr>
          <p:cNvPr id="16" name="Text 13"/>
          <p:cNvSpPr/>
          <p:nvPr/>
        </p:nvSpPr>
        <p:spPr>
          <a:xfrm>
            <a:off x="11460175" y="6446520"/>
            <a:ext cx="457200" cy="274320"/>
          </a:xfrm>
          <a:prstGeom prst="rect">
            <a:avLst/>
          </a:prstGeom>
          <a:noFill/>
          <a:ln/>
        </p:spPr>
        <p:txBody>
          <a:bodyPr wrap="square" rtlCol="0" anchor="ctr"/>
          <a:lstStyle/>
          <a:p>
            <a:pPr algn="r" indent="0" marL="0">
              <a:buNone/>
            </a:pPr>
            <a:r>
              <a:rPr lang="en-US" sz="1000" dirty="0">
                <a:solidFill>
                  <a:srgbClr val="9A9A93"/>
                </a:solidFill>
                <a:latin typeface="Arial" pitchFamily="34" charset="0"/>
                <a:ea typeface="Arial" pitchFamily="34" charset="-122"/>
                <a:cs typeface="Arial"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9F5"/>
        </a:solidFill>
      </p:bgPr>
    </p:bg>
    <p:spTree>
      <p:nvGrpSpPr>
        <p:cNvPr id="1" name=""/>
        <p:cNvGrpSpPr/>
        <p:nvPr/>
      </p:nvGrpSpPr>
      <p:grpSpPr>
        <a:xfrm>
          <a:off x="0" y="0"/>
          <a:ext cx="0" cy="0"/>
          <a:chOff x="0" y="0"/>
          <a:chExt cx="0" cy="0"/>
        </a:xfrm>
      </p:grpSpPr>
      <p:sp>
        <p:nvSpPr>
          <p:cNvPr id="2" name="Text 0"/>
          <p:cNvSpPr/>
          <p:nvPr/>
        </p:nvSpPr>
        <p:spPr>
          <a:xfrm>
            <a:off x="640080" y="411480"/>
            <a:ext cx="10058400" cy="274320"/>
          </a:xfrm>
          <a:prstGeom prst="rect">
            <a:avLst/>
          </a:prstGeom>
          <a:noFill/>
          <a:ln/>
        </p:spPr>
        <p:txBody>
          <a:bodyPr wrap="square" rtlCol="0" anchor="ctr"/>
          <a:lstStyle/>
          <a:p>
            <a:pPr indent="0" marL="0">
              <a:buNone/>
            </a:pPr>
            <a:r>
              <a:rPr lang="en-US" sz="1100" b="1" spc="500" kern="0" dirty="0">
                <a:solidFill>
                  <a:srgbClr val="788C5D"/>
                </a:solidFill>
                <a:latin typeface="Arial" pitchFamily="34" charset="0"/>
                <a:ea typeface="Arial" pitchFamily="34" charset="-122"/>
                <a:cs typeface="Arial" pitchFamily="34" charset="-120"/>
              </a:rPr>
              <a:t>CHANNEL PLAYBOOK</a:t>
            </a:r>
            <a:endParaRPr lang="en-US" sz="1100" dirty="0"/>
          </a:p>
        </p:txBody>
      </p:sp>
      <p:pic>
        <p:nvPicPr>
          <p:cNvPr id="3" name="Image 0" descr="preencoded.png">    </p:cNvPr>
          <p:cNvPicPr>
            <a:picLocks noChangeAspect="1"/>
          </p:cNvPicPr>
          <p:nvPr/>
        </p:nvPicPr>
        <p:blipFill>
          <a:blip r:embed="rId1"/>
          <a:stretch>
            <a:fillRect/>
          </a:stretch>
        </p:blipFill>
        <p:spPr>
          <a:xfrm>
            <a:off x="640080" y="658368"/>
            <a:ext cx="457200" cy="457200"/>
          </a:xfrm>
          <a:prstGeom prst="rect">
            <a:avLst/>
          </a:prstGeom>
        </p:spPr>
      </p:pic>
      <p:sp>
        <p:nvSpPr>
          <p:cNvPr id="4" name="Text 1"/>
          <p:cNvSpPr/>
          <p:nvPr/>
        </p:nvSpPr>
        <p:spPr>
          <a:xfrm>
            <a:off x="1234440" y="658368"/>
            <a:ext cx="10058400" cy="502920"/>
          </a:xfrm>
          <a:prstGeom prst="rect">
            <a:avLst/>
          </a:prstGeom>
          <a:noFill/>
          <a:ln/>
        </p:spPr>
        <p:txBody>
          <a:bodyPr wrap="square" rtlCol="0" anchor="ctr"/>
          <a:lstStyle/>
          <a:p>
            <a:pPr indent="0" marL="0">
              <a:buNone/>
            </a:pPr>
            <a:r>
              <a:rPr lang="en-US" sz="2600" dirty="0">
                <a:solidFill>
                  <a:srgbClr val="0E0E10"/>
                </a:solidFill>
                <a:latin typeface="Georgia" pitchFamily="34" charset="0"/>
                <a:ea typeface="Georgia" pitchFamily="34" charset="-122"/>
                <a:cs typeface="Georgia" pitchFamily="34" charset="-120"/>
              </a:rPr>
              <a:t>Social</a:t>
            </a:r>
            <a:endParaRPr lang="en-US" sz="2600" dirty="0"/>
          </a:p>
        </p:txBody>
      </p:sp>
      <p:sp>
        <p:nvSpPr>
          <p:cNvPr id="5" name="Shape 2"/>
          <p:cNvSpPr/>
          <p:nvPr/>
        </p:nvSpPr>
        <p:spPr>
          <a:xfrm>
            <a:off x="640080" y="1371600"/>
            <a:ext cx="10908792" cy="640080"/>
          </a:xfrm>
          <a:prstGeom prst="rect">
            <a:avLst/>
          </a:prstGeom>
          <a:solidFill>
            <a:srgbClr val="17171B"/>
          </a:solidFill>
          <a:ln/>
        </p:spPr>
      </p:sp>
      <p:sp>
        <p:nvSpPr>
          <p:cNvPr id="6" name="Text 3"/>
          <p:cNvSpPr/>
          <p:nvPr/>
        </p:nvSpPr>
        <p:spPr>
          <a:xfrm>
            <a:off x="868680" y="1371600"/>
            <a:ext cx="10424160" cy="640080"/>
          </a:xfrm>
          <a:prstGeom prst="rect">
            <a:avLst/>
          </a:prstGeom>
          <a:noFill/>
          <a:ln/>
        </p:spPr>
        <p:txBody>
          <a:bodyPr wrap="square" rtlCol="0" anchor="ctr"/>
          <a:lstStyle/>
          <a:p>
            <a:pPr indent="0" marL="0">
              <a:buNone/>
            </a:pPr>
            <a:r>
              <a:rPr lang="en-US" sz="1250" i="1" dirty="0">
                <a:solidFill>
                  <a:srgbClr val="ECEAE1"/>
                </a:solidFill>
                <a:latin typeface="Georgia" pitchFamily="34" charset="0"/>
                <a:ea typeface="Georgia" pitchFamily="34" charset="-122"/>
                <a:cs typeface="Georgia" pitchFamily="34" charset="-120"/>
              </a:rPr>
              <a:t>Show up daily where buyers and builders already are. LinkedIn carries B2B as Prem; X and short-form carry the sharper voice.</a:t>
            </a:r>
            <a:endParaRPr lang="en-US" sz="1250" dirty="0"/>
          </a:p>
        </p:txBody>
      </p:sp>
      <p:sp>
        <p:nvSpPr>
          <p:cNvPr id="7" name="Shape 4"/>
          <p:cNvSpPr/>
          <p:nvPr/>
        </p:nvSpPr>
        <p:spPr>
          <a:xfrm>
            <a:off x="640080" y="2240280"/>
            <a:ext cx="5376672" cy="3429000"/>
          </a:xfrm>
          <a:prstGeom prst="rect">
            <a:avLst/>
          </a:prstGeom>
          <a:solidFill>
            <a:srgbClr val="FFFFFF"/>
          </a:solidFill>
          <a:ln/>
          <a:effectLst>
            <a:outerShdw sx="100000" sy="100000" kx="0" ky="0" algn="bl" rotWithShape="0" blurRad="1.8464337355765e+181" dist="7.385734942305998e+180" dir="1.5591845630107338e+212">
              <a:srgbClr val="000000">
                <a:alpha val="9.999999999999998e+218"/>
              </a:srgbClr>
            </a:outerShdw>
          </a:effectLst>
        </p:spPr>
      </p:sp>
      <p:sp>
        <p:nvSpPr>
          <p:cNvPr id="8" name="Shape 5"/>
          <p:cNvSpPr/>
          <p:nvPr/>
        </p:nvSpPr>
        <p:spPr>
          <a:xfrm>
            <a:off x="640080" y="2240280"/>
            <a:ext cx="5376672" cy="457200"/>
          </a:xfrm>
          <a:prstGeom prst="rect">
            <a:avLst/>
          </a:prstGeom>
          <a:solidFill>
            <a:srgbClr val="185771"/>
          </a:solidFill>
          <a:ln/>
        </p:spPr>
      </p:sp>
      <p:sp>
        <p:nvSpPr>
          <p:cNvPr id="9" name="Text 6"/>
          <p:cNvSpPr/>
          <p:nvPr/>
        </p:nvSpPr>
        <p:spPr>
          <a:xfrm>
            <a:off x="868680" y="2240280"/>
            <a:ext cx="4937760" cy="457200"/>
          </a:xfrm>
          <a:prstGeom prst="rect">
            <a:avLst/>
          </a:prstGeom>
          <a:noFill/>
          <a:ln/>
        </p:spPr>
        <p:txBody>
          <a:bodyPr wrap="square" rtlCol="0" anchor="ctr"/>
          <a:lstStyle/>
          <a:p>
            <a:pPr indent="0" marL="0">
              <a:buNone/>
            </a:pPr>
            <a:r>
              <a:rPr lang="en-US" sz="1300" b="1" spc="200" kern="0" dirty="0">
                <a:solidFill>
                  <a:srgbClr val="FFFFFF"/>
                </a:solidFill>
                <a:latin typeface="Arial" pitchFamily="34" charset="0"/>
                <a:ea typeface="Arial" pitchFamily="34" charset="-122"/>
                <a:cs typeface="Arial" pitchFamily="34" charset="-120"/>
              </a:rPr>
              <a:t>B2B  (LinkedIn, X)</a:t>
            </a:r>
            <a:endParaRPr lang="en-US" sz="1300" dirty="0"/>
          </a:p>
        </p:txBody>
      </p:sp>
      <p:sp>
        <p:nvSpPr>
          <p:cNvPr id="10" name="Text 7"/>
          <p:cNvSpPr/>
          <p:nvPr/>
        </p:nvSpPr>
        <p:spPr>
          <a:xfrm>
            <a:off x="868680" y="2834640"/>
            <a:ext cx="4937760" cy="2743200"/>
          </a:xfrm>
          <a:prstGeom prst="rect">
            <a:avLst/>
          </a:prstGeom>
          <a:noFill/>
          <a:ln/>
        </p:spPr>
        <p:txBody>
          <a:bodyPr wrap="square" rtlCol="0" anchor="t"/>
          <a:lstStyle/>
          <a:p>
            <a:pPr marL="342900" indent="-342900">
              <a:lnSpc>
                <a:spcPct val="125000"/>
              </a:lnSpc>
              <a:spcAft>
                <a:spcPts val="800"/>
              </a:spcAft>
              <a:buSzPct val="100000"/>
              <a:buChar char="•"/>
            </a:pPr>
            <a:r>
              <a:rPr lang="en-US" sz="1150" dirty="0">
                <a:solidFill>
                  <a:srgbClr val="5B5F63"/>
                </a:solidFill>
                <a:latin typeface="Arial" pitchFamily="34" charset="0"/>
                <a:ea typeface="Arial" pitchFamily="34" charset="-122"/>
                <a:cs typeface="Arial" pitchFamily="34" charset="-120"/>
              </a:rPr>
              <a:t>Pillars: customer proof, sovereignty explainers, build-in-public, founder POV, benchmarks</a:t>
            </a:r>
            <a:endParaRPr lang="en-US" sz="1150" dirty="0"/>
          </a:p>
          <a:p>
            <a:pPr marL="342900" indent="-342900">
              <a:lnSpc>
                <a:spcPct val="125000"/>
              </a:lnSpc>
              <a:spcAft>
                <a:spcPts val="800"/>
              </a:spcAft>
              <a:buSzPct val="100000"/>
              <a:buChar char="•"/>
            </a:pPr>
            <a:r>
              <a:rPr lang="en-US" sz="1150" dirty="0">
                <a:solidFill>
                  <a:srgbClr val="5B5F63"/>
                </a:solidFill>
                <a:latin typeface="Arial" pitchFamily="34" charset="0"/>
                <a:ea typeface="Arial" pitchFamily="34" charset="-122"/>
                <a:cs typeface="Arial" pitchFamily="34" charset="-120"/>
              </a:rPr>
              <a:t>Cadence: 1+ per day, 1 to 2 threads weekly</a:t>
            </a:r>
            <a:endParaRPr lang="en-US" sz="1150" dirty="0"/>
          </a:p>
          <a:p>
            <a:pPr marL="342900" indent="-342900">
              <a:lnSpc>
                <a:spcPct val="125000"/>
              </a:lnSpc>
              <a:spcAft>
                <a:spcPts val="800"/>
              </a:spcAft>
              <a:buSzPct val="100000"/>
              <a:buChar char="•"/>
            </a:pPr>
            <a:r>
              <a:rPr lang="en-US" sz="1150" dirty="0">
                <a:solidFill>
                  <a:srgbClr val="5B5F63"/>
                </a:solidFill>
                <a:latin typeface="Arial" pitchFamily="34" charset="0"/>
                <a:ea typeface="Arial" pitchFamily="34" charset="-122"/>
                <a:cs typeface="Arial" pitchFamily="34" charset="-120"/>
              </a:rPr>
              <a:t>Tone: credible, technical, grounded. No hype words.</a:t>
            </a:r>
            <a:endParaRPr lang="en-US" sz="1150" dirty="0"/>
          </a:p>
          <a:p>
            <a:pPr marL="342900" indent="-342900">
              <a:lnSpc>
                <a:spcPct val="125000"/>
              </a:lnSpc>
              <a:spcAft>
                <a:spcPts val="800"/>
              </a:spcAft>
              <a:buSzPct val="100000"/>
              <a:buChar char="•"/>
            </a:pPr>
            <a:r>
              <a:rPr lang="en-US" sz="1150" dirty="0">
                <a:solidFill>
                  <a:srgbClr val="5B5F63"/>
                </a:solidFill>
                <a:latin typeface="Arial" pitchFamily="34" charset="0"/>
                <a:ea typeface="Arial" pitchFamily="34" charset="-122"/>
                <a:cs typeface="Arial" pitchFamily="34" charset="-120"/>
              </a:rPr>
              <a:t>Every post ties to a real proof point</a:t>
            </a:r>
            <a:endParaRPr lang="en-US" sz="1150" dirty="0"/>
          </a:p>
        </p:txBody>
      </p:sp>
      <p:sp>
        <p:nvSpPr>
          <p:cNvPr id="11" name="Shape 8"/>
          <p:cNvSpPr/>
          <p:nvPr/>
        </p:nvSpPr>
        <p:spPr>
          <a:xfrm>
            <a:off x="6172200" y="2240280"/>
            <a:ext cx="5376672" cy="3429000"/>
          </a:xfrm>
          <a:prstGeom prst="rect">
            <a:avLst/>
          </a:prstGeom>
          <a:solidFill>
            <a:srgbClr val="FFFFFF"/>
          </a:solidFill>
          <a:ln/>
          <a:effectLst>
            <a:outerShdw sx="100000" sy="100000" kx="0" ky="0" algn="bl" rotWithShape="0" blurRad="2.344970844182155e+185" dist="9.379883376728618e+184" dir="9.355107378064403e+216">
              <a:srgbClr val="000000">
                <a:alpha val="9.999999999999998e+223"/>
              </a:srgbClr>
            </a:outerShdw>
          </a:effectLst>
        </p:spPr>
      </p:sp>
      <p:sp>
        <p:nvSpPr>
          <p:cNvPr id="12" name="Shape 9"/>
          <p:cNvSpPr/>
          <p:nvPr/>
        </p:nvSpPr>
        <p:spPr>
          <a:xfrm>
            <a:off x="6172200" y="2240280"/>
            <a:ext cx="5376672" cy="457200"/>
          </a:xfrm>
          <a:prstGeom prst="rect">
            <a:avLst/>
          </a:prstGeom>
          <a:solidFill>
            <a:srgbClr val="C2703D"/>
          </a:solidFill>
          <a:ln/>
        </p:spPr>
      </p:sp>
      <p:sp>
        <p:nvSpPr>
          <p:cNvPr id="13" name="Text 10"/>
          <p:cNvSpPr/>
          <p:nvPr/>
        </p:nvSpPr>
        <p:spPr>
          <a:xfrm>
            <a:off x="6400800" y="2240280"/>
            <a:ext cx="4937760" cy="457200"/>
          </a:xfrm>
          <a:prstGeom prst="rect">
            <a:avLst/>
          </a:prstGeom>
          <a:noFill/>
          <a:ln/>
        </p:spPr>
        <p:txBody>
          <a:bodyPr wrap="square" rtlCol="0" anchor="ctr"/>
          <a:lstStyle/>
          <a:p>
            <a:pPr indent="0" marL="0">
              <a:buNone/>
            </a:pPr>
            <a:r>
              <a:rPr lang="en-US" sz="1300" b="1" spc="200" kern="0" dirty="0">
                <a:solidFill>
                  <a:srgbClr val="FFFFFF"/>
                </a:solidFill>
                <a:latin typeface="Arial" pitchFamily="34" charset="0"/>
                <a:ea typeface="Arial" pitchFamily="34" charset="-122"/>
                <a:cs typeface="Arial" pitchFamily="34" charset="-120"/>
              </a:rPr>
              <a:t>B2C  (X, IG, short-form)</a:t>
            </a:r>
            <a:endParaRPr lang="en-US" sz="1300" dirty="0"/>
          </a:p>
        </p:txBody>
      </p:sp>
      <p:sp>
        <p:nvSpPr>
          <p:cNvPr id="14" name="Text 11"/>
          <p:cNvSpPr/>
          <p:nvPr/>
        </p:nvSpPr>
        <p:spPr>
          <a:xfrm>
            <a:off x="6400800" y="2834640"/>
            <a:ext cx="4937760" cy="2743200"/>
          </a:xfrm>
          <a:prstGeom prst="rect">
            <a:avLst/>
          </a:prstGeom>
          <a:noFill/>
          <a:ln/>
        </p:spPr>
        <p:txBody>
          <a:bodyPr wrap="square" rtlCol="0" anchor="t"/>
          <a:lstStyle/>
          <a:p>
            <a:pPr marL="342900" indent="-342900">
              <a:lnSpc>
                <a:spcPct val="125000"/>
              </a:lnSpc>
              <a:spcAft>
                <a:spcPts val="800"/>
              </a:spcAft>
              <a:buSzPct val="100000"/>
              <a:buChar char="•"/>
            </a:pPr>
            <a:r>
              <a:rPr lang="en-US" sz="1150" dirty="0">
                <a:solidFill>
                  <a:srgbClr val="5B5F63"/>
                </a:solidFill>
                <a:latin typeface="Arial" pitchFamily="34" charset="0"/>
                <a:ea typeface="Arial" pitchFamily="34" charset="-122"/>
                <a:cs typeface="Arial" pitchFamily="34" charset="-120"/>
              </a:rPr>
              <a:t>Buckets: use-case demos, time-saved before/after, privacy made simple, workflow pain</a:t>
            </a:r>
            <a:endParaRPr lang="en-US" sz="1150" dirty="0"/>
          </a:p>
          <a:p>
            <a:pPr marL="342900" indent="-342900">
              <a:lnSpc>
                <a:spcPct val="125000"/>
              </a:lnSpc>
              <a:spcAft>
                <a:spcPts val="800"/>
              </a:spcAft>
              <a:buSzPct val="100000"/>
              <a:buChar char="•"/>
            </a:pPr>
            <a:r>
              <a:rPr lang="en-US" sz="1150" dirty="0">
                <a:solidFill>
                  <a:srgbClr val="5B5F63"/>
                </a:solidFill>
                <a:latin typeface="Arial" pitchFamily="34" charset="0"/>
                <a:ea typeface="Arial" pitchFamily="34" charset="-122"/>
                <a:cs typeface="Arial" pitchFamily="34" charset="-120"/>
              </a:rPr>
              <a:t>Flagship: educational AI-literacy series</a:t>
            </a:r>
            <a:endParaRPr lang="en-US" sz="1150" dirty="0"/>
          </a:p>
          <a:p>
            <a:pPr marL="342900" indent="-342900">
              <a:lnSpc>
                <a:spcPct val="125000"/>
              </a:lnSpc>
              <a:spcAft>
                <a:spcPts val="800"/>
              </a:spcAft>
              <a:buSzPct val="100000"/>
              <a:buChar char="•"/>
            </a:pPr>
            <a:r>
              <a:rPr lang="en-US" sz="1150" dirty="0">
                <a:solidFill>
                  <a:srgbClr val="5B5F63"/>
                </a:solidFill>
                <a:latin typeface="Arial" pitchFamily="34" charset="0"/>
                <a:ea typeface="Arial" pitchFamily="34" charset="-122"/>
                <a:cs typeface="Arial" pitchFamily="34" charset="-120"/>
              </a:rPr>
              <a:t>Cadence: higher volume, trend-responsive</a:t>
            </a:r>
            <a:endParaRPr lang="en-US" sz="1150" dirty="0"/>
          </a:p>
          <a:p>
            <a:pPr marL="342900" indent="-342900">
              <a:lnSpc>
                <a:spcPct val="125000"/>
              </a:lnSpc>
              <a:spcAft>
                <a:spcPts val="800"/>
              </a:spcAft>
              <a:buSzPct val="100000"/>
              <a:buChar char="•"/>
            </a:pPr>
            <a:r>
              <a:rPr lang="en-US" sz="1150" dirty="0">
                <a:solidFill>
                  <a:srgbClr val="5B5F63"/>
                </a:solidFill>
                <a:latin typeface="Arial" pitchFamily="34" charset="0"/>
                <a:ea typeface="Arial" pitchFamily="34" charset="-122"/>
                <a:cs typeface="Arial" pitchFamily="34" charset="-120"/>
              </a:rPr>
              <a:t>Lead with utility, privacy as the kicker</a:t>
            </a:r>
            <a:endParaRPr lang="en-US" sz="1150" dirty="0"/>
          </a:p>
        </p:txBody>
      </p:sp>
      <p:sp>
        <p:nvSpPr>
          <p:cNvPr id="15" name="Text 12"/>
          <p:cNvSpPr/>
          <p:nvPr/>
        </p:nvSpPr>
        <p:spPr>
          <a:xfrm>
            <a:off x="640080" y="5897880"/>
            <a:ext cx="10908792" cy="365760"/>
          </a:xfrm>
          <a:prstGeom prst="rect">
            <a:avLst/>
          </a:prstGeom>
          <a:noFill/>
          <a:ln/>
        </p:spPr>
        <p:txBody>
          <a:bodyPr wrap="square" rtlCol="0" anchor="ctr"/>
          <a:lstStyle/>
          <a:p>
            <a:pPr indent="0" marL="0">
              <a:buNone/>
            </a:pPr>
            <a:r>
              <a:rPr lang="en-US" sz="1050" i="1" dirty="0">
                <a:solidFill>
                  <a:srgbClr val="9A9A93"/>
                </a:solidFill>
                <a:latin typeface="Arial" pitchFamily="34" charset="0"/>
                <a:ea typeface="Arial" pitchFamily="34" charset="-122"/>
                <a:cs typeface="Arial" pitchFamily="34" charset="-120"/>
              </a:rPr>
              <a:t>Edge: none of the big labs lead on verifiable privacy. As they go ad-supported, that contrast is ours.  ·  Owner: Marketing</a:t>
            </a:r>
            <a:endParaRPr lang="en-US" sz="1050" dirty="0"/>
          </a:p>
        </p:txBody>
      </p:sp>
      <p:sp>
        <p:nvSpPr>
          <p:cNvPr id="16" name="Text 13"/>
          <p:cNvSpPr/>
          <p:nvPr/>
        </p:nvSpPr>
        <p:spPr>
          <a:xfrm>
            <a:off x="11460175" y="6446520"/>
            <a:ext cx="457200" cy="274320"/>
          </a:xfrm>
          <a:prstGeom prst="rect">
            <a:avLst/>
          </a:prstGeom>
          <a:noFill/>
          <a:ln/>
        </p:spPr>
        <p:txBody>
          <a:bodyPr wrap="square" rtlCol="0" anchor="ctr"/>
          <a:lstStyle/>
          <a:p>
            <a:pPr algn="r" indent="0" marL="0">
              <a:buNone/>
            </a:pPr>
            <a:r>
              <a:rPr lang="en-US" sz="1000" dirty="0">
                <a:solidFill>
                  <a:srgbClr val="9A9A93"/>
                </a:solidFill>
                <a:latin typeface="Arial" pitchFamily="34" charset="0"/>
                <a:ea typeface="Arial" pitchFamily="34" charset="-122"/>
                <a:cs typeface="Arial" pitchFamily="34" charset="-120"/>
              </a:rPr>
              <a:t>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9F5"/>
        </a:solidFill>
      </p:bgPr>
    </p:bg>
    <p:spTree>
      <p:nvGrpSpPr>
        <p:cNvPr id="1" name=""/>
        <p:cNvGrpSpPr/>
        <p:nvPr/>
      </p:nvGrpSpPr>
      <p:grpSpPr>
        <a:xfrm>
          <a:off x="0" y="0"/>
          <a:ext cx="0" cy="0"/>
          <a:chOff x="0" y="0"/>
          <a:chExt cx="0" cy="0"/>
        </a:xfrm>
      </p:grpSpPr>
      <p:sp>
        <p:nvSpPr>
          <p:cNvPr id="2" name="Text 0"/>
          <p:cNvSpPr/>
          <p:nvPr/>
        </p:nvSpPr>
        <p:spPr>
          <a:xfrm>
            <a:off x="640080" y="411480"/>
            <a:ext cx="10058400" cy="274320"/>
          </a:xfrm>
          <a:prstGeom prst="rect">
            <a:avLst/>
          </a:prstGeom>
          <a:noFill/>
          <a:ln/>
        </p:spPr>
        <p:txBody>
          <a:bodyPr wrap="square" rtlCol="0" anchor="ctr"/>
          <a:lstStyle/>
          <a:p>
            <a:pPr indent="0" marL="0">
              <a:buNone/>
            </a:pPr>
            <a:r>
              <a:rPr lang="en-US" sz="1100" b="1" spc="500" kern="0" dirty="0">
                <a:solidFill>
                  <a:srgbClr val="185771"/>
                </a:solidFill>
                <a:latin typeface="Arial" pitchFamily="34" charset="0"/>
                <a:ea typeface="Arial" pitchFamily="34" charset="-122"/>
                <a:cs typeface="Arial" pitchFamily="34" charset="-120"/>
              </a:rPr>
              <a:t>CHANNEL PLAYBOOK</a:t>
            </a:r>
            <a:endParaRPr lang="en-US" sz="1100" dirty="0"/>
          </a:p>
        </p:txBody>
      </p:sp>
      <p:pic>
        <p:nvPicPr>
          <p:cNvPr id="3" name="Image 0" descr="preencoded.png">    </p:cNvPr>
          <p:cNvPicPr>
            <a:picLocks noChangeAspect="1"/>
          </p:cNvPicPr>
          <p:nvPr/>
        </p:nvPicPr>
        <p:blipFill>
          <a:blip r:embed="rId1"/>
          <a:stretch>
            <a:fillRect/>
          </a:stretch>
        </p:blipFill>
        <p:spPr>
          <a:xfrm>
            <a:off x="640080" y="658368"/>
            <a:ext cx="457200" cy="457200"/>
          </a:xfrm>
          <a:prstGeom prst="rect">
            <a:avLst/>
          </a:prstGeom>
        </p:spPr>
      </p:pic>
      <p:sp>
        <p:nvSpPr>
          <p:cNvPr id="4" name="Text 1"/>
          <p:cNvSpPr/>
          <p:nvPr/>
        </p:nvSpPr>
        <p:spPr>
          <a:xfrm>
            <a:off x="1234440" y="658368"/>
            <a:ext cx="10058400" cy="502920"/>
          </a:xfrm>
          <a:prstGeom prst="rect">
            <a:avLst/>
          </a:prstGeom>
          <a:noFill/>
          <a:ln/>
        </p:spPr>
        <p:txBody>
          <a:bodyPr wrap="square" rtlCol="0" anchor="ctr"/>
          <a:lstStyle/>
          <a:p>
            <a:pPr indent="0" marL="0">
              <a:buNone/>
            </a:pPr>
            <a:r>
              <a:rPr lang="en-US" sz="2600" dirty="0">
                <a:solidFill>
                  <a:srgbClr val="0E0E10"/>
                </a:solidFill>
                <a:latin typeface="Georgia" pitchFamily="34" charset="0"/>
                <a:ea typeface="Georgia" pitchFamily="34" charset="-122"/>
                <a:cs typeface="Georgia" pitchFamily="34" charset="-120"/>
              </a:rPr>
              <a:t>Events &amp; Webinars</a:t>
            </a:r>
            <a:endParaRPr lang="en-US" sz="2600" dirty="0"/>
          </a:p>
        </p:txBody>
      </p:sp>
      <p:sp>
        <p:nvSpPr>
          <p:cNvPr id="5" name="Shape 2"/>
          <p:cNvSpPr/>
          <p:nvPr/>
        </p:nvSpPr>
        <p:spPr>
          <a:xfrm>
            <a:off x="640080" y="1371600"/>
            <a:ext cx="10908792" cy="640080"/>
          </a:xfrm>
          <a:prstGeom prst="rect">
            <a:avLst/>
          </a:prstGeom>
          <a:solidFill>
            <a:srgbClr val="17171B"/>
          </a:solidFill>
          <a:ln/>
        </p:spPr>
      </p:sp>
      <p:sp>
        <p:nvSpPr>
          <p:cNvPr id="6" name="Text 3"/>
          <p:cNvSpPr/>
          <p:nvPr/>
        </p:nvSpPr>
        <p:spPr>
          <a:xfrm>
            <a:off x="868680" y="1371600"/>
            <a:ext cx="10424160" cy="640080"/>
          </a:xfrm>
          <a:prstGeom prst="rect">
            <a:avLst/>
          </a:prstGeom>
          <a:noFill/>
          <a:ln/>
        </p:spPr>
        <p:txBody>
          <a:bodyPr wrap="square" rtlCol="0" anchor="ctr"/>
          <a:lstStyle/>
          <a:p>
            <a:pPr indent="0" marL="0">
              <a:buNone/>
            </a:pPr>
            <a:r>
              <a:rPr lang="en-US" sz="1250" i="1" dirty="0">
                <a:solidFill>
                  <a:srgbClr val="ECEAE1"/>
                </a:solidFill>
                <a:latin typeface="Georgia" pitchFamily="34" charset="0"/>
                <a:ea typeface="Georgia" pitchFamily="34" charset="-122"/>
                <a:cs typeface="Georgia" pitchFamily="34" charset="-120"/>
              </a:rPr>
              <a:t>Get in the room with buyers who don't click ads. High-trust, high-intent, especially for enterprise and the vertical.</a:t>
            </a:r>
            <a:endParaRPr lang="en-US" sz="1250" dirty="0"/>
          </a:p>
        </p:txBody>
      </p:sp>
      <p:sp>
        <p:nvSpPr>
          <p:cNvPr id="7" name="Shape 4"/>
          <p:cNvSpPr/>
          <p:nvPr/>
        </p:nvSpPr>
        <p:spPr>
          <a:xfrm>
            <a:off x="640080" y="2240280"/>
            <a:ext cx="5376672" cy="3429000"/>
          </a:xfrm>
          <a:prstGeom prst="rect">
            <a:avLst/>
          </a:prstGeom>
          <a:solidFill>
            <a:srgbClr val="FFFFFF"/>
          </a:solidFill>
          <a:ln/>
          <a:effectLst>
            <a:outerShdw sx="100000" sy="100000" kx="0" ky="0" algn="bl" rotWithShape="0" blurRad="2.978112972111337e+189" dist="1.1912451888445345e+189" dir="5.613064426838642e+221">
              <a:srgbClr val="000000">
                <a:alpha val="9.999999999999997e+228"/>
              </a:srgbClr>
            </a:outerShdw>
          </a:effectLst>
        </p:spPr>
      </p:sp>
      <p:sp>
        <p:nvSpPr>
          <p:cNvPr id="8" name="Shape 5"/>
          <p:cNvSpPr/>
          <p:nvPr/>
        </p:nvSpPr>
        <p:spPr>
          <a:xfrm>
            <a:off x="640080" y="2240280"/>
            <a:ext cx="5376672" cy="457200"/>
          </a:xfrm>
          <a:prstGeom prst="rect">
            <a:avLst/>
          </a:prstGeom>
          <a:solidFill>
            <a:srgbClr val="185771"/>
          </a:solidFill>
          <a:ln/>
        </p:spPr>
      </p:sp>
      <p:sp>
        <p:nvSpPr>
          <p:cNvPr id="9" name="Text 6"/>
          <p:cNvSpPr/>
          <p:nvPr/>
        </p:nvSpPr>
        <p:spPr>
          <a:xfrm>
            <a:off x="868680" y="2240280"/>
            <a:ext cx="4937760" cy="457200"/>
          </a:xfrm>
          <a:prstGeom prst="rect">
            <a:avLst/>
          </a:prstGeom>
          <a:noFill/>
          <a:ln/>
        </p:spPr>
        <p:txBody>
          <a:bodyPr wrap="square" rtlCol="0" anchor="ctr"/>
          <a:lstStyle/>
          <a:p>
            <a:pPr indent="0" marL="0">
              <a:buNone/>
            </a:pPr>
            <a:r>
              <a:rPr lang="en-US" sz="1300" b="1" spc="200" kern="0" dirty="0">
                <a:solidFill>
                  <a:srgbClr val="FFFFFF"/>
                </a:solidFill>
                <a:latin typeface="Arial" pitchFamily="34" charset="0"/>
                <a:ea typeface="Arial" pitchFamily="34" charset="-122"/>
                <a:cs typeface="Arial" pitchFamily="34" charset="-120"/>
              </a:rPr>
              <a:t>INDUSTRY &amp; VERTICAL</a:t>
            </a:r>
            <a:endParaRPr lang="en-US" sz="1300" dirty="0"/>
          </a:p>
        </p:txBody>
      </p:sp>
      <p:sp>
        <p:nvSpPr>
          <p:cNvPr id="10" name="Text 7"/>
          <p:cNvSpPr/>
          <p:nvPr/>
        </p:nvSpPr>
        <p:spPr>
          <a:xfrm>
            <a:off x="868680" y="2834640"/>
            <a:ext cx="4937760" cy="2743200"/>
          </a:xfrm>
          <a:prstGeom prst="rect">
            <a:avLst/>
          </a:prstGeom>
          <a:noFill/>
          <a:ln/>
        </p:spPr>
        <p:txBody>
          <a:bodyPr wrap="square" rtlCol="0" anchor="t"/>
          <a:lstStyle/>
          <a:p>
            <a:pPr marL="342900" indent="-342900">
              <a:lnSpc>
                <a:spcPct val="125000"/>
              </a:lnSpc>
              <a:spcAft>
                <a:spcPts val="800"/>
              </a:spcAft>
              <a:buSzPct val="100000"/>
              <a:buChar char="•"/>
            </a:pPr>
            <a:r>
              <a:rPr lang="en-US" sz="1150" dirty="0">
                <a:solidFill>
                  <a:srgbClr val="5B5F63"/>
                </a:solidFill>
                <a:latin typeface="Arial" pitchFamily="34" charset="0"/>
                <a:ea typeface="Arial" pitchFamily="34" charset="-122"/>
                <a:cs typeface="Arial" pitchFamily="34" charset="-120"/>
              </a:rPr>
              <a:t>Legal: Legalweek, ILTACON (ride the Fluso Legal wedge)</a:t>
            </a:r>
            <a:endParaRPr lang="en-US" sz="1150" dirty="0"/>
          </a:p>
          <a:p>
            <a:pPr marL="342900" indent="-342900">
              <a:lnSpc>
                <a:spcPct val="125000"/>
              </a:lnSpc>
              <a:spcAft>
                <a:spcPts val="800"/>
              </a:spcAft>
              <a:buSzPct val="100000"/>
              <a:buChar char="•"/>
            </a:pPr>
            <a:r>
              <a:rPr lang="en-US" sz="1150" dirty="0">
                <a:solidFill>
                  <a:srgbClr val="5B5F63"/>
                </a:solidFill>
                <a:latin typeface="Arial" pitchFamily="34" charset="0"/>
                <a:ea typeface="Arial" pitchFamily="34" charset="-122"/>
                <a:cs typeface="Arial" pitchFamily="34" charset="-120"/>
              </a:rPr>
              <a:t>Security and compliance: RSA, industry summits</a:t>
            </a:r>
            <a:endParaRPr lang="en-US" sz="1150" dirty="0"/>
          </a:p>
          <a:p>
            <a:pPr marL="342900" indent="-342900">
              <a:lnSpc>
                <a:spcPct val="125000"/>
              </a:lnSpc>
              <a:spcAft>
                <a:spcPts val="800"/>
              </a:spcAft>
              <a:buSzPct val="100000"/>
              <a:buChar char="•"/>
            </a:pPr>
            <a:r>
              <a:rPr lang="en-US" sz="1150" dirty="0">
                <a:solidFill>
                  <a:srgbClr val="5B5F63"/>
                </a:solidFill>
                <a:latin typeface="Arial" pitchFamily="34" charset="0"/>
                <a:ea typeface="Arial" pitchFamily="34" charset="-122"/>
                <a:cs typeface="Arial" pitchFamily="34" charset="-120"/>
              </a:rPr>
              <a:t>Sponsor selectively; prioritize speaking slots</a:t>
            </a:r>
            <a:endParaRPr lang="en-US" sz="1150" dirty="0"/>
          </a:p>
          <a:p>
            <a:pPr marL="342900" indent="-342900">
              <a:lnSpc>
                <a:spcPct val="125000"/>
              </a:lnSpc>
              <a:spcAft>
                <a:spcPts val="800"/>
              </a:spcAft>
              <a:buSzPct val="100000"/>
              <a:buChar char="•"/>
            </a:pPr>
            <a:r>
              <a:rPr lang="en-US" sz="1150" dirty="0">
                <a:solidFill>
                  <a:srgbClr val="5B5F63"/>
                </a:solidFill>
                <a:latin typeface="Arial" pitchFamily="34" charset="0"/>
                <a:ea typeface="Arial" pitchFamily="34" charset="-122"/>
                <a:cs typeface="Arial" pitchFamily="34" charset="-120"/>
              </a:rPr>
              <a:t>Co-present with the legal-firm partner</a:t>
            </a:r>
            <a:endParaRPr lang="en-US" sz="1150" dirty="0"/>
          </a:p>
        </p:txBody>
      </p:sp>
      <p:sp>
        <p:nvSpPr>
          <p:cNvPr id="11" name="Shape 8"/>
          <p:cNvSpPr/>
          <p:nvPr/>
        </p:nvSpPr>
        <p:spPr>
          <a:xfrm>
            <a:off x="6172200" y="2240280"/>
            <a:ext cx="5376672" cy="3429000"/>
          </a:xfrm>
          <a:prstGeom prst="rect">
            <a:avLst/>
          </a:prstGeom>
          <a:solidFill>
            <a:srgbClr val="FFFFFF"/>
          </a:solidFill>
          <a:ln/>
          <a:effectLst>
            <a:outerShdw sx="100000" sy="100000" kx="0" ky="0" algn="bl" rotWithShape="0" blurRad="3.782203474581398e+193" dist="1.5128813898325588e+193" dir="3.367838656103185e+226">
              <a:srgbClr val="000000">
                <a:alpha val="9.999999999999997e+233"/>
              </a:srgbClr>
            </a:outerShdw>
          </a:effectLst>
        </p:spPr>
      </p:sp>
      <p:sp>
        <p:nvSpPr>
          <p:cNvPr id="12" name="Shape 9"/>
          <p:cNvSpPr/>
          <p:nvPr/>
        </p:nvSpPr>
        <p:spPr>
          <a:xfrm>
            <a:off x="6172200" y="2240280"/>
            <a:ext cx="5376672" cy="457200"/>
          </a:xfrm>
          <a:prstGeom prst="rect">
            <a:avLst/>
          </a:prstGeom>
          <a:solidFill>
            <a:srgbClr val="C2703D"/>
          </a:solidFill>
          <a:ln/>
        </p:spPr>
      </p:sp>
      <p:sp>
        <p:nvSpPr>
          <p:cNvPr id="13" name="Text 10"/>
          <p:cNvSpPr/>
          <p:nvPr/>
        </p:nvSpPr>
        <p:spPr>
          <a:xfrm>
            <a:off x="6400800" y="2240280"/>
            <a:ext cx="4937760" cy="457200"/>
          </a:xfrm>
          <a:prstGeom prst="rect">
            <a:avLst/>
          </a:prstGeom>
          <a:noFill/>
          <a:ln/>
        </p:spPr>
        <p:txBody>
          <a:bodyPr wrap="square" rtlCol="0" anchor="ctr"/>
          <a:lstStyle/>
          <a:p>
            <a:pPr indent="0" marL="0">
              <a:buNone/>
            </a:pPr>
            <a:r>
              <a:rPr lang="en-US" sz="1300" b="1" spc="200" kern="0" dirty="0">
                <a:solidFill>
                  <a:srgbClr val="FFFFFF"/>
                </a:solidFill>
                <a:latin typeface="Arial" pitchFamily="34" charset="0"/>
                <a:ea typeface="Arial" pitchFamily="34" charset="-122"/>
                <a:cs typeface="Arial" pitchFamily="34" charset="-120"/>
              </a:rPr>
              <a:t>OWNED FORMATS</a:t>
            </a:r>
            <a:endParaRPr lang="en-US" sz="1300" dirty="0"/>
          </a:p>
        </p:txBody>
      </p:sp>
      <p:sp>
        <p:nvSpPr>
          <p:cNvPr id="14" name="Text 11"/>
          <p:cNvSpPr/>
          <p:nvPr/>
        </p:nvSpPr>
        <p:spPr>
          <a:xfrm>
            <a:off x="6400800" y="2834640"/>
            <a:ext cx="4937760" cy="2743200"/>
          </a:xfrm>
          <a:prstGeom prst="rect">
            <a:avLst/>
          </a:prstGeom>
          <a:noFill/>
          <a:ln/>
        </p:spPr>
        <p:txBody>
          <a:bodyPr wrap="square" rtlCol="0" anchor="t"/>
          <a:lstStyle/>
          <a:p>
            <a:pPr marL="342900" indent="-342900">
              <a:lnSpc>
                <a:spcPct val="125000"/>
              </a:lnSpc>
              <a:spcAft>
                <a:spcPts val="800"/>
              </a:spcAft>
              <a:buSzPct val="100000"/>
              <a:buChar char="•"/>
            </a:pPr>
            <a:r>
              <a:rPr lang="en-US" sz="1150" dirty="0">
                <a:solidFill>
                  <a:srgbClr val="5B5F63"/>
                </a:solidFill>
                <a:latin typeface="Arial" pitchFamily="34" charset="0"/>
                <a:ea typeface="Arial" pitchFamily="34" charset="-122"/>
                <a:cs typeface="Arial" pitchFamily="34" charset="-120"/>
              </a:rPr>
              <a:t>Webinars: regulated-industry AI playbooks</a:t>
            </a:r>
            <a:endParaRPr lang="en-US" sz="1150" dirty="0"/>
          </a:p>
          <a:p>
            <a:pPr marL="342900" indent="-342900">
              <a:lnSpc>
                <a:spcPct val="125000"/>
              </a:lnSpc>
              <a:spcAft>
                <a:spcPts val="800"/>
              </a:spcAft>
              <a:buSzPct val="100000"/>
              <a:buChar char="•"/>
            </a:pPr>
            <a:r>
              <a:rPr lang="en-US" sz="1150" dirty="0">
                <a:solidFill>
                  <a:srgbClr val="5B5F63"/>
                </a:solidFill>
                <a:latin typeface="Arial" pitchFamily="34" charset="0"/>
                <a:ea typeface="Arial" pitchFamily="34" charset="-122"/>
                <a:cs typeface="Arial" pitchFamily="34" charset="-120"/>
              </a:rPr>
              <a:t>Executive roundtables for CISOs and compliance leads</a:t>
            </a:r>
            <a:endParaRPr lang="en-US" sz="1150" dirty="0"/>
          </a:p>
          <a:p>
            <a:pPr marL="342900" indent="-342900">
              <a:lnSpc>
                <a:spcPct val="125000"/>
              </a:lnSpc>
              <a:spcAft>
                <a:spcPts val="800"/>
              </a:spcAft>
              <a:buSzPct val="100000"/>
              <a:buChar char="•"/>
            </a:pPr>
            <a:r>
              <a:rPr lang="en-US" sz="1150" dirty="0">
                <a:solidFill>
                  <a:srgbClr val="5B5F63"/>
                </a:solidFill>
                <a:latin typeface="Arial" pitchFamily="34" charset="0"/>
                <a:ea typeface="Arial" pitchFamily="34" charset="-122"/>
                <a:cs typeface="Arial" pitchFamily="34" charset="-120"/>
              </a:rPr>
              <a:t>Live product and attestation demos</a:t>
            </a:r>
            <a:endParaRPr lang="en-US" sz="1150" dirty="0"/>
          </a:p>
          <a:p>
            <a:pPr marL="342900" indent="-342900">
              <a:lnSpc>
                <a:spcPct val="125000"/>
              </a:lnSpc>
              <a:spcAft>
                <a:spcPts val="800"/>
              </a:spcAft>
              <a:buSzPct val="100000"/>
              <a:buChar char="•"/>
            </a:pPr>
            <a:r>
              <a:rPr lang="en-US" sz="1150" dirty="0">
                <a:solidFill>
                  <a:srgbClr val="5B5F63"/>
                </a:solidFill>
                <a:latin typeface="Arial" pitchFamily="34" charset="0"/>
                <a:ea typeface="Arial" pitchFamily="34" charset="-122"/>
                <a:cs typeface="Arial" pitchFamily="34" charset="-120"/>
              </a:rPr>
              <a:t>Repurpose every session into content</a:t>
            </a:r>
            <a:endParaRPr lang="en-US" sz="1150" dirty="0"/>
          </a:p>
        </p:txBody>
      </p:sp>
      <p:sp>
        <p:nvSpPr>
          <p:cNvPr id="15" name="Text 12"/>
          <p:cNvSpPr/>
          <p:nvPr/>
        </p:nvSpPr>
        <p:spPr>
          <a:xfrm>
            <a:off x="640080" y="5897880"/>
            <a:ext cx="10908792" cy="365760"/>
          </a:xfrm>
          <a:prstGeom prst="rect">
            <a:avLst/>
          </a:prstGeom>
          <a:noFill/>
          <a:ln/>
        </p:spPr>
        <p:txBody>
          <a:bodyPr wrap="square" rtlCol="0" anchor="ctr"/>
          <a:lstStyle/>
          <a:p>
            <a:pPr indent="0" marL="0">
              <a:buNone/>
            </a:pPr>
            <a:r>
              <a:rPr lang="en-US" sz="1050" i="1" dirty="0">
                <a:solidFill>
                  <a:srgbClr val="9A9A93"/>
                </a:solidFill>
                <a:latin typeface="Arial" pitchFamily="34" charset="0"/>
                <a:ea typeface="Arial" pitchFamily="34" charset="-122"/>
                <a:cs typeface="Arial" pitchFamily="34" charset="-120"/>
              </a:rPr>
              <a:t>Motion: primarily sales-led and ABM support  ·  Owner: Marketing + Sales</a:t>
            </a:r>
            <a:endParaRPr lang="en-US" sz="1050" dirty="0"/>
          </a:p>
        </p:txBody>
      </p:sp>
      <p:sp>
        <p:nvSpPr>
          <p:cNvPr id="16" name="Text 13"/>
          <p:cNvSpPr/>
          <p:nvPr/>
        </p:nvSpPr>
        <p:spPr>
          <a:xfrm>
            <a:off x="11460175" y="6446520"/>
            <a:ext cx="457200" cy="274320"/>
          </a:xfrm>
          <a:prstGeom prst="rect">
            <a:avLst/>
          </a:prstGeom>
          <a:noFill/>
          <a:ln/>
        </p:spPr>
        <p:txBody>
          <a:bodyPr wrap="square" rtlCol="0" anchor="ctr"/>
          <a:lstStyle/>
          <a:p>
            <a:pPr algn="r" indent="0" marL="0">
              <a:buNone/>
            </a:pPr>
            <a:r>
              <a:rPr lang="en-US" sz="1000" dirty="0">
                <a:solidFill>
                  <a:srgbClr val="9A9A93"/>
                </a:solidFill>
                <a:latin typeface="Arial" pitchFamily="34" charset="0"/>
                <a:ea typeface="Arial" pitchFamily="34" charset="-122"/>
                <a:cs typeface="Arial" pitchFamily="34" charset="-120"/>
              </a:rPr>
              <a:t>18</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9F5"/>
        </a:solidFill>
      </p:bgPr>
    </p:bg>
    <p:spTree>
      <p:nvGrpSpPr>
        <p:cNvPr id="1" name=""/>
        <p:cNvGrpSpPr/>
        <p:nvPr/>
      </p:nvGrpSpPr>
      <p:grpSpPr>
        <a:xfrm>
          <a:off x="0" y="0"/>
          <a:ext cx="0" cy="0"/>
          <a:chOff x="0" y="0"/>
          <a:chExt cx="0" cy="0"/>
        </a:xfrm>
      </p:grpSpPr>
      <p:sp>
        <p:nvSpPr>
          <p:cNvPr id="2" name="Text 0"/>
          <p:cNvSpPr/>
          <p:nvPr/>
        </p:nvSpPr>
        <p:spPr>
          <a:xfrm>
            <a:off x="640080" y="411480"/>
            <a:ext cx="10058400" cy="274320"/>
          </a:xfrm>
          <a:prstGeom prst="rect">
            <a:avLst/>
          </a:prstGeom>
          <a:noFill/>
          <a:ln/>
        </p:spPr>
        <p:txBody>
          <a:bodyPr wrap="square" rtlCol="0" anchor="ctr"/>
          <a:lstStyle/>
          <a:p>
            <a:pPr indent="0" marL="0">
              <a:buNone/>
            </a:pPr>
            <a:r>
              <a:rPr lang="en-US" sz="1100" b="1" spc="500" kern="0" dirty="0">
                <a:solidFill>
                  <a:srgbClr val="C2703D"/>
                </a:solidFill>
                <a:latin typeface="Arial" pitchFamily="34" charset="0"/>
                <a:ea typeface="Arial" pitchFamily="34" charset="-122"/>
                <a:cs typeface="Arial" pitchFamily="34" charset="-120"/>
              </a:rPr>
              <a:t>CHANNEL PLAYBOOK</a:t>
            </a:r>
            <a:endParaRPr lang="en-US" sz="1100" dirty="0"/>
          </a:p>
        </p:txBody>
      </p:sp>
      <p:pic>
        <p:nvPicPr>
          <p:cNvPr id="3" name="Image 0" descr="preencoded.png">    </p:cNvPr>
          <p:cNvPicPr>
            <a:picLocks noChangeAspect="1"/>
          </p:cNvPicPr>
          <p:nvPr/>
        </p:nvPicPr>
        <p:blipFill>
          <a:blip r:embed="rId1"/>
          <a:stretch>
            <a:fillRect/>
          </a:stretch>
        </p:blipFill>
        <p:spPr>
          <a:xfrm>
            <a:off x="640080" y="658368"/>
            <a:ext cx="457200" cy="457200"/>
          </a:xfrm>
          <a:prstGeom prst="rect">
            <a:avLst/>
          </a:prstGeom>
        </p:spPr>
      </p:pic>
      <p:sp>
        <p:nvSpPr>
          <p:cNvPr id="4" name="Text 1"/>
          <p:cNvSpPr/>
          <p:nvPr/>
        </p:nvSpPr>
        <p:spPr>
          <a:xfrm>
            <a:off x="1234440" y="658368"/>
            <a:ext cx="10058400" cy="502920"/>
          </a:xfrm>
          <a:prstGeom prst="rect">
            <a:avLst/>
          </a:prstGeom>
          <a:noFill/>
          <a:ln/>
        </p:spPr>
        <p:txBody>
          <a:bodyPr wrap="square" rtlCol="0" anchor="ctr"/>
          <a:lstStyle/>
          <a:p>
            <a:pPr indent="0" marL="0">
              <a:buNone/>
            </a:pPr>
            <a:r>
              <a:rPr lang="en-US" sz="2600" dirty="0">
                <a:solidFill>
                  <a:srgbClr val="0E0E10"/>
                </a:solidFill>
                <a:latin typeface="Georgia" pitchFamily="34" charset="0"/>
                <a:ea typeface="Georgia" pitchFamily="34" charset="-122"/>
                <a:cs typeface="Georgia" pitchFamily="34" charset="-120"/>
              </a:rPr>
              <a:t>PR &amp; Analyst Relations</a:t>
            </a:r>
            <a:endParaRPr lang="en-US" sz="2600" dirty="0"/>
          </a:p>
        </p:txBody>
      </p:sp>
      <p:sp>
        <p:nvSpPr>
          <p:cNvPr id="5" name="Shape 2"/>
          <p:cNvSpPr/>
          <p:nvPr/>
        </p:nvSpPr>
        <p:spPr>
          <a:xfrm>
            <a:off x="640080" y="1371600"/>
            <a:ext cx="10908792" cy="640080"/>
          </a:xfrm>
          <a:prstGeom prst="rect">
            <a:avLst/>
          </a:prstGeom>
          <a:solidFill>
            <a:srgbClr val="17171B"/>
          </a:solidFill>
          <a:ln/>
        </p:spPr>
      </p:sp>
      <p:sp>
        <p:nvSpPr>
          <p:cNvPr id="6" name="Text 3"/>
          <p:cNvSpPr/>
          <p:nvPr/>
        </p:nvSpPr>
        <p:spPr>
          <a:xfrm>
            <a:off x="868680" y="1371600"/>
            <a:ext cx="10424160" cy="640080"/>
          </a:xfrm>
          <a:prstGeom prst="rect">
            <a:avLst/>
          </a:prstGeom>
          <a:noFill/>
          <a:ln/>
        </p:spPr>
        <p:txBody>
          <a:bodyPr wrap="square" rtlCol="0" anchor="ctr"/>
          <a:lstStyle/>
          <a:p>
            <a:pPr indent="0" marL="0">
              <a:buNone/>
            </a:pPr>
            <a:r>
              <a:rPr lang="en-US" sz="1250" i="1" dirty="0">
                <a:solidFill>
                  <a:srgbClr val="ECEAE1"/>
                </a:solidFill>
                <a:latin typeface="Georgia" pitchFamily="34" charset="0"/>
                <a:ea typeface="Georgia" pitchFamily="34" charset="-122"/>
                <a:cs typeface="Georgia" pitchFamily="34" charset="-120"/>
              </a:rPr>
              <a:t>Borrow third-party credibility. In regulated B2B, validation by press and analysts shortens the trust gap.</a:t>
            </a:r>
            <a:endParaRPr lang="en-US" sz="1250" dirty="0"/>
          </a:p>
        </p:txBody>
      </p:sp>
      <p:sp>
        <p:nvSpPr>
          <p:cNvPr id="7" name="Shape 4"/>
          <p:cNvSpPr/>
          <p:nvPr/>
        </p:nvSpPr>
        <p:spPr>
          <a:xfrm>
            <a:off x="640080" y="2240280"/>
            <a:ext cx="5376672" cy="3429000"/>
          </a:xfrm>
          <a:prstGeom prst="rect">
            <a:avLst/>
          </a:prstGeom>
          <a:solidFill>
            <a:srgbClr val="FFFFFF"/>
          </a:solidFill>
          <a:ln/>
          <a:effectLst>
            <a:outerShdw sx="100000" sy="100000" kx="0" ky="0" algn="bl" rotWithShape="0" blurRad="4.803398412718375e+197" dist="1.9213593650873497e+197" dir="2.020703193661911e+231">
              <a:srgbClr val="000000">
                <a:alpha val="9.999999999999996e+238"/>
              </a:srgbClr>
            </a:outerShdw>
          </a:effectLst>
        </p:spPr>
      </p:sp>
      <p:sp>
        <p:nvSpPr>
          <p:cNvPr id="8" name="Shape 5"/>
          <p:cNvSpPr/>
          <p:nvPr/>
        </p:nvSpPr>
        <p:spPr>
          <a:xfrm>
            <a:off x="640080" y="2240280"/>
            <a:ext cx="5376672" cy="457200"/>
          </a:xfrm>
          <a:prstGeom prst="rect">
            <a:avLst/>
          </a:prstGeom>
          <a:solidFill>
            <a:srgbClr val="185771"/>
          </a:solidFill>
          <a:ln/>
        </p:spPr>
      </p:sp>
      <p:sp>
        <p:nvSpPr>
          <p:cNvPr id="9" name="Text 6"/>
          <p:cNvSpPr/>
          <p:nvPr/>
        </p:nvSpPr>
        <p:spPr>
          <a:xfrm>
            <a:off x="868680" y="2240280"/>
            <a:ext cx="4937760" cy="457200"/>
          </a:xfrm>
          <a:prstGeom prst="rect">
            <a:avLst/>
          </a:prstGeom>
          <a:noFill/>
          <a:ln/>
        </p:spPr>
        <p:txBody>
          <a:bodyPr wrap="square" rtlCol="0" anchor="ctr"/>
          <a:lstStyle/>
          <a:p>
            <a:pPr indent="0" marL="0">
              <a:buNone/>
            </a:pPr>
            <a:r>
              <a:rPr lang="en-US" sz="1300" b="1" spc="200" kern="0" dirty="0">
                <a:solidFill>
                  <a:srgbClr val="FFFFFF"/>
                </a:solidFill>
                <a:latin typeface="Arial" pitchFamily="34" charset="0"/>
                <a:ea typeface="Arial" pitchFamily="34" charset="-122"/>
                <a:cs typeface="Arial" pitchFamily="34" charset="-120"/>
              </a:rPr>
              <a:t>PRESS &amp; EARNED MEDIA</a:t>
            </a:r>
            <a:endParaRPr lang="en-US" sz="1300" dirty="0"/>
          </a:p>
        </p:txBody>
      </p:sp>
      <p:sp>
        <p:nvSpPr>
          <p:cNvPr id="10" name="Text 7"/>
          <p:cNvSpPr/>
          <p:nvPr/>
        </p:nvSpPr>
        <p:spPr>
          <a:xfrm>
            <a:off x="868680" y="2834640"/>
            <a:ext cx="4937760" cy="2743200"/>
          </a:xfrm>
          <a:prstGeom prst="rect">
            <a:avLst/>
          </a:prstGeom>
          <a:noFill/>
          <a:ln/>
        </p:spPr>
        <p:txBody>
          <a:bodyPr wrap="square" rtlCol="0" anchor="t"/>
          <a:lstStyle/>
          <a:p>
            <a:pPr marL="342900" indent="-342900">
              <a:lnSpc>
                <a:spcPct val="125000"/>
              </a:lnSpc>
              <a:spcAft>
                <a:spcPts val="800"/>
              </a:spcAft>
              <a:buSzPct val="100000"/>
              <a:buChar char="•"/>
            </a:pPr>
            <a:r>
              <a:rPr lang="en-US" sz="1150" dirty="0">
                <a:solidFill>
                  <a:srgbClr val="5B5F63"/>
                </a:solidFill>
                <a:latin typeface="Arial" pitchFamily="34" charset="0"/>
                <a:ea typeface="Arial" pitchFamily="34" charset="-122"/>
                <a:cs typeface="Arial" pitchFamily="34" charset="-120"/>
              </a:rPr>
              <a:t>Tier-1 tech and security press for launches</a:t>
            </a:r>
            <a:endParaRPr lang="en-US" sz="1150" dirty="0"/>
          </a:p>
          <a:p>
            <a:pPr marL="342900" indent="-342900">
              <a:lnSpc>
                <a:spcPct val="125000"/>
              </a:lnSpc>
              <a:spcAft>
                <a:spcPts val="800"/>
              </a:spcAft>
              <a:buSzPct val="100000"/>
              <a:buChar char="•"/>
            </a:pPr>
            <a:r>
              <a:rPr lang="en-US" sz="1150" dirty="0">
                <a:solidFill>
                  <a:srgbClr val="5B5F63"/>
                </a:solidFill>
                <a:latin typeface="Arial" pitchFamily="34" charset="0"/>
                <a:ea typeface="Arial" pitchFamily="34" charset="-122"/>
                <a:cs typeface="Arial" pitchFamily="34" charset="-120"/>
              </a:rPr>
              <a:t>Vertical trade press (Artificial Lawyer for legal)</a:t>
            </a:r>
            <a:endParaRPr lang="en-US" sz="1150" dirty="0"/>
          </a:p>
          <a:p>
            <a:pPr marL="342900" indent="-342900">
              <a:lnSpc>
                <a:spcPct val="125000"/>
              </a:lnSpc>
              <a:spcAft>
                <a:spcPts val="800"/>
              </a:spcAft>
              <a:buSzPct val="100000"/>
              <a:buChar char="•"/>
            </a:pPr>
            <a:r>
              <a:rPr lang="en-US" sz="1150" dirty="0">
                <a:solidFill>
                  <a:srgbClr val="5B5F63"/>
                </a:solidFill>
                <a:latin typeface="Arial" pitchFamily="34" charset="0"/>
                <a:ea typeface="Arial" pitchFamily="34" charset="-122"/>
                <a:cs typeface="Arial" pitchFamily="34" charset="-120"/>
              </a:rPr>
              <a:t>Founder commentary on the AI-sovereignty debate</a:t>
            </a:r>
            <a:endParaRPr lang="en-US" sz="1150" dirty="0"/>
          </a:p>
          <a:p>
            <a:pPr marL="342900" indent="-342900">
              <a:lnSpc>
                <a:spcPct val="125000"/>
              </a:lnSpc>
              <a:spcAft>
                <a:spcPts val="800"/>
              </a:spcAft>
              <a:buSzPct val="100000"/>
              <a:buChar char="•"/>
            </a:pPr>
            <a:r>
              <a:rPr lang="en-US" sz="1150" dirty="0">
                <a:solidFill>
                  <a:srgbClr val="5B5F63"/>
                </a:solidFill>
                <a:latin typeface="Arial" pitchFamily="34" charset="0"/>
                <a:ea typeface="Arial" pitchFamily="34" charset="-122"/>
                <a:cs typeface="Arial" pitchFamily="34" charset="-120"/>
              </a:rPr>
              <a:t>Customer-outcome stories as press angles</a:t>
            </a:r>
            <a:endParaRPr lang="en-US" sz="1150" dirty="0"/>
          </a:p>
        </p:txBody>
      </p:sp>
      <p:sp>
        <p:nvSpPr>
          <p:cNvPr id="11" name="Shape 8"/>
          <p:cNvSpPr/>
          <p:nvPr/>
        </p:nvSpPr>
        <p:spPr>
          <a:xfrm>
            <a:off x="6172200" y="2240280"/>
            <a:ext cx="5376672" cy="3429000"/>
          </a:xfrm>
          <a:prstGeom prst="rect">
            <a:avLst/>
          </a:prstGeom>
          <a:solidFill>
            <a:srgbClr val="FFFFFF"/>
          </a:solidFill>
          <a:ln/>
          <a:effectLst>
            <a:outerShdw sx="100000" sy="100000" kx="0" ky="0" algn="bl" rotWithShape="0" blurRad="6.100315984152336e+201" dist="2.440126393660934e+201" dir="1.2124219161971466e+236">
              <a:srgbClr val="000000">
                <a:alpha val="9.999999999999996e+243"/>
              </a:srgbClr>
            </a:outerShdw>
          </a:effectLst>
        </p:spPr>
      </p:sp>
      <p:sp>
        <p:nvSpPr>
          <p:cNvPr id="12" name="Shape 9"/>
          <p:cNvSpPr/>
          <p:nvPr/>
        </p:nvSpPr>
        <p:spPr>
          <a:xfrm>
            <a:off x="6172200" y="2240280"/>
            <a:ext cx="5376672" cy="457200"/>
          </a:xfrm>
          <a:prstGeom prst="rect">
            <a:avLst/>
          </a:prstGeom>
          <a:solidFill>
            <a:srgbClr val="C2703D"/>
          </a:solidFill>
          <a:ln/>
        </p:spPr>
      </p:sp>
      <p:sp>
        <p:nvSpPr>
          <p:cNvPr id="13" name="Text 10"/>
          <p:cNvSpPr/>
          <p:nvPr/>
        </p:nvSpPr>
        <p:spPr>
          <a:xfrm>
            <a:off x="6400800" y="2240280"/>
            <a:ext cx="4937760" cy="457200"/>
          </a:xfrm>
          <a:prstGeom prst="rect">
            <a:avLst/>
          </a:prstGeom>
          <a:noFill/>
          <a:ln/>
        </p:spPr>
        <p:txBody>
          <a:bodyPr wrap="square" rtlCol="0" anchor="ctr"/>
          <a:lstStyle/>
          <a:p>
            <a:pPr indent="0" marL="0">
              <a:buNone/>
            </a:pPr>
            <a:r>
              <a:rPr lang="en-US" sz="1300" b="1" spc="200" kern="0" dirty="0">
                <a:solidFill>
                  <a:srgbClr val="FFFFFF"/>
                </a:solidFill>
                <a:latin typeface="Arial" pitchFamily="34" charset="0"/>
                <a:ea typeface="Arial" pitchFamily="34" charset="-122"/>
                <a:cs typeface="Arial" pitchFamily="34" charset="-120"/>
              </a:rPr>
              <a:t>ANALYST &amp; VALIDATION</a:t>
            </a:r>
            <a:endParaRPr lang="en-US" sz="1300" dirty="0"/>
          </a:p>
        </p:txBody>
      </p:sp>
      <p:sp>
        <p:nvSpPr>
          <p:cNvPr id="14" name="Text 11"/>
          <p:cNvSpPr/>
          <p:nvPr/>
        </p:nvSpPr>
        <p:spPr>
          <a:xfrm>
            <a:off x="6400800" y="2834640"/>
            <a:ext cx="4937760" cy="2743200"/>
          </a:xfrm>
          <a:prstGeom prst="rect">
            <a:avLst/>
          </a:prstGeom>
          <a:noFill/>
          <a:ln/>
        </p:spPr>
        <p:txBody>
          <a:bodyPr wrap="square" rtlCol="0" anchor="t"/>
          <a:lstStyle/>
          <a:p>
            <a:pPr marL="342900" indent="-342900">
              <a:lnSpc>
                <a:spcPct val="125000"/>
              </a:lnSpc>
              <a:spcAft>
                <a:spcPts val="800"/>
              </a:spcAft>
              <a:buSzPct val="100000"/>
              <a:buChar char="•"/>
            </a:pPr>
            <a:r>
              <a:rPr lang="en-US" sz="1150" dirty="0">
                <a:solidFill>
                  <a:srgbClr val="5B5F63"/>
                </a:solidFill>
                <a:latin typeface="Arial" pitchFamily="34" charset="0"/>
                <a:ea typeface="Arial" pitchFamily="34" charset="-122"/>
                <a:cs typeface="Arial" pitchFamily="34" charset="-120"/>
              </a:rPr>
              <a:t>Brief Gartner and Forrester-type analysts on confidential AI</a:t>
            </a:r>
            <a:endParaRPr lang="en-US" sz="1150" dirty="0"/>
          </a:p>
          <a:p>
            <a:pPr marL="342900" indent="-342900">
              <a:lnSpc>
                <a:spcPct val="125000"/>
              </a:lnSpc>
              <a:spcAft>
                <a:spcPts val="800"/>
              </a:spcAft>
              <a:buSzPct val="100000"/>
              <a:buChar char="•"/>
            </a:pPr>
            <a:r>
              <a:rPr lang="en-US" sz="1150" dirty="0">
                <a:solidFill>
                  <a:srgbClr val="5B5F63"/>
                </a:solidFill>
                <a:latin typeface="Arial" pitchFamily="34" charset="0"/>
                <a:ea typeface="Arial" pitchFamily="34" charset="-122"/>
                <a:cs typeface="Arial" pitchFamily="34" charset="-120"/>
              </a:rPr>
              <a:t>Pursue category inclusion and reports</a:t>
            </a:r>
            <a:endParaRPr lang="en-US" sz="1150" dirty="0"/>
          </a:p>
          <a:p>
            <a:pPr marL="342900" indent="-342900">
              <a:lnSpc>
                <a:spcPct val="125000"/>
              </a:lnSpc>
              <a:spcAft>
                <a:spcPts val="800"/>
              </a:spcAft>
              <a:buSzPct val="100000"/>
              <a:buChar char="•"/>
            </a:pPr>
            <a:r>
              <a:rPr lang="en-US" sz="1150" dirty="0">
                <a:solidFill>
                  <a:srgbClr val="5B5F63"/>
                </a:solidFill>
                <a:latin typeface="Arial" pitchFamily="34" charset="0"/>
                <a:ea typeface="Arial" pitchFamily="34" charset="-122"/>
                <a:cs typeface="Arial" pitchFamily="34" charset="-120"/>
              </a:rPr>
              <a:t>Awards in security, privacy, AI innovation</a:t>
            </a:r>
            <a:endParaRPr lang="en-US" sz="1150" dirty="0"/>
          </a:p>
          <a:p>
            <a:pPr marL="342900" indent="-342900">
              <a:lnSpc>
                <a:spcPct val="125000"/>
              </a:lnSpc>
              <a:spcAft>
                <a:spcPts val="800"/>
              </a:spcAft>
              <a:buSzPct val="100000"/>
              <a:buChar char="•"/>
            </a:pPr>
            <a:r>
              <a:rPr lang="en-US" sz="1150" dirty="0">
                <a:solidFill>
                  <a:srgbClr val="5B5F63"/>
                </a:solidFill>
                <a:latin typeface="Arial" pitchFamily="34" charset="0"/>
                <a:ea typeface="Arial" pitchFamily="34" charset="-122"/>
                <a:cs typeface="Arial" pitchFamily="34" charset="-120"/>
              </a:rPr>
              <a:t>Certifications as proof milestones (SOC2, ISO)</a:t>
            </a:r>
            <a:endParaRPr lang="en-US" sz="1150" dirty="0"/>
          </a:p>
        </p:txBody>
      </p:sp>
      <p:sp>
        <p:nvSpPr>
          <p:cNvPr id="15" name="Text 12"/>
          <p:cNvSpPr/>
          <p:nvPr/>
        </p:nvSpPr>
        <p:spPr>
          <a:xfrm>
            <a:off x="640080" y="5897880"/>
            <a:ext cx="10908792" cy="365760"/>
          </a:xfrm>
          <a:prstGeom prst="rect">
            <a:avLst/>
          </a:prstGeom>
          <a:noFill/>
          <a:ln/>
        </p:spPr>
        <p:txBody>
          <a:bodyPr wrap="square" rtlCol="0" anchor="ctr"/>
          <a:lstStyle/>
          <a:p>
            <a:pPr indent="0" marL="0">
              <a:buNone/>
            </a:pPr>
            <a:r>
              <a:rPr lang="en-US" sz="1050" i="1" dirty="0">
                <a:solidFill>
                  <a:srgbClr val="9A9A93"/>
                </a:solidFill>
                <a:latin typeface="Arial" pitchFamily="34" charset="0"/>
                <a:ea typeface="Arial" pitchFamily="34" charset="-122"/>
                <a:cs typeface="Arial" pitchFamily="34" charset="-120"/>
              </a:rPr>
              <a:t>Motion: sales-led trust-building  ·  Owner: Marketing + Founder</a:t>
            </a:r>
            <a:endParaRPr lang="en-US" sz="1050" dirty="0"/>
          </a:p>
        </p:txBody>
      </p:sp>
      <p:sp>
        <p:nvSpPr>
          <p:cNvPr id="16" name="Text 13"/>
          <p:cNvSpPr/>
          <p:nvPr/>
        </p:nvSpPr>
        <p:spPr>
          <a:xfrm>
            <a:off x="11460175" y="6446520"/>
            <a:ext cx="457200" cy="274320"/>
          </a:xfrm>
          <a:prstGeom prst="rect">
            <a:avLst/>
          </a:prstGeom>
          <a:noFill/>
          <a:ln/>
        </p:spPr>
        <p:txBody>
          <a:bodyPr wrap="square" rtlCol="0" anchor="ctr"/>
          <a:lstStyle/>
          <a:p>
            <a:pPr algn="r" indent="0" marL="0">
              <a:buNone/>
            </a:pPr>
            <a:r>
              <a:rPr lang="en-US" sz="1000" dirty="0">
                <a:solidFill>
                  <a:srgbClr val="9A9A93"/>
                </a:solidFill>
                <a:latin typeface="Arial" pitchFamily="34" charset="0"/>
                <a:ea typeface="Arial" pitchFamily="34" charset="-122"/>
                <a:cs typeface="Arial" pitchFamily="34" charset="-120"/>
              </a:rPr>
              <a:t>19</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9F5"/>
        </a:solidFill>
      </p:bgPr>
    </p:bg>
    <p:spTree>
      <p:nvGrpSpPr>
        <p:cNvPr id="1" name=""/>
        <p:cNvGrpSpPr/>
        <p:nvPr/>
      </p:nvGrpSpPr>
      <p:grpSpPr>
        <a:xfrm>
          <a:off x="0" y="0"/>
          <a:ext cx="0" cy="0"/>
          <a:chOff x="0" y="0"/>
          <a:chExt cx="0" cy="0"/>
        </a:xfrm>
      </p:grpSpPr>
      <p:sp>
        <p:nvSpPr>
          <p:cNvPr id="2" name="Text 0"/>
          <p:cNvSpPr/>
          <p:nvPr/>
        </p:nvSpPr>
        <p:spPr>
          <a:xfrm>
            <a:off x="640080" y="411480"/>
            <a:ext cx="10058400" cy="274320"/>
          </a:xfrm>
          <a:prstGeom prst="rect">
            <a:avLst/>
          </a:prstGeom>
          <a:noFill/>
          <a:ln/>
        </p:spPr>
        <p:txBody>
          <a:bodyPr wrap="square" rtlCol="0" anchor="ctr"/>
          <a:lstStyle/>
          <a:p>
            <a:pPr indent="0" marL="0">
              <a:buNone/>
            </a:pPr>
            <a:r>
              <a:rPr lang="en-US" sz="1100" b="1" spc="500" kern="0" dirty="0">
                <a:solidFill>
                  <a:srgbClr val="788C5D"/>
                </a:solidFill>
                <a:latin typeface="Arial" pitchFamily="34" charset="0"/>
                <a:ea typeface="Arial" pitchFamily="34" charset="-122"/>
                <a:cs typeface="Arial" pitchFamily="34" charset="-120"/>
              </a:rPr>
              <a:t>CHANNEL PLAYBOOK</a:t>
            </a:r>
            <a:endParaRPr lang="en-US" sz="1100" dirty="0"/>
          </a:p>
        </p:txBody>
      </p:sp>
      <p:pic>
        <p:nvPicPr>
          <p:cNvPr id="3" name="Image 0" descr="preencoded.png">    </p:cNvPr>
          <p:cNvPicPr>
            <a:picLocks noChangeAspect="1"/>
          </p:cNvPicPr>
          <p:nvPr/>
        </p:nvPicPr>
        <p:blipFill>
          <a:blip r:embed="rId1"/>
          <a:stretch>
            <a:fillRect/>
          </a:stretch>
        </p:blipFill>
        <p:spPr>
          <a:xfrm>
            <a:off x="640080" y="658368"/>
            <a:ext cx="457200" cy="457200"/>
          </a:xfrm>
          <a:prstGeom prst="rect">
            <a:avLst/>
          </a:prstGeom>
        </p:spPr>
      </p:pic>
      <p:sp>
        <p:nvSpPr>
          <p:cNvPr id="4" name="Text 1"/>
          <p:cNvSpPr/>
          <p:nvPr/>
        </p:nvSpPr>
        <p:spPr>
          <a:xfrm>
            <a:off x="1234440" y="658368"/>
            <a:ext cx="10058400" cy="502920"/>
          </a:xfrm>
          <a:prstGeom prst="rect">
            <a:avLst/>
          </a:prstGeom>
          <a:noFill/>
          <a:ln/>
        </p:spPr>
        <p:txBody>
          <a:bodyPr wrap="square" rtlCol="0" anchor="ctr"/>
          <a:lstStyle/>
          <a:p>
            <a:pPr indent="0" marL="0">
              <a:buNone/>
            </a:pPr>
            <a:r>
              <a:rPr lang="en-US" sz="2600" dirty="0">
                <a:solidFill>
                  <a:srgbClr val="0E0E10"/>
                </a:solidFill>
                <a:latin typeface="Georgia" pitchFamily="34" charset="0"/>
                <a:ea typeface="Georgia" pitchFamily="34" charset="-122"/>
                <a:cs typeface="Georgia" pitchFamily="34" charset="-120"/>
              </a:rPr>
              <a:t>Account-Based Marketing</a:t>
            </a:r>
            <a:endParaRPr lang="en-US" sz="2600" dirty="0"/>
          </a:p>
        </p:txBody>
      </p:sp>
      <p:sp>
        <p:nvSpPr>
          <p:cNvPr id="5" name="Shape 2"/>
          <p:cNvSpPr/>
          <p:nvPr/>
        </p:nvSpPr>
        <p:spPr>
          <a:xfrm>
            <a:off x="640080" y="1371600"/>
            <a:ext cx="10908792" cy="640080"/>
          </a:xfrm>
          <a:prstGeom prst="rect">
            <a:avLst/>
          </a:prstGeom>
          <a:solidFill>
            <a:srgbClr val="17171B"/>
          </a:solidFill>
          <a:ln/>
        </p:spPr>
      </p:sp>
      <p:sp>
        <p:nvSpPr>
          <p:cNvPr id="6" name="Text 3"/>
          <p:cNvSpPr/>
          <p:nvPr/>
        </p:nvSpPr>
        <p:spPr>
          <a:xfrm>
            <a:off x="868680" y="1371600"/>
            <a:ext cx="10424160" cy="640080"/>
          </a:xfrm>
          <a:prstGeom prst="rect">
            <a:avLst/>
          </a:prstGeom>
          <a:noFill/>
          <a:ln/>
        </p:spPr>
        <p:txBody>
          <a:bodyPr wrap="square" rtlCol="0" anchor="ctr"/>
          <a:lstStyle/>
          <a:p>
            <a:pPr indent="0" marL="0">
              <a:buNone/>
            </a:pPr>
            <a:r>
              <a:rPr lang="en-US" sz="1250" i="1" dirty="0">
                <a:solidFill>
                  <a:srgbClr val="ECEAE1"/>
                </a:solidFill>
                <a:latin typeface="Georgia" pitchFamily="34" charset="0"/>
                <a:ea typeface="Georgia" pitchFamily="34" charset="-122"/>
                <a:cs typeface="Georgia" pitchFamily="34" charset="-120"/>
              </a:rPr>
              <a:t>Win named accounts, not anonymous leads. Concentrate firepower on a defined target list for enterprise and vertical.</a:t>
            </a:r>
            <a:endParaRPr lang="en-US" sz="1250" dirty="0"/>
          </a:p>
        </p:txBody>
      </p:sp>
      <p:sp>
        <p:nvSpPr>
          <p:cNvPr id="7" name="Shape 4"/>
          <p:cNvSpPr/>
          <p:nvPr/>
        </p:nvSpPr>
        <p:spPr>
          <a:xfrm>
            <a:off x="640080" y="2240280"/>
            <a:ext cx="5376672" cy="3429000"/>
          </a:xfrm>
          <a:prstGeom prst="rect">
            <a:avLst/>
          </a:prstGeom>
          <a:solidFill>
            <a:srgbClr val="FFFFFF"/>
          </a:solidFill>
          <a:ln/>
          <a:effectLst>
            <a:outerShdw sx="100000" sy="100000" kx="0" ky="0" algn="bl" rotWithShape="0" blurRad="7.747401299873467e+205" dist="3.0989605199493864e+205" dir="7.27453149718288e+240">
              <a:srgbClr val="000000">
                <a:alpha val="9.999999999999995e+248"/>
              </a:srgbClr>
            </a:outerShdw>
          </a:effectLst>
        </p:spPr>
      </p:sp>
      <p:sp>
        <p:nvSpPr>
          <p:cNvPr id="8" name="Shape 5"/>
          <p:cNvSpPr/>
          <p:nvPr/>
        </p:nvSpPr>
        <p:spPr>
          <a:xfrm>
            <a:off x="640080" y="2240280"/>
            <a:ext cx="5376672" cy="457200"/>
          </a:xfrm>
          <a:prstGeom prst="rect">
            <a:avLst/>
          </a:prstGeom>
          <a:solidFill>
            <a:srgbClr val="185771"/>
          </a:solidFill>
          <a:ln/>
        </p:spPr>
      </p:sp>
      <p:sp>
        <p:nvSpPr>
          <p:cNvPr id="9" name="Text 6"/>
          <p:cNvSpPr/>
          <p:nvPr/>
        </p:nvSpPr>
        <p:spPr>
          <a:xfrm>
            <a:off x="868680" y="2240280"/>
            <a:ext cx="4937760" cy="457200"/>
          </a:xfrm>
          <a:prstGeom prst="rect">
            <a:avLst/>
          </a:prstGeom>
          <a:noFill/>
          <a:ln/>
        </p:spPr>
        <p:txBody>
          <a:bodyPr wrap="square" rtlCol="0" anchor="ctr"/>
          <a:lstStyle/>
          <a:p>
            <a:pPr indent="0" marL="0">
              <a:buNone/>
            </a:pPr>
            <a:r>
              <a:rPr lang="en-US" sz="1300" b="1" spc="200" kern="0" dirty="0">
                <a:solidFill>
                  <a:srgbClr val="FFFFFF"/>
                </a:solidFill>
                <a:latin typeface="Arial" pitchFamily="34" charset="0"/>
                <a:ea typeface="Arial" pitchFamily="34" charset="-122"/>
                <a:cs typeface="Arial" pitchFamily="34" charset="-120"/>
              </a:rPr>
              <a:t>ENTERPRISE (REGULATED)</a:t>
            </a:r>
            <a:endParaRPr lang="en-US" sz="1300" dirty="0"/>
          </a:p>
        </p:txBody>
      </p:sp>
      <p:sp>
        <p:nvSpPr>
          <p:cNvPr id="10" name="Text 7"/>
          <p:cNvSpPr/>
          <p:nvPr/>
        </p:nvSpPr>
        <p:spPr>
          <a:xfrm>
            <a:off x="868680" y="2834640"/>
            <a:ext cx="4937760" cy="2743200"/>
          </a:xfrm>
          <a:prstGeom prst="rect">
            <a:avLst/>
          </a:prstGeom>
          <a:noFill/>
          <a:ln/>
        </p:spPr>
        <p:txBody>
          <a:bodyPr wrap="square" rtlCol="0" anchor="t"/>
          <a:lstStyle/>
          <a:p>
            <a:pPr marL="342900" indent="-342900">
              <a:lnSpc>
                <a:spcPct val="125000"/>
              </a:lnSpc>
              <a:spcAft>
                <a:spcPts val="800"/>
              </a:spcAft>
              <a:buSzPct val="100000"/>
              <a:buChar char="•"/>
            </a:pPr>
            <a:r>
              <a:rPr lang="en-US" sz="1150" dirty="0">
                <a:solidFill>
                  <a:srgbClr val="5B5F63"/>
                </a:solidFill>
                <a:latin typeface="Arial" pitchFamily="34" charset="0"/>
                <a:ea typeface="Arial" pitchFamily="34" charset="-122"/>
                <a:cs typeface="Arial" pitchFamily="34" charset="-120"/>
              </a:rPr>
              <a:t>Build a named-account list across regulated industries</a:t>
            </a:r>
            <a:endParaRPr lang="en-US" sz="1150" dirty="0"/>
          </a:p>
          <a:p>
            <a:pPr marL="342900" indent="-342900">
              <a:lnSpc>
                <a:spcPct val="125000"/>
              </a:lnSpc>
              <a:spcAft>
                <a:spcPts val="800"/>
              </a:spcAft>
              <a:buSzPct val="100000"/>
              <a:buChar char="•"/>
            </a:pPr>
            <a:r>
              <a:rPr lang="en-US" sz="1150" dirty="0">
                <a:solidFill>
                  <a:srgbClr val="5B5F63"/>
                </a:solidFill>
                <a:latin typeface="Arial" pitchFamily="34" charset="0"/>
                <a:ea typeface="Arial" pitchFamily="34" charset="-122"/>
                <a:cs typeface="Arial" pitchFamily="34" charset="-120"/>
              </a:rPr>
              <a:t>Personalized landing pages and content per account</a:t>
            </a:r>
            <a:endParaRPr lang="en-US" sz="1150" dirty="0"/>
          </a:p>
          <a:p>
            <a:pPr marL="342900" indent="-342900">
              <a:lnSpc>
                <a:spcPct val="125000"/>
              </a:lnSpc>
              <a:spcAft>
                <a:spcPts val="800"/>
              </a:spcAft>
              <a:buSzPct val="100000"/>
              <a:buChar char="•"/>
            </a:pPr>
            <a:r>
              <a:rPr lang="en-US" sz="1150" dirty="0">
                <a:solidFill>
                  <a:srgbClr val="5B5F63"/>
                </a:solidFill>
                <a:latin typeface="Arial" pitchFamily="34" charset="0"/>
                <a:ea typeface="Arial" pitchFamily="34" charset="-122"/>
                <a:cs typeface="Arial" pitchFamily="34" charset="-120"/>
              </a:rPr>
              <a:t>Coordinated marketing air cover plus sales outreach</a:t>
            </a:r>
            <a:endParaRPr lang="en-US" sz="1150" dirty="0"/>
          </a:p>
          <a:p>
            <a:pPr marL="342900" indent="-342900">
              <a:lnSpc>
                <a:spcPct val="125000"/>
              </a:lnSpc>
              <a:spcAft>
                <a:spcPts val="800"/>
              </a:spcAft>
              <a:buSzPct val="100000"/>
              <a:buChar char="•"/>
            </a:pPr>
            <a:r>
              <a:rPr lang="en-US" sz="1150" dirty="0">
                <a:solidFill>
                  <a:srgbClr val="5B5F63"/>
                </a:solidFill>
                <a:latin typeface="Arial" pitchFamily="34" charset="0"/>
                <a:ea typeface="Arial" pitchFamily="34" charset="-122"/>
                <a:cs typeface="Arial" pitchFamily="34" charset="-120"/>
              </a:rPr>
              <a:t>Map the buying committee: CISO, Champion, Validator</a:t>
            </a:r>
            <a:endParaRPr lang="en-US" sz="1150" dirty="0"/>
          </a:p>
        </p:txBody>
      </p:sp>
      <p:sp>
        <p:nvSpPr>
          <p:cNvPr id="11" name="Shape 8"/>
          <p:cNvSpPr/>
          <p:nvPr/>
        </p:nvSpPr>
        <p:spPr>
          <a:xfrm>
            <a:off x="6172200" y="2240280"/>
            <a:ext cx="5376672" cy="3429000"/>
          </a:xfrm>
          <a:prstGeom prst="rect">
            <a:avLst/>
          </a:prstGeom>
          <a:solidFill>
            <a:srgbClr val="FFFFFF"/>
          </a:solidFill>
          <a:ln/>
          <a:effectLst>
            <a:outerShdw sx="100000" sy="100000" kx="0" ky="0" algn="bl" rotWithShape="0" blurRad="9.839199650839303e+209" dist="3.9356798603357206e+209" dir="4.364718898309728e+245">
              <a:srgbClr val="000000">
                <a:alpha val="9.999999999999995e+253"/>
              </a:srgbClr>
            </a:outerShdw>
          </a:effectLst>
        </p:spPr>
      </p:sp>
      <p:sp>
        <p:nvSpPr>
          <p:cNvPr id="12" name="Shape 9"/>
          <p:cNvSpPr/>
          <p:nvPr/>
        </p:nvSpPr>
        <p:spPr>
          <a:xfrm>
            <a:off x="6172200" y="2240280"/>
            <a:ext cx="5376672" cy="457200"/>
          </a:xfrm>
          <a:prstGeom prst="rect">
            <a:avLst/>
          </a:prstGeom>
          <a:solidFill>
            <a:srgbClr val="C2703D"/>
          </a:solidFill>
          <a:ln/>
        </p:spPr>
      </p:sp>
      <p:sp>
        <p:nvSpPr>
          <p:cNvPr id="13" name="Text 10"/>
          <p:cNvSpPr/>
          <p:nvPr/>
        </p:nvSpPr>
        <p:spPr>
          <a:xfrm>
            <a:off x="6400800" y="2240280"/>
            <a:ext cx="4937760" cy="457200"/>
          </a:xfrm>
          <a:prstGeom prst="rect">
            <a:avLst/>
          </a:prstGeom>
          <a:noFill/>
          <a:ln/>
        </p:spPr>
        <p:txBody>
          <a:bodyPr wrap="square" rtlCol="0" anchor="ctr"/>
          <a:lstStyle/>
          <a:p>
            <a:pPr indent="0" marL="0">
              <a:buNone/>
            </a:pPr>
            <a:r>
              <a:rPr lang="en-US" sz="1300" b="1" spc="200" kern="0" dirty="0">
                <a:solidFill>
                  <a:srgbClr val="FFFFFF"/>
                </a:solidFill>
                <a:latin typeface="Arial" pitchFamily="34" charset="0"/>
                <a:ea typeface="Arial" pitchFamily="34" charset="-122"/>
                <a:cs typeface="Arial" pitchFamily="34" charset="-120"/>
              </a:rPr>
              <a:t>VERTICAL (LEGAL FIRST)</a:t>
            </a:r>
            <a:endParaRPr lang="en-US" sz="1300" dirty="0"/>
          </a:p>
        </p:txBody>
      </p:sp>
      <p:sp>
        <p:nvSpPr>
          <p:cNvPr id="14" name="Text 11"/>
          <p:cNvSpPr/>
          <p:nvPr/>
        </p:nvSpPr>
        <p:spPr>
          <a:xfrm>
            <a:off x="6400800" y="2834640"/>
            <a:ext cx="4937760" cy="2743200"/>
          </a:xfrm>
          <a:prstGeom prst="rect">
            <a:avLst/>
          </a:prstGeom>
          <a:noFill/>
          <a:ln/>
        </p:spPr>
        <p:txBody>
          <a:bodyPr wrap="square" rtlCol="0" anchor="t"/>
          <a:lstStyle/>
          <a:p>
            <a:pPr marL="342900" indent="-342900">
              <a:lnSpc>
                <a:spcPct val="125000"/>
              </a:lnSpc>
              <a:spcAft>
                <a:spcPts val="800"/>
              </a:spcAft>
              <a:buSzPct val="100000"/>
              <a:buChar char="•"/>
            </a:pPr>
            <a:r>
              <a:rPr lang="en-US" sz="1150" dirty="0">
                <a:solidFill>
                  <a:srgbClr val="5B5F63"/>
                </a:solidFill>
                <a:latin typeface="Arial" pitchFamily="34" charset="0"/>
                <a:ea typeface="Arial" pitchFamily="34" charset="-122"/>
                <a:cs typeface="Arial" pitchFamily="34" charset="-120"/>
              </a:rPr>
              <a:t>Target peer firms of the launch partner</a:t>
            </a:r>
            <a:endParaRPr lang="en-US" sz="1150" dirty="0"/>
          </a:p>
          <a:p>
            <a:pPr marL="342900" indent="-342900">
              <a:lnSpc>
                <a:spcPct val="125000"/>
              </a:lnSpc>
              <a:spcAft>
                <a:spcPts val="800"/>
              </a:spcAft>
              <a:buSzPct val="100000"/>
              <a:buChar char="•"/>
            </a:pPr>
            <a:r>
              <a:rPr lang="en-US" sz="1150" dirty="0">
                <a:solidFill>
                  <a:srgbClr val="5B5F63"/>
                </a:solidFill>
                <a:latin typeface="Arial" pitchFamily="34" charset="0"/>
                <a:ea typeface="Arial" pitchFamily="34" charset="-122"/>
                <a:cs typeface="Arial" pitchFamily="34" charset="-120"/>
              </a:rPr>
              <a:t>Co-branded proof as the door-opener</a:t>
            </a:r>
            <a:endParaRPr lang="en-US" sz="1150" dirty="0"/>
          </a:p>
          <a:p>
            <a:pPr marL="342900" indent="-342900">
              <a:lnSpc>
                <a:spcPct val="125000"/>
              </a:lnSpc>
              <a:spcAft>
                <a:spcPts val="800"/>
              </a:spcAft>
              <a:buSzPct val="100000"/>
              <a:buChar char="•"/>
            </a:pPr>
            <a:r>
              <a:rPr lang="en-US" sz="1150" dirty="0">
                <a:solidFill>
                  <a:srgbClr val="5B5F63"/>
                </a:solidFill>
                <a:latin typeface="Arial" pitchFamily="34" charset="0"/>
                <a:ea typeface="Arial" pitchFamily="34" charset="-122"/>
                <a:cs typeface="Arial" pitchFamily="34" charset="-120"/>
              </a:rPr>
              <a:t>Account-based intros from the partner firm</a:t>
            </a:r>
            <a:endParaRPr lang="en-US" sz="1150" dirty="0"/>
          </a:p>
          <a:p>
            <a:pPr marL="342900" indent="-342900">
              <a:lnSpc>
                <a:spcPct val="125000"/>
              </a:lnSpc>
              <a:spcAft>
                <a:spcPts val="800"/>
              </a:spcAft>
              <a:buSzPct val="100000"/>
              <a:buChar char="•"/>
            </a:pPr>
            <a:r>
              <a:rPr lang="en-US" sz="1150" dirty="0">
                <a:solidFill>
                  <a:srgbClr val="5B5F63"/>
                </a:solidFill>
                <a:latin typeface="Arial" pitchFamily="34" charset="0"/>
                <a:ea typeface="Arial" pitchFamily="34" charset="-122"/>
                <a:cs typeface="Arial" pitchFamily="34" charset="-120"/>
              </a:rPr>
              <a:t>Replicate the play per vertical: finance, health next</a:t>
            </a:r>
            <a:endParaRPr lang="en-US" sz="1150" dirty="0"/>
          </a:p>
        </p:txBody>
      </p:sp>
      <p:sp>
        <p:nvSpPr>
          <p:cNvPr id="15" name="Text 12"/>
          <p:cNvSpPr/>
          <p:nvPr/>
        </p:nvSpPr>
        <p:spPr>
          <a:xfrm>
            <a:off x="640080" y="5897880"/>
            <a:ext cx="10908792" cy="365760"/>
          </a:xfrm>
          <a:prstGeom prst="rect">
            <a:avLst/>
          </a:prstGeom>
          <a:noFill/>
          <a:ln/>
        </p:spPr>
        <p:txBody>
          <a:bodyPr wrap="square" rtlCol="0" anchor="ctr"/>
          <a:lstStyle/>
          <a:p>
            <a:pPr indent="0" marL="0">
              <a:buNone/>
            </a:pPr>
            <a:r>
              <a:rPr lang="en-US" sz="1050" i="1" dirty="0">
                <a:solidFill>
                  <a:srgbClr val="9A9A93"/>
                </a:solidFill>
                <a:latin typeface="Arial" pitchFamily="34" charset="0"/>
                <a:ea typeface="Arial" pitchFamily="34" charset="-122"/>
                <a:cs typeface="Arial" pitchFamily="34" charset="-120"/>
              </a:rPr>
              <a:t>Motion: sales-led, the core enterprise engine  ·  Owner: Sales + Marketing</a:t>
            </a:r>
            <a:endParaRPr lang="en-US" sz="1050" dirty="0"/>
          </a:p>
        </p:txBody>
      </p:sp>
      <p:sp>
        <p:nvSpPr>
          <p:cNvPr id="16" name="Text 13"/>
          <p:cNvSpPr/>
          <p:nvPr/>
        </p:nvSpPr>
        <p:spPr>
          <a:xfrm>
            <a:off x="11460175" y="6446520"/>
            <a:ext cx="457200" cy="274320"/>
          </a:xfrm>
          <a:prstGeom prst="rect">
            <a:avLst/>
          </a:prstGeom>
          <a:noFill/>
          <a:ln/>
        </p:spPr>
        <p:txBody>
          <a:bodyPr wrap="square" rtlCol="0" anchor="ctr"/>
          <a:lstStyle/>
          <a:p>
            <a:pPr algn="r" indent="0" marL="0">
              <a:buNone/>
            </a:pPr>
            <a:r>
              <a:rPr lang="en-US" sz="1000" dirty="0">
                <a:solidFill>
                  <a:srgbClr val="9A9A93"/>
                </a:solidFill>
                <a:latin typeface="Arial" pitchFamily="34" charset="0"/>
                <a:ea typeface="Arial" pitchFamily="34" charset="-122"/>
                <a:cs typeface="Arial" pitchFamily="34" charset="-120"/>
              </a:rPr>
              <a:t>20</a:t>
            </a:r>
            <a:endParaRPr lang="en-US" sz="1000" dirty="0"/>
          </a:p>
        </p:txBody>
      </p:sp>
      <p:sp>
        <p:nvSpPr>
          <p:cNvPr id="17" name="TextBox 16"/>
          <p:cNvSpPr txBox="1"/>
          <p:nvPr/>
        </p:nvSpPr>
        <p:spPr>
          <a:xfrm>
            <a:off x="640080" y="5660136"/>
            <a:ext cx="10908792" cy="210312"/>
          </a:xfrm>
          <a:prstGeom prst="rect">
            <a:avLst/>
          </a:prstGeom>
          <a:solidFill>
            <a:srgbClr val="DBEAFE"/>
          </a:solidFill>
          <a:ln w="12700">
            <a:solidFill>
              <a:srgbClr val="1E3A8A"/>
            </a:solidFill>
          </a:ln>
        </p:spPr>
        <p:txBody>
          <a:bodyPr wrap="square">
            <a:spAutoFit/>
          </a:bodyPr>
          <a:lstStyle/>
          <a:p>
            <a:pPr algn="l"/>
            <a:r>
              <a:rPr sz="850" b="1">
                <a:solidFill>
                  <a:srgbClr val="1E3A8A"/>
                </a:solidFill>
              </a:rPr>
              <a:t>DATA  </a:t>
            </a:r>
            <a:r>
              <a:rPr sz="850" b="0">
                <a:solidFill>
                  <a:srgbClr val="111827"/>
                </a:solidFill>
              </a:rPr>
              <a:t>ABM: 81% higher ROI vs non-ABM. Win rates +26%, deal sizes +33%. Top programs: 7:1 ROI. Revenue impact: +208%. 82% of B2B companies run ABM. [AdRoll / RevvGrowth / Digital Applied 2026]</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9F5"/>
        </a:solidFill>
      </p:bgPr>
    </p:bg>
    <p:spTree>
      <p:nvGrpSpPr>
        <p:cNvPr id="1" name=""/>
        <p:cNvGrpSpPr/>
        <p:nvPr/>
      </p:nvGrpSpPr>
      <p:grpSpPr>
        <a:xfrm>
          <a:off x="0" y="0"/>
          <a:ext cx="0" cy="0"/>
          <a:chOff x="0" y="0"/>
          <a:chExt cx="0" cy="0"/>
        </a:xfrm>
      </p:grpSpPr>
      <p:sp>
        <p:nvSpPr>
          <p:cNvPr id="2" name="Text 0"/>
          <p:cNvSpPr/>
          <p:nvPr/>
        </p:nvSpPr>
        <p:spPr>
          <a:xfrm>
            <a:off x="640080" y="411480"/>
            <a:ext cx="10058400" cy="274320"/>
          </a:xfrm>
          <a:prstGeom prst="rect">
            <a:avLst/>
          </a:prstGeom>
          <a:noFill/>
          <a:ln/>
        </p:spPr>
        <p:txBody>
          <a:bodyPr wrap="square" rtlCol="0" anchor="ctr"/>
          <a:lstStyle/>
          <a:p>
            <a:pPr indent="0" marL="0">
              <a:buNone/>
            </a:pPr>
            <a:r>
              <a:rPr lang="en-US" sz="1100" b="1" spc="500" kern="0" dirty="0">
                <a:solidFill>
                  <a:srgbClr val="185771"/>
                </a:solidFill>
                <a:latin typeface="Arial" pitchFamily="34" charset="0"/>
                <a:ea typeface="Arial" pitchFamily="34" charset="-122"/>
                <a:cs typeface="Arial" pitchFamily="34" charset="-120"/>
              </a:rPr>
              <a:t>CHANNEL PLAYBOOK</a:t>
            </a:r>
            <a:endParaRPr lang="en-US" sz="1100" dirty="0"/>
          </a:p>
        </p:txBody>
      </p:sp>
      <p:pic>
        <p:nvPicPr>
          <p:cNvPr id="3" name="Image 0" descr="preencoded.png">    </p:cNvPr>
          <p:cNvPicPr>
            <a:picLocks noChangeAspect="1"/>
          </p:cNvPicPr>
          <p:nvPr/>
        </p:nvPicPr>
        <p:blipFill>
          <a:blip r:embed="rId1"/>
          <a:stretch>
            <a:fillRect/>
          </a:stretch>
        </p:blipFill>
        <p:spPr>
          <a:xfrm>
            <a:off x="640080" y="658368"/>
            <a:ext cx="457200" cy="457200"/>
          </a:xfrm>
          <a:prstGeom prst="rect">
            <a:avLst/>
          </a:prstGeom>
        </p:spPr>
      </p:pic>
      <p:sp>
        <p:nvSpPr>
          <p:cNvPr id="4" name="Text 1"/>
          <p:cNvSpPr/>
          <p:nvPr/>
        </p:nvSpPr>
        <p:spPr>
          <a:xfrm>
            <a:off x="1234440" y="658368"/>
            <a:ext cx="10058400" cy="502920"/>
          </a:xfrm>
          <a:prstGeom prst="rect">
            <a:avLst/>
          </a:prstGeom>
          <a:noFill/>
          <a:ln/>
        </p:spPr>
        <p:txBody>
          <a:bodyPr wrap="square" rtlCol="0" anchor="ctr"/>
          <a:lstStyle/>
          <a:p>
            <a:pPr indent="0" marL="0">
              <a:buNone/>
            </a:pPr>
            <a:r>
              <a:rPr lang="en-US" sz="2600" dirty="0">
                <a:solidFill>
                  <a:srgbClr val="0E0E10"/>
                </a:solidFill>
                <a:latin typeface="Georgia" pitchFamily="34" charset="0"/>
                <a:ea typeface="Georgia" pitchFamily="34" charset="-122"/>
                <a:cs typeface="Georgia" pitchFamily="34" charset="-120"/>
              </a:rPr>
              <a:t>Developer Relations &amp; Open Source</a:t>
            </a:r>
            <a:endParaRPr lang="en-US" sz="2600" dirty="0"/>
          </a:p>
        </p:txBody>
      </p:sp>
      <p:sp>
        <p:nvSpPr>
          <p:cNvPr id="5" name="Shape 2"/>
          <p:cNvSpPr/>
          <p:nvPr/>
        </p:nvSpPr>
        <p:spPr>
          <a:xfrm>
            <a:off x="640080" y="1371600"/>
            <a:ext cx="10908792" cy="640080"/>
          </a:xfrm>
          <a:prstGeom prst="rect">
            <a:avLst/>
          </a:prstGeom>
          <a:solidFill>
            <a:srgbClr val="17171B"/>
          </a:solidFill>
          <a:ln/>
        </p:spPr>
      </p:sp>
      <p:sp>
        <p:nvSpPr>
          <p:cNvPr id="6" name="Text 3"/>
          <p:cNvSpPr/>
          <p:nvPr/>
        </p:nvSpPr>
        <p:spPr>
          <a:xfrm>
            <a:off x="868680" y="1371600"/>
            <a:ext cx="10424160" cy="640080"/>
          </a:xfrm>
          <a:prstGeom prst="rect">
            <a:avLst/>
          </a:prstGeom>
          <a:noFill/>
          <a:ln/>
        </p:spPr>
        <p:txBody>
          <a:bodyPr wrap="square" rtlCol="0" anchor="ctr"/>
          <a:lstStyle/>
          <a:p>
            <a:pPr indent="0" marL="0">
              <a:buNone/>
            </a:pPr>
            <a:r>
              <a:rPr lang="en-US" sz="1250" i="1" dirty="0">
                <a:solidFill>
                  <a:srgbClr val="ECEAE1"/>
                </a:solidFill>
                <a:latin typeface="Georgia" pitchFamily="34" charset="0"/>
                <a:ea typeface="Georgia" pitchFamily="34" charset="-122"/>
                <a:cs typeface="Georgia" pitchFamily="34" charset="-120"/>
              </a:rPr>
              <a:t>Win the Technical Validator and the indie Developer. Trust is earned in code, docs, and proof, not slogans.</a:t>
            </a:r>
            <a:endParaRPr lang="en-US" sz="1250" dirty="0"/>
          </a:p>
        </p:txBody>
      </p:sp>
      <p:sp>
        <p:nvSpPr>
          <p:cNvPr id="7" name="Shape 4"/>
          <p:cNvSpPr/>
          <p:nvPr/>
        </p:nvSpPr>
        <p:spPr>
          <a:xfrm>
            <a:off x="640080" y="2240280"/>
            <a:ext cx="5376672" cy="3429000"/>
          </a:xfrm>
          <a:prstGeom prst="rect">
            <a:avLst/>
          </a:prstGeom>
          <a:solidFill>
            <a:srgbClr val="FFFFFF"/>
          </a:solidFill>
          <a:ln/>
          <a:effectLst>
            <a:outerShdw sx="100000" sy="100000" kx="0" ky="0" algn="bl" rotWithShape="0" blurRad="1.2495783556565913e+214" dist="4.9983134226263654e+213" dir="2.6188313389858368e+250">
              <a:srgbClr val="000000">
                <a:alpha val="9.999999999999996e+258"/>
              </a:srgbClr>
            </a:outerShdw>
          </a:effectLst>
        </p:spPr>
      </p:sp>
      <p:sp>
        <p:nvSpPr>
          <p:cNvPr id="8" name="Shape 5"/>
          <p:cNvSpPr/>
          <p:nvPr/>
        </p:nvSpPr>
        <p:spPr>
          <a:xfrm>
            <a:off x="640080" y="2240280"/>
            <a:ext cx="5376672" cy="457200"/>
          </a:xfrm>
          <a:prstGeom prst="rect">
            <a:avLst/>
          </a:prstGeom>
          <a:solidFill>
            <a:srgbClr val="185771"/>
          </a:solidFill>
          <a:ln/>
        </p:spPr>
      </p:sp>
      <p:sp>
        <p:nvSpPr>
          <p:cNvPr id="9" name="Text 6"/>
          <p:cNvSpPr/>
          <p:nvPr/>
        </p:nvSpPr>
        <p:spPr>
          <a:xfrm>
            <a:off x="868680" y="2240280"/>
            <a:ext cx="4937760" cy="457200"/>
          </a:xfrm>
          <a:prstGeom prst="rect">
            <a:avLst/>
          </a:prstGeom>
          <a:noFill/>
          <a:ln/>
        </p:spPr>
        <p:txBody>
          <a:bodyPr wrap="square" rtlCol="0" anchor="ctr"/>
          <a:lstStyle/>
          <a:p>
            <a:pPr indent="0" marL="0">
              <a:buNone/>
            </a:pPr>
            <a:r>
              <a:rPr lang="en-US" sz="1300" b="1" spc="200" kern="0" dirty="0">
                <a:solidFill>
                  <a:srgbClr val="FFFFFF"/>
                </a:solidFill>
                <a:latin typeface="Arial" pitchFamily="34" charset="0"/>
                <a:ea typeface="Arial" pitchFamily="34" charset="-122"/>
                <a:cs typeface="Arial" pitchFamily="34" charset="-120"/>
              </a:rPr>
              <a:t>DEVREL &amp; DOCS</a:t>
            </a:r>
            <a:endParaRPr lang="en-US" sz="1300" dirty="0"/>
          </a:p>
        </p:txBody>
      </p:sp>
      <p:sp>
        <p:nvSpPr>
          <p:cNvPr id="10" name="Text 7"/>
          <p:cNvSpPr/>
          <p:nvPr/>
        </p:nvSpPr>
        <p:spPr>
          <a:xfrm>
            <a:off x="868680" y="2834640"/>
            <a:ext cx="4937760" cy="2743200"/>
          </a:xfrm>
          <a:prstGeom prst="rect">
            <a:avLst/>
          </a:prstGeom>
          <a:noFill/>
          <a:ln/>
        </p:spPr>
        <p:txBody>
          <a:bodyPr wrap="square" rtlCol="0" anchor="t"/>
          <a:lstStyle/>
          <a:p>
            <a:pPr marL="342900" indent="-342900">
              <a:lnSpc>
                <a:spcPct val="125000"/>
              </a:lnSpc>
              <a:spcAft>
                <a:spcPts val="800"/>
              </a:spcAft>
              <a:buSzPct val="100000"/>
              <a:buChar char="•"/>
            </a:pPr>
            <a:r>
              <a:rPr lang="en-US" sz="1150" dirty="0">
                <a:solidFill>
                  <a:srgbClr val="5B5F63"/>
                </a:solidFill>
                <a:latin typeface="Arial" pitchFamily="34" charset="0"/>
                <a:ea typeface="Arial" pitchFamily="34" charset="-122"/>
                <a:cs typeface="Arial" pitchFamily="34" charset="-120"/>
              </a:rPr>
              <a:t>World-class docs (this is the buying experience for devs)</a:t>
            </a:r>
            <a:endParaRPr lang="en-US" sz="1150" dirty="0"/>
          </a:p>
          <a:p>
            <a:pPr marL="342900" indent="-342900">
              <a:lnSpc>
                <a:spcPct val="125000"/>
              </a:lnSpc>
              <a:spcAft>
                <a:spcPts val="800"/>
              </a:spcAft>
              <a:buSzPct val="100000"/>
              <a:buChar char="•"/>
            </a:pPr>
            <a:r>
              <a:rPr lang="en-US" sz="1150" dirty="0">
                <a:solidFill>
                  <a:srgbClr val="5B5F63"/>
                </a:solidFill>
                <a:latin typeface="Arial" pitchFamily="34" charset="0"/>
                <a:ea typeface="Arial" pitchFamily="34" charset="-122"/>
                <a:cs typeface="Arial" pitchFamily="34" charset="-120"/>
              </a:rPr>
              <a:t>Quickstarts: OpenAI-compatible drop-in</a:t>
            </a:r>
            <a:endParaRPr lang="en-US" sz="1150" dirty="0"/>
          </a:p>
          <a:p>
            <a:pPr marL="342900" indent="-342900">
              <a:lnSpc>
                <a:spcPct val="125000"/>
              </a:lnSpc>
              <a:spcAft>
                <a:spcPts val="800"/>
              </a:spcAft>
              <a:buSzPct val="100000"/>
              <a:buChar char="•"/>
            </a:pPr>
            <a:r>
              <a:rPr lang="en-US" sz="1150" dirty="0">
                <a:solidFill>
                  <a:srgbClr val="5B5F63"/>
                </a:solidFill>
                <a:latin typeface="Arial" pitchFamily="34" charset="0"/>
                <a:ea typeface="Arial" pitchFamily="34" charset="-122"/>
                <a:cs typeface="Arial" pitchFamily="34" charset="-120"/>
              </a:rPr>
              <a:t>Sample apps, tutorials, free credits</a:t>
            </a:r>
            <a:endParaRPr lang="en-US" sz="1150" dirty="0"/>
          </a:p>
          <a:p>
            <a:pPr marL="342900" indent="-342900">
              <a:lnSpc>
                <a:spcPct val="125000"/>
              </a:lnSpc>
              <a:spcAft>
                <a:spcPts val="800"/>
              </a:spcAft>
              <a:buSzPct val="100000"/>
              <a:buChar char="•"/>
            </a:pPr>
            <a:r>
              <a:rPr lang="en-US" sz="1150" dirty="0">
                <a:solidFill>
                  <a:srgbClr val="5B5F63"/>
                </a:solidFill>
                <a:latin typeface="Arial" pitchFamily="34" charset="0"/>
                <a:ea typeface="Arial" pitchFamily="34" charset="-122"/>
                <a:cs typeface="Arial" pitchFamily="34" charset="-120"/>
              </a:rPr>
              <a:t>Show up on GitHub, HN, and dev X authentically</a:t>
            </a:r>
            <a:endParaRPr lang="en-US" sz="1150" dirty="0"/>
          </a:p>
        </p:txBody>
      </p:sp>
      <p:sp>
        <p:nvSpPr>
          <p:cNvPr id="11" name="Shape 8"/>
          <p:cNvSpPr/>
          <p:nvPr/>
        </p:nvSpPr>
        <p:spPr>
          <a:xfrm>
            <a:off x="6172200" y="2240280"/>
            <a:ext cx="5376672" cy="3429000"/>
          </a:xfrm>
          <a:prstGeom prst="rect">
            <a:avLst/>
          </a:prstGeom>
          <a:solidFill>
            <a:srgbClr val="FFFFFF"/>
          </a:solidFill>
          <a:ln/>
          <a:effectLst>
            <a:outerShdw sx="100000" sy="100000" kx="0" ky="0" algn="bl" rotWithShape="0" blurRad="1.586964511683871e+218" dist="6.347858046735484e+217" dir="1.571298803391502e+255">
              <a:srgbClr val="000000">
                <a:alpha val="9.999999999999996e+263"/>
              </a:srgbClr>
            </a:outerShdw>
          </a:effectLst>
        </p:spPr>
      </p:sp>
      <p:sp>
        <p:nvSpPr>
          <p:cNvPr id="12" name="Shape 9"/>
          <p:cNvSpPr/>
          <p:nvPr/>
        </p:nvSpPr>
        <p:spPr>
          <a:xfrm>
            <a:off x="6172200" y="2240280"/>
            <a:ext cx="5376672" cy="457200"/>
          </a:xfrm>
          <a:prstGeom prst="rect">
            <a:avLst/>
          </a:prstGeom>
          <a:solidFill>
            <a:srgbClr val="C2703D"/>
          </a:solidFill>
          <a:ln/>
        </p:spPr>
      </p:sp>
      <p:sp>
        <p:nvSpPr>
          <p:cNvPr id="13" name="Text 10"/>
          <p:cNvSpPr/>
          <p:nvPr/>
        </p:nvSpPr>
        <p:spPr>
          <a:xfrm>
            <a:off x="6400800" y="2240280"/>
            <a:ext cx="4937760" cy="457200"/>
          </a:xfrm>
          <a:prstGeom prst="rect">
            <a:avLst/>
          </a:prstGeom>
          <a:noFill/>
          <a:ln/>
        </p:spPr>
        <p:txBody>
          <a:bodyPr wrap="square" rtlCol="0" anchor="ctr"/>
          <a:lstStyle/>
          <a:p>
            <a:pPr indent="0" marL="0">
              <a:buNone/>
            </a:pPr>
            <a:r>
              <a:rPr lang="en-US" sz="1300" b="1" spc="200" kern="0" dirty="0">
                <a:solidFill>
                  <a:srgbClr val="FFFFFF"/>
                </a:solidFill>
                <a:latin typeface="Arial" pitchFamily="34" charset="0"/>
                <a:ea typeface="Arial" pitchFamily="34" charset="-122"/>
                <a:cs typeface="Arial" pitchFamily="34" charset="-120"/>
              </a:rPr>
              <a:t>OPEN SOURCE AS PROOF</a:t>
            </a:r>
            <a:endParaRPr lang="en-US" sz="1300" dirty="0"/>
          </a:p>
        </p:txBody>
      </p:sp>
      <p:sp>
        <p:nvSpPr>
          <p:cNvPr id="14" name="Text 11"/>
          <p:cNvSpPr/>
          <p:nvPr/>
        </p:nvSpPr>
        <p:spPr>
          <a:xfrm>
            <a:off x="6400800" y="2834640"/>
            <a:ext cx="4937760" cy="2743200"/>
          </a:xfrm>
          <a:prstGeom prst="rect">
            <a:avLst/>
          </a:prstGeom>
          <a:noFill/>
          <a:ln/>
        </p:spPr>
        <p:txBody>
          <a:bodyPr wrap="square" rtlCol="0" anchor="t"/>
          <a:lstStyle/>
          <a:p>
            <a:pPr marL="342900" indent="-342900">
              <a:lnSpc>
                <a:spcPct val="125000"/>
              </a:lnSpc>
              <a:spcAft>
                <a:spcPts val="800"/>
              </a:spcAft>
              <a:buSzPct val="100000"/>
              <a:buChar char="•"/>
            </a:pPr>
            <a:r>
              <a:rPr lang="en-US" sz="1150" dirty="0">
                <a:solidFill>
                  <a:srgbClr val="5B5F63"/>
                </a:solidFill>
                <a:latin typeface="Arial" pitchFamily="34" charset="0"/>
                <a:ea typeface="Arial" pitchFamily="34" charset="-122"/>
                <a:cs typeface="Arial" pitchFamily="34" charset="-120"/>
              </a:rPr>
              <a:t>Reticle (open verification stack) as a trust artifact</a:t>
            </a:r>
            <a:endParaRPr lang="en-US" sz="1150" dirty="0"/>
          </a:p>
          <a:p>
            <a:pPr marL="342900" indent="-342900">
              <a:lnSpc>
                <a:spcPct val="125000"/>
              </a:lnSpc>
              <a:spcAft>
                <a:spcPts val="800"/>
              </a:spcAft>
              <a:buSzPct val="100000"/>
              <a:buChar char="•"/>
            </a:pPr>
            <a:r>
              <a:rPr lang="en-US" sz="1150" dirty="0">
                <a:solidFill>
                  <a:srgbClr val="5B5F63"/>
                </a:solidFill>
                <a:latin typeface="Arial" pitchFamily="34" charset="0"/>
                <a:ea typeface="Arial" pitchFamily="34" charset="-122"/>
                <a:cs typeface="Arial" pitchFamily="34" charset="-120"/>
              </a:rPr>
              <a:t>Technical blogs on XWing, attestation, post-quantum</a:t>
            </a:r>
            <a:endParaRPr lang="en-US" sz="1150" dirty="0"/>
          </a:p>
          <a:p>
            <a:pPr marL="342900" indent="-342900">
              <a:lnSpc>
                <a:spcPct val="125000"/>
              </a:lnSpc>
              <a:spcAft>
                <a:spcPts val="800"/>
              </a:spcAft>
              <a:buSzPct val="100000"/>
              <a:buChar char="•"/>
            </a:pPr>
            <a:r>
              <a:rPr lang="en-US" sz="1150" dirty="0">
                <a:solidFill>
                  <a:srgbClr val="5B5F63"/>
                </a:solidFill>
                <a:latin typeface="Arial" pitchFamily="34" charset="0"/>
                <a:ea typeface="Arial" pitchFamily="34" charset="-122"/>
                <a:cs typeface="Arial" pitchFamily="34" charset="-120"/>
              </a:rPr>
              <a:t>Hackathon presence and sponsorships</a:t>
            </a:r>
            <a:endParaRPr lang="en-US" sz="1150" dirty="0"/>
          </a:p>
          <a:p>
            <a:pPr marL="342900" indent="-342900">
              <a:lnSpc>
                <a:spcPct val="125000"/>
              </a:lnSpc>
              <a:spcAft>
                <a:spcPts val="800"/>
              </a:spcAft>
              <a:buSzPct val="100000"/>
              <a:buChar char="•"/>
            </a:pPr>
            <a:r>
              <a:rPr lang="en-US" sz="1150" dirty="0">
                <a:solidFill>
                  <a:srgbClr val="5B5F63"/>
                </a:solidFill>
                <a:latin typeface="Arial" pitchFamily="34" charset="0"/>
                <a:ea typeface="Arial" pitchFamily="34" charset="-122"/>
                <a:cs typeface="Arial" pitchFamily="34" charset="-120"/>
              </a:rPr>
              <a:t>Let developers verify the privacy claims themselves</a:t>
            </a:r>
            <a:endParaRPr lang="en-US" sz="1150" dirty="0"/>
          </a:p>
        </p:txBody>
      </p:sp>
      <p:sp>
        <p:nvSpPr>
          <p:cNvPr id="15" name="Text 12"/>
          <p:cNvSpPr/>
          <p:nvPr/>
        </p:nvSpPr>
        <p:spPr>
          <a:xfrm>
            <a:off x="640080" y="5897880"/>
            <a:ext cx="10908792" cy="365760"/>
          </a:xfrm>
          <a:prstGeom prst="rect">
            <a:avLst/>
          </a:prstGeom>
          <a:noFill/>
          <a:ln/>
        </p:spPr>
        <p:txBody>
          <a:bodyPr wrap="square" rtlCol="0" anchor="ctr"/>
          <a:lstStyle/>
          <a:p>
            <a:pPr indent="0" marL="0">
              <a:buNone/>
            </a:pPr>
            <a:r>
              <a:rPr lang="en-US" sz="1050" i="1" dirty="0">
                <a:solidFill>
                  <a:srgbClr val="9A9A93"/>
                </a:solidFill>
                <a:latin typeface="Arial" pitchFamily="34" charset="0"/>
                <a:ea typeface="Arial" pitchFamily="34" charset="-122"/>
                <a:cs typeface="Arial" pitchFamily="34" charset="-120"/>
              </a:rPr>
              <a:t>Motion: product-led, the bottom-up engine  ·  Owner: DevRel + Marketing</a:t>
            </a:r>
            <a:endParaRPr lang="en-US" sz="1050" dirty="0"/>
          </a:p>
        </p:txBody>
      </p:sp>
      <p:sp>
        <p:nvSpPr>
          <p:cNvPr id="16" name="Text 13"/>
          <p:cNvSpPr/>
          <p:nvPr/>
        </p:nvSpPr>
        <p:spPr>
          <a:xfrm>
            <a:off x="11460175" y="6446520"/>
            <a:ext cx="457200" cy="274320"/>
          </a:xfrm>
          <a:prstGeom prst="rect">
            <a:avLst/>
          </a:prstGeom>
          <a:noFill/>
          <a:ln/>
        </p:spPr>
        <p:txBody>
          <a:bodyPr wrap="square" rtlCol="0" anchor="ctr"/>
          <a:lstStyle/>
          <a:p>
            <a:pPr algn="r" indent="0" marL="0">
              <a:buNone/>
            </a:pPr>
            <a:r>
              <a:rPr lang="en-US" sz="1000" dirty="0">
                <a:solidFill>
                  <a:srgbClr val="9A9A93"/>
                </a:solidFill>
                <a:latin typeface="Arial" pitchFamily="34" charset="0"/>
                <a:ea typeface="Arial" pitchFamily="34" charset="-122"/>
                <a:cs typeface="Arial" pitchFamily="34" charset="-120"/>
              </a:rPr>
              <a:t>21</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AF9F5"/>
        </a:solidFill>
      </p:bgPr>
    </p:bg>
    <p:spTree>
      <p:nvGrpSpPr>
        <p:cNvPr id="1" name=""/>
        <p:cNvGrpSpPr/>
        <p:nvPr/>
      </p:nvGrpSpPr>
      <p:grpSpPr>
        <a:xfrm>
          <a:off x="0" y="0"/>
          <a:ext cx="0" cy="0"/>
          <a:chOff x="0" y="0"/>
          <a:chExt cx="0" cy="0"/>
        </a:xfrm>
      </p:grpSpPr>
      <p:sp>
        <p:nvSpPr>
          <p:cNvPr id="2" name="Text 0"/>
          <p:cNvSpPr/>
          <p:nvPr/>
        </p:nvSpPr>
        <p:spPr>
          <a:xfrm>
            <a:off x="640080" y="411480"/>
            <a:ext cx="10058400" cy="274320"/>
          </a:xfrm>
          <a:prstGeom prst="rect">
            <a:avLst/>
          </a:prstGeom>
          <a:noFill/>
          <a:ln/>
        </p:spPr>
        <p:txBody>
          <a:bodyPr wrap="square" rtlCol="0" anchor="ctr"/>
          <a:lstStyle/>
          <a:p>
            <a:pPr indent="0" marL="0">
              <a:buNone/>
            </a:pPr>
            <a:r>
              <a:rPr lang="en-US" sz="1100" b="1" spc="500" kern="0" dirty="0">
                <a:solidFill>
                  <a:srgbClr val="C2703D"/>
                </a:solidFill>
                <a:latin typeface="Arial" pitchFamily="34" charset="0"/>
                <a:ea typeface="Arial" pitchFamily="34" charset="-122"/>
                <a:cs typeface="Arial" pitchFamily="34" charset="-120"/>
              </a:rPr>
              <a:t>CHANNEL PLAYBOOK</a:t>
            </a:r>
            <a:endParaRPr lang="en-US" sz="1100" dirty="0"/>
          </a:p>
        </p:txBody>
      </p:sp>
      <p:pic>
        <p:nvPicPr>
          <p:cNvPr id="3" name="Image 0" descr="preencoded.png">    </p:cNvPr>
          <p:cNvPicPr>
            <a:picLocks noChangeAspect="1"/>
          </p:cNvPicPr>
          <p:nvPr/>
        </p:nvPicPr>
        <p:blipFill>
          <a:blip r:embed="rId1"/>
          <a:stretch>
            <a:fillRect/>
          </a:stretch>
        </p:blipFill>
        <p:spPr>
          <a:xfrm>
            <a:off x="640080" y="658368"/>
            <a:ext cx="457200" cy="457200"/>
          </a:xfrm>
          <a:prstGeom prst="rect">
            <a:avLst/>
          </a:prstGeom>
        </p:spPr>
      </p:pic>
      <p:sp>
        <p:nvSpPr>
          <p:cNvPr id="4" name="Text 1"/>
          <p:cNvSpPr/>
          <p:nvPr/>
        </p:nvSpPr>
        <p:spPr>
          <a:xfrm>
            <a:off x="1234440" y="658368"/>
            <a:ext cx="10058400" cy="502920"/>
          </a:xfrm>
          <a:prstGeom prst="rect">
            <a:avLst/>
          </a:prstGeom>
          <a:noFill/>
          <a:ln/>
        </p:spPr>
        <p:txBody>
          <a:bodyPr wrap="square" rtlCol="0" anchor="ctr"/>
          <a:lstStyle/>
          <a:p>
            <a:pPr indent="0" marL="0">
              <a:buNone/>
            </a:pPr>
            <a:r>
              <a:rPr lang="en-US" sz="2600" dirty="0">
                <a:solidFill>
                  <a:srgbClr val="0E0E10"/>
                </a:solidFill>
                <a:latin typeface="Georgia" pitchFamily="34" charset="0"/>
                <a:ea typeface="Georgia" pitchFamily="34" charset="-122"/>
                <a:cs typeface="Georgia" pitchFamily="34" charset="-120"/>
              </a:rPr>
              <a:t>Community &amp; Advocacy</a:t>
            </a:r>
            <a:endParaRPr lang="en-US" sz="2600" dirty="0"/>
          </a:p>
        </p:txBody>
      </p:sp>
      <p:sp>
        <p:nvSpPr>
          <p:cNvPr id="5" name="Shape 2"/>
          <p:cNvSpPr/>
          <p:nvPr/>
        </p:nvSpPr>
        <p:spPr>
          <a:xfrm>
            <a:off x="640080" y="1371600"/>
            <a:ext cx="10908792" cy="640080"/>
          </a:xfrm>
          <a:prstGeom prst="rect">
            <a:avLst/>
          </a:prstGeom>
          <a:solidFill>
            <a:srgbClr val="17171B"/>
          </a:solidFill>
          <a:ln/>
        </p:spPr>
      </p:sp>
      <p:sp>
        <p:nvSpPr>
          <p:cNvPr id="6" name="Text 3"/>
          <p:cNvSpPr/>
          <p:nvPr/>
        </p:nvSpPr>
        <p:spPr>
          <a:xfrm>
            <a:off x="868680" y="1371600"/>
            <a:ext cx="10424160" cy="640080"/>
          </a:xfrm>
          <a:prstGeom prst="rect">
            <a:avLst/>
          </a:prstGeom>
          <a:noFill/>
          <a:ln/>
        </p:spPr>
        <p:txBody>
          <a:bodyPr wrap="square" rtlCol="0" anchor="ctr"/>
          <a:lstStyle/>
          <a:p>
            <a:pPr indent="0" marL="0">
              <a:buNone/>
            </a:pPr>
            <a:r>
              <a:rPr lang="en-US" sz="1250" i="1" dirty="0">
                <a:solidFill>
                  <a:srgbClr val="ECEAE1"/>
                </a:solidFill>
                <a:latin typeface="Georgia" pitchFamily="34" charset="0"/>
                <a:ea typeface="Georgia" pitchFamily="34" charset="-122"/>
                <a:cs typeface="Georgia" pitchFamily="34" charset="-120"/>
              </a:rPr>
              <a:t>Turn users into advocates and a live feedback loop. Belonging compounds, and advocates sell better than we do.</a:t>
            </a:r>
            <a:endParaRPr lang="en-US" sz="1250" dirty="0"/>
          </a:p>
        </p:txBody>
      </p:sp>
      <p:sp>
        <p:nvSpPr>
          <p:cNvPr id="7" name="Shape 4"/>
          <p:cNvSpPr/>
          <p:nvPr/>
        </p:nvSpPr>
        <p:spPr>
          <a:xfrm>
            <a:off x="640080" y="2240280"/>
            <a:ext cx="5376672" cy="3429000"/>
          </a:xfrm>
          <a:prstGeom prst="rect">
            <a:avLst/>
          </a:prstGeom>
          <a:solidFill>
            <a:srgbClr val="FFFFFF"/>
          </a:solidFill>
          <a:ln/>
          <a:effectLst>
            <a:outerShdw sx="100000" sy="100000" kx="0" ky="0" algn="bl" rotWithShape="0" blurRad="2.0154449298385163e+222" dist="8.061779719354066e+221" dir="9.427792820349012e+259">
              <a:srgbClr val="000000">
                <a:alpha val="9.999999999999996e+268"/>
              </a:srgbClr>
            </a:outerShdw>
          </a:effectLst>
        </p:spPr>
      </p:sp>
      <p:sp>
        <p:nvSpPr>
          <p:cNvPr id="8" name="Shape 5"/>
          <p:cNvSpPr/>
          <p:nvPr/>
        </p:nvSpPr>
        <p:spPr>
          <a:xfrm>
            <a:off x="640080" y="2240280"/>
            <a:ext cx="5376672" cy="457200"/>
          </a:xfrm>
          <a:prstGeom prst="rect">
            <a:avLst/>
          </a:prstGeom>
          <a:solidFill>
            <a:srgbClr val="185771"/>
          </a:solidFill>
          <a:ln/>
        </p:spPr>
      </p:sp>
      <p:sp>
        <p:nvSpPr>
          <p:cNvPr id="9" name="Text 6"/>
          <p:cNvSpPr/>
          <p:nvPr/>
        </p:nvSpPr>
        <p:spPr>
          <a:xfrm>
            <a:off x="868680" y="2240280"/>
            <a:ext cx="4937760" cy="457200"/>
          </a:xfrm>
          <a:prstGeom prst="rect">
            <a:avLst/>
          </a:prstGeom>
          <a:noFill/>
          <a:ln/>
        </p:spPr>
        <p:txBody>
          <a:bodyPr wrap="square" rtlCol="0" anchor="ctr"/>
          <a:lstStyle/>
          <a:p>
            <a:pPr indent="0" marL="0">
              <a:buNone/>
            </a:pPr>
            <a:r>
              <a:rPr lang="en-US" sz="1300" b="1" spc="200" kern="0" dirty="0">
                <a:solidFill>
                  <a:srgbClr val="FFFFFF"/>
                </a:solidFill>
                <a:latin typeface="Arial" pitchFamily="34" charset="0"/>
                <a:ea typeface="Arial" pitchFamily="34" charset="-122"/>
                <a:cs typeface="Arial" pitchFamily="34" charset="-120"/>
              </a:rPr>
              <a:t>B2B COMMUNITY</a:t>
            </a:r>
            <a:endParaRPr lang="en-US" sz="1300" dirty="0"/>
          </a:p>
        </p:txBody>
      </p:sp>
      <p:sp>
        <p:nvSpPr>
          <p:cNvPr id="10" name="Text 7"/>
          <p:cNvSpPr/>
          <p:nvPr/>
        </p:nvSpPr>
        <p:spPr>
          <a:xfrm>
            <a:off x="868680" y="2834640"/>
            <a:ext cx="4937760" cy="2743200"/>
          </a:xfrm>
          <a:prstGeom prst="rect">
            <a:avLst/>
          </a:prstGeom>
          <a:noFill/>
          <a:ln/>
        </p:spPr>
        <p:txBody>
          <a:bodyPr wrap="square" rtlCol="0" anchor="t"/>
          <a:lstStyle/>
          <a:p>
            <a:pPr marL="342900" indent="-342900">
              <a:lnSpc>
                <a:spcPct val="125000"/>
              </a:lnSpc>
              <a:spcAft>
                <a:spcPts val="800"/>
              </a:spcAft>
              <a:buSzPct val="100000"/>
              <a:buChar char="•"/>
            </a:pPr>
            <a:r>
              <a:rPr lang="en-US" sz="1150" dirty="0">
                <a:solidFill>
                  <a:srgbClr val="5B5F63"/>
                </a:solidFill>
                <a:latin typeface="Arial" pitchFamily="34" charset="0"/>
                <a:ea typeface="Arial" pitchFamily="34" charset="-122"/>
                <a:cs typeface="Arial" pitchFamily="34" charset="-120"/>
              </a:rPr>
              <a:t>Private circles for compliance and eng leaders</a:t>
            </a:r>
            <a:endParaRPr lang="en-US" sz="1150" dirty="0"/>
          </a:p>
          <a:p>
            <a:pPr marL="342900" indent="-342900">
              <a:lnSpc>
                <a:spcPct val="125000"/>
              </a:lnSpc>
              <a:spcAft>
                <a:spcPts val="800"/>
              </a:spcAft>
              <a:buSzPct val="100000"/>
              <a:buChar char="•"/>
            </a:pPr>
            <a:r>
              <a:rPr lang="en-US" sz="1150" dirty="0">
                <a:solidFill>
                  <a:srgbClr val="5B5F63"/>
                </a:solidFill>
                <a:latin typeface="Arial" pitchFamily="34" charset="0"/>
                <a:ea typeface="Arial" pitchFamily="34" charset="-122"/>
                <a:cs typeface="Arial" pitchFamily="34" charset="-120"/>
              </a:rPr>
              <a:t>Customer advisory board from design partners</a:t>
            </a:r>
            <a:endParaRPr lang="en-US" sz="1150" dirty="0"/>
          </a:p>
          <a:p>
            <a:pPr marL="342900" indent="-342900">
              <a:lnSpc>
                <a:spcPct val="125000"/>
              </a:lnSpc>
              <a:spcAft>
                <a:spcPts val="800"/>
              </a:spcAft>
              <a:buSzPct val="100000"/>
              <a:buChar char="•"/>
            </a:pPr>
            <a:r>
              <a:rPr lang="en-US" sz="1150" dirty="0">
                <a:solidFill>
                  <a:srgbClr val="5B5F63"/>
                </a:solidFill>
                <a:latin typeface="Arial" pitchFamily="34" charset="0"/>
                <a:ea typeface="Arial" pitchFamily="34" charset="-122"/>
                <a:cs typeface="Arial" pitchFamily="34" charset="-120"/>
              </a:rPr>
              <a:t>A steady pipeline of peer references and case studies</a:t>
            </a:r>
            <a:endParaRPr lang="en-US" sz="1150" dirty="0"/>
          </a:p>
          <a:p>
            <a:pPr marL="342900" indent="-342900">
              <a:lnSpc>
                <a:spcPct val="125000"/>
              </a:lnSpc>
              <a:spcAft>
                <a:spcPts val="800"/>
              </a:spcAft>
              <a:buSzPct val="100000"/>
              <a:buChar char="•"/>
            </a:pPr>
            <a:r>
              <a:rPr lang="en-US" sz="1150" dirty="0">
                <a:solidFill>
                  <a:srgbClr val="5B5F63"/>
                </a:solidFill>
                <a:latin typeface="Arial" pitchFamily="34" charset="0"/>
                <a:ea typeface="Arial" pitchFamily="34" charset="-122"/>
                <a:cs typeface="Arial" pitchFamily="34" charset="-120"/>
              </a:rPr>
              <a:t>Account expansion through community trust</a:t>
            </a:r>
            <a:endParaRPr lang="en-US" sz="1150" dirty="0"/>
          </a:p>
        </p:txBody>
      </p:sp>
      <p:sp>
        <p:nvSpPr>
          <p:cNvPr id="11" name="Shape 8"/>
          <p:cNvSpPr/>
          <p:nvPr/>
        </p:nvSpPr>
        <p:spPr>
          <a:xfrm>
            <a:off x="6172200" y="2240280"/>
            <a:ext cx="5376672" cy="3429000"/>
          </a:xfrm>
          <a:prstGeom prst="rect">
            <a:avLst/>
          </a:prstGeom>
          <a:solidFill>
            <a:srgbClr val="FFFFFF"/>
          </a:solidFill>
          <a:ln/>
          <a:effectLst>
            <a:outerShdw sx="100000" sy="100000" kx="0" ky="0" algn="bl" rotWithShape="0" blurRad="2.5596150608949156e+226" dist="1.0238460243579663e+226" dir="5.656675692209407e+264">
              <a:srgbClr val="000000">
                <a:alpha val="9.999999999999995e+273"/>
              </a:srgbClr>
            </a:outerShdw>
          </a:effectLst>
        </p:spPr>
      </p:sp>
      <p:sp>
        <p:nvSpPr>
          <p:cNvPr id="12" name="Shape 9"/>
          <p:cNvSpPr/>
          <p:nvPr/>
        </p:nvSpPr>
        <p:spPr>
          <a:xfrm>
            <a:off x="6172200" y="2240280"/>
            <a:ext cx="5376672" cy="457200"/>
          </a:xfrm>
          <a:prstGeom prst="rect">
            <a:avLst/>
          </a:prstGeom>
          <a:solidFill>
            <a:srgbClr val="C2703D"/>
          </a:solidFill>
          <a:ln/>
        </p:spPr>
      </p:sp>
      <p:sp>
        <p:nvSpPr>
          <p:cNvPr id="13" name="Text 10"/>
          <p:cNvSpPr/>
          <p:nvPr/>
        </p:nvSpPr>
        <p:spPr>
          <a:xfrm>
            <a:off x="6400800" y="2240280"/>
            <a:ext cx="4937760" cy="457200"/>
          </a:xfrm>
          <a:prstGeom prst="rect">
            <a:avLst/>
          </a:prstGeom>
          <a:noFill/>
          <a:ln/>
        </p:spPr>
        <p:txBody>
          <a:bodyPr wrap="square" rtlCol="0" anchor="ctr"/>
          <a:lstStyle/>
          <a:p>
            <a:pPr indent="0" marL="0">
              <a:buNone/>
            </a:pPr>
            <a:r>
              <a:rPr lang="en-US" sz="1300" b="1" spc="200" kern="0" dirty="0">
                <a:solidFill>
                  <a:srgbClr val="FFFFFF"/>
                </a:solidFill>
                <a:latin typeface="Arial" pitchFamily="34" charset="0"/>
                <a:ea typeface="Arial" pitchFamily="34" charset="-122"/>
                <a:cs typeface="Arial" pitchFamily="34" charset="-120"/>
              </a:rPr>
              <a:t>B2C / BUILDER COMMUNITY</a:t>
            </a:r>
            <a:endParaRPr lang="en-US" sz="1300" dirty="0"/>
          </a:p>
        </p:txBody>
      </p:sp>
      <p:sp>
        <p:nvSpPr>
          <p:cNvPr id="14" name="Text 11"/>
          <p:cNvSpPr/>
          <p:nvPr/>
        </p:nvSpPr>
        <p:spPr>
          <a:xfrm>
            <a:off x="6400800" y="2834640"/>
            <a:ext cx="4937760" cy="2743200"/>
          </a:xfrm>
          <a:prstGeom prst="rect">
            <a:avLst/>
          </a:prstGeom>
          <a:noFill/>
          <a:ln/>
        </p:spPr>
        <p:txBody>
          <a:bodyPr wrap="square" rtlCol="0" anchor="t"/>
          <a:lstStyle/>
          <a:p>
            <a:pPr marL="342900" indent="-342900">
              <a:lnSpc>
                <a:spcPct val="125000"/>
              </a:lnSpc>
              <a:spcAft>
                <a:spcPts val="800"/>
              </a:spcAft>
              <a:buSzPct val="100000"/>
              <a:buChar char="•"/>
            </a:pPr>
            <a:r>
              <a:rPr lang="en-US" sz="1150" dirty="0">
                <a:solidFill>
                  <a:srgbClr val="5B5F63"/>
                </a:solidFill>
                <a:latin typeface="Arial" pitchFamily="34" charset="0"/>
                <a:ea typeface="Arial" pitchFamily="34" charset="-122"/>
                <a:cs typeface="Arial" pitchFamily="34" charset="-120"/>
              </a:rPr>
              <a:t>Discord or Slack for power users and developers</a:t>
            </a:r>
            <a:endParaRPr lang="en-US" sz="1150" dirty="0"/>
          </a:p>
          <a:p>
            <a:pPr marL="342900" indent="-342900">
              <a:lnSpc>
                <a:spcPct val="125000"/>
              </a:lnSpc>
              <a:spcAft>
                <a:spcPts val="800"/>
              </a:spcAft>
              <a:buSzPct val="100000"/>
              <a:buChar char="•"/>
            </a:pPr>
            <a:r>
              <a:rPr lang="en-US" sz="1150" dirty="0">
                <a:solidFill>
                  <a:srgbClr val="5B5F63"/>
                </a:solidFill>
                <a:latin typeface="Arial" pitchFamily="34" charset="0"/>
                <a:ea typeface="Arial" pitchFamily="34" charset="-122"/>
                <a:cs typeface="Arial" pitchFamily="34" charset="-120"/>
              </a:rPr>
              <a:t>Build-in-public on X to pull people in</a:t>
            </a:r>
            <a:endParaRPr lang="en-US" sz="1150" dirty="0"/>
          </a:p>
          <a:p>
            <a:pPr marL="342900" indent="-342900">
              <a:lnSpc>
                <a:spcPct val="125000"/>
              </a:lnSpc>
              <a:spcAft>
                <a:spcPts val="800"/>
              </a:spcAft>
              <a:buSzPct val="100000"/>
              <a:buChar char="•"/>
            </a:pPr>
            <a:r>
              <a:rPr lang="en-US" sz="1150" dirty="0">
                <a:solidFill>
                  <a:srgbClr val="5B5F63"/>
                </a:solidFill>
                <a:latin typeface="Arial" pitchFamily="34" charset="0"/>
                <a:ea typeface="Arial" pitchFamily="34" charset="-122"/>
                <a:cs typeface="Arial" pitchFamily="34" charset="-120"/>
              </a:rPr>
              <a:t>Facebook groups as an experiment (per CTO)</a:t>
            </a:r>
            <a:endParaRPr lang="en-US" sz="1150" dirty="0"/>
          </a:p>
          <a:p>
            <a:pPr marL="342900" indent="-342900">
              <a:lnSpc>
                <a:spcPct val="125000"/>
              </a:lnSpc>
              <a:spcAft>
                <a:spcPts val="800"/>
              </a:spcAft>
              <a:buSzPct val="100000"/>
              <a:buChar char="•"/>
            </a:pPr>
            <a:r>
              <a:rPr lang="en-US" sz="1150" dirty="0">
                <a:solidFill>
                  <a:srgbClr val="5B5F63"/>
                </a:solidFill>
                <a:latin typeface="Arial" pitchFamily="34" charset="0"/>
                <a:ea typeface="Arial" pitchFamily="34" charset="-122"/>
                <a:cs typeface="Arial" pitchFamily="34" charset="-120"/>
              </a:rPr>
              <a:t>Referral and advocacy loops</a:t>
            </a:r>
            <a:endParaRPr lang="en-US" sz="1150" dirty="0"/>
          </a:p>
        </p:txBody>
      </p:sp>
      <p:sp>
        <p:nvSpPr>
          <p:cNvPr id="15" name="Text 12"/>
          <p:cNvSpPr/>
          <p:nvPr/>
        </p:nvSpPr>
        <p:spPr>
          <a:xfrm>
            <a:off x="640080" y="5897880"/>
            <a:ext cx="10908792" cy="365760"/>
          </a:xfrm>
          <a:prstGeom prst="rect">
            <a:avLst/>
          </a:prstGeom>
          <a:noFill/>
          <a:ln/>
        </p:spPr>
        <p:txBody>
          <a:bodyPr wrap="square" rtlCol="0" anchor="ctr"/>
          <a:lstStyle/>
          <a:p>
            <a:pPr indent="0" marL="0">
              <a:buNone/>
            </a:pPr>
            <a:r>
              <a:rPr lang="en-US" sz="1050" i="1" dirty="0">
                <a:solidFill>
                  <a:srgbClr val="9A9A93"/>
                </a:solidFill>
                <a:latin typeface="Arial" pitchFamily="34" charset="0"/>
                <a:ea typeface="Arial" pitchFamily="34" charset="-122"/>
                <a:cs typeface="Arial" pitchFamily="34" charset="-120"/>
              </a:rPr>
              <a:t>Motion: feeds PLG advocacy and sales-led references  ·  Owner: Community + Marketing</a:t>
            </a:r>
            <a:endParaRPr lang="en-US" sz="1050" dirty="0"/>
          </a:p>
        </p:txBody>
      </p:sp>
      <p:sp>
        <p:nvSpPr>
          <p:cNvPr id="16" name="Text 13"/>
          <p:cNvSpPr/>
          <p:nvPr/>
        </p:nvSpPr>
        <p:spPr>
          <a:xfrm>
            <a:off x="11460175" y="6446520"/>
            <a:ext cx="457200" cy="274320"/>
          </a:xfrm>
          <a:prstGeom prst="rect">
            <a:avLst/>
          </a:prstGeom>
          <a:noFill/>
          <a:ln/>
        </p:spPr>
        <p:txBody>
          <a:bodyPr wrap="square" rtlCol="0" anchor="ctr"/>
          <a:lstStyle/>
          <a:p>
            <a:pPr algn="r" indent="0" marL="0">
              <a:buNone/>
            </a:pPr>
            <a:r>
              <a:rPr lang="en-US" sz="1000" dirty="0">
                <a:solidFill>
                  <a:srgbClr val="9A9A93"/>
                </a:solidFill>
                <a:latin typeface="Arial" pitchFamily="34" charset="0"/>
                <a:ea typeface="Arial" pitchFamily="34" charset="-122"/>
                <a:cs typeface="Arial" pitchFamily="34" charset="-120"/>
              </a:rPr>
              <a:t>22</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AF9F5"/>
        </a:solidFill>
      </p:bgPr>
    </p:bg>
    <p:spTree>
      <p:nvGrpSpPr>
        <p:cNvPr id="1" name=""/>
        <p:cNvGrpSpPr/>
        <p:nvPr/>
      </p:nvGrpSpPr>
      <p:grpSpPr>
        <a:xfrm>
          <a:off x="0" y="0"/>
          <a:ext cx="0" cy="0"/>
          <a:chOff x="0" y="0"/>
          <a:chExt cx="0" cy="0"/>
        </a:xfrm>
      </p:grpSpPr>
      <p:sp>
        <p:nvSpPr>
          <p:cNvPr id="2" name="Text 0"/>
          <p:cNvSpPr/>
          <p:nvPr/>
        </p:nvSpPr>
        <p:spPr>
          <a:xfrm>
            <a:off x="640080" y="411480"/>
            <a:ext cx="10058400" cy="274320"/>
          </a:xfrm>
          <a:prstGeom prst="rect">
            <a:avLst/>
          </a:prstGeom>
          <a:noFill/>
          <a:ln/>
        </p:spPr>
        <p:txBody>
          <a:bodyPr wrap="square" rtlCol="0" anchor="ctr"/>
          <a:lstStyle/>
          <a:p>
            <a:pPr indent="0" marL="0">
              <a:buNone/>
            </a:pPr>
            <a:r>
              <a:rPr lang="en-US" sz="1100" b="1" spc="500" kern="0" dirty="0">
                <a:solidFill>
                  <a:srgbClr val="788C5D"/>
                </a:solidFill>
                <a:latin typeface="Arial" pitchFamily="34" charset="0"/>
                <a:ea typeface="Arial" pitchFamily="34" charset="-122"/>
                <a:cs typeface="Arial" pitchFamily="34" charset="-120"/>
              </a:rPr>
              <a:t>CHANNEL PLAYBOOK</a:t>
            </a:r>
            <a:endParaRPr lang="en-US" sz="1100" dirty="0"/>
          </a:p>
        </p:txBody>
      </p:sp>
      <p:pic>
        <p:nvPicPr>
          <p:cNvPr id="3" name="Image 0" descr="preencoded.png">    </p:cNvPr>
          <p:cNvPicPr>
            <a:picLocks noChangeAspect="1"/>
          </p:cNvPicPr>
          <p:nvPr/>
        </p:nvPicPr>
        <p:blipFill>
          <a:blip r:embed="rId1"/>
          <a:stretch>
            <a:fillRect/>
          </a:stretch>
        </p:blipFill>
        <p:spPr>
          <a:xfrm>
            <a:off x="640080" y="658368"/>
            <a:ext cx="457200" cy="457200"/>
          </a:xfrm>
          <a:prstGeom prst="rect">
            <a:avLst/>
          </a:prstGeom>
        </p:spPr>
      </p:pic>
      <p:sp>
        <p:nvSpPr>
          <p:cNvPr id="4" name="Text 1"/>
          <p:cNvSpPr/>
          <p:nvPr/>
        </p:nvSpPr>
        <p:spPr>
          <a:xfrm>
            <a:off x="1234440" y="658368"/>
            <a:ext cx="10058400" cy="502920"/>
          </a:xfrm>
          <a:prstGeom prst="rect">
            <a:avLst/>
          </a:prstGeom>
          <a:noFill/>
          <a:ln/>
        </p:spPr>
        <p:txBody>
          <a:bodyPr wrap="square" rtlCol="0" anchor="ctr"/>
          <a:lstStyle/>
          <a:p>
            <a:pPr indent="0" marL="0">
              <a:buNone/>
            </a:pPr>
            <a:r>
              <a:rPr lang="en-US" sz="2600" dirty="0">
                <a:solidFill>
                  <a:srgbClr val="0E0E10"/>
                </a:solidFill>
                <a:latin typeface="Georgia" pitchFamily="34" charset="0"/>
                <a:ea typeface="Georgia" pitchFamily="34" charset="-122"/>
                <a:cs typeface="Georgia" pitchFamily="34" charset="-120"/>
              </a:rPr>
              <a:t>Partnerships &amp; Co-Marketing</a:t>
            </a:r>
            <a:endParaRPr lang="en-US" sz="2600" dirty="0"/>
          </a:p>
        </p:txBody>
      </p:sp>
      <p:sp>
        <p:nvSpPr>
          <p:cNvPr id="5" name="Shape 2"/>
          <p:cNvSpPr/>
          <p:nvPr/>
        </p:nvSpPr>
        <p:spPr>
          <a:xfrm>
            <a:off x="640080" y="1371600"/>
            <a:ext cx="10908792" cy="640080"/>
          </a:xfrm>
          <a:prstGeom prst="rect">
            <a:avLst/>
          </a:prstGeom>
          <a:solidFill>
            <a:srgbClr val="17171B"/>
          </a:solidFill>
          <a:ln/>
        </p:spPr>
      </p:sp>
      <p:sp>
        <p:nvSpPr>
          <p:cNvPr id="6" name="Text 3"/>
          <p:cNvSpPr/>
          <p:nvPr/>
        </p:nvSpPr>
        <p:spPr>
          <a:xfrm>
            <a:off x="868680" y="1371600"/>
            <a:ext cx="10424160" cy="640080"/>
          </a:xfrm>
          <a:prstGeom prst="rect">
            <a:avLst/>
          </a:prstGeom>
          <a:noFill/>
          <a:ln/>
        </p:spPr>
        <p:txBody>
          <a:bodyPr wrap="square" rtlCol="0" anchor="ctr"/>
          <a:lstStyle/>
          <a:p>
            <a:pPr indent="0" marL="0">
              <a:buNone/>
            </a:pPr>
            <a:r>
              <a:rPr lang="en-US" sz="1250" i="1" dirty="0">
                <a:solidFill>
                  <a:srgbClr val="ECEAE1"/>
                </a:solidFill>
                <a:latin typeface="Georgia" pitchFamily="34" charset="0"/>
                <a:ea typeface="Georgia" pitchFamily="34" charset="-122"/>
                <a:cs typeface="Georgia" pitchFamily="34" charset="-120"/>
              </a:rPr>
              <a:t>Grow through others' distribution and credibility. The fastest way for an unknown brand to borrow trust and reach.</a:t>
            </a:r>
            <a:endParaRPr lang="en-US" sz="1250" dirty="0"/>
          </a:p>
        </p:txBody>
      </p:sp>
      <p:sp>
        <p:nvSpPr>
          <p:cNvPr id="7" name="Shape 4"/>
          <p:cNvSpPr/>
          <p:nvPr/>
        </p:nvSpPr>
        <p:spPr>
          <a:xfrm>
            <a:off x="640080" y="2240280"/>
            <a:ext cx="5376672" cy="3429000"/>
          </a:xfrm>
          <a:prstGeom prst="rect">
            <a:avLst/>
          </a:prstGeom>
          <a:solidFill>
            <a:srgbClr val="FFFFFF"/>
          </a:solidFill>
          <a:ln/>
          <a:effectLst>
            <a:outerShdw sx="100000" sy="100000" kx="0" ky="0" algn="bl" rotWithShape="0" blurRad="3.250711127336543e+230" dist="1.3002844509346172e+230" dir="3.3940054153256444e+269">
              <a:srgbClr val="000000">
                <a:alpha val="9.999999999999996e+278"/>
              </a:srgbClr>
            </a:outerShdw>
          </a:effectLst>
        </p:spPr>
      </p:sp>
      <p:sp>
        <p:nvSpPr>
          <p:cNvPr id="8" name="Shape 5"/>
          <p:cNvSpPr/>
          <p:nvPr/>
        </p:nvSpPr>
        <p:spPr>
          <a:xfrm>
            <a:off x="640080" y="2240280"/>
            <a:ext cx="5376672" cy="457200"/>
          </a:xfrm>
          <a:prstGeom prst="rect">
            <a:avLst/>
          </a:prstGeom>
          <a:solidFill>
            <a:srgbClr val="185771"/>
          </a:solidFill>
          <a:ln/>
        </p:spPr>
      </p:sp>
      <p:sp>
        <p:nvSpPr>
          <p:cNvPr id="9" name="Text 6"/>
          <p:cNvSpPr/>
          <p:nvPr/>
        </p:nvSpPr>
        <p:spPr>
          <a:xfrm>
            <a:off x="868680" y="2240280"/>
            <a:ext cx="4937760" cy="457200"/>
          </a:xfrm>
          <a:prstGeom prst="rect">
            <a:avLst/>
          </a:prstGeom>
          <a:noFill/>
          <a:ln/>
        </p:spPr>
        <p:txBody>
          <a:bodyPr wrap="square" rtlCol="0" anchor="ctr"/>
          <a:lstStyle/>
          <a:p>
            <a:pPr indent="0" marL="0">
              <a:buNone/>
            </a:pPr>
            <a:r>
              <a:rPr lang="en-US" sz="1300" b="1" spc="200" kern="0" dirty="0">
                <a:solidFill>
                  <a:srgbClr val="FFFFFF"/>
                </a:solidFill>
                <a:latin typeface="Arial" pitchFamily="34" charset="0"/>
                <a:ea typeface="Arial" pitchFamily="34" charset="-122"/>
                <a:cs typeface="Arial" pitchFamily="34" charset="-120"/>
              </a:rPr>
              <a:t>STRATEGIC &amp; CLOUD</a:t>
            </a:r>
            <a:endParaRPr lang="en-US" sz="1300" dirty="0"/>
          </a:p>
        </p:txBody>
      </p:sp>
      <p:sp>
        <p:nvSpPr>
          <p:cNvPr id="10" name="Text 7"/>
          <p:cNvSpPr/>
          <p:nvPr/>
        </p:nvSpPr>
        <p:spPr>
          <a:xfrm>
            <a:off x="868680" y="2834640"/>
            <a:ext cx="4937760" cy="2743200"/>
          </a:xfrm>
          <a:prstGeom prst="rect">
            <a:avLst/>
          </a:prstGeom>
          <a:noFill/>
          <a:ln/>
        </p:spPr>
        <p:txBody>
          <a:bodyPr wrap="square" rtlCol="0" anchor="t"/>
          <a:lstStyle/>
          <a:p>
            <a:pPr marL="342900" indent="-342900">
              <a:lnSpc>
                <a:spcPct val="125000"/>
              </a:lnSpc>
              <a:spcAft>
                <a:spcPts val="800"/>
              </a:spcAft>
              <a:buSzPct val="100000"/>
              <a:buChar char="•"/>
            </a:pPr>
            <a:r>
              <a:rPr lang="en-US" sz="1150" dirty="0">
                <a:solidFill>
                  <a:srgbClr val="5B5F63"/>
                </a:solidFill>
                <a:latin typeface="Arial" pitchFamily="34" charset="0"/>
                <a:ea typeface="Arial" pitchFamily="34" charset="-122"/>
                <a:cs typeface="Arial" pitchFamily="34" charset="-120"/>
              </a:rPr>
              <a:t>AWS and cloud partnerships for co-sell and reach</a:t>
            </a:r>
            <a:endParaRPr lang="en-US" sz="1150" dirty="0"/>
          </a:p>
          <a:p>
            <a:pPr marL="342900" indent="-342900">
              <a:lnSpc>
                <a:spcPct val="125000"/>
              </a:lnSpc>
              <a:spcAft>
                <a:spcPts val="800"/>
              </a:spcAft>
              <a:buSzPct val="100000"/>
              <a:buChar char="•"/>
            </a:pPr>
            <a:r>
              <a:rPr lang="en-US" sz="1150" dirty="0">
                <a:solidFill>
                  <a:srgbClr val="5B5F63"/>
                </a:solidFill>
                <a:latin typeface="Arial" pitchFamily="34" charset="0"/>
                <a:ea typeface="Arial" pitchFamily="34" charset="-122"/>
                <a:cs typeface="Arial" pitchFamily="34" charset="-120"/>
              </a:rPr>
              <a:t>Marketplace presence for easier procurement</a:t>
            </a:r>
            <a:endParaRPr lang="en-US" sz="1150" dirty="0"/>
          </a:p>
          <a:p>
            <a:pPr marL="342900" indent="-342900">
              <a:lnSpc>
                <a:spcPct val="125000"/>
              </a:lnSpc>
              <a:spcAft>
                <a:spcPts val="800"/>
              </a:spcAft>
              <a:buSzPct val="100000"/>
              <a:buChar char="•"/>
            </a:pPr>
            <a:r>
              <a:rPr lang="en-US" sz="1150" dirty="0">
                <a:solidFill>
                  <a:srgbClr val="5B5F63"/>
                </a:solidFill>
                <a:latin typeface="Arial" pitchFamily="34" charset="0"/>
                <a:ea typeface="Arial" pitchFamily="34" charset="-122"/>
                <a:cs typeface="Arial" pitchFamily="34" charset="-120"/>
              </a:rPr>
              <a:t>Technology integrations (the connectors story)</a:t>
            </a:r>
            <a:endParaRPr lang="en-US" sz="1150" dirty="0"/>
          </a:p>
          <a:p>
            <a:pPr marL="342900" indent="-342900">
              <a:lnSpc>
                <a:spcPct val="125000"/>
              </a:lnSpc>
              <a:spcAft>
                <a:spcPts val="800"/>
              </a:spcAft>
              <a:buSzPct val="100000"/>
              <a:buChar char="•"/>
            </a:pPr>
            <a:r>
              <a:rPr lang="en-US" sz="1150" dirty="0">
                <a:solidFill>
                  <a:srgbClr val="5B5F63"/>
                </a:solidFill>
                <a:latin typeface="Arial" pitchFamily="34" charset="0"/>
                <a:ea typeface="Arial" pitchFamily="34" charset="-122"/>
                <a:cs typeface="Arial" pitchFamily="34" charset="-120"/>
              </a:rPr>
              <a:t>Co-marketing content and joint webinars</a:t>
            </a:r>
            <a:endParaRPr lang="en-US" sz="1150" dirty="0"/>
          </a:p>
        </p:txBody>
      </p:sp>
      <p:sp>
        <p:nvSpPr>
          <p:cNvPr id="11" name="Shape 8"/>
          <p:cNvSpPr/>
          <p:nvPr/>
        </p:nvSpPr>
        <p:spPr>
          <a:xfrm>
            <a:off x="6172200" y="2240280"/>
            <a:ext cx="5376672" cy="3429000"/>
          </a:xfrm>
          <a:prstGeom prst="rect">
            <a:avLst/>
          </a:prstGeom>
          <a:solidFill>
            <a:srgbClr val="FFFFFF"/>
          </a:solidFill>
          <a:ln/>
          <a:effectLst>
            <a:outerShdw sx="100000" sy="100000" kx="0" ky="0" algn="bl" rotWithShape="0" blurRad="4.12840313171741e+234" dist="1.6513612526869638e+234" dir="2.0364032491953868e+274">
              <a:srgbClr val="000000">
                <a:alpha val="9.999999999999996e+283"/>
              </a:srgbClr>
            </a:outerShdw>
          </a:effectLst>
        </p:spPr>
      </p:sp>
      <p:sp>
        <p:nvSpPr>
          <p:cNvPr id="12" name="Shape 9"/>
          <p:cNvSpPr/>
          <p:nvPr/>
        </p:nvSpPr>
        <p:spPr>
          <a:xfrm>
            <a:off x="6172200" y="2240280"/>
            <a:ext cx="5376672" cy="457200"/>
          </a:xfrm>
          <a:prstGeom prst="rect">
            <a:avLst/>
          </a:prstGeom>
          <a:solidFill>
            <a:srgbClr val="C2703D"/>
          </a:solidFill>
          <a:ln/>
        </p:spPr>
      </p:sp>
      <p:sp>
        <p:nvSpPr>
          <p:cNvPr id="13" name="Text 10"/>
          <p:cNvSpPr/>
          <p:nvPr/>
        </p:nvSpPr>
        <p:spPr>
          <a:xfrm>
            <a:off x="6400800" y="2240280"/>
            <a:ext cx="4937760" cy="457200"/>
          </a:xfrm>
          <a:prstGeom prst="rect">
            <a:avLst/>
          </a:prstGeom>
          <a:noFill/>
          <a:ln/>
        </p:spPr>
        <p:txBody>
          <a:bodyPr wrap="square" rtlCol="0" anchor="ctr"/>
          <a:lstStyle/>
          <a:p>
            <a:pPr indent="0" marL="0">
              <a:buNone/>
            </a:pPr>
            <a:r>
              <a:rPr lang="en-US" sz="1300" b="1" spc="200" kern="0" dirty="0">
                <a:solidFill>
                  <a:srgbClr val="FFFFFF"/>
                </a:solidFill>
                <a:latin typeface="Arial" pitchFamily="34" charset="0"/>
                <a:ea typeface="Arial" pitchFamily="34" charset="-122"/>
                <a:cs typeface="Arial" pitchFamily="34" charset="-120"/>
              </a:rPr>
              <a:t>VERTICAL CO-BRAND</a:t>
            </a:r>
            <a:endParaRPr lang="en-US" sz="1300" dirty="0"/>
          </a:p>
        </p:txBody>
      </p:sp>
      <p:sp>
        <p:nvSpPr>
          <p:cNvPr id="14" name="Text 11"/>
          <p:cNvSpPr/>
          <p:nvPr/>
        </p:nvSpPr>
        <p:spPr>
          <a:xfrm>
            <a:off x="6400800" y="2834640"/>
            <a:ext cx="4937760" cy="2743200"/>
          </a:xfrm>
          <a:prstGeom prst="rect">
            <a:avLst/>
          </a:prstGeom>
          <a:noFill/>
          <a:ln/>
        </p:spPr>
        <p:txBody>
          <a:bodyPr wrap="square" rtlCol="0" anchor="t"/>
          <a:lstStyle/>
          <a:p>
            <a:pPr marL="342900" indent="-342900">
              <a:lnSpc>
                <a:spcPct val="125000"/>
              </a:lnSpc>
              <a:spcAft>
                <a:spcPts val="800"/>
              </a:spcAft>
              <a:buSzPct val="100000"/>
              <a:buChar char="•"/>
            </a:pPr>
            <a:r>
              <a:rPr lang="en-US" sz="1150" dirty="0">
                <a:solidFill>
                  <a:srgbClr val="5B5F63"/>
                </a:solidFill>
                <a:latin typeface="Arial" pitchFamily="34" charset="0"/>
                <a:ea typeface="Arial" pitchFamily="34" charset="-122"/>
                <a:cs typeface="Arial" pitchFamily="34" charset="-120"/>
              </a:rPr>
              <a:t>Legal-firm co-brand: their reputation, our technology</a:t>
            </a:r>
            <a:endParaRPr lang="en-US" sz="1150" dirty="0"/>
          </a:p>
          <a:p>
            <a:pPr marL="342900" indent="-342900">
              <a:lnSpc>
                <a:spcPct val="125000"/>
              </a:lnSpc>
              <a:spcAft>
                <a:spcPts val="800"/>
              </a:spcAft>
              <a:buSzPct val="100000"/>
              <a:buChar char="•"/>
            </a:pPr>
            <a:r>
              <a:rPr lang="en-US" sz="1150" dirty="0">
                <a:solidFill>
                  <a:srgbClr val="5B5F63"/>
                </a:solidFill>
                <a:latin typeface="Arial" pitchFamily="34" charset="0"/>
                <a:ea typeface="Arial" pitchFamily="34" charset="-122"/>
                <a:cs typeface="Arial" pitchFamily="34" charset="-120"/>
              </a:rPr>
              <a:t>Account-based intros from partners</a:t>
            </a:r>
            <a:endParaRPr lang="en-US" sz="1150" dirty="0"/>
          </a:p>
          <a:p>
            <a:pPr marL="342900" indent="-342900">
              <a:lnSpc>
                <a:spcPct val="125000"/>
              </a:lnSpc>
              <a:spcAft>
                <a:spcPts val="800"/>
              </a:spcAft>
              <a:buSzPct val="100000"/>
              <a:buChar char="•"/>
            </a:pPr>
            <a:r>
              <a:rPr lang="en-US" sz="1150" dirty="0">
                <a:solidFill>
                  <a:srgbClr val="5B5F63"/>
                </a:solidFill>
                <a:latin typeface="Arial" pitchFamily="34" charset="0"/>
                <a:ea typeface="Arial" pitchFamily="34" charset="-122"/>
                <a:cs typeface="Arial" pitchFamily="34" charset="-120"/>
              </a:rPr>
              <a:t>Replicate the co-brand model per vertical</a:t>
            </a:r>
            <a:endParaRPr lang="en-US" sz="1150" dirty="0"/>
          </a:p>
          <a:p>
            <a:pPr marL="342900" indent="-342900">
              <a:lnSpc>
                <a:spcPct val="125000"/>
              </a:lnSpc>
              <a:spcAft>
                <a:spcPts val="800"/>
              </a:spcAft>
              <a:buSzPct val="100000"/>
              <a:buChar char="•"/>
            </a:pPr>
            <a:r>
              <a:rPr lang="en-US" sz="1150" dirty="0">
                <a:solidFill>
                  <a:srgbClr val="5B5F63"/>
                </a:solidFill>
                <a:latin typeface="Arial" pitchFamily="34" charset="0"/>
                <a:ea typeface="Arial" pitchFamily="34" charset="-122"/>
                <a:cs typeface="Arial" pitchFamily="34" charset="-120"/>
              </a:rPr>
              <a:t>Industry-expert collaborations for credibility</a:t>
            </a:r>
            <a:endParaRPr lang="en-US" sz="1150" dirty="0"/>
          </a:p>
        </p:txBody>
      </p:sp>
      <p:sp>
        <p:nvSpPr>
          <p:cNvPr id="15" name="Text 12"/>
          <p:cNvSpPr/>
          <p:nvPr/>
        </p:nvSpPr>
        <p:spPr>
          <a:xfrm>
            <a:off x="640080" y="5897880"/>
            <a:ext cx="10908792" cy="365760"/>
          </a:xfrm>
          <a:prstGeom prst="rect">
            <a:avLst/>
          </a:prstGeom>
          <a:noFill/>
          <a:ln/>
        </p:spPr>
        <p:txBody>
          <a:bodyPr wrap="square" rtlCol="0" anchor="ctr"/>
          <a:lstStyle/>
          <a:p>
            <a:pPr indent="0" marL="0">
              <a:buNone/>
            </a:pPr>
            <a:r>
              <a:rPr lang="en-US" sz="1050" i="1" dirty="0">
                <a:solidFill>
                  <a:srgbClr val="9A9A93"/>
                </a:solidFill>
                <a:latin typeface="Arial" pitchFamily="34" charset="0"/>
                <a:ea typeface="Arial" pitchFamily="34" charset="-122"/>
                <a:cs typeface="Arial" pitchFamily="34" charset="-120"/>
              </a:rPr>
              <a:t>Motion: accelerates both sales-led and the vertical wedge  ·  Owner: Partnerships + Marketing</a:t>
            </a:r>
            <a:endParaRPr lang="en-US" sz="1050" dirty="0"/>
          </a:p>
        </p:txBody>
      </p:sp>
      <p:sp>
        <p:nvSpPr>
          <p:cNvPr id="16" name="Text 13"/>
          <p:cNvSpPr/>
          <p:nvPr/>
        </p:nvSpPr>
        <p:spPr>
          <a:xfrm>
            <a:off x="11460175" y="6446520"/>
            <a:ext cx="457200" cy="274320"/>
          </a:xfrm>
          <a:prstGeom prst="rect">
            <a:avLst/>
          </a:prstGeom>
          <a:noFill/>
          <a:ln/>
        </p:spPr>
        <p:txBody>
          <a:bodyPr wrap="square" rtlCol="0" anchor="ctr"/>
          <a:lstStyle/>
          <a:p>
            <a:pPr algn="r" indent="0" marL="0">
              <a:buNone/>
            </a:pPr>
            <a:r>
              <a:rPr lang="en-US" sz="1000" dirty="0">
                <a:solidFill>
                  <a:srgbClr val="9A9A93"/>
                </a:solidFill>
                <a:latin typeface="Arial" pitchFamily="34" charset="0"/>
                <a:ea typeface="Arial" pitchFamily="34" charset="-122"/>
                <a:cs typeface="Arial" pitchFamily="34" charset="-120"/>
              </a:rPr>
              <a:t>23</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AF9F5"/>
        </a:solidFill>
      </p:bgPr>
    </p:bg>
    <p:spTree>
      <p:nvGrpSpPr>
        <p:cNvPr id="1" name=""/>
        <p:cNvGrpSpPr/>
        <p:nvPr/>
      </p:nvGrpSpPr>
      <p:grpSpPr>
        <a:xfrm>
          <a:off x="0" y="0"/>
          <a:ext cx="0" cy="0"/>
          <a:chOff x="0" y="0"/>
          <a:chExt cx="0" cy="0"/>
        </a:xfrm>
      </p:grpSpPr>
      <p:sp>
        <p:nvSpPr>
          <p:cNvPr id="2" name="Text 0"/>
          <p:cNvSpPr/>
          <p:nvPr/>
        </p:nvSpPr>
        <p:spPr>
          <a:xfrm>
            <a:off x="640080" y="411480"/>
            <a:ext cx="10058400" cy="274320"/>
          </a:xfrm>
          <a:prstGeom prst="rect">
            <a:avLst/>
          </a:prstGeom>
          <a:noFill/>
          <a:ln/>
        </p:spPr>
        <p:txBody>
          <a:bodyPr wrap="square" rtlCol="0" anchor="ctr"/>
          <a:lstStyle/>
          <a:p>
            <a:pPr indent="0" marL="0">
              <a:buNone/>
            </a:pPr>
            <a:r>
              <a:rPr lang="en-US" sz="1100" b="1" spc="500" kern="0" dirty="0">
                <a:solidFill>
                  <a:srgbClr val="185771"/>
                </a:solidFill>
                <a:latin typeface="Arial" pitchFamily="34" charset="0"/>
                <a:ea typeface="Arial" pitchFamily="34" charset="-122"/>
                <a:cs typeface="Arial" pitchFamily="34" charset="-120"/>
              </a:rPr>
              <a:t>CHANNEL PLAYBOOK</a:t>
            </a:r>
            <a:endParaRPr lang="en-US" sz="1100" dirty="0"/>
          </a:p>
        </p:txBody>
      </p:sp>
      <p:pic>
        <p:nvPicPr>
          <p:cNvPr id="3" name="Image 0" descr="preencoded.png">    </p:cNvPr>
          <p:cNvPicPr>
            <a:picLocks noChangeAspect="1"/>
          </p:cNvPicPr>
          <p:nvPr/>
        </p:nvPicPr>
        <p:blipFill>
          <a:blip r:embed="rId1"/>
          <a:stretch>
            <a:fillRect/>
          </a:stretch>
        </p:blipFill>
        <p:spPr>
          <a:xfrm>
            <a:off x="640080" y="658368"/>
            <a:ext cx="457200" cy="457200"/>
          </a:xfrm>
          <a:prstGeom prst="rect">
            <a:avLst/>
          </a:prstGeom>
        </p:spPr>
      </p:pic>
      <p:sp>
        <p:nvSpPr>
          <p:cNvPr id="4" name="Text 1"/>
          <p:cNvSpPr/>
          <p:nvPr/>
        </p:nvSpPr>
        <p:spPr>
          <a:xfrm>
            <a:off x="1234440" y="658368"/>
            <a:ext cx="10058400" cy="502920"/>
          </a:xfrm>
          <a:prstGeom prst="rect">
            <a:avLst/>
          </a:prstGeom>
          <a:noFill/>
          <a:ln/>
        </p:spPr>
        <p:txBody>
          <a:bodyPr wrap="square" rtlCol="0" anchor="ctr"/>
          <a:lstStyle/>
          <a:p>
            <a:pPr indent="0" marL="0">
              <a:buNone/>
            </a:pPr>
            <a:r>
              <a:rPr lang="en-US" sz="2600" dirty="0">
                <a:solidFill>
                  <a:srgbClr val="0E0E10"/>
                </a:solidFill>
                <a:latin typeface="Georgia" pitchFamily="34" charset="0"/>
                <a:ea typeface="Georgia" pitchFamily="34" charset="-122"/>
                <a:cs typeface="Georgia" pitchFamily="34" charset="-120"/>
              </a:rPr>
              <a:t>Influencers &amp; Creators</a:t>
            </a:r>
            <a:endParaRPr lang="en-US" sz="2600" dirty="0"/>
          </a:p>
        </p:txBody>
      </p:sp>
      <p:sp>
        <p:nvSpPr>
          <p:cNvPr id="5" name="Shape 2"/>
          <p:cNvSpPr/>
          <p:nvPr/>
        </p:nvSpPr>
        <p:spPr>
          <a:xfrm>
            <a:off x="640080" y="1371600"/>
            <a:ext cx="10908792" cy="640080"/>
          </a:xfrm>
          <a:prstGeom prst="rect">
            <a:avLst/>
          </a:prstGeom>
          <a:solidFill>
            <a:srgbClr val="17171B"/>
          </a:solidFill>
          <a:ln/>
        </p:spPr>
      </p:sp>
      <p:sp>
        <p:nvSpPr>
          <p:cNvPr id="6" name="Text 3"/>
          <p:cNvSpPr/>
          <p:nvPr/>
        </p:nvSpPr>
        <p:spPr>
          <a:xfrm>
            <a:off x="868680" y="1371600"/>
            <a:ext cx="10424160" cy="640080"/>
          </a:xfrm>
          <a:prstGeom prst="rect">
            <a:avLst/>
          </a:prstGeom>
          <a:noFill/>
          <a:ln/>
        </p:spPr>
        <p:txBody>
          <a:bodyPr wrap="square" rtlCol="0" anchor="ctr"/>
          <a:lstStyle/>
          <a:p>
            <a:pPr indent="0" marL="0">
              <a:buNone/>
            </a:pPr>
            <a:r>
              <a:rPr lang="en-US" sz="1250" i="1" dirty="0">
                <a:solidFill>
                  <a:srgbClr val="ECEAE1"/>
                </a:solidFill>
                <a:latin typeface="Georgia" pitchFamily="34" charset="0"/>
                <a:ea typeface="Georgia" pitchFamily="34" charset="-122"/>
                <a:cs typeface="Georgia" pitchFamily="34" charset="-120"/>
              </a:rPr>
              <a:t>Borrowed trust, honestly. Skeptical-then-curious beats hype. The honest take is the point, per our creator guidelines.</a:t>
            </a:r>
            <a:endParaRPr lang="en-US" sz="1250" dirty="0"/>
          </a:p>
        </p:txBody>
      </p:sp>
      <p:sp>
        <p:nvSpPr>
          <p:cNvPr id="7" name="Shape 4"/>
          <p:cNvSpPr/>
          <p:nvPr/>
        </p:nvSpPr>
        <p:spPr>
          <a:xfrm>
            <a:off x="640080" y="2240280"/>
            <a:ext cx="5376672" cy="3429000"/>
          </a:xfrm>
          <a:prstGeom prst="rect">
            <a:avLst/>
          </a:prstGeom>
          <a:solidFill>
            <a:srgbClr val="FFFFFF"/>
          </a:solidFill>
          <a:ln/>
          <a:effectLst>
            <a:outerShdw sx="100000" sy="100000" kx="0" ky="0" algn="bl" rotWithShape="0" blurRad="5.24307197728111e+238" dist="2.097228790912444e+238" dir="1.221841949517232e+279">
              <a:srgbClr val="000000">
                <a:alpha val="9.999999999999996e+288"/>
              </a:srgbClr>
            </a:outerShdw>
          </a:effectLst>
        </p:spPr>
      </p:sp>
      <p:sp>
        <p:nvSpPr>
          <p:cNvPr id="8" name="Shape 5"/>
          <p:cNvSpPr/>
          <p:nvPr/>
        </p:nvSpPr>
        <p:spPr>
          <a:xfrm>
            <a:off x="640080" y="2240280"/>
            <a:ext cx="5376672" cy="457200"/>
          </a:xfrm>
          <a:prstGeom prst="rect">
            <a:avLst/>
          </a:prstGeom>
          <a:solidFill>
            <a:srgbClr val="185771"/>
          </a:solidFill>
          <a:ln/>
        </p:spPr>
      </p:sp>
      <p:sp>
        <p:nvSpPr>
          <p:cNvPr id="9" name="Text 6"/>
          <p:cNvSpPr/>
          <p:nvPr/>
        </p:nvSpPr>
        <p:spPr>
          <a:xfrm>
            <a:off x="868680" y="2240280"/>
            <a:ext cx="4937760" cy="457200"/>
          </a:xfrm>
          <a:prstGeom prst="rect">
            <a:avLst/>
          </a:prstGeom>
          <a:noFill/>
          <a:ln/>
        </p:spPr>
        <p:txBody>
          <a:bodyPr wrap="square" rtlCol="0" anchor="ctr"/>
          <a:lstStyle/>
          <a:p>
            <a:pPr indent="0" marL="0">
              <a:buNone/>
            </a:pPr>
            <a:r>
              <a:rPr lang="en-US" sz="1300" b="1" spc="200" kern="0" dirty="0">
                <a:solidFill>
                  <a:srgbClr val="FFFFFF"/>
                </a:solidFill>
                <a:latin typeface="Arial" pitchFamily="34" charset="0"/>
                <a:ea typeface="Arial" pitchFamily="34" charset="-122"/>
                <a:cs typeface="Arial" pitchFamily="34" charset="-120"/>
              </a:rPr>
              <a:t>B2B / TECHNICAL VOICES</a:t>
            </a:r>
            <a:endParaRPr lang="en-US" sz="1300" dirty="0"/>
          </a:p>
        </p:txBody>
      </p:sp>
      <p:sp>
        <p:nvSpPr>
          <p:cNvPr id="10" name="Text 7"/>
          <p:cNvSpPr/>
          <p:nvPr/>
        </p:nvSpPr>
        <p:spPr>
          <a:xfrm>
            <a:off x="868680" y="2834640"/>
            <a:ext cx="4937760" cy="2743200"/>
          </a:xfrm>
          <a:prstGeom prst="rect">
            <a:avLst/>
          </a:prstGeom>
          <a:noFill/>
          <a:ln/>
        </p:spPr>
        <p:txBody>
          <a:bodyPr wrap="square" rtlCol="0" anchor="t"/>
          <a:lstStyle/>
          <a:p>
            <a:pPr marL="342900" indent="-342900">
              <a:lnSpc>
                <a:spcPct val="125000"/>
              </a:lnSpc>
              <a:spcAft>
                <a:spcPts val="800"/>
              </a:spcAft>
              <a:buSzPct val="100000"/>
              <a:buChar char="•"/>
            </a:pPr>
            <a:r>
              <a:rPr lang="en-US" sz="1150" dirty="0">
                <a:solidFill>
                  <a:srgbClr val="5B5F63"/>
                </a:solidFill>
                <a:latin typeface="Arial" pitchFamily="34" charset="0"/>
                <a:ea typeface="Arial" pitchFamily="34" charset="-122"/>
                <a:cs typeface="Arial" pitchFamily="34" charset="-120"/>
              </a:rPr>
              <a:t>Respected security, compliance, enterprise-AI voices</a:t>
            </a:r>
            <a:endParaRPr lang="en-US" sz="1150" dirty="0"/>
          </a:p>
          <a:p>
            <a:pPr marL="342900" indent="-342900">
              <a:lnSpc>
                <a:spcPct val="125000"/>
              </a:lnSpc>
              <a:spcAft>
                <a:spcPts val="800"/>
              </a:spcAft>
              <a:buSzPct val="100000"/>
              <a:buChar char="•"/>
            </a:pPr>
            <a:r>
              <a:rPr lang="en-US" sz="1150" dirty="0">
                <a:solidFill>
                  <a:srgbClr val="5B5F63"/>
                </a:solidFill>
                <a:latin typeface="Arial" pitchFamily="34" charset="0"/>
                <a:ea typeface="Arial" pitchFamily="34" charset="-122"/>
                <a:cs typeface="Arial" pitchFamily="34" charset="-120"/>
              </a:rPr>
              <a:t>What they say: real evaluation of proof and workflow</a:t>
            </a:r>
            <a:endParaRPr lang="en-US" sz="1150" dirty="0"/>
          </a:p>
          <a:p>
            <a:pPr marL="342900" indent="-342900">
              <a:lnSpc>
                <a:spcPct val="125000"/>
              </a:lnSpc>
              <a:spcAft>
                <a:spcPts val="800"/>
              </a:spcAft>
              <a:buSzPct val="100000"/>
              <a:buChar char="•"/>
            </a:pPr>
            <a:r>
              <a:rPr lang="en-US" sz="1150" dirty="0">
                <a:solidFill>
                  <a:srgbClr val="5B5F63"/>
                </a:solidFill>
                <a:latin typeface="Arial" pitchFamily="34" charset="0"/>
                <a:ea typeface="Arial" pitchFamily="34" charset="-122"/>
                <a:cs typeface="Arial" pitchFamily="34" charset="-120"/>
              </a:rPr>
              <a:t>Best content: technical teardowns, 'I tested the attestation'</a:t>
            </a:r>
            <a:endParaRPr lang="en-US" sz="1150" dirty="0"/>
          </a:p>
          <a:p>
            <a:pPr marL="342900" indent="-342900">
              <a:lnSpc>
                <a:spcPct val="125000"/>
              </a:lnSpc>
              <a:spcAft>
                <a:spcPts val="800"/>
              </a:spcAft>
              <a:buSzPct val="100000"/>
              <a:buChar char="•"/>
            </a:pPr>
            <a:r>
              <a:rPr lang="en-US" sz="1150" dirty="0">
                <a:solidFill>
                  <a:srgbClr val="5B5F63"/>
                </a:solidFill>
                <a:latin typeface="Arial" pitchFamily="34" charset="0"/>
                <a:ea typeface="Arial" pitchFamily="34" charset="-122"/>
                <a:cs typeface="Arial" pitchFamily="34" charset="-120"/>
              </a:rPr>
              <a:t>Format: long-form, threads, podcast guest spots</a:t>
            </a:r>
            <a:endParaRPr lang="en-US" sz="1150" dirty="0"/>
          </a:p>
        </p:txBody>
      </p:sp>
      <p:sp>
        <p:nvSpPr>
          <p:cNvPr id="11" name="Shape 8"/>
          <p:cNvSpPr/>
          <p:nvPr/>
        </p:nvSpPr>
        <p:spPr>
          <a:xfrm>
            <a:off x="6172200" y="2240280"/>
            <a:ext cx="5376672" cy="3429000"/>
          </a:xfrm>
          <a:prstGeom prst="rect">
            <a:avLst/>
          </a:prstGeom>
          <a:solidFill>
            <a:srgbClr val="FFFFFF"/>
          </a:solidFill>
          <a:ln/>
          <a:effectLst>
            <a:outerShdw sx="100000" sy="100000" kx="0" ky="0" algn="bl" rotWithShape="0" blurRad="6.65870141114701e+242" dist="2.663480564458804e+242" dir="7.331051697103393e+283">
              <a:srgbClr val="000000">
                <a:alpha val="9.999999999999996e+293"/>
              </a:srgbClr>
            </a:outerShdw>
          </a:effectLst>
        </p:spPr>
      </p:sp>
      <p:sp>
        <p:nvSpPr>
          <p:cNvPr id="12" name="Shape 9"/>
          <p:cNvSpPr/>
          <p:nvPr/>
        </p:nvSpPr>
        <p:spPr>
          <a:xfrm>
            <a:off x="6172200" y="2240280"/>
            <a:ext cx="5376672" cy="457200"/>
          </a:xfrm>
          <a:prstGeom prst="rect">
            <a:avLst/>
          </a:prstGeom>
          <a:solidFill>
            <a:srgbClr val="C2703D"/>
          </a:solidFill>
          <a:ln/>
        </p:spPr>
      </p:sp>
      <p:sp>
        <p:nvSpPr>
          <p:cNvPr id="13" name="Text 10"/>
          <p:cNvSpPr/>
          <p:nvPr/>
        </p:nvSpPr>
        <p:spPr>
          <a:xfrm>
            <a:off x="6400800" y="2240280"/>
            <a:ext cx="4937760" cy="457200"/>
          </a:xfrm>
          <a:prstGeom prst="rect">
            <a:avLst/>
          </a:prstGeom>
          <a:noFill/>
          <a:ln/>
        </p:spPr>
        <p:txBody>
          <a:bodyPr wrap="square" rtlCol="0" anchor="ctr"/>
          <a:lstStyle/>
          <a:p>
            <a:pPr indent="0" marL="0">
              <a:buNone/>
            </a:pPr>
            <a:r>
              <a:rPr lang="en-US" sz="1300" b="1" spc="200" kern="0" dirty="0">
                <a:solidFill>
                  <a:srgbClr val="FFFFFF"/>
                </a:solidFill>
                <a:latin typeface="Arial" pitchFamily="34" charset="0"/>
                <a:ea typeface="Arial" pitchFamily="34" charset="-122"/>
                <a:cs typeface="Arial" pitchFamily="34" charset="-120"/>
              </a:rPr>
              <a:t>B2C / PRODUCTIVITY CREATORS</a:t>
            </a:r>
            <a:endParaRPr lang="en-US" sz="1300" dirty="0"/>
          </a:p>
        </p:txBody>
      </p:sp>
      <p:sp>
        <p:nvSpPr>
          <p:cNvPr id="14" name="Text 11"/>
          <p:cNvSpPr/>
          <p:nvPr/>
        </p:nvSpPr>
        <p:spPr>
          <a:xfrm>
            <a:off x="6400800" y="2834640"/>
            <a:ext cx="4937760" cy="2743200"/>
          </a:xfrm>
          <a:prstGeom prst="rect">
            <a:avLst/>
          </a:prstGeom>
          <a:noFill/>
          <a:ln/>
        </p:spPr>
        <p:txBody>
          <a:bodyPr wrap="square" rtlCol="0" anchor="t"/>
          <a:lstStyle/>
          <a:p>
            <a:pPr marL="342900" indent="-342900">
              <a:lnSpc>
                <a:spcPct val="125000"/>
              </a:lnSpc>
              <a:spcAft>
                <a:spcPts val="800"/>
              </a:spcAft>
              <a:buSzPct val="100000"/>
              <a:buChar char="•"/>
            </a:pPr>
            <a:r>
              <a:rPr lang="en-US" sz="1150" dirty="0">
                <a:solidFill>
                  <a:srgbClr val="5B5F63"/>
                </a:solidFill>
                <a:latin typeface="Arial" pitchFamily="34" charset="0"/>
                <a:ea typeface="Arial" pitchFamily="34" charset="-122"/>
                <a:cs typeface="Arial" pitchFamily="34" charset="-120"/>
              </a:rPr>
              <a:t>AI productivity and developer creators</a:t>
            </a:r>
            <a:endParaRPr lang="en-US" sz="1150" dirty="0"/>
          </a:p>
          <a:p>
            <a:pPr marL="342900" indent="-342900">
              <a:lnSpc>
                <a:spcPct val="125000"/>
              </a:lnSpc>
              <a:spcAft>
                <a:spcPts val="800"/>
              </a:spcAft>
              <a:buSzPct val="100000"/>
              <a:buChar char="•"/>
            </a:pPr>
            <a:r>
              <a:rPr lang="en-US" sz="1150" dirty="0">
                <a:solidFill>
                  <a:srgbClr val="5B5F63"/>
                </a:solidFill>
                <a:latin typeface="Arial" pitchFamily="34" charset="0"/>
                <a:ea typeface="Arial" pitchFamily="34" charset="-122"/>
                <a:cs typeface="Arial" pitchFamily="34" charset="-120"/>
              </a:rPr>
              <a:t>What they say: 'here is what it did for my week'</a:t>
            </a:r>
            <a:endParaRPr lang="en-US" sz="1150" dirty="0"/>
          </a:p>
          <a:p>
            <a:pPr marL="342900" indent="-342900">
              <a:lnSpc>
                <a:spcPct val="125000"/>
              </a:lnSpc>
              <a:spcAft>
                <a:spcPts val="800"/>
              </a:spcAft>
              <a:buSzPct val="100000"/>
              <a:buChar char="•"/>
            </a:pPr>
            <a:r>
              <a:rPr lang="en-US" sz="1150" dirty="0">
                <a:solidFill>
                  <a:srgbClr val="5B5F63"/>
                </a:solidFill>
                <a:latin typeface="Arial" pitchFamily="34" charset="0"/>
                <a:ea typeface="Arial" pitchFamily="34" charset="-122"/>
                <a:cs typeface="Arial" pitchFamily="34" charset="-120"/>
              </a:rPr>
              <a:t>Best content: real use-case demos, time-saved proof</a:t>
            </a:r>
            <a:endParaRPr lang="en-US" sz="1150" dirty="0"/>
          </a:p>
          <a:p>
            <a:pPr marL="342900" indent="-342900">
              <a:lnSpc>
                <a:spcPct val="125000"/>
              </a:lnSpc>
              <a:spcAft>
                <a:spcPts val="800"/>
              </a:spcAft>
              <a:buSzPct val="100000"/>
              <a:buChar char="•"/>
            </a:pPr>
            <a:r>
              <a:rPr lang="en-US" sz="1150" dirty="0">
                <a:solidFill>
                  <a:srgbClr val="5B5F63"/>
                </a:solidFill>
                <a:latin typeface="Arial" pitchFamily="34" charset="0"/>
                <a:ea typeface="Arial" pitchFamily="34" charset="-122"/>
                <a:cs typeface="Arial" pitchFamily="34" charset="-120"/>
              </a:rPr>
              <a:t>Format: short-form video, hands-on reviews</a:t>
            </a:r>
            <a:endParaRPr lang="en-US" sz="1150" dirty="0"/>
          </a:p>
        </p:txBody>
      </p:sp>
      <p:sp>
        <p:nvSpPr>
          <p:cNvPr id="15" name="Text 12"/>
          <p:cNvSpPr/>
          <p:nvPr/>
        </p:nvSpPr>
        <p:spPr>
          <a:xfrm>
            <a:off x="640080" y="5897880"/>
            <a:ext cx="10908792" cy="365760"/>
          </a:xfrm>
          <a:prstGeom prst="rect">
            <a:avLst/>
          </a:prstGeom>
          <a:noFill/>
          <a:ln/>
        </p:spPr>
        <p:txBody>
          <a:bodyPr wrap="square" rtlCol="0" anchor="ctr"/>
          <a:lstStyle/>
          <a:p>
            <a:pPr indent="0" marL="0">
              <a:buNone/>
            </a:pPr>
            <a:r>
              <a:rPr lang="en-US" sz="1050" i="1" dirty="0">
                <a:solidFill>
                  <a:srgbClr val="9A9A93"/>
                </a:solidFill>
                <a:latin typeface="Arial" pitchFamily="34" charset="0"/>
                <a:ea typeface="Arial" pitchFamily="34" charset="-122"/>
                <a:cs typeface="Arial" pitchFamily="34" charset="-120"/>
              </a:rPr>
              <a:t>Note: every partner discloses; the honest take protects credibility  ·  Owner: Marketing</a:t>
            </a:r>
            <a:endParaRPr lang="en-US" sz="1050" dirty="0"/>
          </a:p>
        </p:txBody>
      </p:sp>
      <p:sp>
        <p:nvSpPr>
          <p:cNvPr id="16" name="Text 13"/>
          <p:cNvSpPr/>
          <p:nvPr/>
        </p:nvSpPr>
        <p:spPr>
          <a:xfrm>
            <a:off x="11460175" y="6446520"/>
            <a:ext cx="457200" cy="274320"/>
          </a:xfrm>
          <a:prstGeom prst="rect">
            <a:avLst/>
          </a:prstGeom>
          <a:noFill/>
          <a:ln/>
        </p:spPr>
        <p:txBody>
          <a:bodyPr wrap="square" rtlCol="0" anchor="ctr"/>
          <a:lstStyle/>
          <a:p>
            <a:pPr algn="r" indent="0" marL="0">
              <a:buNone/>
            </a:pPr>
            <a:r>
              <a:rPr lang="en-US" sz="1000" dirty="0">
                <a:solidFill>
                  <a:srgbClr val="9A9A93"/>
                </a:solidFill>
                <a:latin typeface="Arial" pitchFamily="34" charset="0"/>
                <a:ea typeface="Arial" pitchFamily="34" charset="-122"/>
                <a:cs typeface="Arial" pitchFamily="34" charset="-120"/>
              </a:rPr>
              <a:t>24</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AF9F5"/>
        </a:solidFill>
      </p:bgPr>
    </p:bg>
    <p:spTree>
      <p:nvGrpSpPr>
        <p:cNvPr id="1" name=""/>
        <p:cNvGrpSpPr/>
        <p:nvPr/>
      </p:nvGrpSpPr>
      <p:grpSpPr>
        <a:xfrm>
          <a:off x="0" y="0"/>
          <a:ext cx="0" cy="0"/>
          <a:chOff x="0" y="0"/>
          <a:chExt cx="0" cy="0"/>
        </a:xfrm>
      </p:grpSpPr>
      <p:sp>
        <p:nvSpPr>
          <p:cNvPr id="2" name="Text 0"/>
          <p:cNvSpPr/>
          <p:nvPr/>
        </p:nvSpPr>
        <p:spPr>
          <a:xfrm>
            <a:off x="640080" y="411480"/>
            <a:ext cx="10058400" cy="274320"/>
          </a:xfrm>
          <a:prstGeom prst="rect">
            <a:avLst/>
          </a:prstGeom>
          <a:noFill/>
          <a:ln/>
        </p:spPr>
        <p:txBody>
          <a:bodyPr wrap="square" rtlCol="0" anchor="ctr"/>
          <a:lstStyle/>
          <a:p>
            <a:pPr indent="0" marL="0">
              <a:buNone/>
            </a:pPr>
            <a:r>
              <a:rPr lang="en-US" sz="1100" b="1" spc="500" kern="0" dirty="0">
                <a:solidFill>
                  <a:srgbClr val="C2703D"/>
                </a:solidFill>
                <a:latin typeface="Arial" pitchFamily="34" charset="0"/>
                <a:ea typeface="Arial" pitchFamily="34" charset="-122"/>
                <a:cs typeface="Arial" pitchFamily="34" charset="-120"/>
              </a:rPr>
              <a:t>CHANNEL PLAYBOOK</a:t>
            </a:r>
            <a:endParaRPr lang="en-US" sz="1100" dirty="0"/>
          </a:p>
        </p:txBody>
      </p:sp>
      <p:pic>
        <p:nvPicPr>
          <p:cNvPr id="3" name="Image 0" descr="preencoded.png">    </p:cNvPr>
          <p:cNvPicPr>
            <a:picLocks noChangeAspect="1"/>
          </p:cNvPicPr>
          <p:nvPr/>
        </p:nvPicPr>
        <p:blipFill>
          <a:blip r:embed="rId1"/>
          <a:stretch>
            <a:fillRect/>
          </a:stretch>
        </p:blipFill>
        <p:spPr>
          <a:xfrm>
            <a:off x="640080" y="658368"/>
            <a:ext cx="457200" cy="457200"/>
          </a:xfrm>
          <a:prstGeom prst="rect">
            <a:avLst/>
          </a:prstGeom>
        </p:spPr>
      </p:pic>
      <p:sp>
        <p:nvSpPr>
          <p:cNvPr id="4" name="Text 1"/>
          <p:cNvSpPr/>
          <p:nvPr/>
        </p:nvSpPr>
        <p:spPr>
          <a:xfrm>
            <a:off x="1234440" y="658368"/>
            <a:ext cx="10058400" cy="502920"/>
          </a:xfrm>
          <a:prstGeom prst="rect">
            <a:avLst/>
          </a:prstGeom>
          <a:noFill/>
          <a:ln/>
        </p:spPr>
        <p:txBody>
          <a:bodyPr wrap="square" rtlCol="0" anchor="ctr"/>
          <a:lstStyle/>
          <a:p>
            <a:pPr indent="0" marL="0">
              <a:buNone/>
            </a:pPr>
            <a:r>
              <a:rPr lang="en-US" sz="2600" dirty="0">
                <a:solidFill>
                  <a:srgbClr val="0E0E10"/>
                </a:solidFill>
                <a:latin typeface="Georgia" pitchFamily="34" charset="0"/>
                <a:ea typeface="Georgia" pitchFamily="34" charset="-122"/>
                <a:cs typeface="Georgia" pitchFamily="34" charset="-120"/>
              </a:rPr>
              <a:t>Podcasts</a:t>
            </a:r>
            <a:endParaRPr lang="en-US" sz="2600" dirty="0"/>
          </a:p>
        </p:txBody>
      </p:sp>
      <p:sp>
        <p:nvSpPr>
          <p:cNvPr id="5" name="Shape 2"/>
          <p:cNvSpPr/>
          <p:nvPr/>
        </p:nvSpPr>
        <p:spPr>
          <a:xfrm>
            <a:off x="640080" y="1371600"/>
            <a:ext cx="10908792" cy="640080"/>
          </a:xfrm>
          <a:prstGeom prst="rect">
            <a:avLst/>
          </a:prstGeom>
          <a:solidFill>
            <a:srgbClr val="17171B"/>
          </a:solidFill>
          <a:ln/>
        </p:spPr>
      </p:sp>
      <p:sp>
        <p:nvSpPr>
          <p:cNvPr id="6" name="Text 3"/>
          <p:cNvSpPr/>
          <p:nvPr/>
        </p:nvSpPr>
        <p:spPr>
          <a:xfrm>
            <a:off x="868680" y="1371600"/>
            <a:ext cx="10424160" cy="640080"/>
          </a:xfrm>
          <a:prstGeom prst="rect">
            <a:avLst/>
          </a:prstGeom>
          <a:noFill/>
          <a:ln/>
        </p:spPr>
        <p:txBody>
          <a:bodyPr wrap="square" rtlCol="0" anchor="ctr"/>
          <a:lstStyle/>
          <a:p>
            <a:pPr indent="0" marL="0">
              <a:buNone/>
            </a:pPr>
            <a:r>
              <a:rPr lang="en-US" sz="1250" i="1" dirty="0">
                <a:solidFill>
                  <a:srgbClr val="ECEAE1"/>
                </a:solidFill>
                <a:latin typeface="Georgia" pitchFamily="34" charset="0"/>
                <a:ea typeface="Georgia" pitchFamily="34" charset="-122"/>
                <a:cs typeface="Georgia" pitchFamily="34" charset="-120"/>
              </a:rPr>
              <a:t>Depth and authority at the speed of trust. Long-form is where considered B2B buyers actually go deep.</a:t>
            </a:r>
            <a:endParaRPr lang="en-US" sz="1250" dirty="0"/>
          </a:p>
        </p:txBody>
      </p:sp>
      <p:sp>
        <p:nvSpPr>
          <p:cNvPr id="7" name="Shape 4"/>
          <p:cNvSpPr/>
          <p:nvPr/>
        </p:nvSpPr>
        <p:spPr>
          <a:xfrm>
            <a:off x="640080" y="2240280"/>
            <a:ext cx="5376672" cy="3429000"/>
          </a:xfrm>
          <a:prstGeom prst="rect">
            <a:avLst/>
          </a:prstGeom>
          <a:solidFill>
            <a:srgbClr val="FFFFFF"/>
          </a:solidFill>
          <a:ln/>
          <a:effectLst>
            <a:outerShdw sx="100000" sy="100000" kx="0" ky="0" algn="bl" rotWithShape="0" blurRad="8.456550792156703e+246" dist="3.3826203168626813e+246" dir="4.3986310182620354e+288">
              <a:srgbClr val="000000">
                <a:alpha val="9.999999999999997e+298"/>
              </a:srgbClr>
            </a:outerShdw>
          </a:effectLst>
        </p:spPr>
      </p:sp>
      <p:sp>
        <p:nvSpPr>
          <p:cNvPr id="8" name="Shape 5"/>
          <p:cNvSpPr/>
          <p:nvPr/>
        </p:nvSpPr>
        <p:spPr>
          <a:xfrm>
            <a:off x="640080" y="2240280"/>
            <a:ext cx="5376672" cy="457200"/>
          </a:xfrm>
          <a:prstGeom prst="rect">
            <a:avLst/>
          </a:prstGeom>
          <a:solidFill>
            <a:srgbClr val="185771"/>
          </a:solidFill>
          <a:ln/>
        </p:spPr>
      </p:sp>
      <p:sp>
        <p:nvSpPr>
          <p:cNvPr id="9" name="Text 6"/>
          <p:cNvSpPr/>
          <p:nvPr/>
        </p:nvSpPr>
        <p:spPr>
          <a:xfrm>
            <a:off x="868680" y="2240280"/>
            <a:ext cx="4937760" cy="457200"/>
          </a:xfrm>
          <a:prstGeom prst="rect">
            <a:avLst/>
          </a:prstGeom>
          <a:noFill/>
          <a:ln/>
        </p:spPr>
        <p:txBody>
          <a:bodyPr wrap="square" rtlCol="0" anchor="ctr"/>
          <a:lstStyle/>
          <a:p>
            <a:pPr indent="0" marL="0">
              <a:buNone/>
            </a:pPr>
            <a:r>
              <a:rPr lang="en-US" sz="1300" b="1" spc="200" kern="0" dirty="0">
                <a:solidFill>
                  <a:srgbClr val="FFFFFF"/>
                </a:solidFill>
                <a:latin typeface="Arial" pitchFamily="34" charset="0"/>
                <a:ea typeface="Arial" pitchFamily="34" charset="-122"/>
                <a:cs typeface="Arial" pitchFamily="34" charset="-120"/>
              </a:rPr>
              <a:t>FOUNDER-LED (GUESTING)</a:t>
            </a:r>
            <a:endParaRPr lang="en-US" sz="1300" dirty="0"/>
          </a:p>
        </p:txBody>
      </p:sp>
      <p:sp>
        <p:nvSpPr>
          <p:cNvPr id="10" name="Text 7"/>
          <p:cNvSpPr/>
          <p:nvPr/>
        </p:nvSpPr>
        <p:spPr>
          <a:xfrm>
            <a:off x="868680" y="2834640"/>
            <a:ext cx="4937760" cy="2743200"/>
          </a:xfrm>
          <a:prstGeom prst="rect">
            <a:avLst/>
          </a:prstGeom>
          <a:noFill/>
          <a:ln/>
        </p:spPr>
        <p:txBody>
          <a:bodyPr wrap="square" rtlCol="0" anchor="t"/>
          <a:lstStyle/>
          <a:p>
            <a:pPr marL="342900" indent="-342900">
              <a:lnSpc>
                <a:spcPct val="125000"/>
              </a:lnSpc>
              <a:spcAft>
                <a:spcPts val="800"/>
              </a:spcAft>
              <a:buSzPct val="100000"/>
              <a:buChar char="•"/>
            </a:pPr>
            <a:r>
              <a:rPr lang="en-US" sz="1150" dirty="0">
                <a:solidFill>
                  <a:srgbClr val="5B5F63"/>
                </a:solidFill>
                <a:latin typeface="Arial" pitchFamily="34" charset="0"/>
                <a:ea typeface="Arial" pitchFamily="34" charset="-122"/>
                <a:cs typeface="Arial" pitchFamily="34" charset="-120"/>
              </a:rPr>
              <a:t>Simone on enterprise AI, security, and sovereignty shows</a:t>
            </a:r>
            <a:endParaRPr lang="en-US" sz="1150" dirty="0"/>
          </a:p>
          <a:p>
            <a:pPr marL="342900" indent="-342900">
              <a:lnSpc>
                <a:spcPct val="125000"/>
              </a:lnSpc>
              <a:spcAft>
                <a:spcPts val="800"/>
              </a:spcAft>
              <a:buSzPct val="100000"/>
              <a:buChar char="•"/>
            </a:pPr>
            <a:r>
              <a:rPr lang="en-US" sz="1150" dirty="0">
                <a:solidFill>
                  <a:srgbClr val="5B5F63"/>
                </a:solidFill>
                <a:latin typeface="Arial" pitchFamily="34" charset="0"/>
                <a:ea typeface="Arial" pitchFamily="34" charset="-122"/>
                <a:cs typeface="Arial" pitchFamily="34" charset="-120"/>
              </a:rPr>
              <a:t>Angle: the contrarian, defensible POV, proof over promises</a:t>
            </a:r>
            <a:endParaRPr lang="en-US" sz="1150" dirty="0"/>
          </a:p>
          <a:p>
            <a:pPr marL="342900" indent="-342900">
              <a:lnSpc>
                <a:spcPct val="125000"/>
              </a:lnSpc>
              <a:spcAft>
                <a:spcPts val="800"/>
              </a:spcAft>
              <a:buSzPct val="100000"/>
              <a:buChar char="•"/>
            </a:pPr>
            <a:r>
              <a:rPr lang="en-US" sz="1150" dirty="0">
                <a:solidFill>
                  <a:srgbClr val="5B5F63"/>
                </a:solidFill>
                <a:latin typeface="Arial" pitchFamily="34" charset="0"/>
                <a:ea typeface="Arial" pitchFamily="34" charset="-122"/>
                <a:cs typeface="Arial" pitchFamily="34" charset="-120"/>
              </a:rPr>
              <a:t>The Swiss advantage and the verticalization thesis</a:t>
            </a:r>
            <a:endParaRPr lang="en-US" sz="1150" dirty="0"/>
          </a:p>
          <a:p>
            <a:pPr marL="342900" indent="-342900">
              <a:lnSpc>
                <a:spcPct val="125000"/>
              </a:lnSpc>
              <a:spcAft>
                <a:spcPts val="800"/>
              </a:spcAft>
              <a:buSzPct val="100000"/>
              <a:buChar char="•"/>
            </a:pPr>
            <a:r>
              <a:rPr lang="en-US" sz="1150" dirty="0">
                <a:solidFill>
                  <a:srgbClr val="5B5F63"/>
                </a:solidFill>
                <a:latin typeface="Arial" pitchFamily="34" charset="0"/>
                <a:ea typeface="Arial" pitchFamily="34" charset="-122"/>
                <a:cs typeface="Arial" pitchFamily="34" charset="-120"/>
              </a:rPr>
              <a:t>Authority that shortens the sales cycle</a:t>
            </a:r>
            <a:endParaRPr lang="en-US" sz="1150" dirty="0"/>
          </a:p>
        </p:txBody>
      </p:sp>
      <p:sp>
        <p:nvSpPr>
          <p:cNvPr id="11" name="Shape 8"/>
          <p:cNvSpPr/>
          <p:nvPr/>
        </p:nvSpPr>
        <p:spPr>
          <a:xfrm>
            <a:off x="6172200" y="2240280"/>
            <a:ext cx="5376672" cy="3429000"/>
          </a:xfrm>
          <a:prstGeom prst="rect">
            <a:avLst/>
          </a:prstGeom>
          <a:solidFill>
            <a:srgbClr val="FFFFFF"/>
          </a:solidFill>
          <a:ln/>
          <a:effectLst>
            <a:outerShdw sx="100000" sy="100000" kx="0" ky="0" algn="bl" rotWithShape="0" blurRad="1.0739819506039013e+251" dist="4.295927802415605e+250" dir="2.6391786109572213e+293">
              <a:srgbClr val="000000">
                <a:alpha val="9.999999999999997e+303"/>
              </a:srgbClr>
            </a:outerShdw>
          </a:effectLst>
        </p:spPr>
      </p:sp>
      <p:sp>
        <p:nvSpPr>
          <p:cNvPr id="12" name="Shape 9"/>
          <p:cNvSpPr/>
          <p:nvPr/>
        </p:nvSpPr>
        <p:spPr>
          <a:xfrm>
            <a:off x="6172200" y="2240280"/>
            <a:ext cx="5376672" cy="457200"/>
          </a:xfrm>
          <a:prstGeom prst="rect">
            <a:avLst/>
          </a:prstGeom>
          <a:solidFill>
            <a:srgbClr val="C2703D"/>
          </a:solidFill>
          <a:ln/>
        </p:spPr>
      </p:sp>
      <p:sp>
        <p:nvSpPr>
          <p:cNvPr id="13" name="Text 10"/>
          <p:cNvSpPr/>
          <p:nvPr/>
        </p:nvSpPr>
        <p:spPr>
          <a:xfrm>
            <a:off x="6400800" y="2240280"/>
            <a:ext cx="4937760" cy="457200"/>
          </a:xfrm>
          <a:prstGeom prst="rect">
            <a:avLst/>
          </a:prstGeom>
          <a:noFill/>
          <a:ln/>
        </p:spPr>
        <p:txBody>
          <a:bodyPr wrap="square" rtlCol="0" anchor="ctr"/>
          <a:lstStyle/>
          <a:p>
            <a:pPr indent="0" marL="0">
              <a:buNone/>
            </a:pPr>
            <a:r>
              <a:rPr lang="en-US" sz="1300" b="1" spc="200" kern="0" dirty="0">
                <a:solidFill>
                  <a:srgbClr val="FFFFFF"/>
                </a:solidFill>
                <a:latin typeface="Arial" pitchFamily="34" charset="0"/>
                <a:ea typeface="Arial" pitchFamily="34" charset="-122"/>
                <a:cs typeface="Arial" pitchFamily="34" charset="-120"/>
              </a:rPr>
              <a:t>OWNED &amp; DEV SHOWS</a:t>
            </a:r>
            <a:endParaRPr lang="en-US" sz="1300" dirty="0"/>
          </a:p>
        </p:txBody>
      </p:sp>
      <p:sp>
        <p:nvSpPr>
          <p:cNvPr id="14" name="Text 11"/>
          <p:cNvSpPr/>
          <p:nvPr/>
        </p:nvSpPr>
        <p:spPr>
          <a:xfrm>
            <a:off x="6400800" y="2834640"/>
            <a:ext cx="4937760" cy="2743200"/>
          </a:xfrm>
          <a:prstGeom prst="rect">
            <a:avLst/>
          </a:prstGeom>
          <a:noFill/>
          <a:ln/>
        </p:spPr>
        <p:txBody>
          <a:bodyPr wrap="square" rtlCol="0" anchor="t"/>
          <a:lstStyle/>
          <a:p>
            <a:pPr marL="342900" indent="-342900">
              <a:lnSpc>
                <a:spcPct val="125000"/>
              </a:lnSpc>
              <a:spcAft>
                <a:spcPts val="800"/>
              </a:spcAft>
              <a:buSzPct val="100000"/>
              <a:buChar char="•"/>
            </a:pPr>
            <a:r>
              <a:rPr lang="en-US" sz="1150" dirty="0">
                <a:solidFill>
                  <a:srgbClr val="5B5F63"/>
                </a:solidFill>
                <a:latin typeface="Arial" pitchFamily="34" charset="0"/>
                <a:ea typeface="Arial" pitchFamily="34" charset="-122"/>
                <a:cs typeface="Arial" pitchFamily="34" charset="-120"/>
              </a:rPr>
              <a:t>Consider an owned show once a cadence exists</a:t>
            </a:r>
            <a:endParaRPr lang="en-US" sz="1150" dirty="0"/>
          </a:p>
          <a:p>
            <a:pPr marL="342900" indent="-342900">
              <a:lnSpc>
                <a:spcPct val="125000"/>
              </a:lnSpc>
              <a:spcAft>
                <a:spcPts val="800"/>
              </a:spcAft>
              <a:buSzPct val="100000"/>
              <a:buChar char="•"/>
            </a:pPr>
            <a:r>
              <a:rPr lang="en-US" sz="1150" dirty="0">
                <a:solidFill>
                  <a:srgbClr val="5B5F63"/>
                </a:solidFill>
                <a:latin typeface="Arial" pitchFamily="34" charset="0"/>
                <a:ea typeface="Arial" pitchFamily="34" charset="-122"/>
                <a:cs typeface="Arial" pitchFamily="34" charset="-120"/>
              </a:rPr>
              <a:t>Dev and build-in-public formats for the API and Fluso story</a:t>
            </a:r>
            <a:endParaRPr lang="en-US" sz="1150" dirty="0"/>
          </a:p>
          <a:p>
            <a:pPr marL="342900" indent="-342900">
              <a:lnSpc>
                <a:spcPct val="125000"/>
              </a:lnSpc>
              <a:spcAft>
                <a:spcPts val="800"/>
              </a:spcAft>
              <a:buSzPct val="100000"/>
              <a:buChar char="•"/>
            </a:pPr>
            <a:r>
              <a:rPr lang="en-US" sz="1150" dirty="0">
                <a:solidFill>
                  <a:srgbClr val="5B5F63"/>
                </a:solidFill>
                <a:latin typeface="Arial" pitchFamily="34" charset="0"/>
                <a:ea typeface="Arial" pitchFamily="34" charset="-122"/>
                <a:cs typeface="Arial" pitchFamily="34" charset="-120"/>
              </a:rPr>
              <a:t>Repurpose episodes into clips, threads, and blogs</a:t>
            </a:r>
            <a:endParaRPr lang="en-US" sz="1150" dirty="0"/>
          </a:p>
          <a:p>
            <a:pPr marL="342900" indent="-342900">
              <a:lnSpc>
                <a:spcPct val="125000"/>
              </a:lnSpc>
              <a:spcAft>
                <a:spcPts val="800"/>
              </a:spcAft>
              <a:buSzPct val="100000"/>
              <a:buChar char="•"/>
            </a:pPr>
            <a:r>
              <a:rPr lang="en-US" sz="1150" dirty="0">
                <a:solidFill>
                  <a:srgbClr val="5B5F63"/>
                </a:solidFill>
                <a:latin typeface="Arial" pitchFamily="34" charset="0"/>
                <a:ea typeface="Arial" pitchFamily="34" charset="-122"/>
                <a:cs typeface="Arial" pitchFamily="34" charset="-120"/>
              </a:rPr>
              <a:t>Guest exchange with partners and customers</a:t>
            </a:r>
            <a:endParaRPr lang="en-US" sz="1150" dirty="0"/>
          </a:p>
        </p:txBody>
      </p:sp>
      <p:sp>
        <p:nvSpPr>
          <p:cNvPr id="15" name="Text 12"/>
          <p:cNvSpPr/>
          <p:nvPr/>
        </p:nvSpPr>
        <p:spPr>
          <a:xfrm>
            <a:off x="640080" y="5897880"/>
            <a:ext cx="10908792" cy="365760"/>
          </a:xfrm>
          <a:prstGeom prst="rect">
            <a:avLst/>
          </a:prstGeom>
          <a:noFill/>
          <a:ln/>
        </p:spPr>
        <p:txBody>
          <a:bodyPr wrap="square" rtlCol="0" anchor="ctr"/>
          <a:lstStyle/>
          <a:p>
            <a:pPr indent="0" marL="0">
              <a:buNone/>
            </a:pPr>
            <a:r>
              <a:rPr lang="en-US" sz="1050" i="1" dirty="0">
                <a:solidFill>
                  <a:srgbClr val="9A9A93"/>
                </a:solidFill>
                <a:latin typeface="Arial" pitchFamily="34" charset="0"/>
                <a:ea typeface="Arial" pitchFamily="34" charset="-122"/>
                <a:cs typeface="Arial" pitchFamily="34" charset="-120"/>
              </a:rPr>
              <a:t>Motion: top-of-funnel authority for both engines  ·  Owner: Marketing + Founder</a:t>
            </a:r>
            <a:endParaRPr lang="en-US" sz="1050" dirty="0"/>
          </a:p>
        </p:txBody>
      </p:sp>
      <p:sp>
        <p:nvSpPr>
          <p:cNvPr id="16" name="Text 13"/>
          <p:cNvSpPr/>
          <p:nvPr/>
        </p:nvSpPr>
        <p:spPr>
          <a:xfrm>
            <a:off x="11460175" y="6446520"/>
            <a:ext cx="457200" cy="274320"/>
          </a:xfrm>
          <a:prstGeom prst="rect">
            <a:avLst/>
          </a:prstGeom>
          <a:noFill/>
          <a:ln/>
        </p:spPr>
        <p:txBody>
          <a:bodyPr wrap="square" rtlCol="0" anchor="ctr"/>
          <a:lstStyle/>
          <a:p>
            <a:pPr algn="r" indent="0" marL="0">
              <a:buNone/>
            </a:pPr>
            <a:r>
              <a:rPr lang="en-US" sz="1000" dirty="0">
                <a:solidFill>
                  <a:srgbClr val="9A9A93"/>
                </a:solidFill>
                <a:latin typeface="Arial" pitchFamily="34" charset="0"/>
                <a:ea typeface="Arial" pitchFamily="34" charset="-122"/>
                <a:cs typeface="Arial" pitchFamily="34" charset="-120"/>
              </a:rPr>
              <a:t>25</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AF9F5"/>
        </a:solidFill>
      </p:bgPr>
    </p:bg>
    <p:spTree>
      <p:nvGrpSpPr>
        <p:cNvPr id="1" name=""/>
        <p:cNvGrpSpPr/>
        <p:nvPr/>
      </p:nvGrpSpPr>
      <p:grpSpPr>
        <a:xfrm>
          <a:off x="0" y="0"/>
          <a:ext cx="0" cy="0"/>
          <a:chOff x="0" y="0"/>
          <a:chExt cx="0" cy="0"/>
        </a:xfrm>
      </p:grpSpPr>
      <p:sp>
        <p:nvSpPr>
          <p:cNvPr id="2" name="Text 0"/>
          <p:cNvSpPr/>
          <p:nvPr/>
        </p:nvSpPr>
        <p:spPr>
          <a:xfrm>
            <a:off x="640080" y="411480"/>
            <a:ext cx="10058400" cy="274320"/>
          </a:xfrm>
          <a:prstGeom prst="rect">
            <a:avLst/>
          </a:prstGeom>
          <a:noFill/>
          <a:ln/>
        </p:spPr>
        <p:txBody>
          <a:bodyPr wrap="square" rtlCol="0" anchor="ctr"/>
          <a:lstStyle/>
          <a:p>
            <a:pPr indent="0" marL="0">
              <a:buNone/>
            </a:pPr>
            <a:r>
              <a:rPr lang="en-US" sz="1100" b="1" spc="500" kern="0" dirty="0">
                <a:solidFill>
                  <a:srgbClr val="788C5D"/>
                </a:solidFill>
                <a:latin typeface="Arial" pitchFamily="34" charset="0"/>
                <a:ea typeface="Arial" pitchFamily="34" charset="-122"/>
                <a:cs typeface="Arial" pitchFamily="34" charset="-120"/>
              </a:rPr>
              <a:t>CHANNEL PLAYBOOK</a:t>
            </a:r>
            <a:endParaRPr lang="en-US" sz="1100" dirty="0"/>
          </a:p>
        </p:txBody>
      </p:sp>
      <p:pic>
        <p:nvPicPr>
          <p:cNvPr id="3" name="Image 0" descr="preencoded.png">    </p:cNvPr>
          <p:cNvPicPr>
            <a:picLocks noChangeAspect="1"/>
          </p:cNvPicPr>
          <p:nvPr/>
        </p:nvPicPr>
        <p:blipFill>
          <a:blip r:embed="rId1"/>
          <a:stretch>
            <a:fillRect/>
          </a:stretch>
        </p:blipFill>
        <p:spPr>
          <a:xfrm>
            <a:off x="640080" y="658368"/>
            <a:ext cx="457200" cy="457200"/>
          </a:xfrm>
          <a:prstGeom prst="rect">
            <a:avLst/>
          </a:prstGeom>
        </p:spPr>
      </p:pic>
      <p:sp>
        <p:nvSpPr>
          <p:cNvPr id="4" name="Text 1"/>
          <p:cNvSpPr/>
          <p:nvPr/>
        </p:nvSpPr>
        <p:spPr>
          <a:xfrm>
            <a:off x="1234440" y="658368"/>
            <a:ext cx="10058400" cy="502920"/>
          </a:xfrm>
          <a:prstGeom prst="rect">
            <a:avLst/>
          </a:prstGeom>
          <a:noFill/>
          <a:ln/>
        </p:spPr>
        <p:txBody>
          <a:bodyPr wrap="square" rtlCol="0" anchor="ctr"/>
          <a:lstStyle/>
          <a:p>
            <a:pPr indent="0" marL="0">
              <a:buNone/>
            </a:pPr>
            <a:r>
              <a:rPr lang="en-US" sz="2600" dirty="0">
                <a:solidFill>
                  <a:srgbClr val="0E0E10"/>
                </a:solidFill>
                <a:latin typeface="Georgia" pitchFamily="34" charset="0"/>
                <a:ea typeface="Georgia" pitchFamily="34" charset="-122"/>
                <a:cs typeface="Georgia" pitchFamily="34" charset="-120"/>
              </a:rPr>
              <a:t>Paid</a:t>
            </a:r>
            <a:endParaRPr lang="en-US" sz="2600" dirty="0"/>
          </a:p>
        </p:txBody>
      </p:sp>
      <p:sp>
        <p:nvSpPr>
          <p:cNvPr id="5" name="Shape 2"/>
          <p:cNvSpPr/>
          <p:nvPr/>
        </p:nvSpPr>
        <p:spPr>
          <a:xfrm>
            <a:off x="640080" y="1371600"/>
            <a:ext cx="10908792" cy="640080"/>
          </a:xfrm>
          <a:prstGeom prst="rect">
            <a:avLst/>
          </a:prstGeom>
          <a:solidFill>
            <a:srgbClr val="17171B"/>
          </a:solidFill>
          <a:ln/>
        </p:spPr>
      </p:sp>
      <p:sp>
        <p:nvSpPr>
          <p:cNvPr id="6" name="Text 3"/>
          <p:cNvSpPr/>
          <p:nvPr/>
        </p:nvSpPr>
        <p:spPr>
          <a:xfrm>
            <a:off x="868680" y="1371600"/>
            <a:ext cx="10424160" cy="640080"/>
          </a:xfrm>
          <a:prstGeom prst="rect">
            <a:avLst/>
          </a:prstGeom>
          <a:noFill/>
          <a:ln/>
        </p:spPr>
        <p:txBody>
          <a:bodyPr wrap="square" rtlCol="0" anchor="ctr"/>
          <a:lstStyle/>
          <a:p>
            <a:pPr indent="0" marL="0">
              <a:buNone/>
            </a:pPr>
            <a:r>
              <a:rPr lang="en-US" sz="1250" i="1" dirty="0">
                <a:solidFill>
                  <a:srgbClr val="ECEAE1"/>
                </a:solidFill>
                <a:latin typeface="Georgia" pitchFamily="34" charset="0"/>
                <a:ea typeface="Georgia" pitchFamily="34" charset="-122"/>
                <a:cs typeface="Georgia" pitchFamily="34" charset="-120"/>
              </a:rPr>
              <a:t>Accelerate what already works organically. Paid amplifies proven message-market fit; it does not manufacture demand.</a:t>
            </a:r>
            <a:endParaRPr lang="en-US" sz="1250" dirty="0"/>
          </a:p>
        </p:txBody>
      </p:sp>
      <p:sp>
        <p:nvSpPr>
          <p:cNvPr id="7" name="Shape 4"/>
          <p:cNvSpPr/>
          <p:nvPr/>
        </p:nvSpPr>
        <p:spPr>
          <a:xfrm>
            <a:off x="640080" y="2240280"/>
            <a:ext cx="5376672" cy="3429000"/>
          </a:xfrm>
          <a:prstGeom prst="rect">
            <a:avLst/>
          </a:prstGeom>
          <a:solidFill>
            <a:srgbClr val="FFFFFF"/>
          </a:solidFill>
          <a:ln/>
          <a:effectLst>
            <a:outerShdw sx="100000" sy="100000" kx="0" ky="0" algn="bl" rotWithShape="0" blurRad="1.3639570772669546e+255" dist="5.455828309067819e+254" dir="1.5835071665743328e+298">
              <a:srgbClr val="000000">
                <a:alpha val="Infinity"/>
              </a:srgbClr>
            </a:outerShdw>
          </a:effectLst>
        </p:spPr>
      </p:sp>
      <p:sp>
        <p:nvSpPr>
          <p:cNvPr id="8" name="Shape 5"/>
          <p:cNvSpPr/>
          <p:nvPr/>
        </p:nvSpPr>
        <p:spPr>
          <a:xfrm>
            <a:off x="640080" y="2240280"/>
            <a:ext cx="5376672" cy="457200"/>
          </a:xfrm>
          <a:prstGeom prst="rect">
            <a:avLst/>
          </a:prstGeom>
          <a:solidFill>
            <a:srgbClr val="185771"/>
          </a:solidFill>
          <a:ln/>
        </p:spPr>
      </p:sp>
      <p:sp>
        <p:nvSpPr>
          <p:cNvPr id="9" name="Text 6"/>
          <p:cNvSpPr/>
          <p:nvPr/>
        </p:nvSpPr>
        <p:spPr>
          <a:xfrm>
            <a:off x="868680" y="2240280"/>
            <a:ext cx="4937760" cy="457200"/>
          </a:xfrm>
          <a:prstGeom prst="rect">
            <a:avLst/>
          </a:prstGeom>
          <a:noFill/>
          <a:ln/>
        </p:spPr>
        <p:txBody>
          <a:bodyPr wrap="square" rtlCol="0" anchor="ctr"/>
          <a:lstStyle/>
          <a:p>
            <a:pPr indent="0" marL="0">
              <a:buNone/>
            </a:pPr>
            <a:r>
              <a:rPr lang="en-US" sz="1300" b="1" spc="200" kern="0" dirty="0">
                <a:solidFill>
                  <a:srgbClr val="FFFFFF"/>
                </a:solidFill>
                <a:latin typeface="Arial" pitchFamily="34" charset="0"/>
                <a:ea typeface="Arial" pitchFamily="34" charset="-122"/>
                <a:cs typeface="Arial" pitchFamily="34" charset="-120"/>
              </a:rPr>
              <a:t>B2B / SALES-LED</a:t>
            </a:r>
            <a:endParaRPr lang="en-US" sz="1300" dirty="0"/>
          </a:p>
        </p:txBody>
      </p:sp>
      <p:sp>
        <p:nvSpPr>
          <p:cNvPr id="10" name="Text 7"/>
          <p:cNvSpPr/>
          <p:nvPr/>
        </p:nvSpPr>
        <p:spPr>
          <a:xfrm>
            <a:off x="868680" y="2834640"/>
            <a:ext cx="4937760" cy="2743200"/>
          </a:xfrm>
          <a:prstGeom prst="rect">
            <a:avLst/>
          </a:prstGeom>
          <a:noFill/>
          <a:ln/>
        </p:spPr>
        <p:txBody>
          <a:bodyPr wrap="square" rtlCol="0" anchor="t"/>
          <a:lstStyle/>
          <a:p>
            <a:pPr marL="342900" indent="-342900">
              <a:lnSpc>
                <a:spcPct val="125000"/>
              </a:lnSpc>
              <a:spcAft>
                <a:spcPts val="800"/>
              </a:spcAft>
              <a:buSzPct val="100000"/>
              <a:buChar char="•"/>
            </a:pPr>
            <a:r>
              <a:rPr lang="en-US" sz="1150" dirty="0">
                <a:solidFill>
                  <a:srgbClr val="5B5F63"/>
                </a:solidFill>
                <a:latin typeface="Arial" pitchFamily="34" charset="0"/>
                <a:ea typeface="Arial" pitchFamily="34" charset="-122"/>
                <a:cs typeface="Arial" pitchFamily="34" charset="-120"/>
              </a:rPr>
              <a:t>LinkedIn Ads: title and firmographic targeting (CISO, eng leads, regulated industries)</a:t>
            </a:r>
            <a:endParaRPr lang="en-US" sz="1150" dirty="0"/>
          </a:p>
          <a:p>
            <a:pPr marL="342900" indent="-342900">
              <a:lnSpc>
                <a:spcPct val="125000"/>
              </a:lnSpc>
              <a:spcAft>
                <a:spcPts val="800"/>
              </a:spcAft>
              <a:buSzPct val="100000"/>
              <a:buChar char="•"/>
            </a:pPr>
            <a:r>
              <a:rPr lang="en-US" sz="1150" dirty="0">
                <a:solidFill>
                  <a:srgbClr val="5B5F63"/>
                </a:solidFill>
                <a:latin typeface="Arial" pitchFamily="34" charset="0"/>
                <a:ea typeface="Arial" pitchFamily="34" charset="-122"/>
                <a:cs typeface="Arial" pitchFamily="34" charset="-120"/>
              </a:rPr>
              <a:t>Retargeting site and content visitors</a:t>
            </a:r>
            <a:endParaRPr lang="en-US" sz="1150" dirty="0"/>
          </a:p>
          <a:p>
            <a:pPr marL="342900" indent="-342900">
              <a:lnSpc>
                <a:spcPct val="125000"/>
              </a:lnSpc>
              <a:spcAft>
                <a:spcPts val="800"/>
              </a:spcAft>
              <a:buSzPct val="100000"/>
              <a:buChar char="•"/>
            </a:pPr>
            <a:r>
              <a:rPr lang="en-US" sz="1150" dirty="0">
                <a:solidFill>
                  <a:srgbClr val="5B5F63"/>
                </a:solidFill>
                <a:latin typeface="Arial" pitchFamily="34" charset="0"/>
                <a:ea typeface="Arial" pitchFamily="34" charset="-122"/>
                <a:cs typeface="Arial" pitchFamily="34" charset="-120"/>
              </a:rPr>
              <a:t>Goal: demo requests and contact-form fills</a:t>
            </a:r>
            <a:endParaRPr lang="en-US" sz="1150" dirty="0"/>
          </a:p>
          <a:p>
            <a:pPr marL="342900" indent="-342900">
              <a:lnSpc>
                <a:spcPct val="125000"/>
              </a:lnSpc>
              <a:spcAft>
                <a:spcPts val="800"/>
              </a:spcAft>
              <a:buSzPct val="100000"/>
              <a:buChar char="•"/>
            </a:pPr>
            <a:r>
              <a:rPr lang="en-US" sz="1150" dirty="0">
                <a:solidFill>
                  <a:srgbClr val="5B5F63"/>
                </a:solidFill>
                <a:latin typeface="Arial" pitchFamily="34" charset="0"/>
                <a:ea typeface="Arial" pitchFamily="34" charset="-122"/>
                <a:cs typeface="Arial" pitchFamily="34" charset="-120"/>
              </a:rPr>
              <a:t>Warm the account first; budget set at day-90 checkpoint</a:t>
            </a:r>
            <a:endParaRPr lang="en-US" sz="1150" dirty="0"/>
          </a:p>
        </p:txBody>
      </p:sp>
      <p:sp>
        <p:nvSpPr>
          <p:cNvPr id="11" name="Shape 8"/>
          <p:cNvSpPr/>
          <p:nvPr/>
        </p:nvSpPr>
        <p:spPr>
          <a:xfrm>
            <a:off x="6172200" y="2240280"/>
            <a:ext cx="5376672" cy="3429000"/>
          </a:xfrm>
          <a:prstGeom prst="rect">
            <a:avLst/>
          </a:prstGeom>
          <a:solidFill>
            <a:srgbClr val="FFFFFF"/>
          </a:solidFill>
          <a:ln/>
          <a:effectLst>
            <a:outerShdw sx="100000" sy="100000" kx="0" ky="0" algn="bl" rotWithShape="0" blurRad="1.7322254881290324e+259" dist="6.928901952516129e+258" dir="9.501042999445996e+302">
              <a:srgbClr val="000000">
                <a:alpha val="Infinity"/>
              </a:srgbClr>
            </a:outerShdw>
          </a:effectLst>
        </p:spPr>
      </p:sp>
      <p:sp>
        <p:nvSpPr>
          <p:cNvPr id="12" name="Shape 9"/>
          <p:cNvSpPr/>
          <p:nvPr/>
        </p:nvSpPr>
        <p:spPr>
          <a:xfrm>
            <a:off x="6172200" y="2240280"/>
            <a:ext cx="5376672" cy="457200"/>
          </a:xfrm>
          <a:prstGeom prst="rect">
            <a:avLst/>
          </a:prstGeom>
          <a:solidFill>
            <a:srgbClr val="C2703D"/>
          </a:solidFill>
          <a:ln/>
        </p:spPr>
      </p:sp>
      <p:sp>
        <p:nvSpPr>
          <p:cNvPr id="13" name="Text 10"/>
          <p:cNvSpPr/>
          <p:nvPr/>
        </p:nvSpPr>
        <p:spPr>
          <a:xfrm>
            <a:off x="6400800" y="2240280"/>
            <a:ext cx="4937760" cy="457200"/>
          </a:xfrm>
          <a:prstGeom prst="rect">
            <a:avLst/>
          </a:prstGeom>
          <a:noFill/>
          <a:ln/>
        </p:spPr>
        <p:txBody>
          <a:bodyPr wrap="square" rtlCol="0" anchor="ctr"/>
          <a:lstStyle/>
          <a:p>
            <a:pPr indent="0" marL="0">
              <a:buNone/>
            </a:pPr>
            <a:r>
              <a:rPr lang="en-US" sz="1300" b="1" spc="200" kern="0" dirty="0">
                <a:solidFill>
                  <a:srgbClr val="FFFFFF"/>
                </a:solidFill>
                <a:latin typeface="Arial" pitchFamily="34" charset="0"/>
                <a:ea typeface="Arial" pitchFamily="34" charset="-122"/>
                <a:cs typeface="Arial" pitchFamily="34" charset="-120"/>
              </a:rPr>
              <a:t>B2C / PLG</a:t>
            </a:r>
            <a:endParaRPr lang="en-US" sz="1300" dirty="0"/>
          </a:p>
        </p:txBody>
      </p:sp>
      <p:sp>
        <p:nvSpPr>
          <p:cNvPr id="14" name="Text 11"/>
          <p:cNvSpPr/>
          <p:nvPr/>
        </p:nvSpPr>
        <p:spPr>
          <a:xfrm>
            <a:off x="6400800" y="2834640"/>
            <a:ext cx="4937760" cy="2743200"/>
          </a:xfrm>
          <a:prstGeom prst="rect">
            <a:avLst/>
          </a:prstGeom>
          <a:noFill/>
          <a:ln/>
        </p:spPr>
        <p:txBody>
          <a:bodyPr wrap="square" rtlCol="0" anchor="t"/>
          <a:lstStyle/>
          <a:p>
            <a:pPr marL="342900" indent="-342900">
              <a:lnSpc>
                <a:spcPct val="125000"/>
              </a:lnSpc>
              <a:spcAft>
                <a:spcPts val="800"/>
              </a:spcAft>
              <a:buSzPct val="100000"/>
              <a:buChar char="•"/>
            </a:pPr>
            <a:r>
              <a:rPr lang="en-US" sz="1150" dirty="0">
                <a:solidFill>
                  <a:srgbClr val="5B5F63"/>
                </a:solidFill>
                <a:latin typeface="Arial" pitchFamily="34" charset="0"/>
                <a:ea typeface="Arial" pitchFamily="34" charset="-122"/>
                <a:cs typeface="Arial" pitchFamily="34" charset="-120"/>
              </a:rPr>
              <a:t>X Ads, paid social, high-intent search</a:t>
            </a:r>
            <a:endParaRPr lang="en-US" sz="1150" dirty="0"/>
          </a:p>
          <a:p>
            <a:pPr marL="342900" indent="-342900">
              <a:lnSpc>
                <a:spcPct val="125000"/>
              </a:lnSpc>
              <a:spcAft>
                <a:spcPts val="800"/>
              </a:spcAft>
              <a:buSzPct val="100000"/>
              <a:buChar char="•"/>
            </a:pPr>
            <a:r>
              <a:rPr lang="en-US" sz="1150" dirty="0">
                <a:solidFill>
                  <a:srgbClr val="5B5F63"/>
                </a:solidFill>
                <a:latin typeface="Arial" pitchFamily="34" charset="0"/>
                <a:ea typeface="Arial" pitchFamily="34" charset="-122"/>
                <a:cs typeface="Arial" pitchFamily="34" charset="-120"/>
              </a:rPr>
              <a:t>Lookalikes of activated users</a:t>
            </a:r>
            <a:endParaRPr lang="en-US" sz="1150" dirty="0"/>
          </a:p>
          <a:p>
            <a:pPr marL="342900" indent="-342900">
              <a:lnSpc>
                <a:spcPct val="125000"/>
              </a:lnSpc>
              <a:spcAft>
                <a:spcPts val="800"/>
              </a:spcAft>
              <a:buSzPct val="100000"/>
              <a:buChar char="•"/>
            </a:pPr>
            <a:r>
              <a:rPr lang="en-US" sz="1150" dirty="0">
                <a:solidFill>
                  <a:srgbClr val="5B5F63"/>
                </a:solidFill>
                <a:latin typeface="Arial" pitchFamily="34" charset="0"/>
                <a:ea typeface="Arial" pitchFamily="34" charset="-122"/>
                <a:cs typeface="Arial" pitchFamily="34" charset="-120"/>
              </a:rPr>
              <a:t>Goal: low-friction free-tier signups</a:t>
            </a:r>
            <a:endParaRPr lang="en-US" sz="1150" dirty="0"/>
          </a:p>
          <a:p>
            <a:pPr marL="342900" indent="-342900">
              <a:lnSpc>
                <a:spcPct val="125000"/>
              </a:lnSpc>
              <a:spcAft>
                <a:spcPts val="800"/>
              </a:spcAft>
              <a:buSzPct val="100000"/>
              <a:buChar char="•"/>
            </a:pPr>
            <a:r>
              <a:rPr lang="en-US" sz="1150" dirty="0">
                <a:solidFill>
                  <a:srgbClr val="5B5F63"/>
                </a:solidFill>
                <a:latin typeface="Arial" pitchFamily="34" charset="0"/>
                <a:ea typeface="Arial" pitchFamily="34" charset="-122"/>
                <a:cs typeface="Arial" pitchFamily="34" charset="-120"/>
              </a:rPr>
              <a:t>Test creative cheaply, scale only what converts to activation</a:t>
            </a:r>
            <a:endParaRPr lang="en-US" sz="1150" dirty="0"/>
          </a:p>
        </p:txBody>
      </p:sp>
      <p:sp>
        <p:nvSpPr>
          <p:cNvPr id="15" name="Text 12"/>
          <p:cNvSpPr/>
          <p:nvPr/>
        </p:nvSpPr>
        <p:spPr>
          <a:xfrm>
            <a:off x="640080" y="5897880"/>
            <a:ext cx="10908792" cy="365760"/>
          </a:xfrm>
          <a:prstGeom prst="rect">
            <a:avLst/>
          </a:prstGeom>
          <a:noFill/>
          <a:ln/>
        </p:spPr>
        <p:txBody>
          <a:bodyPr wrap="square" rtlCol="0" anchor="ctr"/>
          <a:lstStyle/>
          <a:p>
            <a:pPr indent="0" marL="0">
              <a:buNone/>
            </a:pPr>
            <a:r>
              <a:rPr lang="en-US" sz="1050" i="1" dirty="0">
                <a:solidFill>
                  <a:srgbClr val="9A9A93"/>
                </a:solidFill>
                <a:latin typeface="Arial" pitchFamily="34" charset="0"/>
                <a:ea typeface="Arial" pitchFamily="34" charset="-122"/>
                <a:cs typeface="Arial" pitchFamily="34" charset="-120"/>
              </a:rPr>
              <a:t>Edge: as rivals go ad-supported, 'private and neutral' is a paid angle worth testing  ·  Owner: Marketing</a:t>
            </a:r>
            <a:endParaRPr lang="en-US" sz="1050" dirty="0"/>
          </a:p>
        </p:txBody>
      </p:sp>
      <p:sp>
        <p:nvSpPr>
          <p:cNvPr id="16" name="Text 13"/>
          <p:cNvSpPr/>
          <p:nvPr/>
        </p:nvSpPr>
        <p:spPr>
          <a:xfrm>
            <a:off x="11460175" y="6446520"/>
            <a:ext cx="457200" cy="274320"/>
          </a:xfrm>
          <a:prstGeom prst="rect">
            <a:avLst/>
          </a:prstGeom>
          <a:noFill/>
          <a:ln/>
        </p:spPr>
        <p:txBody>
          <a:bodyPr wrap="square" rtlCol="0" anchor="ctr"/>
          <a:lstStyle/>
          <a:p>
            <a:pPr algn="r" indent="0" marL="0">
              <a:buNone/>
            </a:pPr>
            <a:r>
              <a:rPr lang="en-US" sz="1000" dirty="0">
                <a:solidFill>
                  <a:srgbClr val="9A9A93"/>
                </a:solidFill>
                <a:latin typeface="Arial" pitchFamily="34" charset="0"/>
                <a:ea typeface="Arial" pitchFamily="34" charset="-122"/>
                <a:cs typeface="Arial" pitchFamily="34" charset="-120"/>
              </a:rPr>
              <a:t>26</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AF9F5"/>
        </a:solidFill>
      </p:bgPr>
    </p:bg>
    <p:spTree>
      <p:nvGrpSpPr>
        <p:cNvPr id="1" name=""/>
        <p:cNvGrpSpPr/>
        <p:nvPr/>
      </p:nvGrpSpPr>
      <p:grpSpPr>
        <a:xfrm>
          <a:off x="0" y="0"/>
          <a:ext cx="0" cy="0"/>
          <a:chOff x="0" y="0"/>
          <a:chExt cx="0" cy="0"/>
        </a:xfrm>
      </p:grpSpPr>
      <p:sp>
        <p:nvSpPr>
          <p:cNvPr id="2" name="Text 0"/>
          <p:cNvSpPr/>
          <p:nvPr/>
        </p:nvSpPr>
        <p:spPr>
          <a:xfrm>
            <a:off x="640080" y="411480"/>
            <a:ext cx="10058400" cy="274320"/>
          </a:xfrm>
          <a:prstGeom prst="rect">
            <a:avLst/>
          </a:prstGeom>
          <a:noFill/>
          <a:ln/>
        </p:spPr>
        <p:txBody>
          <a:bodyPr wrap="square" rtlCol="0" anchor="ctr"/>
          <a:lstStyle/>
          <a:p>
            <a:pPr indent="0" marL="0">
              <a:buNone/>
            </a:pPr>
            <a:r>
              <a:rPr lang="en-US" sz="1100" b="1" spc="500" kern="0" dirty="0">
                <a:solidFill>
                  <a:srgbClr val="C2703D"/>
                </a:solidFill>
                <a:latin typeface="Arial" pitchFamily="34" charset="0"/>
                <a:ea typeface="Arial" pitchFamily="34" charset="-122"/>
                <a:cs typeface="Arial" pitchFamily="34" charset="-120"/>
              </a:rPr>
              <a:t>THE LEAD MOTION</a:t>
            </a:r>
            <a:endParaRPr lang="en-US" sz="1100" dirty="0"/>
          </a:p>
        </p:txBody>
      </p:sp>
      <p:sp>
        <p:nvSpPr>
          <p:cNvPr id="3" name="Text 1"/>
          <p:cNvSpPr/>
          <p:nvPr/>
        </p:nvSpPr>
        <p:spPr>
          <a:xfrm>
            <a:off x="640080" y="658368"/>
            <a:ext cx="10972800" cy="640080"/>
          </a:xfrm>
          <a:prstGeom prst="rect">
            <a:avLst/>
          </a:prstGeom>
          <a:noFill/>
          <a:ln/>
        </p:spPr>
        <p:txBody>
          <a:bodyPr wrap="square" rtlCol="0" anchor="ctr"/>
          <a:lstStyle/>
          <a:p>
            <a:pPr indent="0" marL="0">
              <a:buNone/>
            </a:pPr>
            <a:r>
              <a:rPr lang="en-US" sz="2900" dirty="0">
                <a:solidFill>
                  <a:srgbClr val="0E0E10"/>
                </a:solidFill>
                <a:latin typeface="Georgia" pitchFamily="34" charset="0"/>
                <a:ea typeface="Georgia" pitchFamily="34" charset="-122"/>
                <a:cs typeface="Georgia" pitchFamily="34" charset="-120"/>
              </a:rPr>
              <a:t>The Vertical Wedge, Made Repeatable</a:t>
            </a:r>
            <a:endParaRPr lang="en-US" sz="2900" dirty="0"/>
          </a:p>
        </p:txBody>
      </p:sp>
      <p:sp>
        <p:nvSpPr>
          <p:cNvPr id="4" name="Text 2"/>
          <p:cNvSpPr/>
          <p:nvPr/>
        </p:nvSpPr>
        <p:spPr>
          <a:xfrm>
            <a:off x="11460175" y="6446520"/>
            <a:ext cx="457200" cy="274320"/>
          </a:xfrm>
          <a:prstGeom prst="rect">
            <a:avLst/>
          </a:prstGeom>
          <a:noFill/>
          <a:ln/>
        </p:spPr>
        <p:txBody>
          <a:bodyPr wrap="square" rtlCol="0" anchor="ctr"/>
          <a:lstStyle/>
          <a:p>
            <a:pPr algn="r" indent="0" marL="0">
              <a:buNone/>
            </a:pPr>
            <a:r>
              <a:rPr lang="en-US" sz="1000" dirty="0">
                <a:solidFill>
                  <a:srgbClr val="9A9A93"/>
                </a:solidFill>
                <a:latin typeface="Arial" pitchFamily="34" charset="0"/>
                <a:ea typeface="Arial" pitchFamily="34" charset="-122"/>
                <a:cs typeface="Arial" pitchFamily="34" charset="-120"/>
              </a:rPr>
              <a:t>27</a:t>
            </a:r>
            <a:endParaRPr lang="en-US" sz="1000" dirty="0"/>
          </a:p>
        </p:txBody>
      </p:sp>
      <p:sp>
        <p:nvSpPr>
          <p:cNvPr id="5" name="Text 3"/>
          <p:cNvSpPr/>
          <p:nvPr/>
        </p:nvSpPr>
        <p:spPr>
          <a:xfrm>
            <a:off x="640080" y="1325880"/>
            <a:ext cx="10881360" cy="640080"/>
          </a:xfrm>
          <a:prstGeom prst="rect">
            <a:avLst/>
          </a:prstGeom>
          <a:noFill/>
          <a:ln/>
        </p:spPr>
        <p:txBody>
          <a:bodyPr wrap="square" rtlCol="0" anchor="ctr"/>
          <a:lstStyle/>
          <a:p>
            <a:pPr indent="0" marL="0">
              <a:lnSpc>
                <a:spcPct val="130000"/>
              </a:lnSpc>
              <a:buNone/>
            </a:pPr>
            <a:r>
              <a:rPr lang="en-US" sz="1350" dirty="0">
                <a:solidFill>
                  <a:srgbClr val="5B5F63"/>
                </a:solidFill>
                <a:latin typeface="Arial" pitchFamily="34" charset="0"/>
                <a:ea typeface="Arial" pitchFamily="34" charset="-122"/>
                <a:cs typeface="Arial" pitchFamily="34" charset="-120"/>
              </a:rPr>
              <a:t>Rather than sell a horizontal tool to everyone, we co-develop a focused version with a respected domain partner, borrow their credibility, win one vertical, then repeat. Legal is the first instance, not the strategy itself.</a:t>
            </a:r>
            <a:endParaRPr lang="en-US" sz="1350" dirty="0"/>
          </a:p>
        </p:txBody>
      </p:sp>
      <p:sp>
        <p:nvSpPr>
          <p:cNvPr id="6" name="Shape 4"/>
          <p:cNvSpPr/>
          <p:nvPr/>
        </p:nvSpPr>
        <p:spPr>
          <a:xfrm>
            <a:off x="640080" y="2286000"/>
            <a:ext cx="2606040" cy="2286000"/>
          </a:xfrm>
          <a:prstGeom prst="rect">
            <a:avLst/>
          </a:prstGeom>
          <a:solidFill>
            <a:srgbClr val="FFFFFF"/>
          </a:solidFill>
          <a:ln/>
          <a:effectLst>
            <a:outerShdw sx="100000" sy="100000" kx="0" ky="0" algn="bl" rotWithShape="0" blurRad="2.1999263699238713e+263" dist="8.799705479695485e+262" dir="5.700625799667598e+307">
              <a:srgbClr val="000000">
                <a:alpha val="Infinity"/>
              </a:srgbClr>
            </a:outerShdw>
          </a:effectLst>
        </p:spPr>
      </p:sp>
      <p:sp>
        <p:nvSpPr>
          <p:cNvPr id="7" name="Shape 5"/>
          <p:cNvSpPr/>
          <p:nvPr/>
        </p:nvSpPr>
        <p:spPr>
          <a:xfrm>
            <a:off x="640080" y="2286000"/>
            <a:ext cx="2606040" cy="54864"/>
          </a:xfrm>
          <a:prstGeom prst="rect">
            <a:avLst/>
          </a:prstGeom>
          <a:solidFill>
            <a:srgbClr val="185771"/>
          </a:solidFill>
          <a:ln/>
        </p:spPr>
      </p:sp>
      <p:sp>
        <p:nvSpPr>
          <p:cNvPr id="8" name="Text 6"/>
          <p:cNvSpPr/>
          <p:nvPr/>
        </p:nvSpPr>
        <p:spPr>
          <a:xfrm>
            <a:off x="822960" y="2468880"/>
            <a:ext cx="2286000" cy="457200"/>
          </a:xfrm>
          <a:prstGeom prst="rect">
            <a:avLst/>
          </a:prstGeom>
          <a:noFill/>
          <a:ln/>
        </p:spPr>
        <p:txBody>
          <a:bodyPr wrap="square" rtlCol="0" anchor="ctr"/>
          <a:lstStyle/>
          <a:p>
            <a:pPr indent="0" marL="0">
              <a:buNone/>
            </a:pPr>
            <a:r>
              <a:rPr lang="en-US" sz="2400" b="1" dirty="0">
                <a:solidFill>
                  <a:srgbClr val="185771"/>
                </a:solidFill>
                <a:latin typeface="Georgia" pitchFamily="34" charset="0"/>
                <a:ea typeface="Georgia" pitchFamily="34" charset="-122"/>
                <a:cs typeface="Georgia" pitchFamily="34" charset="-120"/>
              </a:rPr>
              <a:t>01</a:t>
            </a:r>
            <a:endParaRPr lang="en-US" sz="2400" dirty="0"/>
          </a:p>
        </p:txBody>
      </p:sp>
      <p:sp>
        <p:nvSpPr>
          <p:cNvPr id="9" name="Text 7"/>
          <p:cNvSpPr/>
          <p:nvPr/>
        </p:nvSpPr>
        <p:spPr>
          <a:xfrm>
            <a:off x="822960" y="2971800"/>
            <a:ext cx="2286000" cy="320040"/>
          </a:xfrm>
          <a:prstGeom prst="rect">
            <a:avLst/>
          </a:prstGeom>
          <a:noFill/>
          <a:ln/>
        </p:spPr>
        <p:txBody>
          <a:bodyPr wrap="square" rtlCol="0" anchor="ctr"/>
          <a:lstStyle/>
          <a:p>
            <a:pPr indent="0" marL="0">
              <a:buNone/>
            </a:pPr>
            <a:r>
              <a:rPr lang="en-US" sz="1300" b="1" spc="100" kern="0" dirty="0">
                <a:solidFill>
                  <a:srgbClr val="0E0E10"/>
                </a:solidFill>
                <a:latin typeface="Arial" pitchFamily="34" charset="0"/>
                <a:ea typeface="Arial" pitchFamily="34" charset="-122"/>
                <a:cs typeface="Arial" pitchFamily="34" charset="-120"/>
              </a:rPr>
              <a:t>CO-DEVELOP</a:t>
            </a:r>
            <a:endParaRPr lang="en-US" sz="1300" dirty="0"/>
          </a:p>
        </p:txBody>
      </p:sp>
      <p:sp>
        <p:nvSpPr>
          <p:cNvPr id="10" name="Text 8"/>
          <p:cNvSpPr/>
          <p:nvPr/>
        </p:nvSpPr>
        <p:spPr>
          <a:xfrm>
            <a:off x="822960" y="3337560"/>
            <a:ext cx="2286000" cy="1097280"/>
          </a:xfrm>
          <a:prstGeom prst="rect">
            <a:avLst/>
          </a:prstGeom>
          <a:noFill/>
          <a:ln/>
        </p:spPr>
        <p:txBody>
          <a:bodyPr wrap="square" rtlCol="0" anchor="ctr"/>
          <a:lstStyle/>
          <a:p>
            <a:pPr indent="0" marL="0">
              <a:lnSpc>
                <a:spcPct val="120000"/>
              </a:lnSpc>
              <a:buNone/>
            </a:pPr>
            <a:r>
              <a:rPr lang="en-US" sz="1100" dirty="0">
                <a:solidFill>
                  <a:srgbClr val="5B5F63"/>
                </a:solidFill>
                <a:latin typeface="Arial" pitchFamily="34" charset="0"/>
                <a:ea typeface="Arial" pitchFamily="34" charset="-122"/>
                <a:cs typeface="Arial" pitchFamily="34" charset="-120"/>
              </a:rPr>
              <a:t>Build a vertical version with a respected partner who knows the domain cold.</a:t>
            </a:r>
            <a:endParaRPr lang="en-US" sz="1100" dirty="0"/>
          </a:p>
        </p:txBody>
      </p:sp>
      <p:sp>
        <p:nvSpPr>
          <p:cNvPr id="11" name="Text 9"/>
          <p:cNvSpPr/>
          <p:nvPr/>
        </p:nvSpPr>
        <p:spPr>
          <a:xfrm>
            <a:off x="3182112" y="3108960"/>
            <a:ext cx="365760" cy="457200"/>
          </a:xfrm>
          <a:prstGeom prst="rect">
            <a:avLst/>
          </a:prstGeom>
          <a:noFill/>
          <a:ln/>
        </p:spPr>
        <p:txBody>
          <a:bodyPr wrap="square" rtlCol="0" anchor="ctr"/>
          <a:lstStyle/>
          <a:p>
            <a:pPr algn="ctr" indent="0" marL="0">
              <a:buNone/>
            </a:pPr>
            <a:r>
              <a:rPr lang="en-US" sz="2000" dirty="0">
                <a:solidFill>
                  <a:srgbClr val="9A9A93"/>
                </a:solidFill>
                <a:latin typeface="Arial" pitchFamily="34" charset="0"/>
                <a:ea typeface="Arial" pitchFamily="34" charset="-122"/>
                <a:cs typeface="Arial" pitchFamily="34" charset="-120"/>
              </a:rPr>
              <a:t>→</a:t>
            </a:r>
            <a:endParaRPr lang="en-US" sz="2000" dirty="0"/>
          </a:p>
        </p:txBody>
      </p:sp>
      <p:sp>
        <p:nvSpPr>
          <p:cNvPr id="12" name="Shape 10"/>
          <p:cNvSpPr/>
          <p:nvPr/>
        </p:nvSpPr>
        <p:spPr>
          <a:xfrm>
            <a:off x="3419856" y="2286000"/>
            <a:ext cx="2606040" cy="2286000"/>
          </a:xfrm>
          <a:prstGeom prst="rect">
            <a:avLst/>
          </a:prstGeom>
          <a:solidFill>
            <a:srgbClr val="FFFFFF"/>
          </a:solidFill>
          <a:ln/>
          <a:effectLst>
            <a:outerShdw sx="100000" sy="100000" kx="0" ky="0" algn="bl" rotWithShape="0" blurRad="2.7939064898033167e+267" dist="1.1175625959213265e+267" dir="Infinity">
              <a:srgbClr val="000000">
                <a:alpha val="Infinity"/>
              </a:srgbClr>
            </a:outerShdw>
          </a:effectLst>
        </p:spPr>
      </p:sp>
      <p:sp>
        <p:nvSpPr>
          <p:cNvPr id="13" name="Shape 11"/>
          <p:cNvSpPr/>
          <p:nvPr/>
        </p:nvSpPr>
        <p:spPr>
          <a:xfrm>
            <a:off x="3419856" y="2286000"/>
            <a:ext cx="2606040" cy="54864"/>
          </a:xfrm>
          <a:prstGeom prst="rect">
            <a:avLst/>
          </a:prstGeom>
          <a:solidFill>
            <a:srgbClr val="788C5D"/>
          </a:solidFill>
          <a:ln/>
        </p:spPr>
      </p:sp>
      <p:sp>
        <p:nvSpPr>
          <p:cNvPr id="14" name="Text 12"/>
          <p:cNvSpPr/>
          <p:nvPr/>
        </p:nvSpPr>
        <p:spPr>
          <a:xfrm>
            <a:off x="3602736" y="2468880"/>
            <a:ext cx="2286000" cy="457200"/>
          </a:xfrm>
          <a:prstGeom prst="rect">
            <a:avLst/>
          </a:prstGeom>
          <a:noFill/>
          <a:ln/>
        </p:spPr>
        <p:txBody>
          <a:bodyPr wrap="square" rtlCol="0" anchor="ctr"/>
          <a:lstStyle/>
          <a:p>
            <a:pPr indent="0" marL="0">
              <a:buNone/>
            </a:pPr>
            <a:r>
              <a:rPr lang="en-US" sz="2400" b="1" dirty="0">
                <a:solidFill>
                  <a:srgbClr val="788C5D"/>
                </a:solidFill>
                <a:latin typeface="Georgia" pitchFamily="34" charset="0"/>
                <a:ea typeface="Georgia" pitchFamily="34" charset="-122"/>
                <a:cs typeface="Georgia" pitchFamily="34" charset="-120"/>
              </a:rPr>
              <a:t>02</a:t>
            </a:r>
            <a:endParaRPr lang="en-US" sz="2400" dirty="0"/>
          </a:p>
        </p:txBody>
      </p:sp>
      <p:sp>
        <p:nvSpPr>
          <p:cNvPr id="15" name="Text 13"/>
          <p:cNvSpPr/>
          <p:nvPr/>
        </p:nvSpPr>
        <p:spPr>
          <a:xfrm>
            <a:off x="3602736" y="2971800"/>
            <a:ext cx="2286000" cy="320040"/>
          </a:xfrm>
          <a:prstGeom prst="rect">
            <a:avLst/>
          </a:prstGeom>
          <a:noFill/>
          <a:ln/>
        </p:spPr>
        <p:txBody>
          <a:bodyPr wrap="square" rtlCol="0" anchor="ctr"/>
          <a:lstStyle/>
          <a:p>
            <a:pPr indent="0" marL="0">
              <a:buNone/>
            </a:pPr>
            <a:r>
              <a:rPr lang="en-US" sz="1300" b="1" spc="100" kern="0" dirty="0">
                <a:solidFill>
                  <a:srgbClr val="0E0E10"/>
                </a:solidFill>
                <a:latin typeface="Arial" pitchFamily="34" charset="0"/>
                <a:ea typeface="Arial" pitchFamily="34" charset="-122"/>
                <a:cs typeface="Arial" pitchFamily="34" charset="-120"/>
              </a:rPr>
              <a:t>CO-BRAND</a:t>
            </a:r>
            <a:endParaRPr lang="en-US" sz="1300" dirty="0"/>
          </a:p>
        </p:txBody>
      </p:sp>
      <p:sp>
        <p:nvSpPr>
          <p:cNvPr id="16" name="Text 14"/>
          <p:cNvSpPr/>
          <p:nvPr/>
        </p:nvSpPr>
        <p:spPr>
          <a:xfrm>
            <a:off x="3602736" y="3337560"/>
            <a:ext cx="2286000" cy="1097280"/>
          </a:xfrm>
          <a:prstGeom prst="rect">
            <a:avLst/>
          </a:prstGeom>
          <a:noFill/>
          <a:ln/>
        </p:spPr>
        <p:txBody>
          <a:bodyPr wrap="square" rtlCol="0" anchor="ctr"/>
          <a:lstStyle/>
          <a:p>
            <a:pPr indent="0" marL="0">
              <a:lnSpc>
                <a:spcPct val="120000"/>
              </a:lnSpc>
              <a:buNone/>
            </a:pPr>
            <a:r>
              <a:rPr lang="en-US" sz="1100" dirty="0">
                <a:solidFill>
                  <a:srgbClr val="5B5F63"/>
                </a:solidFill>
                <a:latin typeface="Arial" pitchFamily="34" charset="0"/>
                <a:ea typeface="Arial" pitchFamily="34" charset="-122"/>
                <a:cs typeface="Arial" pitchFamily="34" charset="-120"/>
              </a:rPr>
              <a:t>Launch under a shared brand. Their reputation answers 'is this proven?' for us.</a:t>
            </a:r>
            <a:endParaRPr lang="en-US" sz="1100" dirty="0"/>
          </a:p>
        </p:txBody>
      </p:sp>
      <p:sp>
        <p:nvSpPr>
          <p:cNvPr id="17" name="Text 15"/>
          <p:cNvSpPr/>
          <p:nvPr/>
        </p:nvSpPr>
        <p:spPr>
          <a:xfrm>
            <a:off x="5961888" y="3108960"/>
            <a:ext cx="365760" cy="457200"/>
          </a:xfrm>
          <a:prstGeom prst="rect">
            <a:avLst/>
          </a:prstGeom>
          <a:noFill/>
          <a:ln/>
        </p:spPr>
        <p:txBody>
          <a:bodyPr wrap="square" rtlCol="0" anchor="ctr"/>
          <a:lstStyle/>
          <a:p>
            <a:pPr algn="ctr" indent="0" marL="0">
              <a:buNone/>
            </a:pPr>
            <a:r>
              <a:rPr lang="en-US" sz="2000" dirty="0">
                <a:solidFill>
                  <a:srgbClr val="9A9A93"/>
                </a:solidFill>
                <a:latin typeface="Arial" pitchFamily="34" charset="0"/>
                <a:ea typeface="Arial" pitchFamily="34" charset="-122"/>
                <a:cs typeface="Arial" pitchFamily="34" charset="-120"/>
              </a:rPr>
              <a:t>→</a:t>
            </a:r>
            <a:endParaRPr lang="en-US" sz="2000" dirty="0"/>
          </a:p>
        </p:txBody>
      </p:sp>
      <p:sp>
        <p:nvSpPr>
          <p:cNvPr id="18" name="Shape 16"/>
          <p:cNvSpPr/>
          <p:nvPr/>
        </p:nvSpPr>
        <p:spPr>
          <a:xfrm>
            <a:off x="6199632" y="2286000"/>
            <a:ext cx="2606040" cy="2286000"/>
          </a:xfrm>
          <a:prstGeom prst="rect">
            <a:avLst/>
          </a:prstGeom>
          <a:solidFill>
            <a:srgbClr val="FFFFFF"/>
          </a:solidFill>
          <a:ln/>
          <a:effectLst>
            <a:outerShdw sx="100000" sy="100000" kx="0" ky="0" algn="bl" rotWithShape="0" blurRad="3.548261242050212e+271" dist="1.4193044968200846e+271" dir="Infinity">
              <a:srgbClr val="000000">
                <a:alpha val="Infinity"/>
              </a:srgbClr>
            </a:outerShdw>
          </a:effectLst>
        </p:spPr>
      </p:sp>
      <p:sp>
        <p:nvSpPr>
          <p:cNvPr id="19" name="Shape 17"/>
          <p:cNvSpPr/>
          <p:nvPr/>
        </p:nvSpPr>
        <p:spPr>
          <a:xfrm>
            <a:off x="6199632" y="2286000"/>
            <a:ext cx="2606040" cy="54864"/>
          </a:xfrm>
          <a:prstGeom prst="rect">
            <a:avLst/>
          </a:prstGeom>
          <a:solidFill>
            <a:srgbClr val="C2703D"/>
          </a:solidFill>
          <a:ln/>
        </p:spPr>
      </p:sp>
      <p:sp>
        <p:nvSpPr>
          <p:cNvPr id="20" name="Text 18"/>
          <p:cNvSpPr/>
          <p:nvPr/>
        </p:nvSpPr>
        <p:spPr>
          <a:xfrm>
            <a:off x="6382512" y="2468880"/>
            <a:ext cx="2286000" cy="457200"/>
          </a:xfrm>
          <a:prstGeom prst="rect">
            <a:avLst/>
          </a:prstGeom>
          <a:noFill/>
          <a:ln/>
        </p:spPr>
        <p:txBody>
          <a:bodyPr wrap="square" rtlCol="0" anchor="ctr"/>
          <a:lstStyle/>
          <a:p>
            <a:pPr indent="0" marL="0">
              <a:buNone/>
            </a:pPr>
            <a:r>
              <a:rPr lang="en-US" sz="2400" b="1" dirty="0">
                <a:solidFill>
                  <a:srgbClr val="C2703D"/>
                </a:solidFill>
                <a:latin typeface="Georgia" pitchFamily="34" charset="0"/>
                <a:ea typeface="Georgia" pitchFamily="34" charset="-122"/>
                <a:cs typeface="Georgia" pitchFamily="34" charset="-120"/>
              </a:rPr>
              <a:t>03</a:t>
            </a:r>
            <a:endParaRPr lang="en-US" sz="2400" dirty="0"/>
          </a:p>
        </p:txBody>
      </p:sp>
      <p:sp>
        <p:nvSpPr>
          <p:cNvPr id="21" name="Text 19"/>
          <p:cNvSpPr/>
          <p:nvPr/>
        </p:nvSpPr>
        <p:spPr>
          <a:xfrm>
            <a:off x="6382512" y="2971800"/>
            <a:ext cx="2286000" cy="320040"/>
          </a:xfrm>
          <a:prstGeom prst="rect">
            <a:avLst/>
          </a:prstGeom>
          <a:noFill/>
          <a:ln/>
        </p:spPr>
        <p:txBody>
          <a:bodyPr wrap="square" rtlCol="0" anchor="ctr"/>
          <a:lstStyle/>
          <a:p>
            <a:pPr indent="0" marL="0">
              <a:buNone/>
            </a:pPr>
            <a:r>
              <a:rPr lang="en-US" sz="1300" b="1" spc="100" kern="0" dirty="0">
                <a:solidFill>
                  <a:srgbClr val="0E0E10"/>
                </a:solidFill>
                <a:latin typeface="Arial" pitchFamily="34" charset="0"/>
                <a:ea typeface="Arial" pitchFamily="34" charset="-122"/>
                <a:cs typeface="Arial" pitchFamily="34" charset="-120"/>
              </a:rPr>
              <a:t>LAND NARROW</a:t>
            </a:r>
            <a:endParaRPr lang="en-US" sz="1300" dirty="0"/>
          </a:p>
        </p:txBody>
      </p:sp>
      <p:sp>
        <p:nvSpPr>
          <p:cNvPr id="22" name="Text 20"/>
          <p:cNvSpPr/>
          <p:nvPr/>
        </p:nvSpPr>
        <p:spPr>
          <a:xfrm>
            <a:off x="6382512" y="3337560"/>
            <a:ext cx="2286000" cy="1097280"/>
          </a:xfrm>
          <a:prstGeom prst="rect">
            <a:avLst/>
          </a:prstGeom>
          <a:noFill/>
          <a:ln/>
        </p:spPr>
        <p:txBody>
          <a:bodyPr wrap="square" rtlCol="0" anchor="ctr"/>
          <a:lstStyle/>
          <a:p>
            <a:pPr indent="0" marL="0">
              <a:lnSpc>
                <a:spcPct val="120000"/>
              </a:lnSpc>
              <a:buNone/>
            </a:pPr>
            <a:r>
              <a:rPr lang="en-US" sz="1100" dirty="0">
                <a:solidFill>
                  <a:srgbClr val="5B5F63"/>
                </a:solidFill>
                <a:latin typeface="Arial" pitchFamily="34" charset="0"/>
                <a:ea typeface="Arial" pitchFamily="34" charset="-122"/>
                <a:cs typeface="Arial" pitchFamily="34" charset="-120"/>
              </a:rPr>
              <a:t>Win one vertical deeply. Real workflows, real proof, real references.</a:t>
            </a:r>
            <a:endParaRPr lang="en-US" sz="1100" dirty="0"/>
          </a:p>
        </p:txBody>
      </p:sp>
      <p:sp>
        <p:nvSpPr>
          <p:cNvPr id="23" name="Text 21"/>
          <p:cNvSpPr/>
          <p:nvPr/>
        </p:nvSpPr>
        <p:spPr>
          <a:xfrm>
            <a:off x="8741664" y="3108960"/>
            <a:ext cx="365760" cy="457200"/>
          </a:xfrm>
          <a:prstGeom prst="rect">
            <a:avLst/>
          </a:prstGeom>
          <a:noFill/>
          <a:ln/>
        </p:spPr>
        <p:txBody>
          <a:bodyPr wrap="square" rtlCol="0" anchor="ctr"/>
          <a:lstStyle/>
          <a:p>
            <a:pPr algn="ctr" indent="0" marL="0">
              <a:buNone/>
            </a:pPr>
            <a:r>
              <a:rPr lang="en-US" sz="2000" dirty="0">
                <a:solidFill>
                  <a:srgbClr val="9A9A93"/>
                </a:solidFill>
                <a:latin typeface="Arial" pitchFamily="34" charset="0"/>
                <a:ea typeface="Arial" pitchFamily="34" charset="-122"/>
                <a:cs typeface="Arial" pitchFamily="34" charset="-120"/>
              </a:rPr>
              <a:t>→</a:t>
            </a:r>
            <a:endParaRPr lang="en-US" sz="2000" dirty="0"/>
          </a:p>
        </p:txBody>
      </p:sp>
      <p:sp>
        <p:nvSpPr>
          <p:cNvPr id="24" name="Shape 22"/>
          <p:cNvSpPr/>
          <p:nvPr/>
        </p:nvSpPr>
        <p:spPr>
          <a:xfrm>
            <a:off x="8979408" y="2286000"/>
            <a:ext cx="2606040" cy="2286000"/>
          </a:xfrm>
          <a:prstGeom prst="rect">
            <a:avLst/>
          </a:prstGeom>
          <a:solidFill>
            <a:srgbClr val="FFFFFF"/>
          </a:solidFill>
          <a:ln/>
          <a:effectLst>
            <a:outerShdw sx="100000" sy="100000" kx="0" ky="0" algn="bl" rotWithShape="0" blurRad="4.50629177740377e+275" dist="1.8025167109615074e+275" dir="Infinity">
              <a:srgbClr val="000000">
                <a:alpha val="Infinity"/>
              </a:srgbClr>
            </a:outerShdw>
          </a:effectLst>
        </p:spPr>
      </p:sp>
      <p:sp>
        <p:nvSpPr>
          <p:cNvPr id="25" name="Shape 23"/>
          <p:cNvSpPr/>
          <p:nvPr/>
        </p:nvSpPr>
        <p:spPr>
          <a:xfrm>
            <a:off x="8979408" y="2286000"/>
            <a:ext cx="2606040" cy="54864"/>
          </a:xfrm>
          <a:prstGeom prst="rect">
            <a:avLst/>
          </a:prstGeom>
          <a:solidFill>
            <a:srgbClr val="5B5F63"/>
          </a:solidFill>
          <a:ln/>
        </p:spPr>
      </p:sp>
      <p:sp>
        <p:nvSpPr>
          <p:cNvPr id="26" name="Text 24"/>
          <p:cNvSpPr/>
          <p:nvPr/>
        </p:nvSpPr>
        <p:spPr>
          <a:xfrm>
            <a:off x="9162288" y="2468880"/>
            <a:ext cx="2286000" cy="457200"/>
          </a:xfrm>
          <a:prstGeom prst="rect">
            <a:avLst/>
          </a:prstGeom>
          <a:noFill/>
          <a:ln/>
        </p:spPr>
        <p:txBody>
          <a:bodyPr wrap="square" rtlCol="0" anchor="ctr"/>
          <a:lstStyle/>
          <a:p>
            <a:pPr indent="0" marL="0">
              <a:buNone/>
            </a:pPr>
            <a:r>
              <a:rPr lang="en-US" sz="2400" b="1" dirty="0">
                <a:solidFill>
                  <a:srgbClr val="5B5F63"/>
                </a:solidFill>
                <a:latin typeface="Georgia" pitchFamily="34" charset="0"/>
                <a:ea typeface="Georgia" pitchFamily="34" charset="-122"/>
                <a:cs typeface="Georgia" pitchFamily="34" charset="-120"/>
              </a:rPr>
              <a:t>04</a:t>
            </a:r>
            <a:endParaRPr lang="en-US" sz="2400" dirty="0"/>
          </a:p>
        </p:txBody>
      </p:sp>
      <p:sp>
        <p:nvSpPr>
          <p:cNvPr id="27" name="Text 25"/>
          <p:cNvSpPr/>
          <p:nvPr/>
        </p:nvSpPr>
        <p:spPr>
          <a:xfrm>
            <a:off x="9162288" y="2971800"/>
            <a:ext cx="2286000" cy="320040"/>
          </a:xfrm>
          <a:prstGeom prst="rect">
            <a:avLst/>
          </a:prstGeom>
          <a:noFill/>
          <a:ln/>
        </p:spPr>
        <p:txBody>
          <a:bodyPr wrap="square" rtlCol="0" anchor="ctr"/>
          <a:lstStyle/>
          <a:p>
            <a:pPr indent="0" marL="0">
              <a:buNone/>
            </a:pPr>
            <a:r>
              <a:rPr lang="en-US" sz="1300" b="1" spc="100" kern="0" dirty="0">
                <a:solidFill>
                  <a:srgbClr val="0E0E10"/>
                </a:solidFill>
                <a:latin typeface="Arial" pitchFamily="34" charset="0"/>
                <a:ea typeface="Arial" pitchFamily="34" charset="-122"/>
                <a:cs typeface="Arial" pitchFamily="34" charset="-120"/>
              </a:rPr>
              <a:t>EXPAND</a:t>
            </a:r>
            <a:endParaRPr lang="en-US" sz="1300" dirty="0"/>
          </a:p>
        </p:txBody>
      </p:sp>
      <p:sp>
        <p:nvSpPr>
          <p:cNvPr id="28" name="Text 26"/>
          <p:cNvSpPr/>
          <p:nvPr/>
        </p:nvSpPr>
        <p:spPr>
          <a:xfrm>
            <a:off x="9162288" y="3337560"/>
            <a:ext cx="2286000" cy="1097280"/>
          </a:xfrm>
          <a:prstGeom prst="rect">
            <a:avLst/>
          </a:prstGeom>
          <a:noFill/>
          <a:ln/>
        </p:spPr>
        <p:txBody>
          <a:bodyPr wrap="square" rtlCol="0" anchor="ctr"/>
          <a:lstStyle/>
          <a:p>
            <a:pPr indent="0" marL="0">
              <a:lnSpc>
                <a:spcPct val="120000"/>
              </a:lnSpc>
              <a:buNone/>
            </a:pPr>
            <a:r>
              <a:rPr lang="en-US" sz="1100" dirty="0">
                <a:solidFill>
                  <a:srgbClr val="5B5F63"/>
                </a:solidFill>
                <a:latin typeface="Arial" pitchFamily="34" charset="0"/>
                <a:ea typeface="Arial" pitchFamily="34" charset="-122"/>
                <a:cs typeface="Arial" pitchFamily="34" charset="-120"/>
              </a:rPr>
              <a:t>Take the proof to peer accounts, then to the next vertical. Repeat the motion.</a:t>
            </a:r>
            <a:endParaRPr lang="en-US" sz="1100" dirty="0"/>
          </a:p>
        </p:txBody>
      </p:sp>
      <p:sp>
        <p:nvSpPr>
          <p:cNvPr id="29" name="Shape 27"/>
          <p:cNvSpPr/>
          <p:nvPr/>
        </p:nvSpPr>
        <p:spPr>
          <a:xfrm>
            <a:off x="640080" y="4846320"/>
            <a:ext cx="10908792" cy="1005840"/>
          </a:xfrm>
          <a:prstGeom prst="rect">
            <a:avLst/>
          </a:prstGeom>
          <a:solidFill>
            <a:srgbClr val="17171B"/>
          </a:solidFill>
          <a:ln/>
        </p:spPr>
      </p:sp>
      <p:sp>
        <p:nvSpPr>
          <p:cNvPr id="30" name="Text 28"/>
          <p:cNvSpPr/>
          <p:nvPr/>
        </p:nvSpPr>
        <p:spPr>
          <a:xfrm>
            <a:off x="868680" y="4956048"/>
            <a:ext cx="3657600" cy="274320"/>
          </a:xfrm>
          <a:prstGeom prst="rect">
            <a:avLst/>
          </a:prstGeom>
          <a:noFill/>
          <a:ln/>
        </p:spPr>
        <p:txBody>
          <a:bodyPr wrap="square" rtlCol="0" anchor="ctr"/>
          <a:lstStyle/>
          <a:p>
            <a:pPr indent="0" marL="0">
              <a:buNone/>
            </a:pPr>
            <a:r>
              <a:rPr lang="en-US" sz="1000" b="1" spc="300" kern="0" dirty="0">
                <a:solidFill>
                  <a:srgbClr val="C2703D"/>
                </a:solidFill>
                <a:latin typeface="Arial" pitchFamily="34" charset="0"/>
                <a:ea typeface="Arial" pitchFamily="34" charset="-122"/>
                <a:cs typeface="Arial" pitchFamily="34" charset="-120"/>
              </a:rPr>
              <a:t>FIRST INSTANCE</a:t>
            </a:r>
            <a:endParaRPr lang="en-US" sz="1000" dirty="0"/>
          </a:p>
        </p:txBody>
      </p:sp>
      <p:sp>
        <p:nvSpPr>
          <p:cNvPr id="31" name="Text 29"/>
          <p:cNvSpPr/>
          <p:nvPr/>
        </p:nvSpPr>
        <p:spPr>
          <a:xfrm>
            <a:off x="868680" y="5230368"/>
            <a:ext cx="10424160" cy="548640"/>
          </a:xfrm>
          <a:prstGeom prst="rect">
            <a:avLst/>
          </a:prstGeom>
          <a:noFill/>
          <a:ln/>
        </p:spPr>
        <p:txBody>
          <a:bodyPr wrap="square" rtlCol="0" anchor="ctr"/>
          <a:lstStyle/>
          <a:p>
            <a:pPr indent="0" marL="0">
              <a:lnSpc>
                <a:spcPct val="125000"/>
              </a:lnSpc>
              <a:buNone/>
            </a:pPr>
            <a:r>
              <a:rPr lang="en-US" sz="1250" dirty="0">
                <a:solidFill>
                  <a:srgbClr val="ECEAE1"/>
                </a:solidFill>
                <a:latin typeface="Arial" pitchFamily="34" charset="0"/>
                <a:ea typeface="Arial" pitchFamily="34" charset="-122"/>
                <a:cs typeface="Arial" pitchFamily="34" charset="-120"/>
              </a:rPr>
              <a:t>Fluso Legal is the first run of this motion: co-developed with a major US law firm, co-branded, undercutting incumbents on price. Marketing's job is to make the wedge repeatable, not to ride one launch.</a:t>
            </a:r>
            <a:endParaRPr lang="en-US" sz="1250" dirty="0"/>
          </a:p>
        </p:txBody>
      </p:sp>
      <p:sp>
        <p:nvSpPr>
          <p:cNvPr id="32" name="TextBox 31"/>
          <p:cNvSpPr txBox="1"/>
          <p:nvPr/>
        </p:nvSpPr>
        <p:spPr>
          <a:xfrm>
            <a:off x="640080" y="5833872"/>
            <a:ext cx="10908792" cy="512064"/>
          </a:xfrm>
          <a:prstGeom prst="rect">
            <a:avLst/>
          </a:prstGeom>
          <a:solidFill>
            <a:srgbClr val="DBEAFE"/>
          </a:solidFill>
          <a:ln w="12700">
            <a:solidFill>
              <a:srgbClr val="1E3A8A"/>
            </a:solidFill>
          </a:ln>
        </p:spPr>
        <p:txBody>
          <a:bodyPr wrap="square">
            <a:spAutoFit/>
          </a:bodyPr>
          <a:lstStyle/>
          <a:p>
            <a:pPr algn="l"/>
            <a:r>
              <a:rPr sz="850" b="1">
                <a:solidFill>
                  <a:srgbClr val="1E3A8A"/>
                </a:solidFill>
              </a:rPr>
              <a:t>DATA  </a:t>
            </a:r>
            <a:r>
              <a:rPr sz="850" b="0">
                <a:solidFill>
                  <a:srgbClr val="111827"/>
                </a:solidFill>
              </a:rPr>
              <a:t>Veeva precedent: $3M raised → ~80% pharma CRM share → $2.4B ARR, $34B market cap. Won all top-20 pharma within 5 years. Legal AI: $3.1B (2025) → $10.8B by 2030 (+28.3% CAGR). [SaaStr / EuropeanTech / MarketsandMarkets 2025]</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AF9F5"/>
        </a:solidFill>
      </p:bgPr>
    </p:bg>
    <p:spTree>
      <p:nvGrpSpPr>
        <p:cNvPr id="1" name=""/>
        <p:cNvGrpSpPr/>
        <p:nvPr/>
      </p:nvGrpSpPr>
      <p:grpSpPr>
        <a:xfrm>
          <a:off x="0" y="0"/>
          <a:ext cx="0" cy="0"/>
          <a:chOff x="0" y="0"/>
          <a:chExt cx="0" cy="0"/>
        </a:xfrm>
      </p:grpSpPr>
      <p:sp>
        <p:nvSpPr>
          <p:cNvPr id="2" name="Text 0"/>
          <p:cNvSpPr/>
          <p:nvPr/>
        </p:nvSpPr>
        <p:spPr>
          <a:xfrm>
            <a:off x="640080" y="411480"/>
            <a:ext cx="10058400" cy="274320"/>
          </a:xfrm>
          <a:prstGeom prst="rect">
            <a:avLst/>
          </a:prstGeom>
          <a:noFill/>
          <a:ln/>
        </p:spPr>
        <p:txBody>
          <a:bodyPr wrap="square" rtlCol="0" anchor="ctr"/>
          <a:lstStyle/>
          <a:p>
            <a:pPr indent="0" marL="0">
              <a:buNone/>
            </a:pPr>
            <a:r>
              <a:rPr lang="en-US" sz="1100" b="1" spc="500" kern="0" dirty="0">
                <a:solidFill>
                  <a:srgbClr val="788C5D"/>
                </a:solidFill>
                <a:latin typeface="Arial" pitchFamily="34" charset="0"/>
                <a:ea typeface="Arial" pitchFamily="34" charset="-122"/>
                <a:cs typeface="Arial" pitchFamily="34" charset="-120"/>
              </a:rPr>
              <a:t>FLAGSHIP CAMPAIGNS</a:t>
            </a:r>
            <a:endParaRPr lang="en-US" sz="1100" dirty="0"/>
          </a:p>
        </p:txBody>
      </p:sp>
      <p:sp>
        <p:nvSpPr>
          <p:cNvPr id="3" name="Text 1"/>
          <p:cNvSpPr/>
          <p:nvPr/>
        </p:nvSpPr>
        <p:spPr>
          <a:xfrm>
            <a:off x="640080" y="658368"/>
            <a:ext cx="10972800" cy="640080"/>
          </a:xfrm>
          <a:prstGeom prst="rect">
            <a:avLst/>
          </a:prstGeom>
          <a:noFill/>
          <a:ln/>
        </p:spPr>
        <p:txBody>
          <a:bodyPr wrap="square" rtlCol="0" anchor="ctr"/>
          <a:lstStyle/>
          <a:p>
            <a:pPr indent="0" marL="0">
              <a:buNone/>
            </a:pPr>
            <a:r>
              <a:rPr lang="en-US" sz="2900" dirty="0">
                <a:solidFill>
                  <a:srgbClr val="0E0E10"/>
                </a:solidFill>
                <a:latin typeface="Georgia" pitchFamily="34" charset="0"/>
                <a:ea typeface="Georgia" pitchFamily="34" charset="-122"/>
                <a:cs typeface="Georgia" pitchFamily="34" charset="-120"/>
              </a:rPr>
              <a:t>Two Campaigns, One Engine</a:t>
            </a:r>
            <a:endParaRPr lang="en-US" sz="2900" dirty="0"/>
          </a:p>
        </p:txBody>
      </p:sp>
      <p:sp>
        <p:nvSpPr>
          <p:cNvPr id="4" name="Text 2"/>
          <p:cNvSpPr/>
          <p:nvPr/>
        </p:nvSpPr>
        <p:spPr>
          <a:xfrm>
            <a:off x="11460175" y="6446520"/>
            <a:ext cx="457200" cy="274320"/>
          </a:xfrm>
          <a:prstGeom prst="rect">
            <a:avLst/>
          </a:prstGeom>
          <a:noFill/>
          <a:ln/>
        </p:spPr>
        <p:txBody>
          <a:bodyPr wrap="square" rtlCol="0" anchor="ctr"/>
          <a:lstStyle/>
          <a:p>
            <a:pPr algn="r" indent="0" marL="0">
              <a:buNone/>
            </a:pPr>
            <a:r>
              <a:rPr lang="en-US" sz="1000" dirty="0">
                <a:solidFill>
                  <a:srgbClr val="9A9A93"/>
                </a:solidFill>
                <a:latin typeface="Arial" pitchFamily="34" charset="0"/>
                <a:ea typeface="Arial" pitchFamily="34" charset="-122"/>
                <a:cs typeface="Arial" pitchFamily="34" charset="-120"/>
              </a:rPr>
              <a:t>28</a:t>
            </a:r>
            <a:endParaRPr lang="en-US" sz="1000" dirty="0"/>
          </a:p>
        </p:txBody>
      </p:sp>
      <p:sp>
        <p:nvSpPr>
          <p:cNvPr id="5" name="Text 3"/>
          <p:cNvSpPr/>
          <p:nvPr/>
        </p:nvSpPr>
        <p:spPr>
          <a:xfrm>
            <a:off x="640080" y="1325880"/>
            <a:ext cx="10881360" cy="548640"/>
          </a:xfrm>
          <a:prstGeom prst="rect">
            <a:avLst/>
          </a:prstGeom>
          <a:noFill/>
          <a:ln/>
        </p:spPr>
        <p:txBody>
          <a:bodyPr wrap="square" rtlCol="0" anchor="ctr"/>
          <a:lstStyle/>
          <a:p>
            <a:pPr indent="0" marL="0">
              <a:lnSpc>
                <a:spcPct val="130000"/>
              </a:lnSpc>
              <a:buNone/>
            </a:pPr>
            <a:r>
              <a:rPr lang="en-US" sz="1350" dirty="0">
                <a:solidFill>
                  <a:srgbClr val="5B5F63"/>
                </a:solidFill>
                <a:latin typeface="Arial" pitchFamily="34" charset="0"/>
                <a:ea typeface="Arial" pitchFamily="34" charset="-122"/>
                <a:cs typeface="Arial" pitchFamily="34" charset="-120"/>
              </a:rPr>
              <a:t>Both teach people to get genuine leverage from AI, with Fluso as the worked example. Utility-led, trust-building, and they feed each other across surfaces.</a:t>
            </a:r>
            <a:endParaRPr lang="en-US" sz="1350" dirty="0"/>
          </a:p>
        </p:txBody>
      </p:sp>
      <p:sp>
        <p:nvSpPr>
          <p:cNvPr id="6" name="Shape 4"/>
          <p:cNvSpPr/>
          <p:nvPr/>
        </p:nvSpPr>
        <p:spPr>
          <a:xfrm>
            <a:off x="640080" y="2057400"/>
            <a:ext cx="5376672" cy="3657600"/>
          </a:xfrm>
          <a:prstGeom prst="rect">
            <a:avLst/>
          </a:prstGeom>
          <a:solidFill>
            <a:srgbClr val="FFFFFF"/>
          </a:solidFill>
          <a:ln/>
          <a:effectLst>
            <a:outerShdw sx="100000" sy="100000" kx="0" ky="0" algn="bl" rotWithShape="0" blurRad="5.722990557302787e+279" dist="2.2891962229211143e+279" dir="Infinity">
              <a:srgbClr val="000000">
                <a:alpha val="Infinity"/>
              </a:srgbClr>
            </a:outerShdw>
          </a:effectLst>
        </p:spPr>
      </p:sp>
      <p:sp>
        <p:nvSpPr>
          <p:cNvPr id="7" name="Shape 5"/>
          <p:cNvSpPr/>
          <p:nvPr/>
        </p:nvSpPr>
        <p:spPr>
          <a:xfrm>
            <a:off x="640080" y="2057400"/>
            <a:ext cx="5376672" cy="54864"/>
          </a:xfrm>
          <a:prstGeom prst="rect">
            <a:avLst/>
          </a:prstGeom>
          <a:solidFill>
            <a:srgbClr val="C2703D"/>
          </a:solidFill>
          <a:ln/>
        </p:spPr>
      </p:sp>
      <p:pic>
        <p:nvPicPr>
          <p:cNvPr id="8" name="Image 0" descr="preencoded.png">    </p:cNvPr>
          <p:cNvPicPr>
            <a:picLocks noChangeAspect="1"/>
          </p:cNvPicPr>
          <p:nvPr/>
        </p:nvPicPr>
        <p:blipFill>
          <a:blip r:embed="rId1"/>
          <a:stretch>
            <a:fillRect/>
          </a:stretch>
        </p:blipFill>
        <p:spPr>
          <a:xfrm>
            <a:off x="914400" y="2331720"/>
            <a:ext cx="457200" cy="457200"/>
          </a:xfrm>
          <a:prstGeom prst="rect">
            <a:avLst/>
          </a:prstGeom>
        </p:spPr>
      </p:pic>
      <p:sp>
        <p:nvSpPr>
          <p:cNvPr id="9" name="Text 6"/>
          <p:cNvSpPr/>
          <p:nvPr/>
        </p:nvSpPr>
        <p:spPr>
          <a:xfrm>
            <a:off x="1508760" y="2331720"/>
            <a:ext cx="4206240" cy="274320"/>
          </a:xfrm>
          <a:prstGeom prst="rect">
            <a:avLst/>
          </a:prstGeom>
          <a:noFill/>
          <a:ln/>
        </p:spPr>
        <p:txBody>
          <a:bodyPr wrap="square" rtlCol="0" anchor="ctr"/>
          <a:lstStyle/>
          <a:p>
            <a:pPr indent="0" marL="0">
              <a:buNone/>
            </a:pPr>
            <a:r>
              <a:rPr lang="en-US" sz="1050" b="1" spc="300" kern="0" dirty="0">
                <a:solidFill>
                  <a:srgbClr val="C2703D"/>
                </a:solidFill>
                <a:latin typeface="Arial" pitchFamily="34" charset="0"/>
                <a:ea typeface="Arial" pitchFamily="34" charset="-122"/>
                <a:cs typeface="Arial" pitchFamily="34" charset="-120"/>
              </a:rPr>
              <a:t>BLOG SERIES</a:t>
            </a:r>
            <a:endParaRPr lang="en-US" sz="1050" dirty="0"/>
          </a:p>
        </p:txBody>
      </p:sp>
      <p:sp>
        <p:nvSpPr>
          <p:cNvPr id="10" name="Text 7"/>
          <p:cNvSpPr/>
          <p:nvPr/>
        </p:nvSpPr>
        <p:spPr>
          <a:xfrm>
            <a:off x="1508760" y="2606040"/>
            <a:ext cx="4297680" cy="640080"/>
          </a:xfrm>
          <a:prstGeom prst="rect">
            <a:avLst/>
          </a:prstGeom>
          <a:noFill/>
          <a:ln/>
        </p:spPr>
        <p:txBody>
          <a:bodyPr wrap="square" rtlCol="0" anchor="ctr"/>
          <a:lstStyle/>
          <a:p>
            <a:pPr indent="0" marL="0">
              <a:lnSpc>
                <a:spcPct val="100000"/>
              </a:lnSpc>
              <a:buNone/>
            </a:pPr>
            <a:r>
              <a:rPr lang="en-US" sz="1600" b="1" dirty="0">
                <a:solidFill>
                  <a:srgbClr val="0E0E10"/>
                </a:solidFill>
                <a:latin typeface="Georgia" pitchFamily="34" charset="0"/>
                <a:ea typeface="Georgia" pitchFamily="34" charset="-122"/>
                <a:cs typeface="Georgia" pitchFamily="34" charset="-120"/>
              </a:rPr>
              <a:t>“How to use AI for your real advantage”</a:t>
            </a:r>
            <a:endParaRPr lang="en-US" sz="1600" dirty="0"/>
          </a:p>
        </p:txBody>
      </p:sp>
      <p:sp>
        <p:nvSpPr>
          <p:cNvPr id="11" name="Text 8"/>
          <p:cNvSpPr/>
          <p:nvPr/>
        </p:nvSpPr>
        <p:spPr>
          <a:xfrm>
            <a:off x="914400" y="3520440"/>
            <a:ext cx="4846320" cy="2011680"/>
          </a:xfrm>
          <a:prstGeom prst="rect">
            <a:avLst/>
          </a:prstGeom>
          <a:noFill/>
          <a:ln/>
        </p:spPr>
        <p:txBody>
          <a:bodyPr wrap="square" rtlCol="0" anchor="ctr"/>
          <a:lstStyle/>
          <a:p>
            <a:pPr marL="342900" indent="-342900">
              <a:lnSpc>
                <a:spcPct val="130000"/>
              </a:lnSpc>
              <a:spcAft>
                <a:spcPts val="800"/>
              </a:spcAft>
              <a:buSzPct val="100000"/>
              <a:buChar char="•"/>
            </a:pPr>
            <a:r>
              <a:rPr lang="en-US" sz="1200" dirty="0">
                <a:solidFill>
                  <a:srgbClr val="5B5F63"/>
                </a:solidFill>
                <a:latin typeface="Arial" pitchFamily="34" charset="0"/>
                <a:ea typeface="Arial" pitchFamily="34" charset="-122"/>
                <a:cs typeface="Arial" pitchFamily="34" charset="-120"/>
              </a:rPr>
              <a:t>Long-form, genuinely useful AI-literacy content</a:t>
            </a:r>
            <a:endParaRPr lang="en-US" sz="1200" dirty="0"/>
          </a:p>
          <a:p>
            <a:pPr marL="342900" indent="-342900">
              <a:lnSpc>
                <a:spcPct val="130000"/>
              </a:lnSpc>
              <a:spcAft>
                <a:spcPts val="800"/>
              </a:spcAft>
              <a:buSzPct val="100000"/>
              <a:buChar char="•"/>
            </a:pPr>
            <a:r>
              <a:rPr lang="en-US" sz="1200" dirty="0">
                <a:solidFill>
                  <a:srgbClr val="5B5F63"/>
                </a:solidFill>
                <a:latin typeface="Arial" pitchFamily="34" charset="0"/>
                <a:ea typeface="Arial" pitchFamily="34" charset="-122"/>
                <a:cs typeface="Arial" pitchFamily="34" charset="-120"/>
              </a:rPr>
              <a:t>Teaches real leverage, not hype. Fluso shown, not sold.</a:t>
            </a:r>
            <a:endParaRPr lang="en-US" sz="1200" dirty="0"/>
          </a:p>
          <a:p>
            <a:pPr marL="342900" indent="-342900">
              <a:lnSpc>
                <a:spcPct val="130000"/>
              </a:lnSpc>
              <a:spcAft>
                <a:spcPts val="800"/>
              </a:spcAft>
              <a:buSzPct val="100000"/>
              <a:buChar char="•"/>
            </a:pPr>
            <a:r>
              <a:rPr lang="en-US" sz="1200" dirty="0">
                <a:solidFill>
                  <a:srgbClr val="5B5F63"/>
                </a:solidFill>
                <a:latin typeface="Arial" pitchFamily="34" charset="0"/>
                <a:ea typeface="Arial" pitchFamily="34" charset="-122"/>
                <a:cs typeface="Arial" pitchFamily="34" charset="-120"/>
              </a:rPr>
              <a:t>Anchors SEO and feeds the sales-proof library</a:t>
            </a:r>
            <a:endParaRPr lang="en-US" sz="1200" dirty="0"/>
          </a:p>
          <a:p>
            <a:pPr marL="342900" indent="-342900">
              <a:lnSpc>
                <a:spcPct val="130000"/>
              </a:lnSpc>
              <a:spcAft>
                <a:spcPts val="800"/>
              </a:spcAft>
              <a:buSzPct val="100000"/>
              <a:buChar char="•"/>
            </a:pPr>
            <a:r>
              <a:rPr lang="en-US" sz="1200" dirty="0">
                <a:solidFill>
                  <a:srgbClr val="5B5F63"/>
                </a:solidFill>
                <a:latin typeface="Arial" pitchFamily="34" charset="0"/>
                <a:ea typeface="Arial" pitchFamily="34" charset="-122"/>
                <a:cs typeface="Arial" pitchFamily="34" charset="-120"/>
              </a:rPr>
              <a:t>One pillar piece, then repurposed everywhere</a:t>
            </a:r>
            <a:endParaRPr lang="en-US" sz="1200" dirty="0"/>
          </a:p>
        </p:txBody>
      </p:sp>
      <p:sp>
        <p:nvSpPr>
          <p:cNvPr id="12" name="Shape 9"/>
          <p:cNvSpPr/>
          <p:nvPr/>
        </p:nvSpPr>
        <p:spPr>
          <a:xfrm>
            <a:off x="6172200" y="2057400"/>
            <a:ext cx="5376672" cy="3657600"/>
          </a:xfrm>
          <a:prstGeom prst="rect">
            <a:avLst/>
          </a:prstGeom>
          <a:solidFill>
            <a:srgbClr val="FFFFFF"/>
          </a:solidFill>
          <a:ln/>
          <a:effectLst>
            <a:outerShdw sx="100000" sy="100000" kx="0" ky="0" algn="bl" rotWithShape="0" blurRad="7.26819800777454e+283" dist="2.9072792031098153e+283" dir="Infinity">
              <a:srgbClr val="000000">
                <a:alpha val="Infinity"/>
              </a:srgbClr>
            </a:outerShdw>
          </a:effectLst>
        </p:spPr>
      </p:sp>
      <p:sp>
        <p:nvSpPr>
          <p:cNvPr id="13" name="Shape 10"/>
          <p:cNvSpPr/>
          <p:nvPr/>
        </p:nvSpPr>
        <p:spPr>
          <a:xfrm>
            <a:off x="6172200" y="2057400"/>
            <a:ext cx="5376672" cy="54864"/>
          </a:xfrm>
          <a:prstGeom prst="rect">
            <a:avLst/>
          </a:prstGeom>
          <a:solidFill>
            <a:srgbClr val="185771"/>
          </a:solidFill>
          <a:ln/>
        </p:spPr>
      </p:sp>
      <p:pic>
        <p:nvPicPr>
          <p:cNvPr id="14" name="Image 1" descr="preencoded.png">    </p:cNvPr>
          <p:cNvPicPr>
            <a:picLocks noChangeAspect="1"/>
          </p:cNvPicPr>
          <p:nvPr/>
        </p:nvPicPr>
        <p:blipFill>
          <a:blip r:embed="rId2"/>
          <a:stretch>
            <a:fillRect/>
          </a:stretch>
        </p:blipFill>
        <p:spPr>
          <a:xfrm>
            <a:off x="6446520" y="2331720"/>
            <a:ext cx="457200" cy="457200"/>
          </a:xfrm>
          <a:prstGeom prst="rect">
            <a:avLst/>
          </a:prstGeom>
        </p:spPr>
      </p:pic>
      <p:sp>
        <p:nvSpPr>
          <p:cNvPr id="15" name="Text 11"/>
          <p:cNvSpPr/>
          <p:nvPr/>
        </p:nvSpPr>
        <p:spPr>
          <a:xfrm>
            <a:off x="7040880" y="2331720"/>
            <a:ext cx="4206240" cy="274320"/>
          </a:xfrm>
          <a:prstGeom prst="rect">
            <a:avLst/>
          </a:prstGeom>
          <a:noFill/>
          <a:ln/>
        </p:spPr>
        <p:txBody>
          <a:bodyPr wrap="square" rtlCol="0" anchor="ctr"/>
          <a:lstStyle/>
          <a:p>
            <a:pPr indent="0" marL="0">
              <a:buNone/>
            </a:pPr>
            <a:r>
              <a:rPr lang="en-US" sz="1050" b="1" spc="300" kern="0" dirty="0">
                <a:solidFill>
                  <a:srgbClr val="185771"/>
                </a:solidFill>
                <a:latin typeface="Arial" pitchFamily="34" charset="0"/>
                <a:ea typeface="Arial" pitchFamily="34" charset="-122"/>
                <a:cs typeface="Arial" pitchFamily="34" charset="-120"/>
              </a:rPr>
              <a:t>SOCIAL SERIES</a:t>
            </a:r>
            <a:endParaRPr lang="en-US" sz="1050" dirty="0"/>
          </a:p>
        </p:txBody>
      </p:sp>
      <p:sp>
        <p:nvSpPr>
          <p:cNvPr id="16" name="Text 12"/>
          <p:cNvSpPr/>
          <p:nvPr/>
        </p:nvSpPr>
        <p:spPr>
          <a:xfrm>
            <a:off x="7040880" y="2606040"/>
            <a:ext cx="4297680" cy="640080"/>
          </a:xfrm>
          <a:prstGeom prst="rect">
            <a:avLst/>
          </a:prstGeom>
          <a:noFill/>
          <a:ln/>
        </p:spPr>
        <p:txBody>
          <a:bodyPr wrap="square" rtlCol="0" anchor="ctr"/>
          <a:lstStyle/>
          <a:p>
            <a:pPr indent="0" marL="0">
              <a:lnSpc>
                <a:spcPct val="100000"/>
              </a:lnSpc>
              <a:buNone/>
            </a:pPr>
            <a:r>
              <a:rPr lang="en-US" sz="1600" b="1" dirty="0">
                <a:solidFill>
                  <a:srgbClr val="0E0E10"/>
                </a:solidFill>
                <a:latin typeface="Georgia" pitchFamily="34" charset="0"/>
                <a:ea typeface="Georgia" pitchFamily="34" charset="-122"/>
                <a:cs typeface="Georgia" pitchFamily="34" charset="-120"/>
              </a:rPr>
              <a:t>Educational AI-literacy series</a:t>
            </a:r>
            <a:endParaRPr lang="en-US" sz="1600" dirty="0"/>
          </a:p>
        </p:txBody>
      </p:sp>
      <p:sp>
        <p:nvSpPr>
          <p:cNvPr id="17" name="Text 13"/>
          <p:cNvSpPr/>
          <p:nvPr/>
        </p:nvSpPr>
        <p:spPr>
          <a:xfrm>
            <a:off x="6446520" y="3520440"/>
            <a:ext cx="4846320" cy="2011680"/>
          </a:xfrm>
          <a:prstGeom prst="rect">
            <a:avLst/>
          </a:prstGeom>
          <a:noFill/>
          <a:ln/>
        </p:spPr>
        <p:txBody>
          <a:bodyPr wrap="square" rtlCol="0" anchor="ctr"/>
          <a:lstStyle/>
          <a:p>
            <a:pPr marL="342900" indent="-342900">
              <a:lnSpc>
                <a:spcPct val="130000"/>
              </a:lnSpc>
              <a:spcAft>
                <a:spcPts val="800"/>
              </a:spcAft>
              <a:buSzPct val="100000"/>
              <a:buChar char="•"/>
            </a:pPr>
            <a:r>
              <a:rPr lang="en-US" sz="1200" dirty="0">
                <a:solidFill>
                  <a:srgbClr val="5B5F63"/>
                </a:solidFill>
                <a:latin typeface="Arial" pitchFamily="34" charset="0"/>
                <a:ea typeface="Arial" pitchFamily="34" charset="-122"/>
                <a:cs typeface="Arial" pitchFamily="34" charset="-120"/>
              </a:rPr>
              <a:t>The short-form, top-of-funnel version of the same idea</a:t>
            </a:r>
            <a:endParaRPr lang="en-US" sz="1200" dirty="0"/>
          </a:p>
          <a:p>
            <a:pPr marL="342900" indent="-342900">
              <a:lnSpc>
                <a:spcPct val="130000"/>
              </a:lnSpc>
              <a:spcAft>
                <a:spcPts val="800"/>
              </a:spcAft>
              <a:buSzPct val="100000"/>
              <a:buChar char="•"/>
            </a:pPr>
            <a:r>
              <a:rPr lang="en-US" sz="1200" dirty="0">
                <a:solidFill>
                  <a:srgbClr val="5B5F63"/>
                </a:solidFill>
                <a:latin typeface="Arial" pitchFamily="34" charset="0"/>
                <a:ea typeface="Arial" pitchFamily="34" charset="-122"/>
                <a:cs typeface="Arial" pitchFamily="34" charset="-120"/>
              </a:rPr>
              <a:t>Bite-sized lessons that build audience and trust</a:t>
            </a:r>
            <a:endParaRPr lang="en-US" sz="1200" dirty="0"/>
          </a:p>
          <a:p>
            <a:pPr marL="342900" indent="-342900">
              <a:lnSpc>
                <a:spcPct val="130000"/>
              </a:lnSpc>
              <a:spcAft>
                <a:spcPts val="800"/>
              </a:spcAft>
              <a:buSzPct val="100000"/>
              <a:buChar char="•"/>
            </a:pPr>
            <a:r>
              <a:rPr lang="en-US" sz="1200" dirty="0">
                <a:solidFill>
                  <a:srgbClr val="5B5F63"/>
                </a:solidFill>
                <a:latin typeface="Arial" pitchFamily="34" charset="0"/>
                <a:ea typeface="Arial" pitchFamily="34" charset="-122"/>
                <a:cs typeface="Arial" pitchFamily="34" charset="-120"/>
              </a:rPr>
              <a:t>Feeds the blog and the email nurture</a:t>
            </a:r>
            <a:endParaRPr lang="en-US" sz="1200" dirty="0"/>
          </a:p>
          <a:p>
            <a:pPr marL="342900" indent="-342900">
              <a:lnSpc>
                <a:spcPct val="130000"/>
              </a:lnSpc>
              <a:spcAft>
                <a:spcPts val="800"/>
              </a:spcAft>
              <a:buSzPct val="100000"/>
              <a:buChar char="•"/>
            </a:pPr>
            <a:r>
              <a:rPr lang="en-US" sz="1200" dirty="0">
                <a:solidFill>
                  <a:srgbClr val="5B5F63"/>
                </a:solidFill>
                <a:latin typeface="Arial" pitchFamily="34" charset="0"/>
                <a:ea typeface="Arial" pitchFamily="34" charset="-122"/>
                <a:cs typeface="Arial" pitchFamily="34" charset="-120"/>
              </a:rPr>
              <a:t>Trend-responsive, native to each platform</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AF9F5"/>
        </a:solidFill>
      </p:bgPr>
    </p:bg>
    <p:spTree>
      <p:nvGrpSpPr>
        <p:cNvPr id="1" name=""/>
        <p:cNvGrpSpPr/>
        <p:nvPr/>
      </p:nvGrpSpPr>
      <p:grpSpPr>
        <a:xfrm>
          <a:off x="0" y="0"/>
          <a:ext cx="0" cy="0"/>
          <a:chOff x="0" y="0"/>
          <a:chExt cx="0" cy="0"/>
        </a:xfrm>
      </p:grpSpPr>
      <p:sp>
        <p:nvSpPr>
          <p:cNvPr id="2" name="Text 0"/>
          <p:cNvSpPr/>
          <p:nvPr/>
        </p:nvSpPr>
        <p:spPr>
          <a:xfrm>
            <a:off x="640080" y="411480"/>
            <a:ext cx="10058400" cy="274320"/>
          </a:xfrm>
          <a:prstGeom prst="rect">
            <a:avLst/>
          </a:prstGeom>
          <a:noFill/>
          <a:ln/>
        </p:spPr>
        <p:txBody>
          <a:bodyPr wrap="square" rtlCol="0" anchor="ctr"/>
          <a:lstStyle/>
          <a:p>
            <a:pPr indent="0" marL="0">
              <a:buNone/>
            </a:pPr>
            <a:r>
              <a:rPr lang="en-US" sz="1100" b="1" spc="500" kern="0" dirty="0">
                <a:solidFill>
                  <a:srgbClr val="788C5D"/>
                </a:solidFill>
                <a:latin typeface="Arial" pitchFamily="34" charset="0"/>
                <a:ea typeface="Arial" pitchFamily="34" charset="-122"/>
                <a:cs typeface="Arial" pitchFamily="34" charset="-120"/>
              </a:rPr>
              <a:t>FUNNEL &amp; LIFECYCLE</a:t>
            </a:r>
            <a:endParaRPr lang="en-US" sz="1100" dirty="0"/>
          </a:p>
        </p:txBody>
      </p:sp>
      <p:sp>
        <p:nvSpPr>
          <p:cNvPr id="3" name="Text 1"/>
          <p:cNvSpPr/>
          <p:nvPr/>
        </p:nvSpPr>
        <p:spPr>
          <a:xfrm>
            <a:off x="640080" y="658368"/>
            <a:ext cx="10972800" cy="640080"/>
          </a:xfrm>
          <a:prstGeom prst="rect">
            <a:avLst/>
          </a:prstGeom>
          <a:noFill/>
          <a:ln/>
        </p:spPr>
        <p:txBody>
          <a:bodyPr wrap="square" rtlCol="0" anchor="ctr"/>
          <a:lstStyle/>
          <a:p>
            <a:pPr indent="0" marL="0">
              <a:buNone/>
            </a:pPr>
            <a:r>
              <a:rPr lang="en-US" sz="2900" dirty="0">
                <a:solidFill>
                  <a:srgbClr val="0E0E10"/>
                </a:solidFill>
                <a:latin typeface="Georgia" pitchFamily="34" charset="0"/>
                <a:ea typeface="Georgia" pitchFamily="34" charset="-122"/>
                <a:cs typeface="Georgia" pitchFamily="34" charset="-120"/>
              </a:rPr>
              <a:t>From Stranger to Advocate</a:t>
            </a:r>
            <a:endParaRPr lang="en-US" sz="2900" dirty="0"/>
          </a:p>
        </p:txBody>
      </p:sp>
      <p:sp>
        <p:nvSpPr>
          <p:cNvPr id="4" name="Text 2"/>
          <p:cNvSpPr/>
          <p:nvPr/>
        </p:nvSpPr>
        <p:spPr>
          <a:xfrm>
            <a:off x="11460175" y="6446520"/>
            <a:ext cx="457200" cy="274320"/>
          </a:xfrm>
          <a:prstGeom prst="rect">
            <a:avLst/>
          </a:prstGeom>
          <a:noFill/>
          <a:ln/>
        </p:spPr>
        <p:txBody>
          <a:bodyPr wrap="square" rtlCol="0" anchor="ctr"/>
          <a:lstStyle/>
          <a:p>
            <a:pPr algn="r" indent="0" marL="0">
              <a:buNone/>
            </a:pPr>
            <a:r>
              <a:rPr lang="en-US" sz="1000" dirty="0">
                <a:solidFill>
                  <a:srgbClr val="9A9A93"/>
                </a:solidFill>
                <a:latin typeface="Arial" pitchFamily="34" charset="0"/>
                <a:ea typeface="Arial" pitchFamily="34" charset="-122"/>
                <a:cs typeface="Arial" pitchFamily="34" charset="-120"/>
              </a:rPr>
              <a:t>29</a:t>
            </a:r>
            <a:endParaRPr lang="en-US" sz="1000" dirty="0"/>
          </a:p>
        </p:txBody>
      </p:sp>
      <p:sp>
        <p:nvSpPr>
          <p:cNvPr id="5" name="Shape 3"/>
          <p:cNvSpPr/>
          <p:nvPr/>
        </p:nvSpPr>
        <p:spPr>
          <a:xfrm>
            <a:off x="640080" y="1417320"/>
            <a:ext cx="2468880" cy="822960"/>
          </a:xfrm>
          <a:prstGeom prst="rect">
            <a:avLst/>
          </a:prstGeom>
          <a:solidFill>
            <a:srgbClr val="788C5D"/>
          </a:solidFill>
          <a:ln/>
        </p:spPr>
      </p:sp>
      <p:sp>
        <p:nvSpPr>
          <p:cNvPr id="6" name="Text 4"/>
          <p:cNvSpPr/>
          <p:nvPr/>
        </p:nvSpPr>
        <p:spPr>
          <a:xfrm>
            <a:off x="777240" y="1417320"/>
            <a:ext cx="2286000" cy="82296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AWARENESS</a:t>
            </a:r>
            <a:endParaRPr lang="en-US" sz="1200" dirty="0"/>
          </a:p>
        </p:txBody>
      </p:sp>
      <p:sp>
        <p:nvSpPr>
          <p:cNvPr id="7" name="Shape 5"/>
          <p:cNvSpPr/>
          <p:nvPr/>
        </p:nvSpPr>
        <p:spPr>
          <a:xfrm>
            <a:off x="3200400" y="1417320"/>
            <a:ext cx="3931920" cy="822960"/>
          </a:xfrm>
          <a:prstGeom prst="rect">
            <a:avLst/>
          </a:prstGeom>
          <a:solidFill>
            <a:srgbClr val="FFFFFF"/>
          </a:solidFill>
          <a:ln/>
          <a:effectLst>
            <a:outerShdw sx="100000" sy="100000" kx="0" ky="0" algn="bl" rotWithShape="0" blurRad="9.230611469873665e+287" dist="3.6922445879494656e+287" dir="Infinity">
              <a:srgbClr val="000000">
                <a:alpha val="Infinity"/>
              </a:srgbClr>
            </a:outerShdw>
          </a:effectLst>
        </p:spPr>
      </p:sp>
      <p:sp>
        <p:nvSpPr>
          <p:cNvPr id="8" name="Text 6"/>
          <p:cNvSpPr/>
          <p:nvPr/>
        </p:nvSpPr>
        <p:spPr>
          <a:xfrm>
            <a:off x="3383280" y="1417320"/>
            <a:ext cx="3657600" cy="822960"/>
          </a:xfrm>
          <a:prstGeom prst="rect">
            <a:avLst/>
          </a:prstGeom>
          <a:noFill/>
          <a:ln/>
        </p:spPr>
        <p:txBody>
          <a:bodyPr wrap="square" rtlCol="0" anchor="ctr"/>
          <a:lstStyle/>
          <a:p>
            <a:pPr indent="0" marL="0">
              <a:lnSpc>
                <a:spcPct val="110000"/>
              </a:lnSpc>
              <a:buNone/>
            </a:pPr>
            <a:r>
              <a:rPr lang="en-US" sz="1150" dirty="0">
                <a:solidFill>
                  <a:srgbClr val="0E0E10"/>
                </a:solidFill>
                <a:latin typeface="Arial" pitchFamily="34" charset="0"/>
                <a:ea typeface="Arial" pitchFamily="34" charset="-122"/>
                <a:cs typeface="Arial" pitchFamily="34" charset="-120"/>
              </a:rPr>
              <a:t>They learn the problem has a better answer.</a:t>
            </a:r>
            <a:endParaRPr lang="en-US" sz="1150" dirty="0"/>
          </a:p>
        </p:txBody>
      </p:sp>
      <p:sp>
        <p:nvSpPr>
          <p:cNvPr id="9" name="Shape 7"/>
          <p:cNvSpPr/>
          <p:nvPr/>
        </p:nvSpPr>
        <p:spPr>
          <a:xfrm>
            <a:off x="7223760" y="1417320"/>
            <a:ext cx="4325112" cy="822960"/>
          </a:xfrm>
          <a:prstGeom prst="rect">
            <a:avLst/>
          </a:prstGeom>
          <a:solidFill>
            <a:srgbClr val="ECEAE1"/>
          </a:solidFill>
          <a:ln/>
        </p:spPr>
      </p:sp>
      <p:sp>
        <p:nvSpPr>
          <p:cNvPr id="10" name="Text 8"/>
          <p:cNvSpPr/>
          <p:nvPr/>
        </p:nvSpPr>
        <p:spPr>
          <a:xfrm>
            <a:off x="7406640" y="1417320"/>
            <a:ext cx="4023360" cy="822960"/>
          </a:xfrm>
          <a:prstGeom prst="rect">
            <a:avLst/>
          </a:prstGeom>
          <a:noFill/>
          <a:ln/>
        </p:spPr>
        <p:txBody>
          <a:bodyPr wrap="square" rtlCol="0" anchor="ctr"/>
          <a:lstStyle/>
          <a:p>
            <a:pPr indent="0" marL="0">
              <a:lnSpc>
                <a:spcPct val="110000"/>
              </a:lnSpc>
              <a:buNone/>
            </a:pPr>
            <a:r>
              <a:rPr lang="en-US" sz="1100" dirty="0">
                <a:solidFill>
                  <a:srgbClr val="5B5F63"/>
                </a:solidFill>
                <a:latin typeface="Arial" pitchFamily="34" charset="0"/>
                <a:ea typeface="Arial" pitchFamily="34" charset="-122"/>
                <a:cs typeface="Arial" pitchFamily="34" charset="-120"/>
              </a:rPr>
              <a:t>SEO, social, PR, podcasts, influencers</a:t>
            </a:r>
            <a:endParaRPr lang="en-US" sz="1100" dirty="0"/>
          </a:p>
        </p:txBody>
      </p:sp>
      <p:sp>
        <p:nvSpPr>
          <p:cNvPr id="11" name="Shape 9"/>
          <p:cNvSpPr/>
          <p:nvPr/>
        </p:nvSpPr>
        <p:spPr>
          <a:xfrm>
            <a:off x="640080" y="2377440"/>
            <a:ext cx="2468880" cy="822960"/>
          </a:xfrm>
          <a:prstGeom prst="rect">
            <a:avLst/>
          </a:prstGeom>
          <a:solidFill>
            <a:srgbClr val="185771"/>
          </a:solidFill>
          <a:ln/>
        </p:spPr>
      </p:sp>
      <p:sp>
        <p:nvSpPr>
          <p:cNvPr id="12" name="Text 10"/>
          <p:cNvSpPr/>
          <p:nvPr/>
        </p:nvSpPr>
        <p:spPr>
          <a:xfrm>
            <a:off x="777240" y="2377440"/>
            <a:ext cx="2286000" cy="82296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CONSIDERATION</a:t>
            </a:r>
            <a:endParaRPr lang="en-US" sz="1200" dirty="0"/>
          </a:p>
        </p:txBody>
      </p:sp>
      <p:sp>
        <p:nvSpPr>
          <p:cNvPr id="13" name="Shape 11"/>
          <p:cNvSpPr/>
          <p:nvPr/>
        </p:nvSpPr>
        <p:spPr>
          <a:xfrm>
            <a:off x="3200400" y="2377440"/>
            <a:ext cx="3931920" cy="822960"/>
          </a:xfrm>
          <a:prstGeom prst="rect">
            <a:avLst/>
          </a:prstGeom>
          <a:solidFill>
            <a:srgbClr val="FFFFFF"/>
          </a:solidFill>
          <a:ln/>
          <a:effectLst>
            <a:outerShdw sx="100000" sy="100000" kx="0" ky="0" algn="bl" rotWithShape="0" blurRad="1.1722876566739555e+292" dist="4.6891506266958215e+291" dir="Infinity">
              <a:srgbClr val="000000">
                <a:alpha val="Infinity"/>
              </a:srgbClr>
            </a:outerShdw>
          </a:effectLst>
        </p:spPr>
      </p:sp>
      <p:sp>
        <p:nvSpPr>
          <p:cNvPr id="14" name="Text 12"/>
          <p:cNvSpPr/>
          <p:nvPr/>
        </p:nvSpPr>
        <p:spPr>
          <a:xfrm>
            <a:off x="3383280" y="2377440"/>
            <a:ext cx="3657600" cy="822960"/>
          </a:xfrm>
          <a:prstGeom prst="rect">
            <a:avLst/>
          </a:prstGeom>
          <a:noFill/>
          <a:ln/>
        </p:spPr>
        <p:txBody>
          <a:bodyPr wrap="square" rtlCol="0" anchor="ctr"/>
          <a:lstStyle/>
          <a:p>
            <a:pPr indent="0" marL="0">
              <a:lnSpc>
                <a:spcPct val="110000"/>
              </a:lnSpc>
              <a:buNone/>
            </a:pPr>
            <a:r>
              <a:rPr lang="en-US" sz="1150" dirty="0">
                <a:solidFill>
                  <a:srgbClr val="0E0E10"/>
                </a:solidFill>
                <a:latin typeface="Arial" pitchFamily="34" charset="0"/>
                <a:ea typeface="Arial" pitchFamily="34" charset="-122"/>
                <a:cs typeface="Arial" pitchFamily="34" charset="-120"/>
              </a:rPr>
              <a:t>They evaluate whether to trust us.</a:t>
            </a:r>
            <a:endParaRPr lang="en-US" sz="1150" dirty="0"/>
          </a:p>
        </p:txBody>
      </p:sp>
      <p:sp>
        <p:nvSpPr>
          <p:cNvPr id="15" name="Shape 13"/>
          <p:cNvSpPr/>
          <p:nvPr/>
        </p:nvSpPr>
        <p:spPr>
          <a:xfrm>
            <a:off x="7223760" y="2377440"/>
            <a:ext cx="4325112" cy="822960"/>
          </a:xfrm>
          <a:prstGeom prst="rect">
            <a:avLst/>
          </a:prstGeom>
          <a:solidFill>
            <a:srgbClr val="ECEAE1"/>
          </a:solidFill>
          <a:ln/>
        </p:spPr>
      </p:sp>
      <p:sp>
        <p:nvSpPr>
          <p:cNvPr id="16" name="Text 14"/>
          <p:cNvSpPr/>
          <p:nvPr/>
        </p:nvSpPr>
        <p:spPr>
          <a:xfrm>
            <a:off x="7406640" y="2377440"/>
            <a:ext cx="4023360" cy="822960"/>
          </a:xfrm>
          <a:prstGeom prst="rect">
            <a:avLst/>
          </a:prstGeom>
          <a:noFill/>
          <a:ln/>
        </p:spPr>
        <p:txBody>
          <a:bodyPr wrap="square" rtlCol="0" anchor="ctr"/>
          <a:lstStyle/>
          <a:p>
            <a:pPr indent="0" marL="0">
              <a:lnSpc>
                <a:spcPct val="110000"/>
              </a:lnSpc>
              <a:buNone/>
            </a:pPr>
            <a:r>
              <a:rPr lang="en-US" sz="1100" dirty="0">
                <a:solidFill>
                  <a:srgbClr val="5B5F63"/>
                </a:solidFill>
                <a:latin typeface="Arial" pitchFamily="34" charset="0"/>
                <a:ea typeface="Arial" pitchFamily="34" charset="-122"/>
                <a:cs typeface="Arial" pitchFamily="34" charset="-120"/>
              </a:rPr>
              <a:t>Comparison content, webinars, docs, case studies</a:t>
            </a:r>
            <a:endParaRPr lang="en-US" sz="1100" dirty="0"/>
          </a:p>
        </p:txBody>
      </p:sp>
      <p:sp>
        <p:nvSpPr>
          <p:cNvPr id="17" name="Shape 15"/>
          <p:cNvSpPr/>
          <p:nvPr/>
        </p:nvSpPr>
        <p:spPr>
          <a:xfrm>
            <a:off x="640080" y="3337560"/>
            <a:ext cx="2468880" cy="822960"/>
          </a:xfrm>
          <a:prstGeom prst="rect">
            <a:avLst/>
          </a:prstGeom>
          <a:solidFill>
            <a:srgbClr val="C2703D"/>
          </a:solidFill>
          <a:ln/>
        </p:spPr>
      </p:sp>
      <p:sp>
        <p:nvSpPr>
          <p:cNvPr id="18" name="Text 16"/>
          <p:cNvSpPr/>
          <p:nvPr/>
        </p:nvSpPr>
        <p:spPr>
          <a:xfrm>
            <a:off x="777240" y="3337560"/>
            <a:ext cx="2286000" cy="82296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CONVERSION</a:t>
            </a:r>
            <a:endParaRPr lang="en-US" sz="1200" dirty="0"/>
          </a:p>
        </p:txBody>
      </p:sp>
      <p:sp>
        <p:nvSpPr>
          <p:cNvPr id="19" name="Shape 17"/>
          <p:cNvSpPr/>
          <p:nvPr/>
        </p:nvSpPr>
        <p:spPr>
          <a:xfrm>
            <a:off x="3200400" y="3337560"/>
            <a:ext cx="3931920" cy="822960"/>
          </a:xfrm>
          <a:prstGeom prst="rect">
            <a:avLst/>
          </a:prstGeom>
          <a:solidFill>
            <a:srgbClr val="FFFFFF"/>
          </a:solidFill>
          <a:ln/>
          <a:effectLst>
            <a:outerShdw sx="100000" sy="100000" kx="0" ky="0" algn="bl" rotWithShape="0" blurRad="1.4888053239759236e+296" dist="5.955221295903693e+295" dir="Infinity">
              <a:srgbClr val="000000">
                <a:alpha val="Infinity"/>
              </a:srgbClr>
            </a:outerShdw>
          </a:effectLst>
        </p:spPr>
      </p:sp>
      <p:sp>
        <p:nvSpPr>
          <p:cNvPr id="20" name="Text 18"/>
          <p:cNvSpPr/>
          <p:nvPr/>
        </p:nvSpPr>
        <p:spPr>
          <a:xfrm>
            <a:off x="3383280" y="3337560"/>
            <a:ext cx="3657600" cy="822960"/>
          </a:xfrm>
          <a:prstGeom prst="rect">
            <a:avLst/>
          </a:prstGeom>
          <a:noFill/>
          <a:ln/>
        </p:spPr>
        <p:txBody>
          <a:bodyPr wrap="square" rtlCol="0" anchor="ctr"/>
          <a:lstStyle/>
          <a:p>
            <a:pPr indent="0" marL="0">
              <a:lnSpc>
                <a:spcPct val="110000"/>
              </a:lnSpc>
              <a:buNone/>
            </a:pPr>
            <a:r>
              <a:rPr lang="en-US" sz="1150" dirty="0">
                <a:solidFill>
                  <a:srgbClr val="0E0E10"/>
                </a:solidFill>
                <a:latin typeface="Arial" pitchFamily="34" charset="0"/>
                <a:ea typeface="Arial" pitchFamily="34" charset="-122"/>
                <a:cs typeface="Arial" pitchFamily="34" charset="-120"/>
              </a:rPr>
              <a:t>They sign up or request a demo.</a:t>
            </a:r>
            <a:endParaRPr lang="en-US" sz="1150" dirty="0"/>
          </a:p>
        </p:txBody>
      </p:sp>
      <p:sp>
        <p:nvSpPr>
          <p:cNvPr id="21" name="Shape 19"/>
          <p:cNvSpPr/>
          <p:nvPr/>
        </p:nvSpPr>
        <p:spPr>
          <a:xfrm>
            <a:off x="7223760" y="3337560"/>
            <a:ext cx="4325112" cy="822960"/>
          </a:xfrm>
          <a:prstGeom prst="rect">
            <a:avLst/>
          </a:prstGeom>
          <a:solidFill>
            <a:srgbClr val="ECEAE1"/>
          </a:solidFill>
          <a:ln/>
        </p:spPr>
      </p:sp>
      <p:sp>
        <p:nvSpPr>
          <p:cNvPr id="22" name="Text 20"/>
          <p:cNvSpPr/>
          <p:nvPr/>
        </p:nvSpPr>
        <p:spPr>
          <a:xfrm>
            <a:off x="7406640" y="3337560"/>
            <a:ext cx="4023360" cy="822960"/>
          </a:xfrm>
          <a:prstGeom prst="rect">
            <a:avLst/>
          </a:prstGeom>
          <a:noFill/>
          <a:ln/>
        </p:spPr>
        <p:txBody>
          <a:bodyPr wrap="square" rtlCol="0" anchor="ctr"/>
          <a:lstStyle/>
          <a:p>
            <a:pPr indent="0" marL="0">
              <a:lnSpc>
                <a:spcPct val="110000"/>
              </a:lnSpc>
              <a:buNone/>
            </a:pPr>
            <a:r>
              <a:rPr lang="en-US" sz="1100" dirty="0">
                <a:solidFill>
                  <a:srgbClr val="5B5F63"/>
                </a:solidFill>
                <a:latin typeface="Arial" pitchFamily="34" charset="0"/>
                <a:ea typeface="Arial" pitchFamily="34" charset="-122"/>
                <a:cs typeface="Arial" pitchFamily="34" charset="-120"/>
              </a:rPr>
              <a:t>Free tier (PLG) or ABM + sales-assist (sales-led)</a:t>
            </a:r>
            <a:endParaRPr lang="en-US" sz="1100" dirty="0"/>
          </a:p>
        </p:txBody>
      </p:sp>
      <p:sp>
        <p:nvSpPr>
          <p:cNvPr id="23" name="Shape 21"/>
          <p:cNvSpPr/>
          <p:nvPr/>
        </p:nvSpPr>
        <p:spPr>
          <a:xfrm>
            <a:off x="640080" y="4297680"/>
            <a:ext cx="2468880" cy="822960"/>
          </a:xfrm>
          <a:prstGeom prst="rect">
            <a:avLst/>
          </a:prstGeom>
          <a:solidFill>
            <a:srgbClr val="5B5F63"/>
          </a:solidFill>
          <a:ln/>
        </p:spPr>
      </p:sp>
      <p:sp>
        <p:nvSpPr>
          <p:cNvPr id="24" name="Text 22"/>
          <p:cNvSpPr/>
          <p:nvPr/>
        </p:nvSpPr>
        <p:spPr>
          <a:xfrm>
            <a:off x="777240" y="4297680"/>
            <a:ext cx="2286000" cy="82296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RETENTION</a:t>
            </a:r>
            <a:endParaRPr lang="en-US" sz="1200" dirty="0"/>
          </a:p>
        </p:txBody>
      </p:sp>
      <p:sp>
        <p:nvSpPr>
          <p:cNvPr id="25" name="Shape 23"/>
          <p:cNvSpPr/>
          <p:nvPr/>
        </p:nvSpPr>
        <p:spPr>
          <a:xfrm>
            <a:off x="3200400" y="4297680"/>
            <a:ext cx="3931920" cy="822960"/>
          </a:xfrm>
          <a:prstGeom prst="rect">
            <a:avLst/>
          </a:prstGeom>
          <a:solidFill>
            <a:srgbClr val="FFFFFF"/>
          </a:solidFill>
          <a:ln/>
          <a:effectLst>
            <a:outerShdw sx="100000" sy="100000" kx="0" ky="0" algn="bl" rotWithShape="0" blurRad="1.890782761449423e+300" dist="7.56313104579769e+299" dir="Infinity">
              <a:srgbClr val="000000">
                <a:alpha val="Infinity"/>
              </a:srgbClr>
            </a:outerShdw>
          </a:effectLst>
        </p:spPr>
      </p:sp>
      <p:sp>
        <p:nvSpPr>
          <p:cNvPr id="26" name="Text 24"/>
          <p:cNvSpPr/>
          <p:nvPr/>
        </p:nvSpPr>
        <p:spPr>
          <a:xfrm>
            <a:off x="3383280" y="4297680"/>
            <a:ext cx="3657600" cy="822960"/>
          </a:xfrm>
          <a:prstGeom prst="rect">
            <a:avLst/>
          </a:prstGeom>
          <a:noFill/>
          <a:ln/>
        </p:spPr>
        <p:txBody>
          <a:bodyPr wrap="square" rtlCol="0" anchor="ctr"/>
          <a:lstStyle/>
          <a:p>
            <a:pPr indent="0" marL="0">
              <a:lnSpc>
                <a:spcPct val="110000"/>
              </a:lnSpc>
              <a:buNone/>
            </a:pPr>
            <a:r>
              <a:rPr lang="en-US" sz="1150" dirty="0">
                <a:solidFill>
                  <a:srgbClr val="0E0E10"/>
                </a:solidFill>
                <a:latin typeface="Arial" pitchFamily="34" charset="0"/>
                <a:ea typeface="Arial" pitchFamily="34" charset="-122"/>
                <a:cs typeface="Arial" pitchFamily="34" charset="-120"/>
              </a:rPr>
              <a:t>They get value and stay.</a:t>
            </a:r>
            <a:endParaRPr lang="en-US" sz="1150" dirty="0"/>
          </a:p>
        </p:txBody>
      </p:sp>
      <p:sp>
        <p:nvSpPr>
          <p:cNvPr id="27" name="Shape 25"/>
          <p:cNvSpPr/>
          <p:nvPr/>
        </p:nvSpPr>
        <p:spPr>
          <a:xfrm>
            <a:off x="7223760" y="4297680"/>
            <a:ext cx="4325112" cy="822960"/>
          </a:xfrm>
          <a:prstGeom prst="rect">
            <a:avLst/>
          </a:prstGeom>
          <a:solidFill>
            <a:srgbClr val="ECEAE1"/>
          </a:solidFill>
          <a:ln/>
        </p:spPr>
      </p:sp>
      <p:sp>
        <p:nvSpPr>
          <p:cNvPr id="28" name="Text 26"/>
          <p:cNvSpPr/>
          <p:nvPr/>
        </p:nvSpPr>
        <p:spPr>
          <a:xfrm>
            <a:off x="7406640" y="4297680"/>
            <a:ext cx="4023360" cy="822960"/>
          </a:xfrm>
          <a:prstGeom prst="rect">
            <a:avLst/>
          </a:prstGeom>
          <a:noFill/>
          <a:ln/>
        </p:spPr>
        <p:txBody>
          <a:bodyPr wrap="square" rtlCol="0" anchor="ctr"/>
          <a:lstStyle/>
          <a:p>
            <a:pPr indent="0" marL="0">
              <a:lnSpc>
                <a:spcPct val="110000"/>
              </a:lnSpc>
              <a:buNone/>
            </a:pPr>
            <a:r>
              <a:rPr lang="en-US" sz="1100" dirty="0">
                <a:solidFill>
                  <a:srgbClr val="5B5F63"/>
                </a:solidFill>
                <a:latin typeface="Arial" pitchFamily="34" charset="0"/>
                <a:ea typeface="Arial" pitchFamily="34" charset="-122"/>
                <a:cs typeface="Arial" pitchFamily="34" charset="-120"/>
              </a:rPr>
              <a:t>Onboarding, lifecycle email, community</a:t>
            </a:r>
            <a:endParaRPr lang="en-US" sz="1100" dirty="0"/>
          </a:p>
        </p:txBody>
      </p:sp>
      <p:sp>
        <p:nvSpPr>
          <p:cNvPr id="29" name="Shape 27"/>
          <p:cNvSpPr/>
          <p:nvPr/>
        </p:nvSpPr>
        <p:spPr>
          <a:xfrm>
            <a:off x="640080" y="5257800"/>
            <a:ext cx="2468880" cy="822960"/>
          </a:xfrm>
          <a:prstGeom prst="rect">
            <a:avLst/>
          </a:prstGeom>
          <a:solidFill>
            <a:srgbClr val="788C5D"/>
          </a:solidFill>
          <a:ln/>
        </p:spPr>
      </p:sp>
      <p:sp>
        <p:nvSpPr>
          <p:cNvPr id="30" name="Text 28"/>
          <p:cNvSpPr/>
          <p:nvPr/>
        </p:nvSpPr>
        <p:spPr>
          <a:xfrm>
            <a:off x="777240" y="5257800"/>
            <a:ext cx="2286000" cy="82296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ADVOCACY</a:t>
            </a:r>
            <a:endParaRPr lang="en-US" sz="1200" dirty="0"/>
          </a:p>
        </p:txBody>
      </p:sp>
      <p:sp>
        <p:nvSpPr>
          <p:cNvPr id="31" name="Shape 29"/>
          <p:cNvSpPr/>
          <p:nvPr/>
        </p:nvSpPr>
        <p:spPr>
          <a:xfrm>
            <a:off x="3200400" y="5257800"/>
            <a:ext cx="3931920" cy="822960"/>
          </a:xfrm>
          <a:prstGeom prst="rect">
            <a:avLst/>
          </a:prstGeom>
          <a:solidFill>
            <a:srgbClr val="FFFFFF"/>
          </a:solidFill>
          <a:ln/>
          <a:effectLst>
            <a:outerShdw sx="100000" sy="100000" kx="0" ky="0" algn="bl" rotWithShape="0" blurRad="2.4012941070407674e+304" dist="9.605176428163068e+303" dir="Infinity">
              <a:srgbClr val="000000">
                <a:alpha val="Infinity"/>
              </a:srgbClr>
            </a:outerShdw>
          </a:effectLst>
        </p:spPr>
      </p:sp>
      <p:sp>
        <p:nvSpPr>
          <p:cNvPr id="32" name="Text 30"/>
          <p:cNvSpPr/>
          <p:nvPr/>
        </p:nvSpPr>
        <p:spPr>
          <a:xfrm>
            <a:off x="3383280" y="5257800"/>
            <a:ext cx="3657600" cy="822960"/>
          </a:xfrm>
          <a:prstGeom prst="rect">
            <a:avLst/>
          </a:prstGeom>
          <a:noFill/>
          <a:ln/>
        </p:spPr>
        <p:txBody>
          <a:bodyPr wrap="square" rtlCol="0" anchor="ctr"/>
          <a:lstStyle/>
          <a:p>
            <a:pPr indent="0" marL="0">
              <a:lnSpc>
                <a:spcPct val="110000"/>
              </a:lnSpc>
              <a:buNone/>
            </a:pPr>
            <a:r>
              <a:rPr lang="en-US" sz="1150" dirty="0">
                <a:solidFill>
                  <a:srgbClr val="0E0E10"/>
                </a:solidFill>
                <a:latin typeface="Arial" pitchFamily="34" charset="0"/>
                <a:ea typeface="Arial" pitchFamily="34" charset="-122"/>
                <a:cs typeface="Arial" pitchFamily="34" charset="-120"/>
              </a:rPr>
              <a:t>They bring others in.</a:t>
            </a:r>
            <a:endParaRPr lang="en-US" sz="1150" dirty="0"/>
          </a:p>
        </p:txBody>
      </p:sp>
      <p:sp>
        <p:nvSpPr>
          <p:cNvPr id="33" name="Shape 31"/>
          <p:cNvSpPr/>
          <p:nvPr/>
        </p:nvSpPr>
        <p:spPr>
          <a:xfrm>
            <a:off x="7223760" y="5257800"/>
            <a:ext cx="4325112" cy="822960"/>
          </a:xfrm>
          <a:prstGeom prst="rect">
            <a:avLst/>
          </a:prstGeom>
          <a:solidFill>
            <a:srgbClr val="ECEAE1"/>
          </a:solidFill>
          <a:ln/>
        </p:spPr>
      </p:sp>
      <p:sp>
        <p:nvSpPr>
          <p:cNvPr id="34" name="Text 32"/>
          <p:cNvSpPr/>
          <p:nvPr/>
        </p:nvSpPr>
        <p:spPr>
          <a:xfrm>
            <a:off x="7406640" y="5257800"/>
            <a:ext cx="4023360" cy="822960"/>
          </a:xfrm>
          <a:prstGeom prst="rect">
            <a:avLst/>
          </a:prstGeom>
          <a:noFill/>
          <a:ln/>
        </p:spPr>
        <p:txBody>
          <a:bodyPr wrap="square" rtlCol="0" anchor="ctr"/>
          <a:lstStyle/>
          <a:p>
            <a:pPr indent="0" marL="0">
              <a:lnSpc>
                <a:spcPct val="110000"/>
              </a:lnSpc>
              <a:buNone/>
            </a:pPr>
            <a:r>
              <a:rPr lang="en-US" sz="1100" dirty="0">
                <a:solidFill>
                  <a:srgbClr val="5B5F63"/>
                </a:solidFill>
                <a:latin typeface="Arial" pitchFamily="34" charset="0"/>
                <a:ea typeface="Arial" pitchFamily="34" charset="-122"/>
                <a:cs typeface="Arial" pitchFamily="34" charset="-120"/>
              </a:rPr>
              <a:t>Referrals, references, build-in-public, case studies</a:t>
            </a:r>
            <a:endParaRPr lang="en-US" sz="1100" dirty="0"/>
          </a:p>
        </p:txBody>
      </p:sp>
      <p:sp>
        <p:nvSpPr>
          <p:cNvPr id="35" name="Text 33"/>
          <p:cNvSpPr/>
          <p:nvPr/>
        </p:nvSpPr>
        <p:spPr>
          <a:xfrm>
            <a:off x="640080" y="6263640"/>
            <a:ext cx="10881360" cy="274320"/>
          </a:xfrm>
          <a:prstGeom prst="rect">
            <a:avLst/>
          </a:prstGeom>
          <a:noFill/>
          <a:ln/>
        </p:spPr>
        <p:txBody>
          <a:bodyPr wrap="square" rtlCol="0" anchor="ctr"/>
          <a:lstStyle/>
          <a:p>
            <a:pPr indent="0" marL="0">
              <a:buNone/>
            </a:pPr>
            <a:r>
              <a:rPr lang="en-US" sz="1000" i="1" dirty="0">
                <a:solidFill>
                  <a:srgbClr val="9A9A93"/>
                </a:solidFill>
                <a:latin typeface="Arial" pitchFamily="34" charset="0"/>
                <a:ea typeface="Arial" pitchFamily="34" charset="-122"/>
                <a:cs typeface="Arial" pitchFamily="34" charset="-120"/>
              </a:rPr>
              <a:t>PLG runs the bottom-up path (self-serve conversion, product-driven retention). Sales-led runs the top-down path (ABM conversion, account expansion). Same funnel, two routes.</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AF9F5"/>
        </a:solidFill>
      </p:bgPr>
    </p:bg>
    <p:spTree>
      <p:nvGrpSpPr>
        <p:cNvPr id="1" name=""/>
        <p:cNvGrpSpPr/>
        <p:nvPr/>
      </p:nvGrpSpPr>
      <p:grpSpPr>
        <a:xfrm>
          <a:off x="0" y="0"/>
          <a:ext cx="0" cy="0"/>
          <a:chOff x="0" y="0"/>
          <a:chExt cx="0" cy="0"/>
        </a:xfrm>
      </p:grpSpPr>
      <p:sp>
        <p:nvSpPr>
          <p:cNvPr id="2" name="Text 0"/>
          <p:cNvSpPr/>
          <p:nvPr/>
        </p:nvSpPr>
        <p:spPr>
          <a:xfrm>
            <a:off x="640080" y="411480"/>
            <a:ext cx="10058400" cy="274320"/>
          </a:xfrm>
          <a:prstGeom prst="rect">
            <a:avLst/>
          </a:prstGeom>
          <a:noFill/>
          <a:ln/>
        </p:spPr>
        <p:txBody>
          <a:bodyPr wrap="square" rtlCol="0" anchor="ctr"/>
          <a:lstStyle/>
          <a:p>
            <a:pPr indent="0" marL="0">
              <a:buNone/>
            </a:pPr>
            <a:r>
              <a:rPr lang="en-US" sz="1100" b="1" spc="500" kern="0" dirty="0">
                <a:solidFill>
                  <a:srgbClr val="788C5D"/>
                </a:solidFill>
                <a:latin typeface="Arial" pitchFamily="34" charset="0"/>
                <a:ea typeface="Arial" pitchFamily="34" charset="-122"/>
                <a:cs typeface="Arial" pitchFamily="34" charset="-120"/>
              </a:rPr>
              <a:t>MEASUREMENT</a:t>
            </a:r>
            <a:endParaRPr lang="en-US" sz="1100" dirty="0"/>
          </a:p>
        </p:txBody>
      </p:sp>
      <p:sp>
        <p:nvSpPr>
          <p:cNvPr id="3" name="Text 1"/>
          <p:cNvSpPr/>
          <p:nvPr/>
        </p:nvSpPr>
        <p:spPr>
          <a:xfrm>
            <a:off x="640080" y="658368"/>
            <a:ext cx="10972800" cy="640080"/>
          </a:xfrm>
          <a:prstGeom prst="rect">
            <a:avLst/>
          </a:prstGeom>
          <a:noFill/>
          <a:ln/>
        </p:spPr>
        <p:txBody>
          <a:bodyPr wrap="square" rtlCol="0" anchor="ctr"/>
          <a:lstStyle/>
          <a:p>
            <a:pPr indent="0" marL="0">
              <a:buNone/>
            </a:pPr>
            <a:r>
              <a:rPr lang="en-US" sz="2900" dirty="0">
                <a:solidFill>
                  <a:srgbClr val="0E0E10"/>
                </a:solidFill>
                <a:latin typeface="Georgia" pitchFamily="34" charset="0"/>
                <a:ea typeface="Georgia" pitchFamily="34" charset="-122"/>
                <a:cs typeface="Georgia" pitchFamily="34" charset="-120"/>
              </a:rPr>
              <a:t>Locked Metrics, Floating Targets</a:t>
            </a:r>
            <a:endParaRPr lang="en-US" sz="2900" dirty="0"/>
          </a:p>
        </p:txBody>
      </p:sp>
      <p:sp>
        <p:nvSpPr>
          <p:cNvPr id="4" name="Text 2"/>
          <p:cNvSpPr/>
          <p:nvPr/>
        </p:nvSpPr>
        <p:spPr>
          <a:xfrm>
            <a:off x="11460175" y="6446520"/>
            <a:ext cx="457200" cy="274320"/>
          </a:xfrm>
          <a:prstGeom prst="rect">
            <a:avLst/>
          </a:prstGeom>
          <a:noFill/>
          <a:ln/>
        </p:spPr>
        <p:txBody>
          <a:bodyPr wrap="square" rtlCol="0" anchor="ctr"/>
          <a:lstStyle/>
          <a:p>
            <a:pPr algn="r" indent="0" marL="0">
              <a:buNone/>
            </a:pPr>
            <a:r>
              <a:rPr lang="en-US" sz="1000" dirty="0">
                <a:solidFill>
                  <a:srgbClr val="9A9A93"/>
                </a:solidFill>
                <a:latin typeface="Arial" pitchFamily="34" charset="0"/>
                <a:ea typeface="Arial" pitchFamily="34" charset="-122"/>
                <a:cs typeface="Arial" pitchFamily="34" charset="-120"/>
              </a:rPr>
              <a:t>30</a:t>
            </a:r>
            <a:endParaRPr lang="en-US" sz="1000" dirty="0"/>
          </a:p>
        </p:txBody>
      </p:sp>
      <p:sp>
        <p:nvSpPr>
          <p:cNvPr id="5" name="Text 3"/>
          <p:cNvSpPr/>
          <p:nvPr/>
        </p:nvSpPr>
        <p:spPr>
          <a:xfrm>
            <a:off x="640080" y="1325880"/>
            <a:ext cx="10881360" cy="548640"/>
          </a:xfrm>
          <a:prstGeom prst="rect">
            <a:avLst/>
          </a:prstGeom>
          <a:noFill/>
          <a:ln/>
        </p:spPr>
        <p:txBody>
          <a:bodyPr wrap="square" rtlCol="0" anchor="ctr"/>
          <a:lstStyle/>
          <a:p>
            <a:pPr indent="0" marL="0">
              <a:lnSpc>
                <a:spcPct val="130000"/>
              </a:lnSpc>
              <a:buNone/>
            </a:pPr>
            <a:r>
              <a:rPr lang="en-US" sz="1300" dirty="0">
                <a:solidFill>
                  <a:srgbClr val="5B5F63"/>
                </a:solidFill>
                <a:latin typeface="Arial" pitchFamily="34" charset="0"/>
                <a:ea typeface="Arial" pitchFamily="34" charset="-122"/>
                <a:cs typeface="Arial" pitchFamily="34" charset="-120"/>
              </a:rPr>
              <a:t>Metrics are committed now. Numbers are set at a day-90 calibration checkpoint, against real baselines. We do not invent targets from a standing start.</a:t>
            </a:r>
            <a:endParaRPr lang="en-US" sz="1300" dirty="0"/>
          </a:p>
        </p:txBody>
      </p:sp>
      <p:sp>
        <p:nvSpPr>
          <p:cNvPr id="6" name="Shape 4"/>
          <p:cNvSpPr/>
          <p:nvPr/>
        </p:nvSpPr>
        <p:spPr>
          <a:xfrm>
            <a:off x="640080" y="2057400"/>
            <a:ext cx="5376672" cy="1600200"/>
          </a:xfrm>
          <a:prstGeom prst="rect">
            <a:avLst/>
          </a:prstGeom>
          <a:solidFill>
            <a:srgbClr val="FFFFFF"/>
          </a:solidFill>
          <a:ln/>
          <a:effectLst>
            <a:outerShdw sx="100000" sy="100000" kx="0" ky="0" algn="bl" rotWithShape="0" blurRad="Infinity" dist="1.2198574063767096e+308" dir="Infinity">
              <a:srgbClr val="000000">
                <a:alpha val="Infinity"/>
              </a:srgbClr>
            </a:outerShdw>
          </a:effectLst>
        </p:spPr>
      </p:sp>
      <p:sp>
        <p:nvSpPr>
          <p:cNvPr id="7" name="Shape 5"/>
          <p:cNvSpPr/>
          <p:nvPr/>
        </p:nvSpPr>
        <p:spPr>
          <a:xfrm>
            <a:off x="640080" y="2057400"/>
            <a:ext cx="91440" cy="1600200"/>
          </a:xfrm>
          <a:prstGeom prst="rect">
            <a:avLst/>
          </a:prstGeom>
          <a:solidFill>
            <a:srgbClr val="C2703D"/>
          </a:solidFill>
          <a:ln/>
        </p:spPr>
      </p:sp>
      <p:sp>
        <p:nvSpPr>
          <p:cNvPr id="8" name="Text 6"/>
          <p:cNvSpPr/>
          <p:nvPr/>
        </p:nvSpPr>
        <p:spPr>
          <a:xfrm>
            <a:off x="914400" y="2240280"/>
            <a:ext cx="4937760" cy="411480"/>
          </a:xfrm>
          <a:prstGeom prst="rect">
            <a:avLst/>
          </a:prstGeom>
          <a:noFill/>
          <a:ln/>
        </p:spPr>
        <p:txBody>
          <a:bodyPr wrap="square" rtlCol="0" anchor="ctr"/>
          <a:lstStyle/>
          <a:p>
            <a:pPr indent="0" marL="0">
              <a:buNone/>
            </a:pPr>
            <a:r>
              <a:rPr lang="en-US" sz="1700" b="1" dirty="0">
                <a:solidFill>
                  <a:srgbClr val="0E0E10"/>
                </a:solidFill>
                <a:latin typeface="Georgia" pitchFamily="34" charset="0"/>
                <a:ea typeface="Georgia" pitchFamily="34" charset="-122"/>
                <a:cs typeface="Georgia" pitchFamily="34" charset="-120"/>
              </a:rPr>
              <a:t>Activated Signups</a:t>
            </a:r>
            <a:endParaRPr lang="en-US" sz="1700" dirty="0"/>
          </a:p>
        </p:txBody>
      </p:sp>
      <p:sp>
        <p:nvSpPr>
          <p:cNvPr id="9" name="Text 7"/>
          <p:cNvSpPr/>
          <p:nvPr/>
        </p:nvSpPr>
        <p:spPr>
          <a:xfrm>
            <a:off x="914400" y="2697480"/>
            <a:ext cx="4937760" cy="822960"/>
          </a:xfrm>
          <a:prstGeom prst="rect">
            <a:avLst/>
          </a:prstGeom>
          <a:noFill/>
          <a:ln/>
        </p:spPr>
        <p:txBody>
          <a:bodyPr wrap="square" rtlCol="0" anchor="ctr"/>
          <a:lstStyle/>
          <a:p>
            <a:pPr indent="0" marL="0">
              <a:lnSpc>
                <a:spcPct val="125000"/>
              </a:lnSpc>
              <a:buNone/>
            </a:pPr>
            <a:r>
              <a:rPr lang="en-US" sz="1200" dirty="0">
                <a:solidFill>
                  <a:srgbClr val="5B5F63"/>
                </a:solidFill>
                <a:latin typeface="Arial" pitchFamily="34" charset="0"/>
                <a:ea typeface="Arial" pitchFamily="34" charset="-122"/>
                <a:cs typeface="Arial" pitchFamily="34" charset="-120"/>
              </a:rPr>
              <a:t>The scoreboard. Signups that actually use the product. Ladders to seats sold.</a:t>
            </a:r>
            <a:endParaRPr lang="en-US" sz="1200" dirty="0"/>
          </a:p>
        </p:txBody>
      </p:sp>
      <p:sp>
        <p:nvSpPr>
          <p:cNvPr id="10" name="Shape 8"/>
          <p:cNvSpPr/>
          <p:nvPr/>
        </p:nvSpPr>
        <p:spPr>
          <a:xfrm>
            <a:off x="6172200" y="2057400"/>
            <a:ext cx="5376672" cy="1600200"/>
          </a:xfrm>
          <a:prstGeom prst="rect">
            <a:avLst/>
          </a:prstGeom>
          <a:solidFill>
            <a:srgbClr val="FFFFFF"/>
          </a:solidFill>
          <a:ln/>
          <a:effectLst>
            <a:outerShdw sx="100000" sy="100000" kx="0" ky="0" algn="bl" rotWithShape="0" blurRad="Infinity" dist="Infinity" dir="Infinity">
              <a:srgbClr val="000000">
                <a:alpha val="Infinity"/>
              </a:srgbClr>
            </a:outerShdw>
          </a:effectLst>
        </p:spPr>
      </p:sp>
      <p:sp>
        <p:nvSpPr>
          <p:cNvPr id="11" name="Shape 9"/>
          <p:cNvSpPr/>
          <p:nvPr/>
        </p:nvSpPr>
        <p:spPr>
          <a:xfrm>
            <a:off x="6172200" y="2057400"/>
            <a:ext cx="91440" cy="1600200"/>
          </a:xfrm>
          <a:prstGeom prst="rect">
            <a:avLst/>
          </a:prstGeom>
          <a:solidFill>
            <a:srgbClr val="185771"/>
          </a:solidFill>
          <a:ln/>
        </p:spPr>
      </p:sp>
      <p:sp>
        <p:nvSpPr>
          <p:cNvPr id="12" name="Text 10"/>
          <p:cNvSpPr/>
          <p:nvPr/>
        </p:nvSpPr>
        <p:spPr>
          <a:xfrm>
            <a:off x="6446520" y="2240280"/>
            <a:ext cx="4937760" cy="411480"/>
          </a:xfrm>
          <a:prstGeom prst="rect">
            <a:avLst/>
          </a:prstGeom>
          <a:noFill/>
          <a:ln/>
        </p:spPr>
        <p:txBody>
          <a:bodyPr wrap="square" rtlCol="0" anchor="ctr"/>
          <a:lstStyle/>
          <a:p>
            <a:pPr indent="0" marL="0">
              <a:buNone/>
            </a:pPr>
            <a:r>
              <a:rPr lang="en-US" sz="1700" b="1" dirty="0">
                <a:solidFill>
                  <a:srgbClr val="0E0E10"/>
                </a:solidFill>
                <a:latin typeface="Georgia" pitchFamily="34" charset="0"/>
                <a:ea typeface="Georgia" pitchFamily="34" charset="-122"/>
                <a:cs typeface="Georgia" pitchFamily="34" charset="-120"/>
              </a:rPr>
              <a:t>Non-Paid Qualified Traffic</a:t>
            </a:r>
            <a:endParaRPr lang="en-US" sz="1700" dirty="0"/>
          </a:p>
        </p:txBody>
      </p:sp>
      <p:sp>
        <p:nvSpPr>
          <p:cNvPr id="13" name="Text 11"/>
          <p:cNvSpPr/>
          <p:nvPr/>
        </p:nvSpPr>
        <p:spPr>
          <a:xfrm>
            <a:off x="6446520" y="2697480"/>
            <a:ext cx="4937760" cy="822960"/>
          </a:xfrm>
          <a:prstGeom prst="rect">
            <a:avLst/>
          </a:prstGeom>
          <a:noFill/>
          <a:ln/>
        </p:spPr>
        <p:txBody>
          <a:bodyPr wrap="square" rtlCol="0" anchor="ctr"/>
          <a:lstStyle/>
          <a:p>
            <a:pPr indent="0" marL="0">
              <a:lnSpc>
                <a:spcPct val="125000"/>
              </a:lnSpc>
              <a:buNone/>
            </a:pPr>
            <a:r>
              <a:rPr lang="en-US" sz="1200" dirty="0">
                <a:solidFill>
                  <a:srgbClr val="5B5F63"/>
                </a:solidFill>
                <a:latin typeface="Arial" pitchFamily="34" charset="0"/>
                <a:ea typeface="Arial" pitchFamily="34" charset="-122"/>
                <a:cs typeface="Arial" pitchFamily="34" charset="-120"/>
              </a:rPr>
              <a:t>Leading indicator. Intent-rich visitors from search, content, community.</a:t>
            </a:r>
            <a:endParaRPr lang="en-US" sz="1200" dirty="0"/>
          </a:p>
        </p:txBody>
      </p:sp>
      <p:sp>
        <p:nvSpPr>
          <p:cNvPr id="14" name="Shape 12"/>
          <p:cNvSpPr/>
          <p:nvPr/>
        </p:nvSpPr>
        <p:spPr>
          <a:xfrm>
            <a:off x="640080" y="3840480"/>
            <a:ext cx="5376672" cy="1600200"/>
          </a:xfrm>
          <a:prstGeom prst="rect">
            <a:avLst/>
          </a:prstGeom>
          <a:solidFill>
            <a:srgbClr val="FFFFFF"/>
          </a:solidFill>
          <a:ln/>
          <a:effectLst>
            <a:outerShdw sx="100000" sy="100000" kx="0" ky="0" algn="bl" rotWithShape="0" blurRad="Infinity" dist="Infinity" dir="Infinity">
              <a:srgbClr val="000000">
                <a:alpha val="Infinity"/>
              </a:srgbClr>
            </a:outerShdw>
          </a:effectLst>
        </p:spPr>
      </p:sp>
      <p:sp>
        <p:nvSpPr>
          <p:cNvPr id="15" name="Shape 13"/>
          <p:cNvSpPr/>
          <p:nvPr/>
        </p:nvSpPr>
        <p:spPr>
          <a:xfrm>
            <a:off x="640080" y="3840480"/>
            <a:ext cx="91440" cy="1600200"/>
          </a:xfrm>
          <a:prstGeom prst="rect">
            <a:avLst/>
          </a:prstGeom>
          <a:solidFill>
            <a:srgbClr val="788C5D"/>
          </a:solidFill>
          <a:ln/>
        </p:spPr>
      </p:sp>
      <p:sp>
        <p:nvSpPr>
          <p:cNvPr id="16" name="Text 14"/>
          <p:cNvSpPr/>
          <p:nvPr/>
        </p:nvSpPr>
        <p:spPr>
          <a:xfrm>
            <a:off x="914400" y="4023360"/>
            <a:ext cx="4937760" cy="411480"/>
          </a:xfrm>
          <a:prstGeom prst="rect">
            <a:avLst/>
          </a:prstGeom>
          <a:noFill/>
          <a:ln/>
        </p:spPr>
        <p:txBody>
          <a:bodyPr wrap="square" rtlCol="0" anchor="ctr"/>
          <a:lstStyle/>
          <a:p>
            <a:pPr indent="0" marL="0">
              <a:buNone/>
            </a:pPr>
            <a:r>
              <a:rPr lang="en-US" sz="1700" b="1" dirty="0">
                <a:solidFill>
                  <a:srgbClr val="0E0E10"/>
                </a:solidFill>
                <a:latin typeface="Georgia" pitchFamily="34" charset="0"/>
                <a:ea typeface="Georgia" pitchFamily="34" charset="-122"/>
                <a:cs typeface="Georgia" pitchFamily="34" charset="-120"/>
              </a:rPr>
              <a:t>Branded Search Volume</a:t>
            </a:r>
            <a:endParaRPr lang="en-US" sz="1700" dirty="0"/>
          </a:p>
        </p:txBody>
      </p:sp>
      <p:sp>
        <p:nvSpPr>
          <p:cNvPr id="17" name="Text 15"/>
          <p:cNvSpPr/>
          <p:nvPr/>
        </p:nvSpPr>
        <p:spPr>
          <a:xfrm>
            <a:off x="914400" y="4480560"/>
            <a:ext cx="4937760" cy="822960"/>
          </a:xfrm>
          <a:prstGeom prst="rect">
            <a:avLst/>
          </a:prstGeom>
          <a:noFill/>
          <a:ln/>
        </p:spPr>
        <p:txBody>
          <a:bodyPr wrap="square" rtlCol="0" anchor="ctr"/>
          <a:lstStyle/>
          <a:p>
            <a:pPr indent="0" marL="0">
              <a:lnSpc>
                <a:spcPct val="125000"/>
              </a:lnSpc>
              <a:buNone/>
            </a:pPr>
            <a:r>
              <a:rPr lang="en-US" sz="1200" dirty="0">
                <a:solidFill>
                  <a:srgbClr val="5B5F63"/>
                </a:solidFill>
                <a:latin typeface="Arial" pitchFamily="34" charset="0"/>
                <a:ea typeface="Arial" pitchFamily="34" charset="-122"/>
                <a:cs typeface="Arial" pitchFamily="34" charset="-120"/>
              </a:rPr>
              <a:t>Leading indicator. People searching 'Fluso' or 'PremAI'. Hard to game.</a:t>
            </a:r>
            <a:endParaRPr lang="en-US" sz="1200" dirty="0"/>
          </a:p>
        </p:txBody>
      </p:sp>
      <p:sp>
        <p:nvSpPr>
          <p:cNvPr id="18" name="Shape 16"/>
          <p:cNvSpPr/>
          <p:nvPr/>
        </p:nvSpPr>
        <p:spPr>
          <a:xfrm>
            <a:off x="6172200" y="3840480"/>
            <a:ext cx="5376672" cy="1600200"/>
          </a:xfrm>
          <a:prstGeom prst="rect">
            <a:avLst/>
          </a:prstGeom>
          <a:solidFill>
            <a:srgbClr val="FFFFFF"/>
          </a:solidFill>
          <a:ln/>
          <a:effectLst>
            <a:outerShdw sx="100000" sy="100000" kx="0" ky="0" algn="bl" rotWithShape="0" blurRad="Infinity" dist="Infinity" dir="Infinity">
              <a:srgbClr val="000000">
                <a:alpha val="Infinity"/>
              </a:srgbClr>
            </a:outerShdw>
          </a:effectLst>
        </p:spPr>
      </p:sp>
      <p:sp>
        <p:nvSpPr>
          <p:cNvPr id="19" name="Shape 17"/>
          <p:cNvSpPr/>
          <p:nvPr/>
        </p:nvSpPr>
        <p:spPr>
          <a:xfrm>
            <a:off x="6172200" y="3840480"/>
            <a:ext cx="91440" cy="1600200"/>
          </a:xfrm>
          <a:prstGeom prst="rect">
            <a:avLst/>
          </a:prstGeom>
          <a:solidFill>
            <a:srgbClr val="5B5F63"/>
          </a:solidFill>
          <a:ln/>
        </p:spPr>
      </p:sp>
      <p:sp>
        <p:nvSpPr>
          <p:cNvPr id="20" name="Text 18"/>
          <p:cNvSpPr/>
          <p:nvPr/>
        </p:nvSpPr>
        <p:spPr>
          <a:xfrm>
            <a:off x="6446520" y="4023360"/>
            <a:ext cx="4937760" cy="411480"/>
          </a:xfrm>
          <a:prstGeom prst="rect">
            <a:avLst/>
          </a:prstGeom>
          <a:noFill/>
          <a:ln/>
        </p:spPr>
        <p:txBody>
          <a:bodyPr wrap="square" rtlCol="0" anchor="ctr"/>
          <a:lstStyle/>
          <a:p>
            <a:pPr indent="0" marL="0">
              <a:buNone/>
            </a:pPr>
            <a:r>
              <a:rPr lang="en-US" sz="1700" b="1" dirty="0">
                <a:solidFill>
                  <a:srgbClr val="0E0E10"/>
                </a:solidFill>
                <a:latin typeface="Georgia" pitchFamily="34" charset="0"/>
                <a:ea typeface="Georgia" pitchFamily="34" charset="-122"/>
                <a:cs typeface="Georgia" pitchFamily="34" charset="-120"/>
              </a:rPr>
              <a:t>SQLs to Sales</a:t>
            </a:r>
            <a:endParaRPr lang="en-US" sz="1700" dirty="0"/>
          </a:p>
        </p:txBody>
      </p:sp>
      <p:sp>
        <p:nvSpPr>
          <p:cNvPr id="21" name="Text 19"/>
          <p:cNvSpPr/>
          <p:nvPr/>
        </p:nvSpPr>
        <p:spPr>
          <a:xfrm>
            <a:off x="6446520" y="4480560"/>
            <a:ext cx="4937760" cy="822960"/>
          </a:xfrm>
          <a:prstGeom prst="rect">
            <a:avLst/>
          </a:prstGeom>
          <a:noFill/>
          <a:ln/>
        </p:spPr>
        <p:txBody>
          <a:bodyPr wrap="square" rtlCol="0" anchor="ctr"/>
          <a:lstStyle/>
          <a:p>
            <a:pPr indent="0" marL="0">
              <a:lnSpc>
                <a:spcPct val="125000"/>
              </a:lnSpc>
              <a:buNone/>
            </a:pPr>
            <a:r>
              <a:rPr lang="en-US" sz="1200" dirty="0">
                <a:solidFill>
                  <a:srgbClr val="5B5F63"/>
                </a:solidFill>
                <a:latin typeface="Arial" pitchFamily="34" charset="0"/>
                <a:ea typeface="Arial" pitchFamily="34" charset="-122"/>
                <a:cs typeface="Arial" pitchFamily="34" charset="-120"/>
              </a:rPr>
              <a:t>The handoff. Qualified leads the sales team accepts. The bridge to revenue.</a:t>
            </a:r>
            <a:endParaRPr lang="en-US" sz="1200" dirty="0"/>
          </a:p>
        </p:txBody>
      </p:sp>
      <p:sp>
        <p:nvSpPr>
          <p:cNvPr id="22" name="Text 20"/>
          <p:cNvSpPr/>
          <p:nvPr/>
        </p:nvSpPr>
        <p:spPr>
          <a:xfrm>
            <a:off x="640080" y="5806440"/>
            <a:ext cx="10881360" cy="274320"/>
          </a:xfrm>
          <a:prstGeom prst="rect">
            <a:avLst/>
          </a:prstGeom>
          <a:noFill/>
          <a:ln/>
        </p:spPr>
        <p:txBody>
          <a:bodyPr wrap="square" rtlCol="0" anchor="ctr"/>
          <a:lstStyle/>
          <a:p>
            <a:pPr indent="0" marL="0">
              <a:buNone/>
            </a:pPr>
            <a:r>
              <a:rPr lang="en-US" sz="1100" i="1" dirty="0">
                <a:solidFill>
                  <a:srgbClr val="C2703D"/>
                </a:solidFill>
                <a:latin typeface="Arial" pitchFamily="34" charset="0"/>
                <a:ea typeface="Arial" pitchFamily="34" charset="-122"/>
                <a:cs typeface="Arial" pitchFamily="34" charset="-120"/>
              </a:rPr>
              <a:t>Deliberately not KPIs: follower counts, impressions, likes. Diagnostics at most, never goals.</a:t>
            </a:r>
            <a:endParaRPr lang="en-US" sz="1100" dirty="0"/>
          </a:p>
        </p:txBody>
      </p:sp>
      <p:sp>
        <p:nvSpPr>
          <p:cNvPr id="23" name="TextBox 22"/>
          <p:cNvSpPr txBox="1"/>
          <p:nvPr/>
        </p:nvSpPr>
        <p:spPr>
          <a:xfrm>
            <a:off x="640080" y="6099048"/>
            <a:ext cx="10908792" cy="265176"/>
          </a:xfrm>
          <a:prstGeom prst="rect">
            <a:avLst/>
          </a:prstGeom>
          <a:solidFill>
            <a:srgbClr val="DBEAFE"/>
          </a:solidFill>
          <a:ln w="12700">
            <a:solidFill>
              <a:srgbClr val="1E3A8A"/>
            </a:solidFill>
          </a:ln>
        </p:spPr>
        <p:txBody>
          <a:bodyPr wrap="square">
            <a:spAutoFit/>
          </a:bodyPr>
          <a:lstStyle/>
          <a:p>
            <a:pPr algn="l"/>
            <a:r>
              <a:rPr sz="850" b="1">
                <a:solidFill>
                  <a:srgbClr val="1E3A8A"/>
                </a:solidFill>
              </a:rPr>
              <a:t>DATA  </a:t>
            </a:r>
            <a:r>
              <a:rPr sz="850" b="0">
                <a:solidFill>
                  <a:srgbClr val="111827"/>
                </a:solidFill>
              </a:rPr>
              <a:t>B2B SaaS benchmarks: trial-to-paid median 18.5%, top quartile 35–45%. Vertical SaaS (legal/health): 25–40%. PQLs convert at 3× MQL rate. ABM ROI: 5–9× mature programs. Use at Day-90 checkpoint. [ProductLed / FirstPageSage / RevvGrowth 2025]</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AF9F5"/>
        </a:solidFill>
      </p:bgPr>
    </p:bg>
    <p:spTree>
      <p:nvGrpSpPr>
        <p:cNvPr id="1" name=""/>
        <p:cNvGrpSpPr/>
        <p:nvPr/>
      </p:nvGrpSpPr>
      <p:grpSpPr>
        <a:xfrm>
          <a:off x="0" y="0"/>
          <a:ext cx="0" cy="0"/>
          <a:chOff x="0" y="0"/>
          <a:chExt cx="0" cy="0"/>
        </a:xfrm>
      </p:grpSpPr>
      <p:sp>
        <p:nvSpPr>
          <p:cNvPr id="2" name="Text 0"/>
          <p:cNvSpPr/>
          <p:nvPr/>
        </p:nvSpPr>
        <p:spPr>
          <a:xfrm>
            <a:off x="640080" y="411480"/>
            <a:ext cx="10058400" cy="274320"/>
          </a:xfrm>
          <a:prstGeom prst="rect">
            <a:avLst/>
          </a:prstGeom>
          <a:noFill/>
          <a:ln/>
        </p:spPr>
        <p:txBody>
          <a:bodyPr wrap="square" rtlCol="0" anchor="ctr"/>
          <a:lstStyle/>
          <a:p>
            <a:pPr indent="0" marL="0">
              <a:buNone/>
            </a:pPr>
            <a:r>
              <a:rPr lang="en-US" sz="1100" b="1" spc="500" kern="0" dirty="0">
                <a:solidFill>
                  <a:srgbClr val="185771"/>
                </a:solidFill>
                <a:latin typeface="Arial" pitchFamily="34" charset="0"/>
                <a:ea typeface="Arial" pitchFamily="34" charset="-122"/>
                <a:cs typeface="Arial" pitchFamily="34" charset="-120"/>
              </a:rPr>
              <a:t>EXECUTION</a:t>
            </a:r>
            <a:endParaRPr lang="en-US" sz="1100" dirty="0"/>
          </a:p>
        </p:txBody>
      </p:sp>
      <p:sp>
        <p:nvSpPr>
          <p:cNvPr id="3" name="Text 1"/>
          <p:cNvSpPr/>
          <p:nvPr/>
        </p:nvSpPr>
        <p:spPr>
          <a:xfrm>
            <a:off x="640080" y="658368"/>
            <a:ext cx="10972800" cy="640080"/>
          </a:xfrm>
          <a:prstGeom prst="rect">
            <a:avLst/>
          </a:prstGeom>
          <a:noFill/>
          <a:ln/>
        </p:spPr>
        <p:txBody>
          <a:bodyPr wrap="square" rtlCol="0" anchor="ctr"/>
          <a:lstStyle/>
          <a:p>
            <a:pPr indent="0" marL="0">
              <a:buNone/>
            </a:pPr>
            <a:r>
              <a:rPr lang="en-US" sz="2900" dirty="0">
                <a:solidFill>
                  <a:srgbClr val="0E0E10"/>
                </a:solidFill>
                <a:latin typeface="Georgia" pitchFamily="34" charset="0"/>
                <a:ea typeface="Georgia" pitchFamily="34" charset="-122"/>
                <a:cs typeface="Georgia" pitchFamily="34" charset="-120"/>
              </a:rPr>
              <a:t>The First 90 Days</a:t>
            </a:r>
            <a:endParaRPr lang="en-US" sz="2900" dirty="0"/>
          </a:p>
        </p:txBody>
      </p:sp>
      <p:sp>
        <p:nvSpPr>
          <p:cNvPr id="4" name="Text 2"/>
          <p:cNvSpPr/>
          <p:nvPr/>
        </p:nvSpPr>
        <p:spPr>
          <a:xfrm>
            <a:off x="11460175" y="6446520"/>
            <a:ext cx="457200" cy="274320"/>
          </a:xfrm>
          <a:prstGeom prst="rect">
            <a:avLst/>
          </a:prstGeom>
          <a:noFill/>
          <a:ln/>
        </p:spPr>
        <p:txBody>
          <a:bodyPr wrap="square" rtlCol="0" anchor="ctr"/>
          <a:lstStyle/>
          <a:p>
            <a:pPr algn="r" indent="0" marL="0">
              <a:buNone/>
            </a:pPr>
            <a:r>
              <a:rPr lang="en-US" sz="1000" dirty="0">
                <a:solidFill>
                  <a:srgbClr val="9A9A93"/>
                </a:solidFill>
                <a:latin typeface="Arial" pitchFamily="34" charset="0"/>
                <a:ea typeface="Arial" pitchFamily="34" charset="-122"/>
                <a:cs typeface="Arial" pitchFamily="34" charset="-120"/>
              </a:rPr>
              <a:t>31</a:t>
            </a:r>
            <a:endParaRPr lang="en-US" sz="1000" dirty="0"/>
          </a:p>
        </p:txBody>
      </p:sp>
      <p:sp>
        <p:nvSpPr>
          <p:cNvPr id="5" name="Shape 3"/>
          <p:cNvSpPr/>
          <p:nvPr/>
        </p:nvSpPr>
        <p:spPr>
          <a:xfrm>
            <a:off x="640080" y="1417320"/>
            <a:ext cx="3520440" cy="4434840"/>
          </a:xfrm>
          <a:prstGeom prst="rect">
            <a:avLst/>
          </a:prstGeom>
          <a:solidFill>
            <a:srgbClr val="FFFFFF"/>
          </a:solidFill>
          <a:ln/>
          <a:effectLst>
            <a:outerShdw sx="100000" sy="100000" kx="0" ky="0" algn="bl" rotWithShape="0" blurRad="Infinity" dist="Infinity" dir="Infinity">
              <a:srgbClr val="000000">
                <a:alpha val="Infinity"/>
              </a:srgbClr>
            </a:outerShdw>
          </a:effectLst>
        </p:spPr>
      </p:sp>
      <p:sp>
        <p:nvSpPr>
          <p:cNvPr id="6" name="Shape 4"/>
          <p:cNvSpPr/>
          <p:nvPr/>
        </p:nvSpPr>
        <p:spPr>
          <a:xfrm>
            <a:off x="640080" y="1417320"/>
            <a:ext cx="3520440" cy="777240"/>
          </a:xfrm>
          <a:prstGeom prst="rect">
            <a:avLst/>
          </a:prstGeom>
          <a:solidFill>
            <a:srgbClr val="788C5D"/>
          </a:solidFill>
          <a:ln/>
        </p:spPr>
      </p:sp>
      <p:sp>
        <p:nvSpPr>
          <p:cNvPr id="7" name="Text 5"/>
          <p:cNvSpPr/>
          <p:nvPr/>
        </p:nvSpPr>
        <p:spPr>
          <a:xfrm>
            <a:off x="841248" y="1481328"/>
            <a:ext cx="3108960" cy="292608"/>
          </a:xfrm>
          <a:prstGeom prst="rect">
            <a:avLst/>
          </a:prstGeom>
          <a:noFill/>
          <a:ln/>
        </p:spPr>
        <p:txBody>
          <a:bodyPr wrap="square" rtlCol="0" anchor="ctr"/>
          <a:lstStyle/>
          <a:p>
            <a:pPr indent="0" marL="0">
              <a:buNone/>
            </a:pPr>
            <a:r>
              <a:rPr lang="en-US" sz="1100" b="1" spc="200" kern="0" dirty="0">
                <a:solidFill>
                  <a:srgbClr val="FFFFFF"/>
                </a:solidFill>
                <a:latin typeface="Arial" pitchFamily="34" charset="0"/>
                <a:ea typeface="Arial" pitchFamily="34" charset="-122"/>
                <a:cs typeface="Arial" pitchFamily="34" charset="-120"/>
              </a:rPr>
              <a:t>DAYS 1-30</a:t>
            </a:r>
            <a:endParaRPr lang="en-US" sz="1100" dirty="0"/>
          </a:p>
        </p:txBody>
      </p:sp>
      <p:sp>
        <p:nvSpPr>
          <p:cNvPr id="8" name="Text 6"/>
          <p:cNvSpPr/>
          <p:nvPr/>
        </p:nvSpPr>
        <p:spPr>
          <a:xfrm>
            <a:off x="841248" y="1755648"/>
            <a:ext cx="3108960" cy="411480"/>
          </a:xfrm>
          <a:prstGeom prst="rect">
            <a:avLst/>
          </a:prstGeom>
          <a:noFill/>
          <a:ln/>
        </p:spPr>
        <p:txBody>
          <a:bodyPr wrap="square" rtlCol="0" anchor="ctr"/>
          <a:lstStyle/>
          <a:p>
            <a:pPr indent="0" marL="0">
              <a:buNone/>
            </a:pPr>
            <a:r>
              <a:rPr lang="en-US" sz="1800" b="1" dirty="0">
                <a:solidFill>
                  <a:srgbClr val="FFFFFF"/>
                </a:solidFill>
                <a:latin typeface="Georgia" pitchFamily="34" charset="0"/>
                <a:ea typeface="Georgia" pitchFamily="34" charset="-122"/>
                <a:cs typeface="Georgia" pitchFamily="34" charset="-120"/>
              </a:rPr>
              <a:t>Foundation</a:t>
            </a:r>
            <a:endParaRPr lang="en-US" sz="1800" dirty="0"/>
          </a:p>
        </p:txBody>
      </p:sp>
      <p:sp>
        <p:nvSpPr>
          <p:cNvPr id="9" name="Text 7"/>
          <p:cNvSpPr/>
          <p:nvPr/>
        </p:nvSpPr>
        <p:spPr>
          <a:xfrm>
            <a:off x="841248" y="2377440"/>
            <a:ext cx="3154680" cy="3383280"/>
          </a:xfrm>
          <a:prstGeom prst="rect">
            <a:avLst/>
          </a:prstGeom>
          <a:noFill/>
          <a:ln/>
        </p:spPr>
        <p:txBody>
          <a:bodyPr wrap="square" rtlCol="0" anchor="t"/>
          <a:lstStyle/>
          <a:p>
            <a:pPr marL="342900" indent="-342900">
              <a:lnSpc>
                <a:spcPct val="120000"/>
              </a:lnSpc>
              <a:spcAft>
                <a:spcPts val="900"/>
              </a:spcAft>
              <a:buSzPct val="100000"/>
              <a:buChar char="•"/>
            </a:pPr>
            <a:r>
              <a:rPr lang="en-US" sz="1100" dirty="0">
                <a:solidFill>
                  <a:srgbClr val="5B5F63"/>
                </a:solidFill>
                <a:latin typeface="Arial" pitchFamily="34" charset="0"/>
                <a:ea typeface="Arial" pitchFamily="34" charset="-122"/>
                <a:cs typeface="Arial" pitchFamily="34" charset="-120"/>
              </a:rPr>
              <a:t>Establish baselines for all four KPIs and set up tracking</a:t>
            </a:r>
            <a:endParaRPr lang="en-US" sz="1100" dirty="0"/>
          </a:p>
          <a:p>
            <a:pPr marL="342900" indent="-342900">
              <a:lnSpc>
                <a:spcPct val="120000"/>
              </a:lnSpc>
              <a:spcAft>
                <a:spcPts val="900"/>
              </a:spcAft>
              <a:buSzPct val="100000"/>
              <a:buChar char="•"/>
            </a:pPr>
            <a:r>
              <a:rPr lang="en-US" sz="1100" dirty="0">
                <a:solidFill>
                  <a:srgbClr val="5B5F63"/>
                </a:solidFill>
                <a:latin typeface="Arial" pitchFamily="34" charset="0"/>
                <a:ea typeface="Arial" pitchFamily="34" charset="-122"/>
                <a:cs typeface="Arial" pitchFamily="34" charset="-120"/>
              </a:rPr>
              <a:t>Take over LinkedIn (Prem), warm the account</a:t>
            </a:r>
            <a:endParaRPr lang="en-US" sz="1100" dirty="0"/>
          </a:p>
          <a:p>
            <a:pPr marL="342900" indent="-342900">
              <a:lnSpc>
                <a:spcPct val="120000"/>
              </a:lnSpc>
              <a:spcAft>
                <a:spcPts val="900"/>
              </a:spcAft>
              <a:buSzPct val="100000"/>
              <a:buChar char="•"/>
            </a:pPr>
            <a:r>
              <a:rPr lang="en-US" sz="1100" dirty="0">
                <a:solidFill>
                  <a:srgbClr val="5B5F63"/>
                </a:solidFill>
                <a:latin typeface="Arial" pitchFamily="34" charset="0"/>
                <a:ea typeface="Arial" pitchFamily="34" charset="-122"/>
                <a:cs typeface="Arial" pitchFamily="34" charset="-120"/>
              </a:rPr>
              <a:t>Ship the first 'AI advantage' content and social posts</a:t>
            </a:r>
            <a:endParaRPr lang="en-US" sz="1100" dirty="0"/>
          </a:p>
          <a:p>
            <a:pPr marL="342900" indent="-342900">
              <a:lnSpc>
                <a:spcPct val="120000"/>
              </a:lnSpc>
              <a:spcAft>
                <a:spcPts val="900"/>
              </a:spcAft>
              <a:buSzPct val="100000"/>
              <a:buChar char="•"/>
            </a:pPr>
            <a:r>
              <a:rPr lang="en-US" sz="1100" dirty="0">
                <a:solidFill>
                  <a:srgbClr val="5B5F63"/>
                </a:solidFill>
                <a:latin typeface="Arial" pitchFamily="34" charset="0"/>
                <a:ea typeface="Arial" pitchFamily="34" charset="-122"/>
                <a:cs typeface="Arial" pitchFamily="34" charset="-120"/>
              </a:rPr>
              <a:t>Stand up resources.premai.io with the SEO agency</a:t>
            </a:r>
            <a:endParaRPr lang="en-US" sz="1100" dirty="0"/>
          </a:p>
          <a:p>
            <a:pPr marL="342900" indent="-342900">
              <a:lnSpc>
                <a:spcPct val="120000"/>
              </a:lnSpc>
              <a:spcAft>
                <a:spcPts val="900"/>
              </a:spcAft>
              <a:buSzPct val="100000"/>
              <a:buChar char="•"/>
            </a:pPr>
            <a:r>
              <a:rPr lang="en-US" sz="1100" dirty="0">
                <a:solidFill>
                  <a:srgbClr val="5B5F63"/>
                </a:solidFill>
                <a:latin typeface="Arial" pitchFamily="34" charset="0"/>
                <a:ea typeface="Arial" pitchFamily="34" charset="-122"/>
                <a:cs typeface="Arial" pitchFamily="34" charset="-120"/>
              </a:rPr>
              <a:t>Finish Fluso dogfooding; lock the use-case library</a:t>
            </a:r>
            <a:endParaRPr lang="en-US" sz="1100" dirty="0"/>
          </a:p>
        </p:txBody>
      </p:sp>
      <p:sp>
        <p:nvSpPr>
          <p:cNvPr id="10" name="Shape 8"/>
          <p:cNvSpPr/>
          <p:nvPr/>
        </p:nvSpPr>
        <p:spPr>
          <a:xfrm>
            <a:off x="4334256" y="1417320"/>
            <a:ext cx="3520440" cy="4434840"/>
          </a:xfrm>
          <a:prstGeom prst="rect">
            <a:avLst/>
          </a:prstGeom>
          <a:solidFill>
            <a:srgbClr val="FFFFFF"/>
          </a:solidFill>
          <a:ln/>
          <a:effectLst>
            <a:outerShdw sx="100000" sy="100000" kx="0" ky="0" algn="bl" rotWithShape="0" blurRad="Infinity" dist="Infinity" dir="Infinity">
              <a:srgbClr val="000000">
                <a:alpha val="Infinity"/>
              </a:srgbClr>
            </a:outerShdw>
          </a:effectLst>
        </p:spPr>
      </p:sp>
      <p:sp>
        <p:nvSpPr>
          <p:cNvPr id="11" name="Shape 9"/>
          <p:cNvSpPr/>
          <p:nvPr/>
        </p:nvSpPr>
        <p:spPr>
          <a:xfrm>
            <a:off x="4334256" y="1417320"/>
            <a:ext cx="3520440" cy="777240"/>
          </a:xfrm>
          <a:prstGeom prst="rect">
            <a:avLst/>
          </a:prstGeom>
          <a:solidFill>
            <a:srgbClr val="185771"/>
          </a:solidFill>
          <a:ln/>
        </p:spPr>
      </p:sp>
      <p:sp>
        <p:nvSpPr>
          <p:cNvPr id="12" name="Text 10"/>
          <p:cNvSpPr/>
          <p:nvPr/>
        </p:nvSpPr>
        <p:spPr>
          <a:xfrm>
            <a:off x="4535424" y="1481328"/>
            <a:ext cx="3108960" cy="292608"/>
          </a:xfrm>
          <a:prstGeom prst="rect">
            <a:avLst/>
          </a:prstGeom>
          <a:noFill/>
          <a:ln/>
        </p:spPr>
        <p:txBody>
          <a:bodyPr wrap="square" rtlCol="0" anchor="ctr"/>
          <a:lstStyle/>
          <a:p>
            <a:pPr indent="0" marL="0">
              <a:buNone/>
            </a:pPr>
            <a:r>
              <a:rPr lang="en-US" sz="1100" b="1" spc="200" kern="0" dirty="0">
                <a:solidFill>
                  <a:srgbClr val="FFFFFF"/>
                </a:solidFill>
                <a:latin typeface="Arial" pitchFamily="34" charset="0"/>
                <a:ea typeface="Arial" pitchFamily="34" charset="-122"/>
                <a:cs typeface="Arial" pitchFamily="34" charset="-120"/>
              </a:rPr>
              <a:t>DAYS 31-60</a:t>
            </a:r>
            <a:endParaRPr lang="en-US" sz="1100" dirty="0"/>
          </a:p>
        </p:txBody>
      </p:sp>
      <p:sp>
        <p:nvSpPr>
          <p:cNvPr id="13" name="Text 11"/>
          <p:cNvSpPr/>
          <p:nvPr/>
        </p:nvSpPr>
        <p:spPr>
          <a:xfrm>
            <a:off x="4535424" y="1755648"/>
            <a:ext cx="3108960" cy="411480"/>
          </a:xfrm>
          <a:prstGeom prst="rect">
            <a:avLst/>
          </a:prstGeom>
          <a:noFill/>
          <a:ln/>
        </p:spPr>
        <p:txBody>
          <a:bodyPr wrap="square" rtlCol="0" anchor="ctr"/>
          <a:lstStyle/>
          <a:p>
            <a:pPr indent="0" marL="0">
              <a:buNone/>
            </a:pPr>
            <a:r>
              <a:rPr lang="en-US" sz="1800" b="1" dirty="0">
                <a:solidFill>
                  <a:srgbClr val="FFFFFF"/>
                </a:solidFill>
                <a:latin typeface="Georgia" pitchFamily="34" charset="0"/>
                <a:ea typeface="Georgia" pitchFamily="34" charset="-122"/>
                <a:cs typeface="Georgia" pitchFamily="34" charset="-120"/>
              </a:rPr>
              <a:t>Build</a:t>
            </a:r>
            <a:endParaRPr lang="en-US" sz="1800" dirty="0"/>
          </a:p>
        </p:txBody>
      </p:sp>
      <p:sp>
        <p:nvSpPr>
          <p:cNvPr id="14" name="Text 12"/>
          <p:cNvSpPr/>
          <p:nvPr/>
        </p:nvSpPr>
        <p:spPr>
          <a:xfrm>
            <a:off x="4535424" y="2377440"/>
            <a:ext cx="3154680" cy="3383280"/>
          </a:xfrm>
          <a:prstGeom prst="rect">
            <a:avLst/>
          </a:prstGeom>
          <a:noFill/>
          <a:ln/>
        </p:spPr>
        <p:txBody>
          <a:bodyPr wrap="square" rtlCol="0" anchor="t"/>
          <a:lstStyle/>
          <a:p>
            <a:pPr marL="342900" indent="-342900">
              <a:lnSpc>
                <a:spcPct val="120000"/>
              </a:lnSpc>
              <a:spcAft>
                <a:spcPts val="900"/>
              </a:spcAft>
              <a:buSzPct val="100000"/>
              <a:buChar char="•"/>
            </a:pPr>
            <a:r>
              <a:rPr lang="en-US" sz="1100" dirty="0">
                <a:solidFill>
                  <a:srgbClr val="5B5F63"/>
                </a:solidFill>
                <a:latin typeface="Arial" pitchFamily="34" charset="0"/>
                <a:ea typeface="Arial" pitchFamily="34" charset="-122"/>
                <a:cs typeface="Arial" pitchFamily="34" charset="-120"/>
              </a:rPr>
              <a:t>Launch the flagship blog and social series in earnest</a:t>
            </a:r>
            <a:endParaRPr lang="en-US" sz="1100" dirty="0"/>
          </a:p>
          <a:p>
            <a:pPr marL="342900" indent="-342900">
              <a:lnSpc>
                <a:spcPct val="120000"/>
              </a:lnSpc>
              <a:spcAft>
                <a:spcPts val="900"/>
              </a:spcAft>
              <a:buSzPct val="100000"/>
              <a:buChar char="•"/>
            </a:pPr>
            <a:r>
              <a:rPr lang="en-US" sz="1100" dirty="0">
                <a:solidFill>
                  <a:srgbClr val="5B5F63"/>
                </a:solidFill>
                <a:latin typeface="Arial" pitchFamily="34" charset="0"/>
                <a:ea typeface="Arial" pitchFamily="34" charset="-122"/>
                <a:cs typeface="Arial" pitchFamily="34" charset="-120"/>
              </a:rPr>
              <a:t>Comparison pages live; begin ABM target list</a:t>
            </a:r>
            <a:endParaRPr lang="en-US" sz="1100" dirty="0"/>
          </a:p>
          <a:p>
            <a:pPr marL="342900" indent="-342900">
              <a:lnSpc>
                <a:spcPct val="120000"/>
              </a:lnSpc>
              <a:spcAft>
                <a:spcPts val="900"/>
              </a:spcAft>
              <a:buSzPct val="100000"/>
              <a:buChar char="•"/>
            </a:pPr>
            <a:r>
              <a:rPr lang="en-US" sz="1100" dirty="0">
                <a:solidFill>
                  <a:srgbClr val="5B5F63"/>
                </a:solidFill>
                <a:latin typeface="Arial" pitchFamily="34" charset="0"/>
                <a:ea typeface="Arial" pitchFamily="34" charset="-122"/>
                <a:cs typeface="Arial" pitchFamily="34" charset="-120"/>
              </a:rPr>
              <a:t>Begin PR and analyst outreach; line up podcasts</a:t>
            </a:r>
            <a:endParaRPr lang="en-US" sz="1100" dirty="0"/>
          </a:p>
          <a:p>
            <a:pPr marL="342900" indent="-342900">
              <a:lnSpc>
                <a:spcPct val="120000"/>
              </a:lnSpc>
              <a:spcAft>
                <a:spcPts val="900"/>
              </a:spcAft>
              <a:buSzPct val="100000"/>
              <a:buChar char="•"/>
            </a:pPr>
            <a:r>
              <a:rPr lang="en-US" sz="1100" dirty="0">
                <a:solidFill>
                  <a:srgbClr val="5B5F63"/>
                </a:solidFill>
                <a:latin typeface="Arial" pitchFamily="34" charset="0"/>
                <a:ea typeface="Arial" pitchFamily="34" charset="-122"/>
                <a:cs typeface="Arial" pitchFamily="34" charset="-120"/>
              </a:rPr>
              <a:t>Support the vertical wedge motion (legal) with content</a:t>
            </a:r>
            <a:endParaRPr lang="en-US" sz="1100" dirty="0"/>
          </a:p>
          <a:p>
            <a:pPr marL="342900" indent="-342900">
              <a:lnSpc>
                <a:spcPct val="120000"/>
              </a:lnSpc>
              <a:spcAft>
                <a:spcPts val="900"/>
              </a:spcAft>
              <a:buSzPct val="100000"/>
              <a:buChar char="•"/>
            </a:pPr>
            <a:r>
              <a:rPr lang="en-US" sz="1100" dirty="0">
                <a:solidFill>
                  <a:srgbClr val="5B5F63"/>
                </a:solidFill>
                <a:latin typeface="Arial" pitchFamily="34" charset="0"/>
                <a:ea typeface="Arial" pitchFamily="34" charset="-122"/>
                <a:cs typeface="Arial" pitchFamily="34" charset="-120"/>
              </a:rPr>
              <a:t>First lifecycle and onboarding email flows live</a:t>
            </a:r>
            <a:endParaRPr lang="en-US" sz="1100" dirty="0"/>
          </a:p>
        </p:txBody>
      </p:sp>
      <p:sp>
        <p:nvSpPr>
          <p:cNvPr id="15" name="Shape 13"/>
          <p:cNvSpPr/>
          <p:nvPr/>
        </p:nvSpPr>
        <p:spPr>
          <a:xfrm>
            <a:off x="8028432" y="1417320"/>
            <a:ext cx="3520440" cy="4434840"/>
          </a:xfrm>
          <a:prstGeom prst="rect">
            <a:avLst/>
          </a:prstGeom>
          <a:solidFill>
            <a:srgbClr val="FFFFFF"/>
          </a:solidFill>
          <a:ln/>
          <a:effectLst>
            <a:outerShdw sx="100000" sy="100000" kx="0" ky="0" algn="bl" rotWithShape="0" blurRad="Infinity" dist="Infinity" dir="Infinity">
              <a:srgbClr val="000000">
                <a:alpha val="Infinity"/>
              </a:srgbClr>
            </a:outerShdw>
          </a:effectLst>
        </p:spPr>
      </p:sp>
      <p:sp>
        <p:nvSpPr>
          <p:cNvPr id="16" name="Shape 14"/>
          <p:cNvSpPr/>
          <p:nvPr/>
        </p:nvSpPr>
        <p:spPr>
          <a:xfrm>
            <a:off x="8028432" y="1417320"/>
            <a:ext cx="3520440" cy="777240"/>
          </a:xfrm>
          <a:prstGeom prst="rect">
            <a:avLst/>
          </a:prstGeom>
          <a:solidFill>
            <a:srgbClr val="C2703D"/>
          </a:solidFill>
          <a:ln/>
        </p:spPr>
      </p:sp>
      <p:sp>
        <p:nvSpPr>
          <p:cNvPr id="17" name="Text 15"/>
          <p:cNvSpPr/>
          <p:nvPr/>
        </p:nvSpPr>
        <p:spPr>
          <a:xfrm>
            <a:off x="8229600" y="1481328"/>
            <a:ext cx="3108960" cy="292608"/>
          </a:xfrm>
          <a:prstGeom prst="rect">
            <a:avLst/>
          </a:prstGeom>
          <a:noFill/>
          <a:ln/>
        </p:spPr>
        <p:txBody>
          <a:bodyPr wrap="square" rtlCol="0" anchor="ctr"/>
          <a:lstStyle/>
          <a:p>
            <a:pPr indent="0" marL="0">
              <a:buNone/>
            </a:pPr>
            <a:r>
              <a:rPr lang="en-US" sz="1100" b="1" spc="200" kern="0" dirty="0">
                <a:solidFill>
                  <a:srgbClr val="FFFFFF"/>
                </a:solidFill>
                <a:latin typeface="Arial" pitchFamily="34" charset="0"/>
                <a:ea typeface="Arial" pitchFamily="34" charset="-122"/>
                <a:cs typeface="Arial" pitchFamily="34" charset="-120"/>
              </a:rPr>
              <a:t>DAYS 61-90</a:t>
            </a:r>
            <a:endParaRPr lang="en-US" sz="1100" dirty="0"/>
          </a:p>
        </p:txBody>
      </p:sp>
      <p:sp>
        <p:nvSpPr>
          <p:cNvPr id="18" name="Text 16"/>
          <p:cNvSpPr/>
          <p:nvPr/>
        </p:nvSpPr>
        <p:spPr>
          <a:xfrm>
            <a:off x="8229600" y="1755648"/>
            <a:ext cx="3108960" cy="411480"/>
          </a:xfrm>
          <a:prstGeom prst="rect">
            <a:avLst/>
          </a:prstGeom>
          <a:noFill/>
          <a:ln/>
        </p:spPr>
        <p:txBody>
          <a:bodyPr wrap="square" rtlCol="0" anchor="ctr"/>
          <a:lstStyle/>
          <a:p>
            <a:pPr indent="0" marL="0">
              <a:buNone/>
            </a:pPr>
            <a:r>
              <a:rPr lang="en-US" sz="1800" b="1" dirty="0">
                <a:solidFill>
                  <a:srgbClr val="FFFFFF"/>
                </a:solidFill>
                <a:latin typeface="Georgia" pitchFamily="34" charset="0"/>
                <a:ea typeface="Georgia" pitchFamily="34" charset="-122"/>
                <a:cs typeface="Georgia" pitchFamily="34" charset="-120"/>
              </a:rPr>
              <a:t>Calibrate</a:t>
            </a:r>
            <a:endParaRPr lang="en-US" sz="1800" dirty="0"/>
          </a:p>
        </p:txBody>
      </p:sp>
      <p:sp>
        <p:nvSpPr>
          <p:cNvPr id="19" name="Text 17"/>
          <p:cNvSpPr/>
          <p:nvPr/>
        </p:nvSpPr>
        <p:spPr>
          <a:xfrm>
            <a:off x="8229600" y="2377440"/>
            <a:ext cx="3154680" cy="3383280"/>
          </a:xfrm>
          <a:prstGeom prst="rect">
            <a:avLst/>
          </a:prstGeom>
          <a:noFill/>
          <a:ln/>
        </p:spPr>
        <p:txBody>
          <a:bodyPr wrap="square" rtlCol="0" anchor="t"/>
          <a:lstStyle/>
          <a:p>
            <a:pPr marL="342900" indent="-342900">
              <a:lnSpc>
                <a:spcPct val="120000"/>
              </a:lnSpc>
              <a:spcAft>
                <a:spcPts val="900"/>
              </a:spcAft>
              <a:buSzPct val="100000"/>
              <a:buChar char="•"/>
            </a:pPr>
            <a:r>
              <a:rPr lang="en-US" sz="1100" dirty="0">
                <a:solidFill>
                  <a:srgbClr val="5B5F63"/>
                </a:solidFill>
                <a:latin typeface="Arial" pitchFamily="34" charset="0"/>
                <a:ea typeface="Arial" pitchFamily="34" charset="-122"/>
                <a:cs typeface="Arial" pitchFamily="34" charset="-120"/>
              </a:rPr>
              <a:t>Read the data: what moved, what did not</a:t>
            </a:r>
            <a:endParaRPr lang="en-US" sz="1100" dirty="0"/>
          </a:p>
          <a:p>
            <a:pPr marL="342900" indent="-342900">
              <a:lnSpc>
                <a:spcPct val="120000"/>
              </a:lnSpc>
              <a:spcAft>
                <a:spcPts val="900"/>
              </a:spcAft>
              <a:buSzPct val="100000"/>
              <a:buChar char="•"/>
            </a:pPr>
            <a:r>
              <a:rPr lang="en-US" sz="1100" dirty="0">
                <a:solidFill>
                  <a:srgbClr val="5B5F63"/>
                </a:solidFill>
                <a:latin typeface="Arial" pitchFamily="34" charset="0"/>
                <a:ea typeface="Arial" pitchFamily="34" charset="-122"/>
                <a:cs typeface="Arial" pitchFamily="34" charset="-120"/>
              </a:rPr>
              <a:t>Day-90 checkpoint: set numeric targets with Jaipal and Marco</a:t>
            </a:r>
            <a:endParaRPr lang="en-US" sz="1100" dirty="0"/>
          </a:p>
          <a:p>
            <a:pPr marL="342900" indent="-342900">
              <a:lnSpc>
                <a:spcPct val="120000"/>
              </a:lnSpc>
              <a:spcAft>
                <a:spcPts val="900"/>
              </a:spcAft>
              <a:buSzPct val="100000"/>
              <a:buChar char="•"/>
            </a:pPr>
            <a:r>
              <a:rPr lang="en-US" sz="1100" dirty="0">
                <a:solidFill>
                  <a:srgbClr val="5B5F63"/>
                </a:solidFill>
                <a:latin typeface="Arial" pitchFamily="34" charset="0"/>
                <a:ea typeface="Arial" pitchFamily="34" charset="-122"/>
                <a:cs typeface="Arial" pitchFamily="34" charset="-120"/>
              </a:rPr>
              <a:t>Confirm sales-led vs self-serve weighting and set paid budget</a:t>
            </a:r>
            <a:endParaRPr lang="en-US" sz="1100" dirty="0"/>
          </a:p>
          <a:p>
            <a:pPr marL="342900" indent="-342900">
              <a:lnSpc>
                <a:spcPct val="120000"/>
              </a:lnSpc>
              <a:spcAft>
                <a:spcPts val="900"/>
              </a:spcAft>
              <a:buSzPct val="100000"/>
              <a:buChar char="•"/>
            </a:pPr>
            <a:r>
              <a:rPr lang="en-US" sz="1100" dirty="0">
                <a:solidFill>
                  <a:srgbClr val="5B5F63"/>
                </a:solidFill>
                <a:latin typeface="Arial" pitchFamily="34" charset="0"/>
                <a:ea typeface="Arial" pitchFamily="34" charset="-122"/>
                <a:cs typeface="Arial" pitchFamily="34" charset="-120"/>
              </a:rPr>
              <a:t>Confirm or swap metrics; lock the next quarter's plan</a:t>
            </a:r>
            <a:endParaRPr lang="en-US" sz="1100" dirty="0"/>
          </a:p>
          <a:p>
            <a:pPr marL="342900" indent="-342900">
              <a:lnSpc>
                <a:spcPct val="120000"/>
              </a:lnSpc>
              <a:spcAft>
                <a:spcPts val="900"/>
              </a:spcAft>
              <a:buSzPct val="100000"/>
              <a:buChar char="•"/>
            </a:pPr>
            <a:r>
              <a:rPr lang="en-US" sz="1100" dirty="0">
                <a:solidFill>
                  <a:srgbClr val="5B5F63"/>
                </a:solidFill>
                <a:latin typeface="Arial" pitchFamily="34" charset="0"/>
                <a:ea typeface="Arial" pitchFamily="34" charset="-122"/>
                <a:cs typeface="Arial" pitchFamily="34" charset="-120"/>
              </a:rPr>
              <a:t>Scale only the channels that earned it</a:t>
            </a:r>
            <a:endParaRPr lang="en-US" sz="1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E0E10"/>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788C5D"/>
          </a:solidFill>
          <a:ln/>
        </p:spPr>
      </p:sp>
      <p:sp>
        <p:nvSpPr>
          <p:cNvPr id="3" name="Text 1"/>
          <p:cNvSpPr/>
          <p:nvPr/>
        </p:nvSpPr>
        <p:spPr>
          <a:xfrm>
            <a:off x="640080" y="640080"/>
            <a:ext cx="7315200" cy="365760"/>
          </a:xfrm>
          <a:prstGeom prst="rect">
            <a:avLst/>
          </a:prstGeom>
          <a:noFill/>
          <a:ln/>
        </p:spPr>
        <p:txBody>
          <a:bodyPr wrap="square" rtlCol="0" anchor="ctr"/>
          <a:lstStyle/>
          <a:p>
            <a:pPr indent="0" marL="0">
              <a:buNone/>
            </a:pPr>
            <a:r>
              <a:rPr lang="en-US" sz="1300" b="1" spc="500" kern="0" dirty="0">
                <a:solidFill>
                  <a:srgbClr val="788C5D"/>
                </a:solidFill>
                <a:latin typeface="Arial" pitchFamily="34" charset="0"/>
                <a:ea typeface="Arial" pitchFamily="34" charset="-122"/>
                <a:cs typeface="Arial" pitchFamily="34" charset="-120"/>
              </a:rPr>
              <a:t>TO MOVE THIS FORWARD</a:t>
            </a:r>
            <a:endParaRPr lang="en-US" sz="1300" dirty="0"/>
          </a:p>
        </p:txBody>
      </p:sp>
      <p:sp>
        <p:nvSpPr>
          <p:cNvPr id="4" name="Text 2"/>
          <p:cNvSpPr/>
          <p:nvPr/>
        </p:nvSpPr>
        <p:spPr>
          <a:xfrm>
            <a:off x="640080" y="1005840"/>
            <a:ext cx="10058400" cy="731520"/>
          </a:xfrm>
          <a:prstGeom prst="rect">
            <a:avLst/>
          </a:prstGeom>
          <a:noFill/>
          <a:ln/>
        </p:spPr>
        <p:txBody>
          <a:bodyPr wrap="square" rtlCol="0" anchor="ctr"/>
          <a:lstStyle/>
          <a:p>
            <a:pPr indent="0" marL="0">
              <a:buNone/>
            </a:pPr>
            <a:r>
              <a:rPr lang="en-US" sz="3400" dirty="0">
                <a:solidFill>
                  <a:srgbClr val="FFFFFF"/>
                </a:solidFill>
                <a:latin typeface="Georgia" pitchFamily="34" charset="0"/>
                <a:ea typeface="Georgia" pitchFamily="34" charset="-122"/>
                <a:cs typeface="Georgia" pitchFamily="34" charset="-120"/>
              </a:rPr>
              <a:t>Decisions I Need</a:t>
            </a:r>
            <a:endParaRPr lang="en-US" sz="3400" dirty="0"/>
          </a:p>
        </p:txBody>
      </p:sp>
      <p:sp>
        <p:nvSpPr>
          <p:cNvPr id="5" name="Text 3"/>
          <p:cNvSpPr/>
          <p:nvPr/>
        </p:nvSpPr>
        <p:spPr>
          <a:xfrm>
            <a:off x="640080" y="2011680"/>
            <a:ext cx="10515600" cy="3200400"/>
          </a:xfrm>
          <a:prstGeom prst="rect">
            <a:avLst/>
          </a:prstGeom>
          <a:noFill/>
          <a:ln/>
        </p:spPr>
        <p:txBody>
          <a:bodyPr wrap="square" rtlCol="0" anchor="ctr"/>
          <a:lstStyle/>
          <a:p>
            <a:pPr marL="342900" indent="-342900">
              <a:lnSpc>
                <a:spcPct val="135000"/>
              </a:lnSpc>
              <a:spcAft>
                <a:spcPts val="1400"/>
              </a:spcAft>
              <a:buSzPct val="100000"/>
              <a:buChar char="•"/>
            </a:pPr>
            <a:r>
              <a:rPr lang="en-US" sz="1500" dirty="0">
                <a:solidFill>
                  <a:srgbClr val="ECEAE1"/>
                </a:solidFill>
                <a:latin typeface="Arial" pitchFamily="34" charset="0"/>
                <a:ea typeface="Arial" pitchFamily="34" charset="-122"/>
                <a:cs typeface="Arial" pitchFamily="34" charset="-120"/>
              </a:rPr>
              <a:t>Confirm the sales-led vs self-serve weighting, so I can finalize channel priority and paid allocation.</a:t>
            </a:r>
            <a:endParaRPr lang="en-US" sz="1500" dirty="0"/>
          </a:p>
          <a:p>
            <a:pPr marL="342900" indent="-342900">
              <a:lnSpc>
                <a:spcPct val="135000"/>
              </a:lnSpc>
              <a:spcAft>
                <a:spcPts val="1400"/>
              </a:spcAft>
              <a:buSzPct val="100000"/>
              <a:buChar char="•"/>
            </a:pPr>
            <a:r>
              <a:rPr lang="en-US" sz="1500" dirty="0">
                <a:solidFill>
                  <a:srgbClr val="ECEAE1"/>
                </a:solidFill>
                <a:latin typeface="Arial" pitchFamily="34" charset="0"/>
                <a:ea typeface="Arial" pitchFamily="34" charset="-122"/>
                <a:cs typeface="Arial" pitchFamily="34" charset="-120"/>
              </a:rPr>
              <a:t>Brand assets from Aishwarya: logo files, exact colors, typography, so every asset is genuinely on-brand.</a:t>
            </a:r>
            <a:endParaRPr lang="en-US" sz="1500" dirty="0"/>
          </a:p>
          <a:p>
            <a:pPr marL="342900" indent="-342900">
              <a:lnSpc>
                <a:spcPct val="135000"/>
              </a:lnSpc>
              <a:spcAft>
                <a:spcPts val="1400"/>
              </a:spcAft>
              <a:buSzPct val="100000"/>
              <a:buChar char="•"/>
            </a:pPr>
            <a:r>
              <a:rPr lang="en-US" sz="1500" dirty="0">
                <a:solidFill>
                  <a:srgbClr val="ECEAE1"/>
                </a:solidFill>
                <a:latin typeface="Arial" pitchFamily="34" charset="0"/>
                <a:ea typeface="Arial" pitchFamily="34" charset="-122"/>
                <a:cs typeface="Arial" pitchFamily="34" charset="-120"/>
              </a:rPr>
              <a:t>Sign-off on the 90-day calibration window, or tell me to compress it.</a:t>
            </a:r>
            <a:endParaRPr lang="en-US" sz="1500" dirty="0"/>
          </a:p>
          <a:p>
            <a:pPr marL="342900" indent="-342900">
              <a:lnSpc>
                <a:spcPct val="135000"/>
              </a:lnSpc>
              <a:spcAft>
                <a:spcPts val="1400"/>
              </a:spcAft>
              <a:buSzPct val="100000"/>
              <a:buChar char="•"/>
            </a:pPr>
            <a:r>
              <a:rPr lang="en-US" sz="1500" dirty="0">
                <a:solidFill>
                  <a:srgbClr val="ECEAE1"/>
                </a:solidFill>
                <a:latin typeface="Arial" pitchFamily="34" charset="0"/>
                <a:ea typeface="Arial" pitchFamily="34" charset="-122"/>
                <a:cs typeface="Arial" pitchFamily="34" charset="-120"/>
              </a:rPr>
              <a:t>Clarity on how much I own the Fluso Legal launch, since it is the first run of the wedge.</a:t>
            </a:r>
            <a:endParaRPr lang="en-US" sz="1500" dirty="0"/>
          </a:p>
          <a:p>
            <a:pPr marL="342900" indent="-342900">
              <a:lnSpc>
                <a:spcPct val="135000"/>
              </a:lnSpc>
              <a:spcAft>
                <a:spcPts val="1400"/>
              </a:spcAft>
              <a:buSzPct val="100000"/>
              <a:buChar char="•"/>
            </a:pPr>
            <a:r>
              <a:rPr lang="en-US" sz="1500" dirty="0">
                <a:solidFill>
                  <a:srgbClr val="ECEAE1"/>
                </a:solidFill>
                <a:latin typeface="Arial" pitchFamily="34" charset="0"/>
                <a:ea typeface="Arial" pitchFamily="34" charset="-122"/>
                <a:cs typeface="Arial" pitchFamily="34" charset="-120"/>
              </a:rPr>
              <a:t>Access to existing analytics, so I can establish baselines in the first 30 days.</a:t>
            </a:r>
            <a:endParaRPr lang="en-US" sz="1500" dirty="0"/>
          </a:p>
        </p:txBody>
      </p:sp>
      <p:sp>
        <p:nvSpPr>
          <p:cNvPr id="6" name="Text 4"/>
          <p:cNvSpPr/>
          <p:nvPr/>
        </p:nvSpPr>
        <p:spPr>
          <a:xfrm>
            <a:off x="640080" y="6035040"/>
            <a:ext cx="10058400" cy="365760"/>
          </a:xfrm>
          <a:prstGeom prst="rect">
            <a:avLst/>
          </a:prstGeom>
          <a:noFill/>
          <a:ln/>
        </p:spPr>
        <p:txBody>
          <a:bodyPr wrap="square" rtlCol="0" anchor="ctr"/>
          <a:lstStyle/>
          <a:p>
            <a:pPr indent="0" marL="0">
              <a:buNone/>
            </a:pPr>
            <a:r>
              <a:rPr lang="en-US" sz="1200" dirty="0">
                <a:solidFill>
                  <a:srgbClr val="5B5F63"/>
                </a:solidFill>
                <a:latin typeface="Arial" pitchFamily="34" charset="0"/>
                <a:ea typeface="Arial" pitchFamily="34" charset="-122"/>
                <a:cs typeface="Arial" pitchFamily="34" charset="-120"/>
              </a:rPr>
              <a:t>Yash Ranka  ·  Marketing &amp; Growth  ·  PremAI</a:t>
            </a:r>
            <a:endParaRPr lang="en-US" sz="1200" dirty="0"/>
          </a:p>
        </p:txBody>
      </p:sp>
      <p:sp>
        <p:nvSpPr>
          <p:cNvPr id="7" name="Text 5"/>
          <p:cNvSpPr/>
          <p:nvPr/>
        </p:nvSpPr>
        <p:spPr>
          <a:xfrm>
            <a:off x="11460175" y="6446520"/>
            <a:ext cx="457200" cy="274320"/>
          </a:xfrm>
          <a:prstGeom prst="rect">
            <a:avLst/>
          </a:prstGeom>
          <a:noFill/>
          <a:ln/>
        </p:spPr>
        <p:txBody>
          <a:bodyPr wrap="square" rtlCol="0" anchor="ctr"/>
          <a:lstStyle/>
          <a:p>
            <a:pPr algn="r" indent="0" marL="0">
              <a:buNone/>
            </a:pPr>
            <a:r>
              <a:rPr lang="en-US" sz="1000" dirty="0">
                <a:solidFill>
                  <a:srgbClr val="9A9A93"/>
                </a:solidFill>
                <a:latin typeface="Arial" pitchFamily="34" charset="0"/>
                <a:ea typeface="Arial" pitchFamily="34" charset="-122"/>
                <a:cs typeface="Arial" pitchFamily="34" charset="-120"/>
              </a:rPr>
              <a:t>32</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32</Slides>
  <Notes>32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32</vt:i4>
      </vt:variant>
    </vt:vector>
  </HeadingPairs>
  <TitlesOfParts>
    <vt:vector size="3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PremAI Brand &amp; GTM Strategy</dc:title>
  <dc:subject>PptxGenJS Presentation</dc:subject>
  <dc:creator>Yash Ranka</dc:creator>
  <cp:lastModifiedBy>Yash Ranka</cp:lastModifiedBy>
  <cp:revision>1</cp:revision>
  <dcterms:created xsi:type="dcterms:W3CDTF">2026-06-03T20:23:02Z</dcterms:created>
  <dcterms:modified xsi:type="dcterms:W3CDTF">2026-06-03T20:23:02Z</dcterms:modified>
</cp:coreProperties>
</file>
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SOURCES — Slide 2</a:t>
            </a:r>
          </a:p>
          <a:p/>
          <a:p>
            <a:r>
              <a:t>Sovereign cloud: $154.69B (2025) → $1.32T by 2034 at 27% CAGR (Grand View Research 2025).</a:t>
            </a:r>
          </a:p>
          <a:p>
            <a:r>
              <a:t>Confidential computing: $9.31B (2025) → $15.15B (2026) (Mordor Intelligence 2025).</a:t>
            </a:r>
          </a:p>
          <a:p>
            <a:r>
              <a:t>AI governance &amp; compliance: $2.20B (2025) → $11.05B (2036) at 15.8% CAGR (FutureMarketInsights 2025).</a:t>
            </a:r>
          </a:p>
          <a:p/>
          <a:p>
            <a:r>
              <a:t>The market data anchors the wedge argument: the category Prem is entering (verified/sovereign AI) is growing faster than the broader enterprise AI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SOURCES — Slide 3</a:t>
            </a:r>
          </a:p>
          <a:p/>
          <a:p>
            <a:r>
              <a:t>91% of B2B SaaS companies over $50M ARR now implement PLG strategies (Segment8, 2025).</a:t>
            </a:r>
          </a:p>
          <a:p>
            <a:r>
              <a:t>PQLs convert at ~3x the rate of marketing-qualified leads (ProductLed 2025).</a:t>
            </a:r>
          </a:p>
          <a:p>
            <a:r>
              <a:t>PLG-led companies (e.g. Cursor) shifted from ~25% to ~60% corporate buyer revenue as they scaled past $1B ARR (SaaSMag 2025).</a:t>
            </a:r>
          </a:p>
          <a:p>
            <a:r>
              <a:t>PLG startups raised $15B+ globally in 2024 (SaaSMag 2025).</a:t>
            </a:r>
          </a:p>
          <a:p>
            <a:r>
              <a:t>Sales-assisted PQLs target 25-35% conversion with &lt;12 month CAC payback.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SOURCES + CORRECTION — Slide 8</a:t>
            </a:r>
          </a:p>
          <a:p/>
          <a:p>
            <a:r>
              <a:t>CRITICAL CORRECTION: Original deck stated 'Incumbent AI tools cost $1.5k to 5k per lawyer/year'. Research confirms Harvey pricing is ~$1,000–$2,000/seat/month = $12k–$24k/year, with a 20-seat minimum ($288k+ annual floor for most firms). This makes Prem's competitive price advantage LARGER, not smaller. Update in the verbal delivery.</a:t>
            </a:r>
          </a:p>
          <a:p/>
          <a:p>
            <a:r>
              <a:t>Legal AI market: $3.11B (2025) → $10.82B by 2030, 28.3% CAGR (MarketsandMarkets 2025).</a:t>
            </a:r>
          </a:p>
          <a:p>
            <a:r>
              <a:t>Harvey: $200M raised at $11B valuation (March 2026, TechCrunch).</a:t>
            </a:r>
          </a:p>
          <a:p>
            <a:r>
              <a:t>Legora: $550M raised at $5.55B valuation (March 2026, TechCrunch). $100M ARR in 18 months.</a:t>
            </a:r>
          </a:p>
          <a:p>
            <a:r>
              <a:t>Harvey pricing research: costbench.com, lawxyai.com, eesel.ai (2026). Mid-market firms: $1,200–$1,500/seat/month. AmLaw 100: $1,500–$2,000+/seat/month with volume discounts.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SOURCES — Slide 11</a:t>
            </a:r>
          </a:p>
          <a:p/>
          <a:p>
            <a:r>
              <a:t>Enterprise AI market: $107.16B (2025) → $641.47B by 2035, 19.6% CAGR (Acumen Research 2025).</a:t>
            </a:r>
          </a:p>
          <a:p>
            <a:r>
              <a:t>BFSI: 23.67% revenue share of enterprise AI in 2025, through mature fraud detection and analytics deployments (Mordor Intelligence).</a:t>
            </a:r>
          </a:p>
          <a:p>
            <a:r>
              <a:t>Healthcare AI spending: ~$1.4B in 2025, nearly tripling 2024 investment (Menlo Ventures 2025).</a:t>
            </a:r>
          </a:p>
          <a:p>
            <a:r>
              <a:t>91% of B2B SaaS companies over $50M ARR implement PLG — the B2C 20% is a validated, not experimental, motion (Segment8, 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SOURCES — Slide 20</a:t>
            </a:r>
          </a:p>
          <a:p/>
          <a:p>
            <a:r>
              <a:t>81% higher ROI vs non-ABM approaches (AdRoll 2026).</a:t>
            </a:r>
          </a:p>
          <a:p>
            <a:r>
              <a:t>26% higher win rates, 33% larger deal sizes for ABM-targeted accounts (RevvGrowth 2026).</a:t>
            </a:r>
          </a:p>
          <a:p>
            <a:r>
              <a:t>Top-performing mature ABM programs achieve 7:1 ROI; average programs 3:1 (Digital Applied 2026).</a:t>
            </a:r>
          </a:p>
          <a:p>
            <a:r>
              <a:t>82% of B2B companies have an active ABM program as of 2024 (G2).</a:t>
            </a:r>
          </a:p>
          <a:p>
            <a:r>
              <a:t>208% increase in marketing-generated revenue for ABM-implementing companies (MarketingScoop 2025).</a:t>
            </a:r>
          </a:p>
          <a:p>
            <a:r>
              <a:t>Large enterprises captured 58% of ABM market in 2024 — validates the enterprise-first ABM bet (Digital Applied 2026).</a:t>
            </a:r>
          </a:p>
          <a:p>
            <a:r>
              <a:t>ABM ROI typically becomes visible in 6–12 months from program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SOURCES — Slide 27</a:t>
            </a:r>
          </a:p>
          <a:p/>
          <a:p>
            <a:r>
              <a:t>Veeva Systems vertical wedge precedent:</a:t>
            </a:r>
          </a:p>
          <a:p>
            <a:r>
              <a:t>- Reached $45M revenue before seeking VC funding</a:t>
            </a:r>
          </a:p>
          <a:p>
            <a:r>
              <a:t>- Raised only $7M total ($3M actually used)</a:t>
            </a:r>
          </a:p>
          <a:p>
            <a:r>
              <a:t>- Gained &gt;50% large pharma CRM market share within 5 years of launch</a:t>
            </a:r>
          </a:p>
          <a:p>
            <a:r>
              <a:t>- ~80% market share in niche today</a:t>
            </a:r>
          </a:p>
          <a:p>
            <a:r>
              <a:t>- Serves all top-20 life sciences companies and 1,400+ customers</a:t>
            </a:r>
          </a:p>
          <a:p>
            <a:r>
              <a:t>- $2.4B ARR, $34B market cap</a:t>
            </a:r>
          </a:p>
          <a:p>
            <a:r>
              <a:t>- Sources: SaaStr ('The Early Days'), EuropeanTech (Chirag Modi), CompoundAndFire 2025</a:t>
            </a:r>
          </a:p>
          <a:p/>
          <a:p>
            <a:r>
              <a:t>Legal AI market size: $3.11B (2025) → $10.82B by 2030 at 28.3% CAGR (MarketsandMarkets 2025).</a:t>
            </a:r>
          </a:p>
          <a:p>
            <a:r>
              <a:t>Harvey valuation: $11B (March 2026). Legora: $5.6B (April 2026). Both validate premium willingness-to-pay in legal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SOURCES + BENCHMARK RANGES — Slide 30</a:t>
            </a:r>
          </a:p>
          <a:p/>
          <a:p>
            <a:r>
              <a:t>Activated Signups benchmark:</a:t>
            </a:r>
          </a:p>
          <a:p>
            <a:r>
              <a:t>- B2B SaaS trial-to-paid median: 18.5% (FirstPageSage, 2025)</a:t>
            </a:r>
          </a:p>
          <a:p>
            <a:r>
              <a:t>- Top quartile: 35-45%. Elite performers: 60%+</a:t>
            </a:r>
          </a:p>
          <a:p>
            <a:r>
              <a:t>- Vertical SaaS (legal, healthcare, construction): 25-40% when qualification happens upfront</a:t>
            </a:r>
          </a:p>
          <a:p>
            <a:r>
              <a:t>- Companies defining an activation event see 2.5× higher trial-to-paid conversion</a:t>
            </a:r>
          </a:p>
          <a:p/>
          <a:p>
            <a:r>
              <a:t>Non-Paid Qualified Traffic benchmark:</a:t>
            </a:r>
          </a:p>
          <a:p>
            <a:r>
              <a:t>- Organic/content-driven traffic accounts for 40-60% of qualified SaaS trial signups at mature stage</a:t>
            </a:r>
          </a:p>
          <a:p>
            <a:r>
              <a:t>- Branded search intent converts at 2-5× non-branded queries</a:t>
            </a:r>
          </a:p>
          <a:p/>
          <a:p>
            <a:r>
              <a:t>Branded Search Volume benchmark:</a:t>
            </a:r>
          </a:p>
          <a:p>
            <a:r>
              <a:t>- Most useful as a relative/trend metric vs absolute number; measure week-over-week growth</a:t>
            </a:r>
          </a:p>
          <a:p/>
          <a:p>
            <a:r>
              <a:t>SQLs-to-Sales benchmark:</a:t>
            </a:r>
          </a:p>
          <a:p>
            <a:r>
              <a:t>- PQLs convert at roughly 3× MQL rate (ProductLed 2025)</a:t>
            </a:r>
          </a:p>
          <a:p>
            <a:r>
              <a:t>- Sales-assisted PQLs should target 25-35% conversion with &lt;12 months CAC payback</a:t>
            </a:r>
          </a:p>
          <a:p>
            <a:r>
              <a:t>- ABM programs: 5-9× ROI for mature programs; 3:1 for average programs (RevvGrowth 2026)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&amp; Go-To-Market Strategy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58368" y="3200400"/>
            <a:ext cx="2743200" cy="2743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4290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Personas, positioning, the verticalization wedge, and the full channel engine across a hybrid PLG and sales-led motion.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Yash Ranka, Marketing &amp; Growth  |  June 2026  |  Working strategy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Play, and Why We Can Win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08792" cy="77724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258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has consolidated around three bets. None of them is ours to lose.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5204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3520440" cy="54864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87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852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as infrastructure.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3200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as a procurement advantage. Enterprise-led, vertical products, ad-free as a loud differentiator.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4256" y="2331720"/>
            <a:ext cx="35204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06450000" dist="322580000" dir="324000000000">
              <a:srgbClr val="000000">
                <a:alpha val="10000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4256" y="2331720"/>
            <a:ext cx="3520440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2487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35424" y="2852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integration.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35424" y="3200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consumer default. Now ad-supported to monetize 800M+ users. Reach over trust.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28432" y="2331720"/>
            <a:ext cx="35204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241915000000" dist="4096766000000" dir="19440000000000000">
              <a:srgbClr val="000000">
                <a:alpha val="1000000000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28432" y="2331720"/>
            <a:ext cx="3520440" cy="54864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487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2852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depth.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3200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wins. Gemini bundled into Workspace. You get it because you already pay Google.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10908792" cy="141732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PREM WEDGE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864608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of the three leads on verifiable, cryptographic privacy. Anthropic answers the 'my data is being mined' fear with a policy promise. We answer it with a hardware guarantee. We win the way Anthropic did, trust as a procurement advantage, but we go narrow first: prove it in one vertical, then expand.</a:t>
            </a:r>
            <a:endParaRPr lang="en-US" sz="1300" dirty="0"/>
          </a:p>
        </p:txBody>
      </p:sp>
      <p:sp>
        <p:nvSpPr>
          <p:cNvPr id="25" name="TextBox 24"/>
          <p:cNvSpPr txBox="1"/>
          <p:nvPr/>
        </p:nvSpPr>
        <p:spPr>
          <a:xfrm>
            <a:off x="640080" y="5870448"/>
            <a:ext cx="10908792" cy="475488"/>
          </a:xfrm>
          <a:prstGeom prst="rect">
            <a:avLst/>
          </a:prstGeom>
          <a:solidFill>
            <a:srgbClr val="EDF2FF"/>
          </a:solidFill>
          <a:ln w="6350">
            <a:solidFill>
              <a:srgbClr val="3D5AB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3D5ABD"/>
                </a:solidFill>
              </a:rPr>
              <a:t>DATA  </a:t>
            </a:r>
            <a:r>
              <a:rPr sz="650" b="0">
                <a:solidFill>
                  <a:srgbClr val="222233"/>
                </a:solidFill>
              </a:rPr>
              <a:t>Sovereign cloud: $155B (2025) → $1.3T by 2034 (+27% CAGR). Confidential computing: $9.3B → $15.2B in 2026. AI governance &amp; compliance: $2.2B (2025) → $11B by 2036 (+15.8% CAGR). [Mordor Intelligence / Fortune BI / Grand View Research 2025]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GTM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Engines, One Company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run a hybrid motion. Product-led growth pulls developers and individuals in from the bottom. Sales-led motion wins enterprise and vertical accounts from the top. Each engine feeds the other.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94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0072320500000000" dist="52028928200000000" dir="1.1664e+21">
              <a:srgbClr val="000000">
                <a:alpha val="100000000000000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57400"/>
            <a:ext cx="5394960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PRODUCT-LED  (PLG)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Fluso individuals, developers, and the API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tier, self-serve, fast time-to-value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Bottom-up: users adopt, then pull Prem into their company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Channels: docs, devrel, content, social, community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376672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65191847035e+21" dist="660767388140000000000" dir="6.9984e+25">
              <a:srgbClr val="000000">
                <a:alpha val="1e+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05740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SALES-LED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regulated enterprises and the vertical wedge (legal first)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High-touch: ABM, events, co-brand, executive relationships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API enterprise deals run here too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Channels: ABM, events, PR, analyst relations, partnerships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908792" cy="8686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FLYWHEEL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53949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PLG advocates become the champions who unlock enterprise deals. Enterprise proof and named logos become the credibility that fuels PLG. One engine is the other's lead source.</a:t>
            </a:r>
            <a:endParaRPr lang="en-US" sz="1250" dirty="0"/>
          </a:p>
        </p:txBody>
      </p:sp>
      <p:sp>
        <p:nvSpPr>
          <p:cNvPr id="17" name="TextBox 16"/>
          <p:cNvSpPr txBox="1"/>
          <p:nvPr/>
        </p:nvSpPr>
        <p:spPr>
          <a:xfrm>
            <a:off x="640080" y="5925312"/>
            <a:ext cx="10908792" cy="411480"/>
          </a:xfrm>
          <a:prstGeom prst="rect">
            <a:avLst/>
          </a:prstGeom>
          <a:solidFill>
            <a:srgbClr val="EDF2FF"/>
          </a:solidFill>
          <a:ln w="6350">
            <a:solidFill>
              <a:srgbClr val="3D5AB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3D5ABD"/>
                </a:solidFill>
              </a:rPr>
              <a:t>DATA  </a:t>
            </a:r>
            <a:r>
              <a:rPr sz="650" b="0">
                <a:solidFill>
                  <a:srgbClr val="222233"/>
                </a:solidFill>
              </a:rPr>
              <a:t>91% of B2B SaaS &gt;$50M ARR now run PLG motions. PQLs convert at 3× MQL rate. PLG-led companies scale from 25% to ~60% corporate buyer revenue as they grow. PLG startups raised $15B globally in 2024. [ProductLed / Segment8 2025]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 We Sell To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personas across B2B and B2C. Every channel, message, and campaign that follows is built for these humans, not for an abstract market.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77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Compliance Owner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 ·  Chief Risk  ·  DPO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3832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383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38404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3840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2976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2976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Sales-led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029200"/>
            <a:ext cx="3017520" cy="18288"/>
          </a:xfrm>
          <a:prstGeom prst="rect">
            <a:avLst/>
          </a:prstGeom>
          <a:solidFill>
            <a:srgbClr val="2E2E33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120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ARE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5349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prove sensitive data never left the building. Holds veto power over every AI purchase.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0979364573445003e+25" dist="8.391745829378e+24" dir="4.19904e+30">
              <a:srgbClr val="000000">
                <a:alpha val="1e+2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502920"/>
            <a:ext cx="3703320" cy="4572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9" name="Text 16"/>
          <p:cNvSpPr/>
          <p:nvPr/>
        </p:nvSpPr>
        <p:spPr>
          <a:xfrm>
            <a:off x="452628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2628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exposure: GDPR, HIPAA, DORA, EU AI Act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wants an AI strategy that is also defensible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vendor is a new attack surface to vet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8388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6643793008275154e+29" dist="1.0657517203310059e+29" dir="2.519424e+35">
              <a:srgbClr val="000000">
                <a:alpha val="1e+34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502920"/>
            <a:ext cx="3703320" cy="457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6676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regulation or a near-miss incident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finding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mandate to adopt AI safely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4340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3837617120509443e+33" dist="1.3535046848203775e+33" dir="1.5116544e+40">
              <a:srgbClr val="000000">
                <a:alpha val="1e+39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43400" y="3246120"/>
            <a:ext cx="3703320" cy="45720"/>
          </a:xfrm>
          <a:prstGeom prst="rect">
            <a:avLst/>
          </a:prstGeom>
          <a:solidFill>
            <a:srgbClr val="5B5F63"/>
          </a:solidFill>
          <a:ln/>
        </p:spPr>
      </p:sp>
      <p:sp>
        <p:nvSpPr>
          <p:cNvPr id="27" name="Text 24"/>
          <p:cNvSpPr/>
          <p:nvPr/>
        </p:nvSpPr>
        <p:spPr>
          <a:xfrm>
            <a:off x="452628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2628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actually prove data never leaves?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vendor to assess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this fit our cloud contracts?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8388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297377374304699e+37" dist="1.7189509497218795e+37" dir="9.069926400000001e+44">
              <a:srgbClr val="000000">
                <a:alpha val="9.999999999999999e+43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183880" y="3246120"/>
            <a:ext cx="3703320" cy="4572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31" name="Text 28"/>
          <p:cNvSpPr/>
          <p:nvPr/>
        </p:nvSpPr>
        <p:spPr>
          <a:xfrm>
            <a:off x="836676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CONVERTS THEM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6676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Hardware-attested proof, not promises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 roadmap (SOC2, ISO, HIPAA)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Same-industry references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inside their own perimeter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88C5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Champion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Engineering  ·  Head of Product  ·  Innovation Lead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3832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383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38404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3840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2976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2976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029200"/>
            <a:ext cx="3017520" cy="18288"/>
          </a:xfrm>
          <a:prstGeom prst="rect">
            <a:avLst/>
          </a:prstGeom>
          <a:solidFill>
            <a:srgbClr val="2E2E33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120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ARE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5349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to ship AI but is blocked by a six-month review. Needs a tool that arrives pre-cleared.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457669265366968e+41" dist="2.183067706146787e+41" dir="5.44195584e+49">
              <a:srgbClr val="000000">
                <a:alpha val="1e+4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502920"/>
            <a:ext cx="3703320" cy="4572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9" name="Text 16"/>
          <p:cNvSpPr/>
          <p:nvPr/>
        </p:nvSpPr>
        <p:spPr>
          <a:xfrm>
            <a:off x="452628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2628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projects stall in compliance review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Tired of hearing 'no' from security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competitors ship AI features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8388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93123996701605e+45" dist="2.7724959868064195e+45" dir="3.2651735040000005e+54">
              <a:srgbClr val="000000">
                <a:alpha val="9.999999999999999e+53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502920"/>
            <a:ext cx="3703320" cy="457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6676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stalled AI initiative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from leadership to ship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a rival launch first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4340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802674758110384e+49" dist="3.5210699032441527e+49" dir="1.9591041024000004e+59">
              <a:srgbClr val="000000">
                <a:alpha val="9.999999999999999e+58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43400" y="3246120"/>
            <a:ext cx="3703320" cy="45720"/>
          </a:xfrm>
          <a:prstGeom prst="rect">
            <a:avLst/>
          </a:prstGeom>
          <a:solidFill>
            <a:srgbClr val="5B5F63"/>
          </a:solidFill>
          <a:ln/>
        </p:spPr>
      </p:sp>
      <p:sp>
        <p:nvSpPr>
          <p:cNvPr id="27" name="Text 24"/>
          <p:cNvSpPr/>
          <p:nvPr/>
        </p:nvSpPr>
        <p:spPr>
          <a:xfrm>
            <a:off x="452628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2628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this slow my team down?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developer experience good?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compliance actually approve it?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8388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1179396942800187e+54" dist="4.471758777120074e+53" dir="1.1754624614400003e+64">
              <a:srgbClr val="000000">
                <a:alpha val="9.999999999999999e+63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183880" y="3246120"/>
            <a:ext cx="3703320" cy="4572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31" name="Text 28"/>
          <p:cNvSpPr/>
          <p:nvPr/>
        </p:nvSpPr>
        <p:spPr>
          <a:xfrm>
            <a:off x="836676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CONVERTS THEM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6676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unblocks them with compliance, not around it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utility: deep work and automation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integrations and DX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time to value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70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Technical Validator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  ·  Security Architect  ·  Senior Dev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3832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383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38404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3840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2976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2976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Product-led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029200"/>
            <a:ext cx="3017520" cy="18288"/>
          </a:xfrm>
          <a:prstGeom prst="rect">
            <a:avLst/>
          </a:prstGeom>
          <a:solidFill>
            <a:srgbClr val="2E2E33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120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ARE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5349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to verify the claims are real, not marketing. Will try to break it before trusting it.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419783411735624e+58" dist="5.679133646942494e+57" dir="7.052774768640002e+68">
              <a:srgbClr val="000000">
                <a:alpha val="9.999999999999999e+68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502920"/>
            <a:ext cx="3703320" cy="4572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9" name="Text 16"/>
          <p:cNvSpPr/>
          <p:nvPr/>
        </p:nvSpPr>
        <p:spPr>
          <a:xfrm>
            <a:off x="452628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2628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claims that don't survive a POC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overhead of privacy tech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of lock-in and bad docs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8388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8031249329042424e+62" dist="7.212499731616968e+61" dir="4.2316648611840007e+73">
              <a:srgbClr val="000000">
                <a:alpha val="9.999999999999998e+73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502920"/>
            <a:ext cx="3703320" cy="457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6676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to evaluate a POC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 privacy or performance requirement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4340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289968664788388e+66" dist="9.15987465915355e+65" dir="2.5389989167104004e+78">
              <a:srgbClr val="000000">
                <a:alpha val="9.999999999999998e+78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43400" y="3246120"/>
            <a:ext cx="3703320" cy="45720"/>
          </a:xfrm>
          <a:prstGeom prst="rect">
            <a:avLst/>
          </a:prstGeom>
          <a:solidFill>
            <a:srgbClr val="5B5F63"/>
          </a:solidFill>
          <a:ln/>
        </p:spPr>
      </p:sp>
      <p:sp>
        <p:nvSpPr>
          <p:cNvPr id="27" name="Text 24"/>
          <p:cNvSpPr/>
          <p:nvPr/>
        </p:nvSpPr>
        <p:spPr>
          <a:xfrm>
            <a:off x="452628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2628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crypto real or theater?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latency and throughput cost?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get my model and data out?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8388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908260204281253e+70" dist="1.1633040817125008e+70" dir="1.5233993500262402e+83">
              <a:srgbClr val="000000">
                <a:alpha val="9.999999999999998e+83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183880" y="3246120"/>
            <a:ext cx="3703320" cy="4572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31" name="Text 28"/>
          <p:cNvSpPr/>
          <p:nvPr/>
        </p:nvSpPr>
        <p:spPr>
          <a:xfrm>
            <a:off x="836676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CONVERTS THEM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6676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verification stack (Reticle)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benchmarks, not claims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OpenAI-compatible, zero code change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specifics that check out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E0E1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771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Vertical Buyer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Legal: Innovation Partner  ·  KM Director  ·  Managing Partner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3832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02920" y="3383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38404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2920" y="3840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2976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2976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Sales-led + Co-brand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029200"/>
            <a:ext cx="3017520" cy="18288"/>
          </a:xfrm>
          <a:prstGeom prst="rect">
            <a:avLst/>
          </a:prstGeom>
          <a:solidFill>
            <a:srgbClr val="2E2E3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02920" y="5120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ARE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5349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Lawyers' time is the product. Needs accuracy and absolute confidentiality, at a fraction of incumbent cost.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693490459437191e+74" dist="1.477396183774876e+74" dir="9.14039610015744e+87">
              <a:srgbClr val="000000">
                <a:alpha val="9.999999999999999e+88"/>
              </a:srgbClr>
            </a:outerShdw>
          </a:effectLst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343400" y="502920"/>
            <a:ext cx="3703320" cy="45720"/>
          </a:xfrm>
          <a:prstGeom prst="rect">
            <a:avLst/>
          </a:prstGeom>
          <a:solidFill>
            <a:srgbClr val="C2703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2628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2628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AI tools cost $12k to $24k per lawyer/year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is a malpractice concern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and privilege cannot be exposed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8388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690732883485232e+78" dist="1.8762931533940924e+78" dir="5.484237660094465e+92">
              <a:srgbClr val="000000">
                <a:alpha val="9.999999999999998e+93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83880" y="502920"/>
            <a:ext cx="3703320" cy="4572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36676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6676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rival firm adopts AI publicly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 asks what AI you use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of an expensive incumbent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4340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957230762026245e+82" dist="2.3828923048104974e+82" dir="3.2905425960566786e+97">
              <a:srgbClr val="000000">
                <a:alpha val="9.999999999999998e+98"/>
              </a:srgbClr>
            </a:outerShdw>
          </a:effectLst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4343400" y="3246120"/>
            <a:ext cx="3703320" cy="45720"/>
          </a:xfrm>
          <a:prstGeom prst="rect">
            <a:avLst/>
          </a:prstGeom>
          <a:solidFill>
            <a:srgbClr val="5B5F63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52628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2628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accurate enough for legal work?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privilege protected?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proven in a real firm?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8388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.565683067773332e+86" dist="3.0262732271093317e+86" dir="1.9743255576340073e+102">
              <a:srgbClr val="000000">
                <a:alpha val="9.999999999999998e+103"/>
              </a:srgbClr>
            </a:outerShdw>
          </a:effectLst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8183880" y="3246120"/>
            <a:ext cx="3703320" cy="45720"/>
          </a:xfrm>
          <a:prstGeom prst="rect">
            <a:avLst/>
          </a:prstGeom>
          <a:solidFill>
            <a:srgbClr val="185771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836676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CONVERTS THEM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6676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Co-developed with a major firm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advice, lawyer keeps judgment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well below incumbents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by architecture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640080" y="6007608"/>
            <a:ext cx="10908792" cy="338328"/>
          </a:xfrm>
          <a:prstGeom prst="rect">
            <a:avLst/>
          </a:prstGeom>
          <a:solidFill>
            <a:srgbClr val="EDF2FF"/>
          </a:solidFill>
          <a:ln w="6350">
            <a:solidFill>
              <a:srgbClr val="3D5AB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3D5ABD"/>
                </a:solidFill>
              </a:rPr>
              <a:t>DATA  </a:t>
            </a:r>
            <a:r>
              <a:rPr sz="650" b="0">
                <a:solidFill>
                  <a:srgbClr val="222233"/>
                </a:solidFill>
              </a:rPr>
              <a:t>Legal AI market: $3.1B (2025) → $10.8B by 2030 (+28.3% CAGR). Harvey: $11B valuation, ~$12k–$24k/seat/year (min. 20 seats = $288k+ floor). Legora: $5.6B valuation, $100M ARR in 18 months. PRICING NOTE: original deck said $1.5k–5k/yr; corrected above to $12k–$24k/yr. [MarketsandMarkets / TechCrunch / costbench.com 2026]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70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Developer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Indie dev  ·  Startup engineer  ·  Builder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3832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383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38404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3840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2976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2976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029200"/>
            <a:ext cx="3017520" cy="18288"/>
          </a:xfrm>
          <a:prstGeom prst="rect">
            <a:avLst/>
          </a:prstGeom>
          <a:solidFill>
            <a:srgbClr val="2E2E33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120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ARE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5349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to build private AI features without becoming a cryptographer. Signs up with a card, not a contract.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.608417496072131e+90" dist="3.8433669984288512e+90" dir="1.1845953345804043e+107">
              <a:srgbClr val="000000">
                <a:alpha val="9.999999999999998e+108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502920"/>
            <a:ext cx="3703320" cy="4572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9" name="Text 16"/>
          <p:cNvSpPr/>
          <p:nvPr/>
        </p:nvSpPr>
        <p:spPr>
          <a:xfrm>
            <a:off x="452628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2628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needs they can't meet with OpenAI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 to a single provider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at scale; crypto is hard to do right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8388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2202690220011606e+95" dist="4.8810760880046414e+94" dir="7.107572007482426e+111">
              <a:srgbClr val="000000">
                <a:alpha val="9.999999999999997e+113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502920"/>
            <a:ext cx="3703320" cy="457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6676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project that needs privacy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about confidential compute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 with a current provider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4340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549741657941474e+99" dist="6.198966631765894e+98" dir="4.2645432044894554e+116">
              <a:srgbClr val="000000">
                <a:alpha val="9.999999999999998e+118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43400" y="3246120"/>
            <a:ext cx="3703320" cy="45720"/>
          </a:xfrm>
          <a:prstGeom prst="rect">
            <a:avLst/>
          </a:prstGeom>
          <a:solidFill>
            <a:srgbClr val="5B5F63"/>
          </a:solidFill>
          <a:ln/>
        </p:spPr>
      </p:sp>
      <p:sp>
        <p:nvSpPr>
          <p:cNvPr id="27" name="Text 24"/>
          <p:cNvSpPr/>
          <p:nvPr/>
        </p:nvSpPr>
        <p:spPr>
          <a:xfrm>
            <a:off x="452628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2628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really drop-in?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cost at scale?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privacy actually real?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8388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9681719055856718e+103" dist="7.872687622342685e+102" dir="2.5587259226936733e+121">
              <a:srgbClr val="000000">
                <a:alpha val="9.999999999999997e+123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183880" y="3246120"/>
            <a:ext cx="3703320" cy="4572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31" name="Text 28"/>
          <p:cNvSpPr/>
          <p:nvPr/>
        </p:nvSpPr>
        <p:spPr>
          <a:xfrm>
            <a:off x="836676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CONVERTS THEM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6676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OpenAI-compatible, one line to switch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credits to start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verification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Genuinely good docs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88C5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Prosumer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 ·  Consultant  ·  Knowledge worker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3832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383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38404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3840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2976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7171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2976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029200"/>
            <a:ext cx="3017520" cy="18288"/>
          </a:xfrm>
          <a:prstGeom prst="rect">
            <a:avLst/>
          </a:prstGeom>
          <a:solidFill>
            <a:srgbClr val="2E2E33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120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ARE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5349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Drowning in tabs and busywork. Wants AI that finishes the job, and quietly cares that it stays private.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4995783200938032e+107" dist="9.998313280375211e+106" dir="1.535235553616204e+126">
              <a:srgbClr val="000000">
                <a:alpha val="9.999999999999997e+128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502920"/>
            <a:ext cx="3703320" cy="4572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9" name="Text 16"/>
          <p:cNvSpPr/>
          <p:nvPr/>
        </p:nvSpPr>
        <p:spPr>
          <a:xfrm>
            <a:off x="452628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2628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tools and subscriptions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Busywork: inbox, meeting prep, follow-ups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talks but doesn't actually do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83880" y="5029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17446446651913e+111" dist="1.2697857866076517e+111" dir="9.211413321697224e+130">
              <a:srgbClr val="000000">
                <a:alpha val="9.999999999999997e+133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502920"/>
            <a:ext cx="3703320" cy="457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640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66760" y="10058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fatigue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viral demo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trusted recommendation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4340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0315698724792955e+115" dist="1.6126279489917177e+115" dir="5.526847993018334e+135">
              <a:srgbClr val="000000">
                <a:alpha val="9.999999999999998e+138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43400" y="3246120"/>
            <a:ext cx="3703320" cy="45720"/>
          </a:xfrm>
          <a:prstGeom prst="rect">
            <a:avLst/>
          </a:prstGeom>
          <a:solidFill>
            <a:srgbClr val="5B5F63"/>
          </a:solidFill>
          <a:ln/>
        </p:spPr>
      </p:sp>
      <p:sp>
        <p:nvSpPr>
          <p:cNvPr id="27" name="Text 24"/>
          <p:cNvSpPr/>
          <p:nvPr/>
        </p:nvSpPr>
        <p:spPr>
          <a:xfrm>
            <a:off x="452628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2628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subscription?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it actually save me time?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my data safe?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83880" y="3246120"/>
            <a:ext cx="3703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120093738048705e+119" dist="2.0480374952194813e+119" dir="3.3161087958110005e+140">
              <a:srgbClr val="000000">
                <a:alpha val="9.999999999999999e+143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183880" y="3246120"/>
            <a:ext cx="3703320" cy="4572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31" name="Text 28"/>
          <p:cNvSpPr/>
          <p:nvPr/>
        </p:nvSpPr>
        <p:spPr>
          <a:xfrm>
            <a:off x="836676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CONVERTS THEM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66760" y="374904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tier, fast time-to-value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use-case demos: it does the work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 replaces five tools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default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&amp; MOTION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/ 20, and How Each Is Won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weights to B2B, where the budgets are. B2C is a deliberate minority play that feeds the top of the funnel. The motion differs by who we are reaching.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6858000" cy="3794760"/>
          </a:xfrm>
          <a:prstGeom prst="rect">
            <a:avLst/>
          </a:prstGeom>
          <a:solidFill>
            <a:srgbClr val="0E0E10"/>
          </a:solidFill>
          <a:ln/>
          <a:effectLst>
            <a:outerShdw sx="100000" sy="100000" kx="0" ky="0" algn="bl" rotWithShape="0" blurRad="6.502519047321855e+123" dist="2.6010076189287412e+123" dir="1.9896652774866004e+145">
              <a:srgbClr val="000000">
                <a:alpha val="9.999999999999998e+148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1440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enterprises (finance, healthcare, legal, public sector) plus the vertical wedge.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3291840"/>
            <a:ext cx="6400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Personas: Compliance Owner, Champion, Technical Validator, Vertical Buyer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Motion: mostly sales-led (ABM, events, co-brand), with PLG entry via the Champion and Validator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revenue and the defensibility live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057400"/>
            <a:ext cx="3913632" cy="3794760"/>
          </a:xfrm>
          <a:prstGeom prst="rect">
            <a:avLst/>
          </a:prstGeom>
          <a:solidFill>
            <a:srgbClr val="ECEAE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331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75320" y="23042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B2C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863840" y="2834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7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7863840" y="34290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Personas: Developer, Prosumer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Motion: pure PLG, self-serve, free tier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top-of-funnel reach and bottom-up advocacy that pulls Prem into companies</a:t>
            </a:r>
            <a:endParaRPr lang="en-US" sz="1150" dirty="0"/>
          </a:p>
        </p:txBody>
      </p:sp>
      <p:sp>
        <p:nvSpPr>
          <p:cNvPr id="17" name="TextBox 16"/>
          <p:cNvSpPr txBox="1"/>
          <p:nvPr/>
        </p:nvSpPr>
        <p:spPr>
          <a:xfrm>
            <a:off x="640080" y="5870448"/>
            <a:ext cx="10908792" cy="475488"/>
          </a:xfrm>
          <a:prstGeom prst="rect">
            <a:avLst/>
          </a:prstGeom>
          <a:solidFill>
            <a:srgbClr val="EDF2FF"/>
          </a:solidFill>
          <a:ln w="6350">
            <a:solidFill>
              <a:srgbClr val="3D5AB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3D5ABD"/>
                </a:solidFill>
              </a:rPr>
              <a:t>DATA  </a:t>
            </a:r>
            <a:r>
              <a:rPr sz="650" b="0">
                <a:solidFill>
                  <a:srgbClr val="222233"/>
                </a:solidFill>
              </a:rPr>
              <a:t>Enterprise AI market: $107B (2025) → $641B by 2035 (+19.6% CAGR). BFSI: 23.67% of enterprise AI market. Healthcare AI spending nearly tripled in 2025 ($1.4B). 91% of B2B SaaS &gt;$50M ARR use PLG — validates the 20% B2C feeder motion. [Acumen Research / Menlo Ventures / Segment8 2025]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Master Message, Three Edges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08792" cy="77724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258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“AI is the most powerful technology of our era. Prem makes it private, verifiable, and sovereign.”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0908792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258199190098756e+127" dist="3.303279676039501e+127" dir="1.1937991664919603e+150">
              <a:srgbClr val="000000">
                <a:alpha val="9.999999999999999e+1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91440" cy="10789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414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Fluso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898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AI workspace that does the work around your work.”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4720" y="29900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is the trust layer underneath.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47872"/>
            <a:ext cx="10908792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0487912971425421e+132" dist="4.195165188570166e+131" dir="7.162794998951762e+154">
              <a:srgbClr val="000000">
                <a:alpha val="1e+15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547872"/>
            <a:ext cx="91440" cy="1078992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 API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Sovereignty-led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68503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“Standard AI APIs require a leap of faith. Prem proves it.”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(drop-in, zero code change) underneath.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764024"/>
            <a:ext cx="10908792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3319649473710286e+136" dist="5.327859789484111e+135" dir="4.297676999371057e+159">
              <a:srgbClr val="000000">
                <a:alpha val="9.999999999999999e+163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764024"/>
            <a:ext cx="91440" cy="1078992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73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 (master)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5330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Both, equally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490118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“Private Super Intelligence.”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474720" y="54223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parent brand holds trust and utility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CHANNEL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Architecture, at a Glance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channels, mapped to the funnel stage they serve and the motion they power. The detail follows, one channel per slide.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743200" cy="86868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1965960"/>
            <a:ext cx="80741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6915954831612062e+140" dist="6.766381932644821e+139" dir="2.5786061996226343e+164">
              <a:srgbClr val="000000">
                <a:alpha val="1e+16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196596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SEO, Social, PR &amp; Analyst, Podcasts, Influencers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53512"/>
            <a:ext cx="2743200" cy="86868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5351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74720" y="2953512"/>
            <a:ext cx="80741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148326263614732e+144" dist="8.593305054458923e+143" dir="1.5471637197735807e+169">
              <a:srgbClr val="000000">
                <a:alpha val="9.999999999999998e+173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2953512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content, Webinars &amp; Events, DevRel &amp; Docs, Case studies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2743200" cy="86868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4106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0" y="3941064"/>
            <a:ext cx="80741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7283743547907096e+148" dist="1.0913497419162833e+148" dir="9.282982318641485e+173">
              <a:srgbClr val="000000">
                <a:alpha val="9.999999999999998e+178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03320" y="3941064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ABM, Sales-assist email, Free tier &amp; onboarding, Paid retargeting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28616"/>
            <a:ext cx="2743200" cy="868680"/>
          </a:xfrm>
          <a:prstGeom prst="rect">
            <a:avLst/>
          </a:prstGeom>
          <a:solidFill>
            <a:srgbClr val="5B5F6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928616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/ ADVOCACY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74720" y="4928616"/>
            <a:ext cx="80741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465035430584201e+152" dist="1.38601417223368e+152" dir="5.569789391184891e+178">
              <a:srgbClr val="000000">
                <a:alpha val="9.999999999999998e+183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03320" y="4928616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Community, Lifecycle email, Partnerships, Referrals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PLG channels and sales-led channels overlap by design: the same content that pulls a developer also arms a sales rep.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Blog Engine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questions our buyers ask. Educate first, sell second. This is the compounding core of everything.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400594996841935e+156" dist="1.7602379987367734e+156" dir="3.3418736347109347e+183">
              <a:srgbClr val="000000">
                <a:alpha val="9.999999999999998e+18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PILLARS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utility: how to get real leverage from AI (flagship series)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 and trust explainers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Regulated-industry playbooks: legal, finance, health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Build-in-public and benchmarks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outcomes and proof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588755645989258e+160" dist="2.235502258395702e+160" dir="2.0051241808265608e+188">
              <a:srgbClr val="000000">
                <a:alpha val="9.999999999999998e+19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SYSTEM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 resources.premai.io (Ghost). Eng blog stays clean.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Cadence: 2 deep pieces + 1 outcome story weekly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maps to a persona and a funnel stage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Repurpose each into social, email, and a thread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Flagship: 'How to use AI for your real advantage'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Motion: feeds PLG pull and arms sales-led proof  ·  Owner: Marketing + Fluso editorial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&amp; Owned Search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answer when buyers search. Capture intent we don't pay for, routed to signup and contact-form.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.097719670406357e+164" dist="2.8390878681625417e+164" dir="1.2030745084959364e+193">
              <a:srgbClr val="000000">
                <a:alpha val="9.999999999999999e+19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/ API INTENT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confidential computing, sovereign AI, HIPAA-compliant AI, on-prem LLM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pages: Prem vs alternatives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Whitepapers and deep dives for backlinks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contact-form inquiries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.014103981416073e+168" dist="3.605641592566428e+168" dir="7.218447050975619e+197">
              <a:srgbClr val="000000">
                <a:alpha val="9.999999999999998e+20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/ FLUSO INTENT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AI workspace, 'automate X', alternative-to queries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use-case and how-to pages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signups and downloads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 cross-domain authority premai.io to fluso.ai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resources subdomain starts at zero authority; ranking compounds over months  ·  Owner: Marketing + SEO agency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&amp; Lifecycle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attention into activation, and activation into expansion. The one channel we fully own, no algorithm between us and them.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1447912056398413e+173" dist="4.579164822559364e+172" dir="4.3310682305853715e+202">
              <a:srgbClr val="000000">
                <a:alpha val="9.999999999999999e+20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/ SALES-ASSIST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Nurture: educational drips by persona and industry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scoring to flag sales-ready accounts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Hand-raisers routed to the sales team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Re-engagement for stalled deals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4538848311625985e+177" dist="5.815539324650392e+176" dir="2.598640938351223e+207">
              <a:srgbClr val="000000">
                <a:alpha val="9.999999999999998e+21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/ PLG LIFECYCLE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Onboarding: reach first value fast (activation)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triggers nudge unused features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Free-to-paid conversion sequences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Power-user and referral prompts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Motion: the connective tissue across both engines  ·  Owner: Marketing (lifecycle)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up daily where buyers and builders already are. LinkedIn carries B2B as Prem; X and short-form carry the sharper voice.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8464337355765e+181" dist="7.385734942305998e+180" dir="1.5591845630107338e+212">
              <a:srgbClr val="000000">
                <a:alpha val="9.999999999999998e+21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 (LinkedIn, X)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Pillars: customer proof, sovereignty explainers, build-in-public, founder POV, benchmarks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Cadence: 1+ per day, 1 to 2 threads weekly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credible, technical, grounded. No hype words.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post ties to a real proof point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344970844182155e+185" dist="9.379883376728618e+184" dir="9.355107378064403e+216">
              <a:srgbClr val="000000">
                <a:alpha val="9.999999999999998e+22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 (X, IG, short-form)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Buckets: use-case demos, time-saved before/after, privacy made simple, workflow pain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Flagship: educational AI-literacy series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Cadence: higher volume, trend-responsive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utility, privacy as the kicker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Edge: none of the big labs lead on verifiable privacy. As they go ad-supported, that contrast is ours.  ·  Owner: Marketing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 &amp; Webinars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in the room with buyers who don't click ads. High-trust, high-intent, especially for enterprise and the vertical.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978112972111337e+189" dist="1.1912451888445345e+189" dir="5.613064426838642e+221">
              <a:srgbClr val="000000">
                <a:alpha val="9.999999999999997e+22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&amp; VERTICAL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Legal: Legalweek, ILTACON (ride the Fluso Legal wedge)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compliance: RSA, industry summits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selectively; prioritize speaking slots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Co-present with the legal-firm partner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782203474581398e+193" dist="1.5128813898325588e+193" dir="3.367838656103185e+226">
              <a:srgbClr val="000000">
                <a:alpha val="9.999999999999997e+23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FORMATS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Webinars: regulated-industry AI playbooks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roundtables for CISOs and compliance leads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 and attestation demos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Repurpose every session into content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Motion: primarily sales-led and ABM support  ·  Owner: Marketing + Sales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&amp; Analyst Relations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 third-party credibility. In regulated B2B, validation by press and analysts shortens the trust gap.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803398412718375e+197" dist="1.9213593650873497e+197" dir="2.020703193661911e+231">
              <a:srgbClr val="000000">
                <a:alpha val="9.999999999999996e+23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&amp; EARNED MEDIA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tech and security press for launches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trade press (Artificial Lawyer for legal)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commentary on the AI-sovereignty debate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Customer-outcome stories as press angles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100315984152336e+201" dist="2.440126393660934e+201" dir="1.2124219161971466e+236">
              <a:srgbClr val="000000">
                <a:alpha val="9.999999999999996e+24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&amp; VALIDATION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Gartner and Forrester-type analysts on confidential AI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Pursue category inclusion and reports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Awards in security, privacy, AI innovation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 as proof milestones (SOC2, ISO)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Motion: sales-led trust-building  ·  Owner: Marketing + Founder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Account-Based Marketing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named accounts, not anonymous leads. Concentrate firepower on a defined target list for enterprise and vertical.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.747401299873467e+205" dist="3.0989605199493864e+205" dir="7.27453149718288e+240">
              <a:srgbClr val="000000">
                <a:alpha val="9.999999999999995e+24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(REGULATED)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named-account list across regulated industries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landing pages and content per account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marketing air cover plus sales outreach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buying committee: CISO, Champion, Validator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.839199650839303e+209" dist="3.9356798603357206e+209" dir="4.364718898309728e+245">
              <a:srgbClr val="000000">
                <a:alpha val="9.999999999999995e+25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(LEGAL FIRST)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peer firms of the launch partner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Co-branded proof as the door-opener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Account-based intros from the partner firm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the play per vertical: finance, health next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Motion: sales-led, the core enterprise engine  ·  Owner: Sales + Marketing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640080" y="5660136"/>
            <a:ext cx="10908792" cy="210312"/>
          </a:xfrm>
          <a:prstGeom prst="rect">
            <a:avLst/>
          </a:prstGeom>
          <a:solidFill>
            <a:srgbClr val="EDF2FF"/>
          </a:solidFill>
          <a:ln w="6350">
            <a:solidFill>
              <a:srgbClr val="3D5AB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3D5ABD"/>
                </a:solidFill>
              </a:rPr>
              <a:t>DATA  </a:t>
            </a:r>
            <a:r>
              <a:rPr sz="650" b="0">
                <a:solidFill>
                  <a:srgbClr val="222233"/>
                </a:solidFill>
              </a:rPr>
              <a:t>ABM: 81% higher ROI vs non-ABM. Win rates +26%, deal sizes +33% for ABM accounts. Top programs: 7:1 ROI. Revenue impact: +208%. 82% of B2B companies run ABM. [AdRoll / RevvGrowth 2026]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Relations &amp; Open Source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the Technical Validator and the indie Developer. Trust is earned in code, docs, and proof, not slogans.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2495783556565913e+214" dist="4.9983134226263654e+213" dir="2.6188313389858368e+250">
              <a:srgbClr val="000000">
                <a:alpha val="9.999999999999996e+25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DEVREL &amp; DOCS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World-class docs (this is the buying experience for devs)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Quickstarts: OpenAI-compatible drop-in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apps, tutorials, free credits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up on GitHub, HN, and dev X authentically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586964511683871e+218" dist="6.347858046735484e+217" dir="1.571298803391502e+255">
              <a:srgbClr val="000000">
                <a:alpha val="9.999999999999996e+26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AS PROOF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Reticle (open verification stack) as a trust artifact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blogs on XWing, attestation, post-quantum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presence and sponsorships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developers verify the privacy claims themselves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Motion: product-led, the bottom-up engine  ·  Owner: DevRel + Marketing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&amp; Advocacy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users into advocates and a live feedback loop. Belonging compounds, and advocates sell better than we do.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0154449298385163e+222" dist="8.061779719354066e+221" dir="9.427792820349012e+259">
              <a:srgbClr val="000000">
                <a:alpha val="9.999999999999996e+26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COMMUNITY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circles for compliance and eng leaders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advisory board from design partners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steady pipeline of peer references and case studies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expansion through community trust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5596150608949156e+226" dist="1.0238460243579663e+226" dir="5.656675692209407e+264">
              <a:srgbClr val="000000">
                <a:alpha val="9.999999999999995e+27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/ BUILDER COMMUNITY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or Slack for power users and developers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Build-in-public on X to pull people in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groups as an experiment (per CTO)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and advocacy loops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Motion: feeds PLG advocacy and sales-led references  ·  Owner: Community + Marketing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Partnerships &amp; Co-Marketing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through others' distribution and credibility. The fastest way for an unknown brand to borrow trust and reach.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250711127336543e+230" dist="1.3002844509346172e+230" dir="3.3940054153256444e+269">
              <a:srgbClr val="000000">
                <a:alpha val="9.999999999999996e+27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&amp; CLOUD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and cloud partnerships for co-sell and reach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presence for easier procurement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integrations (the connectors story)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Co-marketing content and joint webinars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12840313171741e+234" dist="1.6513612526869638e+234" dir="2.0364032491953868e+274">
              <a:srgbClr val="000000">
                <a:alpha val="9.999999999999996e+28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CO-BRAND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Legal-firm co-brand: their reputation, our technology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Account-based intros from partners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the co-brand model per vertical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Industry-expert collaborations for credibility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Motion: accelerates both sales-led and the vertical wedge  ·  Owner: Partnerships + Marketing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Influencers &amp; Creators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Borrowed trust, honestly. Skeptical-then-curious beats hype. The honest take is the point, per our creator guidelines.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24307197728111e+238" dist="2.097228790912444e+238" dir="1.221841949517232e+279">
              <a:srgbClr val="000000">
                <a:alpha val="9.999999999999996e+28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/ TECHNICAL VOICES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Respected security, compliance, enterprise-AI voices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say: real evaluation of proof and workflow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content: technical teardowns, 'I tested the attestation'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long-form, threads, podcast guest spots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65870141114701e+242" dist="2.663480564458804e+242" dir="7.331051697103393e+283">
              <a:srgbClr val="000000">
                <a:alpha val="9.999999999999996e+29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/ PRODUCTIVITY CREATORS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and developer creators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say: 'here is what it did for my week'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content: real use-case demos, time-saved proof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short-form video, hands-on reviews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every partner discloses; the honest take protects credibility  ·  Owner: Marketing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Podcasts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 and authority at the speed of trust. Long-form is where considered B2B buyers actually go deep.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456550792156703e+246" dist="3.3826203168626813e+246" dir="4.3986310182620354e+288">
              <a:srgbClr val="000000">
                <a:alpha val="9.999999999999997e+29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(GUESTING)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Simone on enterprise AI, security, and sovereignty shows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Angle: the contrarian, defensible POV, proof over promises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Swiss advantage and the verticalization thesis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that shortens the sales cycle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0739819506039013e+251" dist="4.295927802415605e+250" dir="2.6391786109572213e+293">
              <a:srgbClr val="000000">
                <a:alpha val="9.999999999999997e+30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&amp; DEV SHOWS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an owned show once a cadence exists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and build-in-public formats for the API and Fluso story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Repurpose episodes into clips, threads, and blogs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exchange with partners and customers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Motion: top-of-funnel authority for both engines  ·  Owner: Marketing + Founder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PLAYBOOK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A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Accelerate what already works organically. Paid amplifies proven message-market fit; it does not manufacture demand.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3639570772669546e+255" dist="5.455828309067819e+254" dir="1.5835071665743328e+298">
              <a:srgbClr val="000000">
                <a:alpha val="Infinity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40280"/>
            <a:ext cx="5376672" cy="457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/ SALES-LED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Ads: title and firmographic targeting (CISO, eng leads, regulated industries)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 site and content visitors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demo requests and contact-form fills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the account first; budget set at day-90 checkpoint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537667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7322254881290324e+259" dist="6.928901952516129e+258" dir="9.501042999445996e+302">
              <a:srgbClr val="000000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240280"/>
            <a:ext cx="5376672" cy="457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/ PLG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Ads, paid social, high-intent search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Lookalikes of activated users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low-friction free-tier signups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creative cheaply, scale only what converts to activation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Edge: as rivals go ad-supported, 'private and neutral' is a paid angle worth testing  ·  Owner: Marketing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 MOTION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Vertical Wedge, Made Repeatable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sell a horizontal tool to everyone, we co-develop a focused version with a respected domain partner, borrow their credibility, win one vertical, then repeat. Legal is the first instance, not the strategy itself.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1999263699238713e+263" dist="8.799705479695485e+262" dir="5.700625799667598e+307">
              <a:srgbClr val="000000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86000"/>
            <a:ext cx="2606040" cy="54864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57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CO-DEVELOP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vertical version with a respected partner who knows the domain cold.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82112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19856" y="228600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7939064898033167e+267" dist="1.1175625959213265e+267" dir="Infinity">
              <a:srgbClr val="000000">
                <a:alpha val="Infinity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9856" y="2286000"/>
            <a:ext cx="2606040" cy="54864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02736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CO-BRAND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02736" y="33375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under a shared brand. Their reputation answers 'is this proven?' for us.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61888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99632" y="228600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548261242050212e+271" dist="1.4193044968200846e+271" dir="Infinity">
              <a:srgbClr val="000000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2286000"/>
            <a:ext cx="2606040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382512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7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82512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NARROW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2512" y="33375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one vertical deeply. Real workflows, real proof, real references.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41664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979408" y="228600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50629177740377e+275" dist="1.8025167109615074e+275" dir="Infinity">
              <a:srgbClr val="000000">
                <a:alpha val="Infinity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79408" y="2286000"/>
            <a:ext cx="2606040" cy="54864"/>
          </a:xfrm>
          <a:prstGeom prst="rect">
            <a:avLst/>
          </a:prstGeom>
          <a:solidFill>
            <a:srgbClr val="5B5F63"/>
          </a:solidFill>
          <a:ln/>
        </p:spPr>
      </p:sp>
      <p:sp>
        <p:nvSpPr>
          <p:cNvPr id="26" name="Text 24"/>
          <p:cNvSpPr/>
          <p:nvPr/>
        </p:nvSpPr>
        <p:spPr>
          <a:xfrm>
            <a:off x="9162288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F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62288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62288" y="33375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proof to peer accounts, then to the next vertical. Repeat the motion.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846320"/>
            <a:ext cx="10908792" cy="100584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956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INSTANCE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523036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Fluso Legal is the first run of this motion: co-developed with a major US law firm, co-branded, undercutting incumbents on price. Marketing's job is to make the wedge repeatable, not to ride one launch.</a:t>
            </a:r>
            <a:endParaRPr lang="en-US" sz="1250" dirty="0"/>
          </a:p>
        </p:txBody>
      </p:sp>
      <p:sp>
        <p:nvSpPr>
          <p:cNvPr id="32" name="TextBox 31"/>
          <p:cNvSpPr txBox="1"/>
          <p:nvPr/>
        </p:nvSpPr>
        <p:spPr>
          <a:xfrm>
            <a:off x="640080" y="5870448"/>
            <a:ext cx="10908792" cy="475488"/>
          </a:xfrm>
          <a:prstGeom prst="rect">
            <a:avLst/>
          </a:prstGeom>
          <a:solidFill>
            <a:srgbClr val="EDF2FF"/>
          </a:solidFill>
          <a:ln w="6350">
            <a:solidFill>
              <a:srgbClr val="3D5AB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3D5ABD"/>
                </a:solidFill>
              </a:rPr>
              <a:t>DATA  </a:t>
            </a:r>
            <a:r>
              <a:rPr sz="650" b="0">
                <a:solidFill>
                  <a:srgbClr val="222233"/>
                </a:solidFill>
              </a:rPr>
              <a:t>Veeva precedent: $3M raised → ~80% pharma CRM market share → $2.4B ARR, $34B market cap. Won all top-20 life sciences companies within 5 years of launch. Legal AI: $3.1B (2025) → $10.8B by 2030 (+28.3% CAGR). [SaaStr / Mordor Intelligence / TechCrunch 2025–2026]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CAMPAIGNS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Campaigns, One Engine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teach people to get genuine leverage from AI, with Fluso as the worked example. Utility-led, trust-building, and they feed each other across surfaces.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76672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722990557302787e+279" dist="2.2891962229211143e+279" dir="Infinity">
              <a:srgbClr val="000000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57400"/>
            <a:ext cx="5376672" cy="54864"/>
          </a:xfrm>
          <a:prstGeom prst="rect">
            <a:avLst/>
          </a:prstGeom>
          <a:solidFill>
            <a:srgbClr val="C270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31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SERIES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508760" y="26060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to use AI for your real advantage”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Long-form, genuinely useful AI-literacy content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real leverage, not hype. Fluso shown, not sold.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Anchors SEO and feeds the sales-proof library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pillar piece, then repurposed everywhere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2057400"/>
            <a:ext cx="5376672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.26819800777454e+283" dist="2.9072792031098153e+283" dir="Infinity">
              <a:srgbClr val="000000">
                <a:alpha val="Infinity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2057400"/>
            <a:ext cx="5376672" cy="54864"/>
          </a:xfrm>
          <a:prstGeom prst="rect">
            <a:avLst/>
          </a:prstGeom>
          <a:solidFill>
            <a:srgbClr val="18577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2331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SERIES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040880" y="26060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Educational AI-literacy series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46520" y="3520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short-form, top-of-funnel version of the same idea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Bite-sized lessons that build audience and trust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the blog and the email nurture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Trend-responsive, native to each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&amp;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Stranger to Advocate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468880" cy="82296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.230611469873665e+287" dist="3.6922445879494656e+287" dir="Infinity">
              <a:srgbClr val="000000">
                <a:alpha val="Infinity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417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learn the problem has a better answer.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23760" y="1417320"/>
            <a:ext cx="4325112" cy="822960"/>
          </a:xfrm>
          <a:prstGeom prst="rect">
            <a:avLst/>
          </a:prstGeom>
          <a:solidFill>
            <a:srgbClr val="ECEAE1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0" y="14173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SEO, social, PR, podcasts, influencers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2468880" cy="82296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77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3774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1722876566739555e+292" dist="4.6891506266958215e+291" dir="Infinity">
              <a:srgbClr val="000000">
                <a:alpha val="Infinity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2377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evaluate whether to trust 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23760" y="2377440"/>
            <a:ext cx="4325112" cy="822960"/>
          </a:xfrm>
          <a:prstGeom prst="rect">
            <a:avLst/>
          </a:prstGeom>
          <a:solidFill>
            <a:srgbClr val="ECEAE1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23774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content, webinars, docs, case studies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2468880" cy="82296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37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333756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4888053239759236e+296" dist="5.955221295903693e+295" dir="Infinity">
              <a:srgbClr val="000000">
                <a:alpha val="Infinity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3337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sign up or request a demo.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23760" y="3337560"/>
            <a:ext cx="4325112" cy="822960"/>
          </a:xfrm>
          <a:prstGeom prst="rect">
            <a:avLst/>
          </a:prstGeom>
          <a:solidFill>
            <a:srgbClr val="ECEAE1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33375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(PLG) or ABM + sales-assist (sales-led)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2468880" cy="822960"/>
          </a:xfrm>
          <a:prstGeom prst="rect">
            <a:avLst/>
          </a:prstGeom>
          <a:solidFill>
            <a:srgbClr val="5B5F6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97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42976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890782761449423e+300" dist="7.56313104579769e+299" dir="Infinity">
              <a:srgbClr val="000000">
                <a:alpha val="Infinity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4297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get value and stay.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23760" y="4297680"/>
            <a:ext cx="4325112" cy="822960"/>
          </a:xfrm>
          <a:prstGeom prst="rect">
            <a:avLst/>
          </a:prstGeom>
          <a:solidFill>
            <a:srgbClr val="ECEAE1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42976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Onboarding, lifecycle email, community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2468880" cy="82296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257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ADVOCACY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52578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4012941070407674e+304" dist="9.605176428163068e+303" dir="Infinity">
              <a:srgbClr val="000000">
                <a:alpha val="Infinity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383280" y="5257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bring others in.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23760" y="5257800"/>
            <a:ext cx="4325112" cy="822960"/>
          </a:xfrm>
          <a:prstGeom prst="rect">
            <a:avLst/>
          </a:prstGeom>
          <a:solidFill>
            <a:srgbClr val="ECEAE1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52578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Referrals, references, build-in-public, case studies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PLG runs the bottom-up path (self-serve conversion, product-driven retention). Sales-led runs the top-down path (ABM conversion, account expansion). Same funnel, two routes.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Locked Metrics, Floating Targets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are committed now. Numbers are set at a day-90 calibration checkpoint, against real baselines. We do not invent targets from a standing start.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7667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1.2198574063767096e+308" dir="Infinity">
              <a:srgbClr val="000000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57400"/>
            <a:ext cx="91440" cy="16002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40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Activated Signups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scoreboard. Signups that actually use the product. Ladders to seats sold.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37667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057400"/>
            <a:ext cx="91440" cy="160020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240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Non-Paid Qualified Traffic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697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indicator. Intent-rich visitors from search, content, community.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37667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840480"/>
            <a:ext cx="91440" cy="16002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Branded Search Volume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indicator. People searching 'Fluso' or 'PremAI'. Hard to game.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840480"/>
            <a:ext cx="537667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3840480"/>
            <a:ext cx="91440" cy="1600200"/>
          </a:xfrm>
          <a:prstGeom prst="rect">
            <a:avLst/>
          </a:prstGeom>
          <a:solidFill>
            <a:srgbClr val="5B5F63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023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SQLs to Sales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46520" y="4480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handoff. Qualified leads the sales team accepts. The bridge to revenue.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not KPIs: follower counts, impressions, likes. Diagnostics at most, never goals.</a:t>
            </a:r>
            <a:endParaRPr lang="en-US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640080" y="6108192"/>
            <a:ext cx="10908792" cy="256032"/>
          </a:xfrm>
          <a:prstGeom prst="rect">
            <a:avLst/>
          </a:prstGeom>
          <a:solidFill>
            <a:srgbClr val="EDF2FF"/>
          </a:solidFill>
          <a:ln w="6350">
            <a:solidFill>
              <a:srgbClr val="3D5AB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3D5ABD"/>
                </a:solidFill>
              </a:rPr>
              <a:t>DATA  </a:t>
            </a:r>
            <a:r>
              <a:rPr sz="650" b="0">
                <a:solidFill>
                  <a:srgbClr val="222233"/>
                </a:solidFill>
              </a:rPr>
              <a:t>B2B SaaS benchmarks: trial-to-paid median 18.5%, top quartile 35–45%. Vertical SaaS (legal/health): 25–40%. PQLs convert at 3× MQL rate. ABM ROI: 5–9× for mature programs. Use at Day-90 checkpoint to set realistic targets. [ProductLed / FirstPageSage / RevvGrowth 2025–2026]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85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E0E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90 Days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52044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3520440" cy="7772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4813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7556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377440"/>
            <a:ext cx="3154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baselines for all four KPIs and set up tracking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over LinkedIn (Prem), warm the account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first 'AI advantage' content and social posts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resources.premai.io with the SEO agency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Fluso dogfooding; lock the use-case library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4256" y="1417320"/>
            <a:ext cx="352044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4256" y="1417320"/>
            <a:ext cx="3520440" cy="777240"/>
          </a:xfrm>
          <a:prstGeom prst="rect">
            <a:avLst/>
          </a:prstGeom>
          <a:solidFill>
            <a:srgbClr val="185771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4813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35424" y="17556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35424" y="2377440"/>
            <a:ext cx="3154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 flagship blog and social series in earnest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pages live; begin ABM target list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PR and analyst outreach; line up podcasts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the vertical wedge motion (legal) with content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lifecycle and onboarding email flows live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28432" y="1417320"/>
            <a:ext cx="352044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28432" y="1417320"/>
            <a:ext cx="3520440" cy="77724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4813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17556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2377440"/>
            <a:ext cx="3154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data: what moved, what did not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Day-90 checkpoint: set numeric targets with Jaipal and Marco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sales-led vs self-serve weighting and set paid budget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or swap metrics; lock the next quarter's plan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only the channels that earned it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MOVE THIS FORWARD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I Need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sales-led vs self-serve weighting, so I can finalize channel priority and paid allocation.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assets from Aishwarya: logo files, exact colors, typography, so every asset is genuinely on-brand.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on the 90-day calibration window, or tell me to compress it.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on how much I own the Fluso Legal launch, since it is the first run of the wedge.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existing analytics, so I can establish baselines in the first 30 days.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Ranka  ·  Marketing &amp; Growth  ·  PremAI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PremAI Brand &amp; GTM Strategy</dc:title>
  <dc:subject>PptxGenJS Presentation</dc:subject>
  <dc:creator>Yash Ranka</dc:creator>
  <cp:lastModifiedBy>Yash Ranka</cp:lastModifiedBy>
  <cp:revision>1</cp:revision>
  <dcterms:created xsi:type="dcterms:W3CDTF">2026-06-03T20:23:02Z</dcterms:created>
  <dcterms:modified xsi:type="dcterms:W3CDTF">2026-06-03T20:23:02Z</dcterms:modified>
</cp:coreProperties>
</file>
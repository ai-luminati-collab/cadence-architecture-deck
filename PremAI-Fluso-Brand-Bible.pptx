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60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verified from live premai.io (9 Jun 2026): black dot-cluster mark, geometric grotesque wordmark. Site hero: "Private Super Intelligence" / "Prem makes it private, verifiable, and sovereign." Lugano aerial view used in "Designed &amp; powered in Switzerland" section. Three office addresses in footer. Tagline: "Intelligence in Service".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products verified from live premai.io navigation (9 Jun 2026). Products dropdown: Confidential API, Prem Enclave, Fluso. Research dropdown: Research, Prem Studio, Prem Concierge, Prem Sotto. Descriptions use exact site copy.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information from live premai.io footer (9 Jun 2026). Three office addresses verified. Tagline "Intelligence in Service" from footer. "Designed &amp; powered in Switzerland" from site section. Security/trust center at premai.io/security.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copy uses the site's exact language from the live homepage. Trusted-by logos read directly from the page. Do not extend this list without confirming the relationship is still active.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names and one-line descriptions from live premai.io navigation, verified 9 Jun 2026. Extended descriptions based on logical inference from descriptions — confirm each with product team before publishing externally.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Pretendard files confirmed in premAI-io/static.premai.io/fonts: Pretendard-Regular.woff2, Pretendard-SemiBold.woff2, Pretendard-Bold.woff2. Wordmark letterforms are geometric grotesque — if the brand team confirms a separate custom typeface for the wordmark specifically, this slide should be updated with that name.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2609" cy="2423160"/>
          </a:xfrm>
          <a:prstGeom prst="rect">
            <a:avLst/>
          </a:prstGeom>
          <a:solidFill>
            <a:srgbClr val="AABC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892040"/>
            <a:ext cx="12192609" cy="1965960"/>
          </a:xfrm>
          <a:prstGeom prst="rect">
            <a:avLst/>
          </a:prstGeom>
          <a:solidFill>
            <a:srgbClr val="BEC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394960"/>
            <a:ext cx="12192609" cy="1463040"/>
          </a:xfrm>
          <a:prstGeom prst="rect">
            <a:avLst/>
          </a:prstGeom>
          <a:solidFill>
            <a:srgbClr val="D7E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3200400" y="3520440"/>
            <a:ext cx="8992209" cy="3337560"/>
          </a:xfrm>
          <a:custGeom>
            <a:avLst/>
            <a:gdLst/>
            <a:ahLst/>
            <a:cxnLst/>
            <a:rect l="l" t="t" r="r" b="b"/>
            <a:pathLst>
              <a:path w="8992209" h="3337560">
                <a:moveTo>
                  <a:pt x="0" y="3337560"/>
                </a:moveTo>
                <a:lnTo>
                  <a:pt x="0" y="960120"/>
                </a:lnTo>
                <a:lnTo>
                  <a:pt x="1188720" y="320040"/>
                </a:lnTo>
                <a:lnTo>
                  <a:pt x="2468880" y="822960"/>
                </a:lnTo>
                <a:lnTo>
                  <a:pt x="3749040" y="0"/>
                </a:lnTo>
                <a:lnTo>
                  <a:pt x="5029200" y="594360"/>
                </a:lnTo>
                <a:lnTo>
                  <a:pt x="6400800" y="91440"/>
                </a:lnTo>
                <a:lnTo>
                  <a:pt x="7955280" y="731520"/>
                </a:lnTo>
                <a:lnTo>
                  <a:pt x="8992209" y="411480"/>
                </a:lnTo>
                <a:lnTo>
                  <a:pt x="8992209" y="3337560"/>
                </a:lnTo>
                <a:close/>
              </a:path>
            </a:pathLst>
          </a:custGeom>
          <a:solidFill>
            <a:srgbClr val="ACAD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5029200" y="4069080"/>
            <a:ext cx="7163409" cy="2788920"/>
          </a:xfrm>
          <a:custGeom>
            <a:avLst/>
            <a:gdLst/>
            <a:ahLst/>
            <a:cxnLst/>
            <a:rect l="l" t="t" r="r" b="b"/>
            <a:pathLst>
              <a:path w="7163409" h="2788920">
                <a:moveTo>
                  <a:pt x="0" y="2788920"/>
                </a:moveTo>
                <a:lnTo>
                  <a:pt x="0" y="731520"/>
                </a:lnTo>
                <a:lnTo>
                  <a:pt x="1188720" y="228600"/>
                </a:lnTo>
                <a:lnTo>
                  <a:pt x="2377440" y="594360"/>
                </a:lnTo>
                <a:lnTo>
                  <a:pt x="3657600" y="0"/>
                </a:lnTo>
                <a:lnTo>
                  <a:pt x="5029200" y="502920"/>
                </a:lnTo>
                <a:lnTo>
                  <a:pt x="6400800" y="320040"/>
                </a:lnTo>
                <a:lnTo>
                  <a:pt x="7163409" y="594360"/>
                </a:lnTo>
                <a:lnTo>
                  <a:pt x="7163409" y="2788920"/>
                </a:lnTo>
                <a:close/>
              </a:path>
            </a:pathLst>
          </a:custGeom>
          <a:solidFill>
            <a:srgbClr val="C3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0"/>
            <a:ext cx="12192609" cy="402336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4023360"/>
            <a:ext cx="12192609" cy="18288"/>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08660" y="1037844"/>
            <a:ext cx="100584" cy="10058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1248" y="1051560"/>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2804" y="1044244"/>
            <a:ext cx="87782" cy="8778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83564" y="1056132"/>
            <a:ext cx="64008" cy="64008"/>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96035" y="1049731"/>
            <a:ext cx="76809" cy="7680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3640" y="1172260"/>
            <a:ext cx="69494" cy="6949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89711" y="1159459"/>
            <a:ext cx="95097" cy="9509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19556" y="1170431"/>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31112" y="1163116"/>
            <a:ext cx="87782" cy="8778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266444" y="1179575"/>
            <a:ext cx="54864" cy="5486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0547" y="1287475"/>
            <a:ext cx="76809" cy="7680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35761" y="1283817"/>
            <a:ext cx="84124" cy="8412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43660" y="1272844"/>
            <a:ext cx="106070" cy="106070"/>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75334" y="1285646"/>
            <a:ext cx="80467" cy="8046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199692" y="1291132"/>
            <a:ext cx="69494" cy="6949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92784" y="1419148"/>
            <a:ext cx="51206" cy="5120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3368" y="1400860"/>
            <a:ext cx="87782" cy="8778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5840" y="1394460"/>
            <a:ext cx="100584" cy="10058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138428" y="1408176"/>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53642" y="1404518"/>
            <a:ext cx="80467" cy="8046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29691" y="1534363"/>
            <a:ext cx="58521" cy="585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41248" y="1527048"/>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2804" y="1519732"/>
            <a:ext cx="87782" cy="8778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84478" y="1532534"/>
            <a:ext cx="62179" cy="6217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208836" y="1538020"/>
            <a:ext cx="51206" cy="5120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572768" y="1005840"/>
            <a:ext cx="4572000" cy="594360"/>
          </a:xfrm>
          <a:prstGeom prst="rect">
            <a:avLst/>
          </a:prstGeom>
          <a:noFill/>
        </p:spPr>
        <p:txBody>
          <a:bodyPr wrap="square">
            <a:spAutoFit/>
          </a:bodyPr>
          <a:lstStyle/>
          <a:p>
            <a:pPr algn="l"/>
            <a:r>
              <a:rPr sz="3600" b="1" i="0">
                <a:solidFill>
                  <a:srgbClr val="0A0A0A"/>
                </a:solidFill>
                <a:latin typeface="Pretendard"/>
              </a:rPr>
              <a:t>PREM</a:t>
            </a:r>
          </a:p>
        </p:txBody>
      </p:sp>
      <p:sp>
        <p:nvSpPr>
          <p:cNvPr id="36" name="Rectangle 35"/>
          <p:cNvSpPr/>
          <p:nvPr/>
        </p:nvSpPr>
        <p:spPr>
          <a:xfrm>
            <a:off x="502920" y="1664208"/>
            <a:ext cx="4389120" cy="7315"/>
          </a:xfrm>
          <a:prstGeom prst="rect">
            <a:avLst/>
          </a:prstGeom>
          <a:solidFill>
            <a:srgbClr val="878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1828800"/>
            <a:ext cx="4572000" cy="502920"/>
          </a:xfrm>
          <a:prstGeom prst="rect">
            <a:avLst/>
          </a:prstGeom>
          <a:noFill/>
        </p:spPr>
        <p:txBody>
          <a:bodyPr wrap="square">
            <a:spAutoFit/>
          </a:bodyPr>
          <a:lstStyle/>
          <a:p>
            <a:pPr algn="l"/>
            <a:r>
              <a:rPr sz="2600" b="0" i="0">
                <a:solidFill>
                  <a:srgbClr val="0A0A0A"/>
                </a:solidFill>
                <a:latin typeface="Pretendard"/>
              </a:rPr>
              <a:t>Brand Bible</a:t>
            </a:r>
          </a:p>
        </p:txBody>
      </p:sp>
      <p:sp>
        <p:nvSpPr>
          <p:cNvPr id="38" name="TextBox 37"/>
          <p:cNvSpPr txBox="1"/>
          <p:nvPr/>
        </p:nvSpPr>
        <p:spPr>
          <a:xfrm>
            <a:off x="502920" y="2395728"/>
            <a:ext cx="5486400" cy="347472"/>
          </a:xfrm>
          <a:prstGeom prst="rect">
            <a:avLst/>
          </a:prstGeom>
          <a:noFill/>
        </p:spPr>
        <p:txBody>
          <a:bodyPr wrap="square">
            <a:spAutoFit/>
          </a:bodyPr>
          <a:lstStyle/>
          <a:p>
            <a:pPr algn="l"/>
            <a:r>
              <a:rPr sz="1300" b="0" i="0">
                <a:solidFill>
                  <a:srgbClr val="585A5E"/>
                </a:solidFill>
                <a:latin typeface="Pretendard"/>
              </a:rPr>
              <a:t>Private Super Intelligence</a:t>
            </a:r>
          </a:p>
        </p:txBody>
      </p:sp>
      <p:sp>
        <p:nvSpPr>
          <p:cNvPr id="39" name="Rectangle 38"/>
          <p:cNvSpPr/>
          <p:nvPr/>
        </p:nvSpPr>
        <p:spPr>
          <a:xfrm>
            <a:off x="502920" y="2852928"/>
            <a:ext cx="1645920"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3035808"/>
            <a:ext cx="5943600" cy="658368"/>
          </a:xfrm>
          <a:prstGeom prst="rect">
            <a:avLst/>
          </a:prstGeom>
          <a:noFill/>
        </p:spPr>
        <p:txBody>
          <a:bodyPr wrap="square">
            <a:spAutoFit/>
          </a:bodyPr>
          <a:lstStyle/>
          <a:p>
            <a:pPr algn="l"/>
            <a:r>
              <a:rPr sz="950" b="0" i="0">
                <a:solidFill>
                  <a:srgbClr val="878884"/>
                </a:solidFill>
                <a:latin typeface="Pretendard"/>
              </a:rPr>
              <a:t>Brand architecture  ·  Digital focus  ·  Voice and tone
Monochrome identity  ·  Platform playbooks  ·  Governance</a:t>
            </a:r>
          </a:p>
        </p:txBody>
      </p:sp>
      <p:sp>
        <p:nvSpPr>
          <p:cNvPr id="41" name="TextBox 40"/>
          <p:cNvSpPr txBox="1"/>
          <p:nvPr/>
        </p:nvSpPr>
        <p:spPr>
          <a:xfrm>
            <a:off x="502920" y="3749039"/>
            <a:ext cx="4572000" cy="256032"/>
          </a:xfrm>
          <a:prstGeom prst="rect">
            <a:avLst/>
          </a:prstGeom>
          <a:noFill/>
        </p:spPr>
        <p:txBody>
          <a:bodyPr wrap="square">
            <a:spAutoFit/>
          </a:bodyPr>
          <a:lstStyle/>
          <a:p>
            <a:pPr algn="l"/>
            <a:r>
              <a:rPr sz="850" b="0" i="0">
                <a:solidFill>
                  <a:srgbClr val="C8C8C4"/>
                </a:solidFill>
                <a:latin typeface="Pretendard"/>
              </a:rPr>
              <a:t>v4.0   June 2026   Internal use only</a:t>
            </a:r>
          </a:p>
        </p:txBody>
      </p:sp>
      <p:sp>
        <p:nvSpPr>
          <p:cNvPr id="42" name="Oval 41"/>
          <p:cNvSpPr/>
          <p:nvPr/>
        </p:nvSpPr>
        <p:spPr>
          <a:xfrm>
            <a:off x="9421063" y="843991"/>
            <a:ext cx="58521" cy="58521"/>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517075" y="843991"/>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613087" y="843991"/>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709099" y="843991"/>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229039" y="940003"/>
            <a:ext cx="58521" cy="58521"/>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325051" y="940003"/>
            <a:ext cx="58521" cy="58521"/>
          </a:xfrm>
          <a:prstGeom prst="ellipse">
            <a:avLst/>
          </a:prstGeom>
          <a:solidFill>
            <a:srgbClr val="3939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421063" y="940003"/>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517075" y="940003"/>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613087" y="940003"/>
            <a:ext cx="58521" cy="58521"/>
          </a:xfrm>
          <a:prstGeom prst="ellipse">
            <a:avLst/>
          </a:prstGeom>
          <a:solidFill>
            <a:srgbClr val="3E3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709099" y="940003"/>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805111" y="940003"/>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901123" y="940003"/>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41003" y="1036015"/>
            <a:ext cx="58521" cy="58521"/>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037015" y="1036015"/>
            <a:ext cx="58521" cy="58521"/>
          </a:xfrm>
          <a:prstGeom prst="ellipse">
            <a:avLst/>
          </a:prstGeom>
          <a:solidFill>
            <a:srgbClr val="363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133027" y="1036015"/>
            <a:ext cx="58521" cy="58521"/>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229039" y="1036015"/>
            <a:ext cx="58521" cy="58521"/>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9325051" y="1036015"/>
            <a:ext cx="58521" cy="58521"/>
          </a:xfrm>
          <a:prstGeom prst="ellipse">
            <a:avLst/>
          </a:prstGeom>
          <a:solidFill>
            <a:srgbClr val="3B3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9421063" y="1036015"/>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517075" y="1036015"/>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613087" y="1036015"/>
            <a:ext cx="58521" cy="58521"/>
          </a:xfrm>
          <a:prstGeom prst="ellipse">
            <a:avLst/>
          </a:prstGeom>
          <a:solidFill>
            <a:srgbClr val="4040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709099" y="1036015"/>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805111" y="1036015"/>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9901123" y="1036015"/>
            <a:ext cx="58521" cy="58521"/>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9997135" y="1036015"/>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093147" y="1036015"/>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0189159" y="1036015"/>
            <a:ext cx="58521" cy="58521"/>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460943" y="1132027"/>
            <a:ext cx="58521" cy="58521"/>
          </a:xfrm>
          <a:prstGeom prst="ellipse">
            <a:avLst/>
          </a:prstGeom>
          <a:solidFill>
            <a:srgbClr val="2F2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556955" y="1132027"/>
            <a:ext cx="58521" cy="58521"/>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8652967" y="1132027"/>
            <a:ext cx="58521" cy="58521"/>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8748979" y="1132027"/>
            <a:ext cx="58521" cy="58521"/>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8844991" y="1132027"/>
            <a:ext cx="58521" cy="58521"/>
          </a:xfrm>
          <a:prstGeom prst="ellipse">
            <a:avLst/>
          </a:prstGeom>
          <a:solidFill>
            <a:srgbClr val="353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941003" y="1132027"/>
            <a:ext cx="58521" cy="58521"/>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9037015" y="1132027"/>
            <a:ext cx="58521" cy="58521"/>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133027" y="1132027"/>
            <a:ext cx="58521" cy="58521"/>
          </a:xfrm>
          <a:prstGeom prst="ellipse">
            <a:avLst/>
          </a:prstGeom>
          <a:solidFill>
            <a:srgbClr val="3A3A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9229039" y="1132027"/>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9325051" y="1132027"/>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9421063" y="1132027"/>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9517075" y="1132027"/>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9613087" y="1132027"/>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9709099" y="1132027"/>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9805111" y="1132027"/>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9901123" y="1132027"/>
            <a:ext cx="58521" cy="58521"/>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9997135" y="1132027"/>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0093147" y="1132027"/>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189159" y="1132027"/>
            <a:ext cx="58521" cy="58521"/>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285171" y="1132027"/>
            <a:ext cx="58521" cy="58521"/>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0381183" y="1132027"/>
            <a:ext cx="58521" cy="58521"/>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364931" y="1228039"/>
            <a:ext cx="58521" cy="58521"/>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460943" y="1228039"/>
            <a:ext cx="58521" cy="58521"/>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556955" y="1228039"/>
            <a:ext cx="58521" cy="58521"/>
          </a:xfrm>
          <a:prstGeom prst="ellipse">
            <a:avLst/>
          </a:prstGeom>
          <a:solidFill>
            <a:srgbClr val="323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52967" y="1228039"/>
            <a:ext cx="58521" cy="58521"/>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748979" y="1228039"/>
            <a:ext cx="58521" cy="58521"/>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844991" y="1228039"/>
            <a:ext cx="58521" cy="58521"/>
          </a:xfrm>
          <a:prstGeom prst="ellipse">
            <a:avLst/>
          </a:prstGeom>
          <a:solidFill>
            <a:srgbClr val="3737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941003" y="1228039"/>
            <a:ext cx="58521" cy="58521"/>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9037015" y="1228039"/>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9133027" y="1228039"/>
            <a:ext cx="58521" cy="58521"/>
          </a:xfrm>
          <a:prstGeom prst="ellipse">
            <a:avLst/>
          </a:prstGeom>
          <a:solidFill>
            <a:srgbClr val="3C3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229039" y="1228039"/>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325051" y="1228039"/>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421063" y="1228039"/>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517075" y="1228039"/>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613087" y="1228039"/>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9709099" y="1228039"/>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805111" y="1228039"/>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9901123" y="1228039"/>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9997135" y="1228039"/>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093147" y="1228039"/>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0189159" y="1228039"/>
            <a:ext cx="58521" cy="58521"/>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10285171" y="1228039"/>
            <a:ext cx="58521" cy="58521"/>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10381183" y="1228039"/>
            <a:ext cx="58521" cy="58521"/>
          </a:xfrm>
          <a:prstGeom prst="ellipse">
            <a:avLst/>
          </a:prstGeom>
          <a:solidFill>
            <a:srgbClr val="525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10477195" y="1228039"/>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8268919" y="1324051"/>
            <a:ext cx="58521" cy="58521"/>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8364931" y="1324051"/>
            <a:ext cx="58521" cy="58521"/>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8460943" y="1324051"/>
            <a:ext cx="58521" cy="58521"/>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8556955" y="1324051"/>
            <a:ext cx="58521" cy="58521"/>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8652967" y="1324051"/>
            <a:ext cx="58521" cy="58521"/>
          </a:xfrm>
          <a:prstGeom prst="ellipse">
            <a:avLst/>
          </a:prstGeom>
          <a:solidFill>
            <a:srgbClr val="363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8748979" y="1324051"/>
            <a:ext cx="58521" cy="58521"/>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844991" y="1324051"/>
            <a:ext cx="58521" cy="58521"/>
          </a:xfrm>
          <a:prstGeom prst="ellipse">
            <a:avLst/>
          </a:prstGeom>
          <a:solidFill>
            <a:srgbClr val="3939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8941003" y="1324051"/>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9037015" y="1324051"/>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133027" y="1324051"/>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9229039" y="1324051"/>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9325051" y="1324051"/>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9421063" y="1324051"/>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9517075" y="1324051"/>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9613087" y="1324051"/>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9709099" y="1324051"/>
            <a:ext cx="58521" cy="58521"/>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9805111" y="1324051"/>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9901123" y="1324051"/>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9997135" y="1324051"/>
            <a:ext cx="58521" cy="58521"/>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10093147" y="1324051"/>
            <a:ext cx="58521" cy="58521"/>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0189159" y="1324051"/>
            <a:ext cx="58521" cy="58521"/>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10285171" y="1324051"/>
            <a:ext cx="58521" cy="58521"/>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10381183" y="1324051"/>
            <a:ext cx="58521" cy="58521"/>
          </a:xfrm>
          <a:prstGeom prst="ellipse">
            <a:avLst/>
          </a:prstGeom>
          <a:solidFill>
            <a:srgbClr val="5454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10477195" y="1324051"/>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8076895" y="1420063"/>
            <a:ext cx="58521" cy="58521"/>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8172907" y="1420063"/>
            <a:ext cx="58521" cy="58521"/>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8268919" y="1420063"/>
            <a:ext cx="58521" cy="58521"/>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8364931" y="1420063"/>
            <a:ext cx="58521" cy="58521"/>
          </a:xfrm>
          <a:prstGeom prst="ellipse">
            <a:avLst/>
          </a:prstGeom>
          <a:solidFill>
            <a:srgbClr val="333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8460943" y="1420063"/>
            <a:ext cx="58521" cy="58521"/>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8556955" y="1420063"/>
            <a:ext cx="58521" cy="58521"/>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8652967" y="1420063"/>
            <a:ext cx="58521" cy="58521"/>
          </a:xfrm>
          <a:prstGeom prst="ellipse">
            <a:avLst/>
          </a:prstGeom>
          <a:solidFill>
            <a:srgbClr val="3838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8748979" y="1420063"/>
            <a:ext cx="58521" cy="58521"/>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8844991" y="1420063"/>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8941003" y="1420063"/>
            <a:ext cx="58521" cy="58521"/>
          </a:xfrm>
          <a:prstGeom prst="ellipse">
            <a:avLst/>
          </a:prstGeom>
          <a:solidFill>
            <a:srgbClr val="3D3D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9037015" y="1420063"/>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9133027" y="1420063"/>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9229039" y="1420063"/>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9325051" y="1420063"/>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9421063" y="1420063"/>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9517075" y="1420063"/>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Oval 151"/>
          <p:cNvSpPr/>
          <p:nvPr/>
        </p:nvSpPr>
        <p:spPr>
          <a:xfrm>
            <a:off x="9613087" y="1420063"/>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9709099" y="1420063"/>
            <a:ext cx="58521" cy="58521"/>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9805111" y="1420063"/>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9901123" y="1420063"/>
            <a:ext cx="58521" cy="58521"/>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9997135" y="1420063"/>
            <a:ext cx="58521" cy="58521"/>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10093147" y="1420063"/>
            <a:ext cx="58521" cy="58521"/>
          </a:xfrm>
          <a:prstGeom prst="ellipse">
            <a:avLst/>
          </a:prstGeom>
          <a:solidFill>
            <a:srgbClr val="515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Oval 157"/>
          <p:cNvSpPr/>
          <p:nvPr/>
        </p:nvSpPr>
        <p:spPr>
          <a:xfrm>
            <a:off x="10189159" y="1420063"/>
            <a:ext cx="58521" cy="58521"/>
          </a:xfrm>
          <a:prstGeom prst="ellipse">
            <a:avLst/>
          </a:prstGeom>
          <a:solidFill>
            <a:srgbClr val="5353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10285171" y="1420063"/>
            <a:ext cx="58521" cy="58521"/>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10381183" y="1420063"/>
            <a:ext cx="58521" cy="58521"/>
          </a:xfrm>
          <a:prstGeom prst="ellipse">
            <a:avLst/>
          </a:prstGeom>
          <a:solidFill>
            <a:srgbClr val="5656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0477195" y="1420063"/>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7980883" y="1516075"/>
            <a:ext cx="58521" cy="58521"/>
          </a:xfrm>
          <a:prstGeom prst="ellipse">
            <a:avLst/>
          </a:prstGeom>
          <a:solidFill>
            <a:srgbClr val="2F2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8076895" y="1516075"/>
            <a:ext cx="58521" cy="58521"/>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8172907" y="1516075"/>
            <a:ext cx="58521" cy="58521"/>
          </a:xfrm>
          <a:prstGeom prst="ellipse">
            <a:avLst/>
          </a:prstGeom>
          <a:solidFill>
            <a:srgbClr val="323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8268919" y="1516075"/>
            <a:ext cx="58521" cy="58521"/>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8364931" y="1516075"/>
            <a:ext cx="58521" cy="58521"/>
          </a:xfrm>
          <a:prstGeom prst="ellipse">
            <a:avLst/>
          </a:prstGeom>
          <a:solidFill>
            <a:srgbClr val="353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8460943" y="1516075"/>
            <a:ext cx="58521" cy="58521"/>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8556955" y="1516075"/>
            <a:ext cx="58521" cy="58521"/>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8652967" y="1516075"/>
            <a:ext cx="58521" cy="58521"/>
          </a:xfrm>
          <a:prstGeom prst="ellipse">
            <a:avLst/>
          </a:prstGeom>
          <a:solidFill>
            <a:srgbClr val="3A3A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8748979" y="1516075"/>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8844991" y="1516075"/>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8941003" y="1516075"/>
            <a:ext cx="58521" cy="58521"/>
          </a:xfrm>
          <a:prstGeom prst="ellipse">
            <a:avLst/>
          </a:prstGeom>
          <a:solidFill>
            <a:srgbClr val="3F3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9037015" y="1516075"/>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Oval 173"/>
          <p:cNvSpPr/>
          <p:nvPr/>
        </p:nvSpPr>
        <p:spPr>
          <a:xfrm>
            <a:off x="9133027" y="1516075"/>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9229039" y="1516075"/>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9325051" y="1516075"/>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9421063" y="1516075"/>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9517075" y="1516075"/>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613087" y="1516075"/>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9709099" y="1516075"/>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9805111" y="1516075"/>
            <a:ext cx="58521" cy="58521"/>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9901123" y="1516075"/>
            <a:ext cx="58521" cy="58521"/>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9997135" y="1516075"/>
            <a:ext cx="58521" cy="58521"/>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Oval 183"/>
          <p:cNvSpPr/>
          <p:nvPr/>
        </p:nvSpPr>
        <p:spPr>
          <a:xfrm>
            <a:off x="10093147" y="1516075"/>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0189159" y="1516075"/>
            <a:ext cx="58521" cy="58521"/>
          </a:xfrm>
          <a:prstGeom prst="ellipse">
            <a:avLst/>
          </a:prstGeom>
          <a:solidFill>
            <a:srgbClr val="5555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10285171" y="1516075"/>
            <a:ext cx="58521" cy="58521"/>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0381183" y="1516075"/>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10477195" y="1516075"/>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Oval 188"/>
          <p:cNvSpPr/>
          <p:nvPr/>
        </p:nvSpPr>
        <p:spPr>
          <a:xfrm>
            <a:off x="7788859" y="1612087"/>
            <a:ext cx="58521" cy="58521"/>
          </a:xfrm>
          <a:prstGeom prst="ellipse">
            <a:avLst/>
          </a:prstGeom>
          <a:solidFill>
            <a:srgbClr val="2D2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7884871" y="1612087"/>
            <a:ext cx="58521" cy="58521"/>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7980883" y="1612087"/>
            <a:ext cx="58521" cy="58521"/>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8076895" y="1612087"/>
            <a:ext cx="58521" cy="58521"/>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8172907" y="1612087"/>
            <a:ext cx="58521" cy="58521"/>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8268919" y="1612087"/>
            <a:ext cx="58521" cy="58521"/>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4931" y="1612087"/>
            <a:ext cx="58521" cy="58521"/>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8460943" y="1612087"/>
            <a:ext cx="58521" cy="58521"/>
          </a:xfrm>
          <a:prstGeom prst="ellipse">
            <a:avLst/>
          </a:prstGeom>
          <a:solidFill>
            <a:srgbClr val="3939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8556955" y="1612087"/>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Oval 197"/>
          <p:cNvSpPr/>
          <p:nvPr/>
        </p:nvSpPr>
        <p:spPr>
          <a:xfrm>
            <a:off x="8652967" y="1612087"/>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8748979" y="1612087"/>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8844991" y="1612087"/>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8941003" y="1612087"/>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9037015" y="1612087"/>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9133027" y="1612087"/>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Oval 203"/>
          <p:cNvSpPr/>
          <p:nvPr/>
        </p:nvSpPr>
        <p:spPr>
          <a:xfrm>
            <a:off x="9229039" y="1612087"/>
            <a:ext cx="58521" cy="58521"/>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9325051" y="1612087"/>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9421063" y="1612087"/>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Oval 206"/>
          <p:cNvSpPr/>
          <p:nvPr/>
        </p:nvSpPr>
        <p:spPr>
          <a:xfrm>
            <a:off x="9517075" y="1612087"/>
            <a:ext cx="58521" cy="58521"/>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9613087" y="1612087"/>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Oval 208"/>
          <p:cNvSpPr/>
          <p:nvPr/>
        </p:nvSpPr>
        <p:spPr>
          <a:xfrm>
            <a:off x="9709099" y="1612087"/>
            <a:ext cx="58521" cy="58521"/>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9805111" y="1612087"/>
            <a:ext cx="58521" cy="58521"/>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Oval 210"/>
          <p:cNvSpPr/>
          <p:nvPr/>
        </p:nvSpPr>
        <p:spPr>
          <a:xfrm>
            <a:off x="9901123" y="1612087"/>
            <a:ext cx="58521" cy="58521"/>
          </a:xfrm>
          <a:prstGeom prst="ellipse">
            <a:avLst/>
          </a:prstGeom>
          <a:solidFill>
            <a:srgbClr val="525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Oval 211"/>
          <p:cNvSpPr/>
          <p:nvPr/>
        </p:nvSpPr>
        <p:spPr>
          <a:xfrm>
            <a:off x="9997135" y="1612087"/>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10093147" y="1612087"/>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10189159" y="1612087"/>
            <a:ext cx="58521" cy="58521"/>
          </a:xfrm>
          <a:prstGeom prst="ellipse">
            <a:avLst/>
          </a:prstGeom>
          <a:solidFill>
            <a:srgbClr val="5757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Oval 214"/>
          <p:cNvSpPr/>
          <p:nvPr/>
        </p:nvSpPr>
        <p:spPr>
          <a:xfrm>
            <a:off x="10285171" y="1612087"/>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10381183" y="1612087"/>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10477195" y="1612087"/>
            <a:ext cx="58521" cy="58521"/>
          </a:xfrm>
          <a:prstGeom prst="ellipse">
            <a:avLst/>
          </a:prstGeom>
          <a:solidFill>
            <a:srgbClr val="5C5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7692847" y="1708099"/>
            <a:ext cx="58521" cy="58521"/>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7788859" y="1708099"/>
            <a:ext cx="58521" cy="58521"/>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7884871" y="1708099"/>
            <a:ext cx="58521" cy="58521"/>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7980883" y="1708099"/>
            <a:ext cx="58521" cy="58521"/>
          </a:xfrm>
          <a:prstGeom prst="ellipse">
            <a:avLst/>
          </a:prstGeom>
          <a:solidFill>
            <a:srgbClr val="333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8076895" y="1708099"/>
            <a:ext cx="58521" cy="58521"/>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8172907" y="1708099"/>
            <a:ext cx="58521" cy="58521"/>
          </a:xfrm>
          <a:prstGeom prst="ellipse">
            <a:avLst/>
          </a:prstGeom>
          <a:solidFill>
            <a:srgbClr val="363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Oval 223"/>
          <p:cNvSpPr/>
          <p:nvPr/>
        </p:nvSpPr>
        <p:spPr>
          <a:xfrm>
            <a:off x="8268919" y="1708099"/>
            <a:ext cx="58521" cy="58521"/>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Oval 224"/>
          <p:cNvSpPr/>
          <p:nvPr/>
        </p:nvSpPr>
        <p:spPr>
          <a:xfrm>
            <a:off x="8364931" y="1708099"/>
            <a:ext cx="58521" cy="58521"/>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Oval 225"/>
          <p:cNvSpPr/>
          <p:nvPr/>
        </p:nvSpPr>
        <p:spPr>
          <a:xfrm>
            <a:off x="8460943" y="1708099"/>
            <a:ext cx="58521" cy="58521"/>
          </a:xfrm>
          <a:prstGeom prst="ellipse">
            <a:avLst/>
          </a:prstGeom>
          <a:solidFill>
            <a:srgbClr val="3B3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Oval 226"/>
          <p:cNvSpPr/>
          <p:nvPr/>
        </p:nvSpPr>
        <p:spPr>
          <a:xfrm>
            <a:off x="8556955" y="1708099"/>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Oval 227"/>
          <p:cNvSpPr/>
          <p:nvPr/>
        </p:nvSpPr>
        <p:spPr>
          <a:xfrm>
            <a:off x="8652967" y="1708099"/>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Oval 228"/>
          <p:cNvSpPr/>
          <p:nvPr/>
        </p:nvSpPr>
        <p:spPr>
          <a:xfrm>
            <a:off x="8748979" y="1708099"/>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8844991" y="1708099"/>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Oval 230"/>
          <p:cNvSpPr/>
          <p:nvPr/>
        </p:nvSpPr>
        <p:spPr>
          <a:xfrm>
            <a:off x="8941003" y="1708099"/>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9037015" y="1708099"/>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Oval 232"/>
          <p:cNvSpPr/>
          <p:nvPr/>
        </p:nvSpPr>
        <p:spPr>
          <a:xfrm>
            <a:off x="9133027" y="1708099"/>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Oval 233"/>
          <p:cNvSpPr/>
          <p:nvPr/>
        </p:nvSpPr>
        <p:spPr>
          <a:xfrm>
            <a:off x="9229039" y="1708099"/>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Oval 234"/>
          <p:cNvSpPr/>
          <p:nvPr/>
        </p:nvSpPr>
        <p:spPr>
          <a:xfrm>
            <a:off x="9325051" y="1708099"/>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Oval 235"/>
          <p:cNvSpPr/>
          <p:nvPr/>
        </p:nvSpPr>
        <p:spPr>
          <a:xfrm>
            <a:off x="9421063" y="1708099"/>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Oval 236"/>
          <p:cNvSpPr/>
          <p:nvPr/>
        </p:nvSpPr>
        <p:spPr>
          <a:xfrm>
            <a:off x="9517075" y="1708099"/>
            <a:ext cx="58521" cy="58521"/>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Oval 237"/>
          <p:cNvSpPr/>
          <p:nvPr/>
        </p:nvSpPr>
        <p:spPr>
          <a:xfrm>
            <a:off x="9613087" y="1708099"/>
            <a:ext cx="58521" cy="58521"/>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Oval 238"/>
          <p:cNvSpPr/>
          <p:nvPr/>
        </p:nvSpPr>
        <p:spPr>
          <a:xfrm>
            <a:off x="9709099" y="1708099"/>
            <a:ext cx="58521" cy="58521"/>
          </a:xfrm>
          <a:prstGeom prst="ellipse">
            <a:avLst/>
          </a:prstGeom>
          <a:solidFill>
            <a:srgbClr val="515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Oval 239"/>
          <p:cNvSpPr/>
          <p:nvPr/>
        </p:nvSpPr>
        <p:spPr>
          <a:xfrm>
            <a:off x="9805111" y="1708099"/>
            <a:ext cx="58521" cy="58521"/>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Oval 240"/>
          <p:cNvSpPr/>
          <p:nvPr/>
        </p:nvSpPr>
        <p:spPr>
          <a:xfrm>
            <a:off x="9901123" y="1708099"/>
            <a:ext cx="58521" cy="58521"/>
          </a:xfrm>
          <a:prstGeom prst="ellipse">
            <a:avLst/>
          </a:prstGeom>
          <a:solidFill>
            <a:srgbClr val="5454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Oval 241"/>
          <p:cNvSpPr/>
          <p:nvPr/>
        </p:nvSpPr>
        <p:spPr>
          <a:xfrm>
            <a:off x="9997135" y="1708099"/>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Oval 242"/>
          <p:cNvSpPr/>
          <p:nvPr/>
        </p:nvSpPr>
        <p:spPr>
          <a:xfrm>
            <a:off x="10093147" y="1708099"/>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Oval 243"/>
          <p:cNvSpPr/>
          <p:nvPr/>
        </p:nvSpPr>
        <p:spPr>
          <a:xfrm>
            <a:off x="10189159" y="1708099"/>
            <a:ext cx="58521" cy="58521"/>
          </a:xfrm>
          <a:prstGeom prst="ellipse">
            <a:avLst/>
          </a:prstGeom>
          <a:solidFill>
            <a:srgbClr val="5959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Oval 244"/>
          <p:cNvSpPr/>
          <p:nvPr/>
        </p:nvSpPr>
        <p:spPr>
          <a:xfrm>
            <a:off x="10285171" y="1708099"/>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Oval 245"/>
          <p:cNvSpPr/>
          <p:nvPr/>
        </p:nvSpPr>
        <p:spPr>
          <a:xfrm>
            <a:off x="10381183" y="1708099"/>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Oval 246"/>
          <p:cNvSpPr/>
          <p:nvPr/>
        </p:nvSpPr>
        <p:spPr>
          <a:xfrm>
            <a:off x="10477195" y="1708099"/>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Oval 247"/>
          <p:cNvSpPr/>
          <p:nvPr/>
        </p:nvSpPr>
        <p:spPr>
          <a:xfrm>
            <a:off x="7596835" y="1804111"/>
            <a:ext cx="58521" cy="58521"/>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Oval 248"/>
          <p:cNvSpPr/>
          <p:nvPr/>
        </p:nvSpPr>
        <p:spPr>
          <a:xfrm>
            <a:off x="7692847" y="1804111"/>
            <a:ext cx="58521" cy="58521"/>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Oval 249"/>
          <p:cNvSpPr/>
          <p:nvPr/>
        </p:nvSpPr>
        <p:spPr>
          <a:xfrm>
            <a:off x="7788859" y="1804111"/>
            <a:ext cx="58521" cy="58521"/>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Oval 250"/>
          <p:cNvSpPr/>
          <p:nvPr/>
        </p:nvSpPr>
        <p:spPr>
          <a:xfrm>
            <a:off x="7884871" y="1804111"/>
            <a:ext cx="58521" cy="58521"/>
          </a:xfrm>
          <a:prstGeom prst="ellipse">
            <a:avLst/>
          </a:prstGeom>
          <a:solidFill>
            <a:srgbClr val="333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Oval 251"/>
          <p:cNvSpPr/>
          <p:nvPr/>
        </p:nvSpPr>
        <p:spPr>
          <a:xfrm>
            <a:off x="7980883" y="1804111"/>
            <a:ext cx="58521" cy="58521"/>
          </a:xfrm>
          <a:prstGeom prst="ellipse">
            <a:avLst/>
          </a:prstGeom>
          <a:solidFill>
            <a:srgbClr val="353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Oval 252"/>
          <p:cNvSpPr/>
          <p:nvPr/>
        </p:nvSpPr>
        <p:spPr>
          <a:xfrm>
            <a:off x="8076895" y="1804111"/>
            <a:ext cx="58521" cy="58521"/>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Oval 253"/>
          <p:cNvSpPr/>
          <p:nvPr/>
        </p:nvSpPr>
        <p:spPr>
          <a:xfrm>
            <a:off x="8172907" y="1804111"/>
            <a:ext cx="58521" cy="58521"/>
          </a:xfrm>
          <a:prstGeom prst="ellipse">
            <a:avLst/>
          </a:prstGeom>
          <a:solidFill>
            <a:srgbClr val="3838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Oval 254"/>
          <p:cNvSpPr/>
          <p:nvPr/>
        </p:nvSpPr>
        <p:spPr>
          <a:xfrm>
            <a:off x="8268919" y="1804111"/>
            <a:ext cx="58521" cy="58521"/>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Oval 255"/>
          <p:cNvSpPr/>
          <p:nvPr/>
        </p:nvSpPr>
        <p:spPr>
          <a:xfrm>
            <a:off x="8364931" y="1804111"/>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Oval 256"/>
          <p:cNvSpPr/>
          <p:nvPr/>
        </p:nvSpPr>
        <p:spPr>
          <a:xfrm>
            <a:off x="8460943" y="1804111"/>
            <a:ext cx="58521" cy="58521"/>
          </a:xfrm>
          <a:prstGeom prst="ellipse">
            <a:avLst/>
          </a:prstGeom>
          <a:solidFill>
            <a:srgbClr val="3D3D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Oval 257"/>
          <p:cNvSpPr/>
          <p:nvPr/>
        </p:nvSpPr>
        <p:spPr>
          <a:xfrm>
            <a:off x="8556955" y="1804111"/>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8652967" y="1804111"/>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Oval 259"/>
          <p:cNvSpPr/>
          <p:nvPr/>
        </p:nvSpPr>
        <p:spPr>
          <a:xfrm>
            <a:off x="8748979" y="1804111"/>
            <a:ext cx="58521" cy="58521"/>
          </a:xfrm>
          <a:prstGeom prst="ellipse">
            <a:avLst/>
          </a:prstGeom>
          <a:solidFill>
            <a:srgbClr val="4242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Oval 260"/>
          <p:cNvSpPr/>
          <p:nvPr/>
        </p:nvSpPr>
        <p:spPr>
          <a:xfrm>
            <a:off x="8844991" y="1804111"/>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Oval 261"/>
          <p:cNvSpPr/>
          <p:nvPr/>
        </p:nvSpPr>
        <p:spPr>
          <a:xfrm>
            <a:off x="8941003" y="1804111"/>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Oval 262"/>
          <p:cNvSpPr/>
          <p:nvPr/>
        </p:nvSpPr>
        <p:spPr>
          <a:xfrm>
            <a:off x="9037015" y="1804111"/>
            <a:ext cx="58521" cy="58521"/>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Oval 263"/>
          <p:cNvSpPr/>
          <p:nvPr/>
        </p:nvSpPr>
        <p:spPr>
          <a:xfrm>
            <a:off x="9133027" y="1804111"/>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Oval 264"/>
          <p:cNvSpPr/>
          <p:nvPr/>
        </p:nvSpPr>
        <p:spPr>
          <a:xfrm>
            <a:off x="9229039" y="1804111"/>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Oval 265"/>
          <p:cNvSpPr/>
          <p:nvPr/>
        </p:nvSpPr>
        <p:spPr>
          <a:xfrm>
            <a:off x="9325051" y="1804111"/>
            <a:ext cx="58521" cy="58521"/>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Oval 266"/>
          <p:cNvSpPr/>
          <p:nvPr/>
        </p:nvSpPr>
        <p:spPr>
          <a:xfrm>
            <a:off x="9421063" y="1804111"/>
            <a:ext cx="58521" cy="58521"/>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Oval 267"/>
          <p:cNvSpPr/>
          <p:nvPr/>
        </p:nvSpPr>
        <p:spPr>
          <a:xfrm>
            <a:off x="9517075" y="1804111"/>
            <a:ext cx="58521" cy="58521"/>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Oval 268"/>
          <p:cNvSpPr/>
          <p:nvPr/>
        </p:nvSpPr>
        <p:spPr>
          <a:xfrm>
            <a:off x="9613087" y="1804111"/>
            <a:ext cx="58521" cy="58521"/>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9709099" y="1804111"/>
            <a:ext cx="58521" cy="58521"/>
          </a:xfrm>
          <a:prstGeom prst="ellipse">
            <a:avLst/>
          </a:prstGeom>
          <a:solidFill>
            <a:srgbClr val="5353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Oval 270"/>
          <p:cNvSpPr/>
          <p:nvPr/>
        </p:nvSpPr>
        <p:spPr>
          <a:xfrm>
            <a:off x="9805111" y="1804111"/>
            <a:ext cx="58521" cy="58521"/>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Oval 271"/>
          <p:cNvSpPr/>
          <p:nvPr/>
        </p:nvSpPr>
        <p:spPr>
          <a:xfrm>
            <a:off x="9901123" y="1804111"/>
            <a:ext cx="58521" cy="58521"/>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Oval 272"/>
          <p:cNvSpPr/>
          <p:nvPr/>
        </p:nvSpPr>
        <p:spPr>
          <a:xfrm>
            <a:off x="9997135" y="1804111"/>
            <a:ext cx="58521" cy="58521"/>
          </a:xfrm>
          <a:prstGeom prst="ellipse">
            <a:avLst/>
          </a:prstGeom>
          <a:solidFill>
            <a:srgbClr val="585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Oval 273"/>
          <p:cNvSpPr/>
          <p:nvPr/>
        </p:nvSpPr>
        <p:spPr>
          <a:xfrm>
            <a:off x="10093147" y="1804111"/>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Oval 274"/>
          <p:cNvSpPr/>
          <p:nvPr/>
        </p:nvSpPr>
        <p:spPr>
          <a:xfrm>
            <a:off x="10189159" y="1804111"/>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Oval 275"/>
          <p:cNvSpPr/>
          <p:nvPr/>
        </p:nvSpPr>
        <p:spPr>
          <a:xfrm>
            <a:off x="10285171" y="1804111"/>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Oval 276"/>
          <p:cNvSpPr/>
          <p:nvPr/>
        </p:nvSpPr>
        <p:spPr>
          <a:xfrm>
            <a:off x="10381183" y="1804111"/>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Oval 277"/>
          <p:cNvSpPr/>
          <p:nvPr/>
        </p:nvSpPr>
        <p:spPr>
          <a:xfrm>
            <a:off x="10477195" y="1804111"/>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Oval 278"/>
          <p:cNvSpPr/>
          <p:nvPr/>
        </p:nvSpPr>
        <p:spPr>
          <a:xfrm>
            <a:off x="10573207" y="1804111"/>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Oval 279"/>
          <p:cNvSpPr/>
          <p:nvPr/>
        </p:nvSpPr>
        <p:spPr>
          <a:xfrm>
            <a:off x="7500823" y="1900123"/>
            <a:ext cx="58521" cy="58521"/>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Oval 280"/>
          <p:cNvSpPr/>
          <p:nvPr/>
        </p:nvSpPr>
        <p:spPr>
          <a:xfrm>
            <a:off x="7596835" y="1900123"/>
            <a:ext cx="58521" cy="58521"/>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Oval 281"/>
          <p:cNvSpPr/>
          <p:nvPr/>
        </p:nvSpPr>
        <p:spPr>
          <a:xfrm>
            <a:off x="7692847" y="1900123"/>
            <a:ext cx="58521" cy="58521"/>
          </a:xfrm>
          <a:prstGeom prst="ellipse">
            <a:avLst/>
          </a:prstGeom>
          <a:solidFill>
            <a:srgbClr val="323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Oval 282"/>
          <p:cNvSpPr/>
          <p:nvPr/>
        </p:nvSpPr>
        <p:spPr>
          <a:xfrm>
            <a:off x="7788859" y="1900123"/>
            <a:ext cx="58521" cy="58521"/>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Oval 283"/>
          <p:cNvSpPr/>
          <p:nvPr/>
        </p:nvSpPr>
        <p:spPr>
          <a:xfrm>
            <a:off x="7884871" y="1900123"/>
            <a:ext cx="58521" cy="58521"/>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Oval 284"/>
          <p:cNvSpPr/>
          <p:nvPr/>
        </p:nvSpPr>
        <p:spPr>
          <a:xfrm>
            <a:off x="7980883" y="1900123"/>
            <a:ext cx="58521" cy="58521"/>
          </a:xfrm>
          <a:prstGeom prst="ellipse">
            <a:avLst/>
          </a:prstGeom>
          <a:solidFill>
            <a:srgbClr val="3737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Oval 285"/>
          <p:cNvSpPr/>
          <p:nvPr/>
        </p:nvSpPr>
        <p:spPr>
          <a:xfrm>
            <a:off x="8076895" y="1900123"/>
            <a:ext cx="58521" cy="58521"/>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Oval 286"/>
          <p:cNvSpPr/>
          <p:nvPr/>
        </p:nvSpPr>
        <p:spPr>
          <a:xfrm>
            <a:off x="8172907" y="1900123"/>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Oval 287"/>
          <p:cNvSpPr/>
          <p:nvPr/>
        </p:nvSpPr>
        <p:spPr>
          <a:xfrm>
            <a:off x="8268919" y="1900123"/>
            <a:ext cx="58521" cy="58521"/>
          </a:xfrm>
          <a:prstGeom prst="ellipse">
            <a:avLst/>
          </a:prstGeom>
          <a:solidFill>
            <a:srgbClr val="3C3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Oval 288"/>
          <p:cNvSpPr/>
          <p:nvPr/>
        </p:nvSpPr>
        <p:spPr>
          <a:xfrm>
            <a:off x="8364931" y="1900123"/>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Oval 289"/>
          <p:cNvSpPr/>
          <p:nvPr/>
        </p:nvSpPr>
        <p:spPr>
          <a:xfrm>
            <a:off x="8460943" y="1900123"/>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Oval 290"/>
          <p:cNvSpPr/>
          <p:nvPr/>
        </p:nvSpPr>
        <p:spPr>
          <a:xfrm>
            <a:off x="8556955" y="1900123"/>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Oval 291"/>
          <p:cNvSpPr/>
          <p:nvPr/>
        </p:nvSpPr>
        <p:spPr>
          <a:xfrm>
            <a:off x="8652967" y="1900123"/>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Oval 292"/>
          <p:cNvSpPr/>
          <p:nvPr/>
        </p:nvSpPr>
        <p:spPr>
          <a:xfrm>
            <a:off x="8748979" y="1900123"/>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Oval 293"/>
          <p:cNvSpPr/>
          <p:nvPr/>
        </p:nvSpPr>
        <p:spPr>
          <a:xfrm>
            <a:off x="8844991" y="1900123"/>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8941003" y="1900123"/>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Oval 295"/>
          <p:cNvSpPr/>
          <p:nvPr/>
        </p:nvSpPr>
        <p:spPr>
          <a:xfrm>
            <a:off x="9037015" y="1900123"/>
            <a:ext cx="58521" cy="58521"/>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Oval 296"/>
          <p:cNvSpPr/>
          <p:nvPr/>
        </p:nvSpPr>
        <p:spPr>
          <a:xfrm>
            <a:off x="9133027" y="1900123"/>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Oval 297"/>
          <p:cNvSpPr/>
          <p:nvPr/>
        </p:nvSpPr>
        <p:spPr>
          <a:xfrm>
            <a:off x="9229039" y="1900123"/>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Oval 298"/>
          <p:cNvSpPr/>
          <p:nvPr/>
        </p:nvSpPr>
        <p:spPr>
          <a:xfrm>
            <a:off x="9325051" y="1900123"/>
            <a:ext cx="58521" cy="58521"/>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Oval 299"/>
          <p:cNvSpPr/>
          <p:nvPr/>
        </p:nvSpPr>
        <p:spPr>
          <a:xfrm>
            <a:off x="9421063" y="1900123"/>
            <a:ext cx="58521" cy="58521"/>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Oval 300"/>
          <p:cNvSpPr/>
          <p:nvPr/>
        </p:nvSpPr>
        <p:spPr>
          <a:xfrm>
            <a:off x="9517075" y="1900123"/>
            <a:ext cx="58521" cy="58521"/>
          </a:xfrm>
          <a:prstGeom prst="ellipse">
            <a:avLst/>
          </a:prstGeom>
          <a:solidFill>
            <a:srgbClr val="525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Oval 301"/>
          <p:cNvSpPr/>
          <p:nvPr/>
        </p:nvSpPr>
        <p:spPr>
          <a:xfrm>
            <a:off x="9613087" y="1900123"/>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9709099" y="1900123"/>
            <a:ext cx="58521" cy="58521"/>
          </a:xfrm>
          <a:prstGeom prst="ellipse">
            <a:avLst/>
          </a:prstGeom>
          <a:solidFill>
            <a:srgbClr val="5555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Oval 303"/>
          <p:cNvSpPr/>
          <p:nvPr/>
        </p:nvSpPr>
        <p:spPr>
          <a:xfrm>
            <a:off x="9805111" y="1900123"/>
            <a:ext cx="58521" cy="58521"/>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Oval 304"/>
          <p:cNvSpPr/>
          <p:nvPr/>
        </p:nvSpPr>
        <p:spPr>
          <a:xfrm>
            <a:off x="9901123" y="1900123"/>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Oval 305"/>
          <p:cNvSpPr/>
          <p:nvPr/>
        </p:nvSpPr>
        <p:spPr>
          <a:xfrm>
            <a:off x="9997135" y="1900123"/>
            <a:ext cx="58521" cy="58521"/>
          </a:xfrm>
          <a:prstGeom prst="ellipse">
            <a:avLst/>
          </a:prstGeom>
          <a:solidFill>
            <a:srgbClr val="5A5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Oval 306"/>
          <p:cNvSpPr/>
          <p:nvPr/>
        </p:nvSpPr>
        <p:spPr>
          <a:xfrm>
            <a:off x="10093147" y="1900123"/>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Oval 307"/>
          <p:cNvSpPr/>
          <p:nvPr/>
        </p:nvSpPr>
        <p:spPr>
          <a:xfrm>
            <a:off x="10189159" y="1900123"/>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Oval 308"/>
          <p:cNvSpPr/>
          <p:nvPr/>
        </p:nvSpPr>
        <p:spPr>
          <a:xfrm>
            <a:off x="10285171" y="1900123"/>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Oval 309"/>
          <p:cNvSpPr/>
          <p:nvPr/>
        </p:nvSpPr>
        <p:spPr>
          <a:xfrm>
            <a:off x="10381183" y="1900123"/>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Oval 310"/>
          <p:cNvSpPr/>
          <p:nvPr/>
        </p:nvSpPr>
        <p:spPr>
          <a:xfrm>
            <a:off x="10477195" y="1900123"/>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Oval 311"/>
          <p:cNvSpPr/>
          <p:nvPr/>
        </p:nvSpPr>
        <p:spPr>
          <a:xfrm>
            <a:off x="10573207" y="1900123"/>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Oval 312"/>
          <p:cNvSpPr/>
          <p:nvPr/>
        </p:nvSpPr>
        <p:spPr>
          <a:xfrm>
            <a:off x="10669219" y="1900123"/>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Oval 313"/>
          <p:cNvSpPr/>
          <p:nvPr/>
        </p:nvSpPr>
        <p:spPr>
          <a:xfrm>
            <a:off x="7404811" y="1996135"/>
            <a:ext cx="58521" cy="58521"/>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Oval 314"/>
          <p:cNvSpPr/>
          <p:nvPr/>
        </p:nvSpPr>
        <p:spPr>
          <a:xfrm>
            <a:off x="7500823" y="1996135"/>
            <a:ext cx="58521" cy="58521"/>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Oval 315"/>
          <p:cNvSpPr/>
          <p:nvPr/>
        </p:nvSpPr>
        <p:spPr>
          <a:xfrm>
            <a:off x="7596835" y="1996135"/>
            <a:ext cx="58521" cy="58521"/>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Oval 316"/>
          <p:cNvSpPr/>
          <p:nvPr/>
        </p:nvSpPr>
        <p:spPr>
          <a:xfrm>
            <a:off x="7692847" y="1996135"/>
            <a:ext cx="58521" cy="58521"/>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Oval 317"/>
          <p:cNvSpPr/>
          <p:nvPr/>
        </p:nvSpPr>
        <p:spPr>
          <a:xfrm>
            <a:off x="7788859" y="1996135"/>
            <a:ext cx="58521" cy="58521"/>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Oval 318"/>
          <p:cNvSpPr/>
          <p:nvPr/>
        </p:nvSpPr>
        <p:spPr>
          <a:xfrm>
            <a:off x="7884871" y="1996135"/>
            <a:ext cx="58521" cy="58521"/>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Oval 319"/>
          <p:cNvSpPr/>
          <p:nvPr/>
        </p:nvSpPr>
        <p:spPr>
          <a:xfrm>
            <a:off x="7980883" y="1996135"/>
            <a:ext cx="58521" cy="58521"/>
          </a:xfrm>
          <a:prstGeom prst="ellipse">
            <a:avLst/>
          </a:prstGeom>
          <a:solidFill>
            <a:srgbClr val="3939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Oval 320"/>
          <p:cNvSpPr/>
          <p:nvPr/>
        </p:nvSpPr>
        <p:spPr>
          <a:xfrm>
            <a:off x="8076895" y="1996135"/>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Oval 321"/>
          <p:cNvSpPr/>
          <p:nvPr/>
        </p:nvSpPr>
        <p:spPr>
          <a:xfrm>
            <a:off x="8172907" y="1996135"/>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Oval 322"/>
          <p:cNvSpPr/>
          <p:nvPr/>
        </p:nvSpPr>
        <p:spPr>
          <a:xfrm>
            <a:off x="8268919" y="1996135"/>
            <a:ext cx="58521" cy="58521"/>
          </a:xfrm>
          <a:prstGeom prst="ellipse">
            <a:avLst/>
          </a:prstGeom>
          <a:solidFill>
            <a:srgbClr val="3E3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Oval 323"/>
          <p:cNvSpPr/>
          <p:nvPr/>
        </p:nvSpPr>
        <p:spPr>
          <a:xfrm>
            <a:off x="8364931" y="1996135"/>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Oval 324"/>
          <p:cNvSpPr/>
          <p:nvPr/>
        </p:nvSpPr>
        <p:spPr>
          <a:xfrm>
            <a:off x="8460943" y="1996135"/>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Oval 325"/>
          <p:cNvSpPr/>
          <p:nvPr/>
        </p:nvSpPr>
        <p:spPr>
          <a:xfrm>
            <a:off x="8556955" y="1996135"/>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Oval 326"/>
          <p:cNvSpPr/>
          <p:nvPr/>
        </p:nvSpPr>
        <p:spPr>
          <a:xfrm>
            <a:off x="8652967" y="1996135"/>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Oval 327"/>
          <p:cNvSpPr/>
          <p:nvPr/>
        </p:nvSpPr>
        <p:spPr>
          <a:xfrm>
            <a:off x="8748979" y="1996135"/>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Oval 328"/>
          <p:cNvSpPr/>
          <p:nvPr/>
        </p:nvSpPr>
        <p:spPr>
          <a:xfrm>
            <a:off x="8844991" y="1996135"/>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Oval 329"/>
          <p:cNvSpPr/>
          <p:nvPr/>
        </p:nvSpPr>
        <p:spPr>
          <a:xfrm>
            <a:off x="8941003" y="1996135"/>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Oval 330"/>
          <p:cNvSpPr/>
          <p:nvPr/>
        </p:nvSpPr>
        <p:spPr>
          <a:xfrm>
            <a:off x="9037015" y="1996135"/>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9133027" y="1996135"/>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Oval 332"/>
          <p:cNvSpPr/>
          <p:nvPr/>
        </p:nvSpPr>
        <p:spPr>
          <a:xfrm>
            <a:off x="9229039" y="1996135"/>
            <a:ext cx="58521" cy="58521"/>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Oval 333"/>
          <p:cNvSpPr/>
          <p:nvPr/>
        </p:nvSpPr>
        <p:spPr>
          <a:xfrm>
            <a:off x="9325051" y="1996135"/>
            <a:ext cx="58521" cy="58521"/>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Oval 334"/>
          <p:cNvSpPr/>
          <p:nvPr/>
        </p:nvSpPr>
        <p:spPr>
          <a:xfrm>
            <a:off x="9421063" y="1996135"/>
            <a:ext cx="58521" cy="58521"/>
          </a:xfrm>
          <a:prstGeom prst="ellipse">
            <a:avLst/>
          </a:prstGeom>
          <a:solidFill>
            <a:srgbClr val="525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Oval 335"/>
          <p:cNvSpPr/>
          <p:nvPr/>
        </p:nvSpPr>
        <p:spPr>
          <a:xfrm>
            <a:off x="9517075" y="1996135"/>
            <a:ext cx="58521" cy="58521"/>
          </a:xfrm>
          <a:prstGeom prst="ellipse">
            <a:avLst/>
          </a:prstGeom>
          <a:solidFill>
            <a:srgbClr val="5454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Oval 336"/>
          <p:cNvSpPr/>
          <p:nvPr/>
        </p:nvSpPr>
        <p:spPr>
          <a:xfrm>
            <a:off x="9613087" y="1996135"/>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Oval 337"/>
          <p:cNvSpPr/>
          <p:nvPr/>
        </p:nvSpPr>
        <p:spPr>
          <a:xfrm>
            <a:off x="9709099" y="1996135"/>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9805111" y="1996135"/>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Oval 339"/>
          <p:cNvSpPr/>
          <p:nvPr/>
        </p:nvSpPr>
        <p:spPr>
          <a:xfrm>
            <a:off x="9901123" y="1996135"/>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Oval 340"/>
          <p:cNvSpPr/>
          <p:nvPr/>
        </p:nvSpPr>
        <p:spPr>
          <a:xfrm>
            <a:off x="9997135" y="1996135"/>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Oval 341"/>
          <p:cNvSpPr/>
          <p:nvPr/>
        </p:nvSpPr>
        <p:spPr>
          <a:xfrm>
            <a:off x="10093147" y="1996135"/>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Oval 342"/>
          <p:cNvSpPr/>
          <p:nvPr/>
        </p:nvSpPr>
        <p:spPr>
          <a:xfrm>
            <a:off x="10189159" y="1996135"/>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Oval 343"/>
          <p:cNvSpPr/>
          <p:nvPr/>
        </p:nvSpPr>
        <p:spPr>
          <a:xfrm>
            <a:off x="10285171" y="1996135"/>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Oval 344"/>
          <p:cNvSpPr/>
          <p:nvPr/>
        </p:nvSpPr>
        <p:spPr>
          <a:xfrm>
            <a:off x="10381183" y="1996135"/>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10477195" y="1996135"/>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Oval 346"/>
          <p:cNvSpPr/>
          <p:nvPr/>
        </p:nvSpPr>
        <p:spPr>
          <a:xfrm>
            <a:off x="10573207" y="1996135"/>
            <a:ext cx="58521" cy="58521"/>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Oval 347"/>
          <p:cNvSpPr/>
          <p:nvPr/>
        </p:nvSpPr>
        <p:spPr>
          <a:xfrm>
            <a:off x="10669219" y="1996135"/>
            <a:ext cx="58521" cy="58521"/>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Oval 348"/>
          <p:cNvSpPr/>
          <p:nvPr/>
        </p:nvSpPr>
        <p:spPr>
          <a:xfrm>
            <a:off x="10765231" y="1996135"/>
            <a:ext cx="58521" cy="58521"/>
          </a:xfrm>
          <a:prstGeom prst="ellipse">
            <a:avLst/>
          </a:prstGeom>
          <a:solidFill>
            <a:srgbClr val="6A6A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Oval 349"/>
          <p:cNvSpPr/>
          <p:nvPr/>
        </p:nvSpPr>
        <p:spPr>
          <a:xfrm>
            <a:off x="10861243" y="1996135"/>
            <a:ext cx="58521" cy="58521"/>
          </a:xfrm>
          <a:prstGeom prst="ellipse">
            <a:avLst/>
          </a:prstGeom>
          <a:solidFill>
            <a:srgbClr val="6C6C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Oval 350"/>
          <p:cNvSpPr/>
          <p:nvPr/>
        </p:nvSpPr>
        <p:spPr>
          <a:xfrm>
            <a:off x="10957255" y="1996135"/>
            <a:ext cx="58521" cy="58521"/>
          </a:xfrm>
          <a:prstGeom prst="ellipse">
            <a:avLst/>
          </a:prstGeom>
          <a:solidFill>
            <a:srgbClr val="6D6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Oval 351"/>
          <p:cNvSpPr/>
          <p:nvPr/>
        </p:nvSpPr>
        <p:spPr>
          <a:xfrm>
            <a:off x="7404811" y="2092147"/>
            <a:ext cx="58521" cy="58521"/>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7500823" y="2092147"/>
            <a:ext cx="58521" cy="58521"/>
          </a:xfrm>
          <a:prstGeom prst="ellipse">
            <a:avLst/>
          </a:prstGeom>
          <a:solidFill>
            <a:srgbClr val="333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Oval 353"/>
          <p:cNvSpPr/>
          <p:nvPr/>
        </p:nvSpPr>
        <p:spPr>
          <a:xfrm>
            <a:off x="7596835" y="2092147"/>
            <a:ext cx="58521" cy="58521"/>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Oval 354"/>
          <p:cNvSpPr/>
          <p:nvPr/>
        </p:nvSpPr>
        <p:spPr>
          <a:xfrm>
            <a:off x="7692847" y="2092147"/>
            <a:ext cx="58521" cy="58521"/>
          </a:xfrm>
          <a:prstGeom prst="ellipse">
            <a:avLst/>
          </a:prstGeom>
          <a:solidFill>
            <a:srgbClr val="363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Oval 355"/>
          <p:cNvSpPr/>
          <p:nvPr/>
        </p:nvSpPr>
        <p:spPr>
          <a:xfrm>
            <a:off x="7788859" y="2092147"/>
            <a:ext cx="58521" cy="58521"/>
          </a:xfrm>
          <a:prstGeom prst="ellipse">
            <a:avLst/>
          </a:prstGeom>
          <a:solidFill>
            <a:srgbClr val="3838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Oval 356"/>
          <p:cNvSpPr/>
          <p:nvPr/>
        </p:nvSpPr>
        <p:spPr>
          <a:xfrm>
            <a:off x="7884871" y="2092147"/>
            <a:ext cx="58521" cy="58521"/>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Oval 357"/>
          <p:cNvSpPr/>
          <p:nvPr/>
        </p:nvSpPr>
        <p:spPr>
          <a:xfrm>
            <a:off x="7980883" y="2092147"/>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Oval 358"/>
          <p:cNvSpPr/>
          <p:nvPr/>
        </p:nvSpPr>
        <p:spPr>
          <a:xfrm>
            <a:off x="8076895" y="2092147"/>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8172907" y="2092147"/>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Oval 360"/>
          <p:cNvSpPr/>
          <p:nvPr/>
        </p:nvSpPr>
        <p:spPr>
          <a:xfrm>
            <a:off x="8268919" y="2092147"/>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Oval 361"/>
          <p:cNvSpPr/>
          <p:nvPr/>
        </p:nvSpPr>
        <p:spPr>
          <a:xfrm>
            <a:off x="8364931" y="2092147"/>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Oval 362"/>
          <p:cNvSpPr/>
          <p:nvPr/>
        </p:nvSpPr>
        <p:spPr>
          <a:xfrm>
            <a:off x="8460943" y="2092147"/>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Oval 363"/>
          <p:cNvSpPr/>
          <p:nvPr/>
        </p:nvSpPr>
        <p:spPr>
          <a:xfrm>
            <a:off x="8556955" y="2092147"/>
            <a:ext cx="58521" cy="58521"/>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Oval 364"/>
          <p:cNvSpPr/>
          <p:nvPr/>
        </p:nvSpPr>
        <p:spPr>
          <a:xfrm>
            <a:off x="8652967" y="2092147"/>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Oval 365"/>
          <p:cNvSpPr/>
          <p:nvPr/>
        </p:nvSpPr>
        <p:spPr>
          <a:xfrm>
            <a:off x="8748979" y="2092147"/>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Oval 366"/>
          <p:cNvSpPr/>
          <p:nvPr/>
        </p:nvSpPr>
        <p:spPr>
          <a:xfrm>
            <a:off x="8844991" y="2092147"/>
            <a:ext cx="58521" cy="58521"/>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Oval 367"/>
          <p:cNvSpPr/>
          <p:nvPr/>
        </p:nvSpPr>
        <p:spPr>
          <a:xfrm>
            <a:off x="8941003" y="2092147"/>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Oval 368"/>
          <p:cNvSpPr/>
          <p:nvPr/>
        </p:nvSpPr>
        <p:spPr>
          <a:xfrm>
            <a:off x="9037015" y="2092147"/>
            <a:ext cx="58521" cy="58521"/>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Oval 369"/>
          <p:cNvSpPr/>
          <p:nvPr/>
        </p:nvSpPr>
        <p:spPr>
          <a:xfrm>
            <a:off x="9133027" y="2092147"/>
            <a:ext cx="58521" cy="58521"/>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Oval 370"/>
          <p:cNvSpPr/>
          <p:nvPr/>
        </p:nvSpPr>
        <p:spPr>
          <a:xfrm>
            <a:off x="9229039" y="2092147"/>
            <a:ext cx="58521" cy="58521"/>
          </a:xfrm>
          <a:prstGeom prst="ellipse">
            <a:avLst/>
          </a:prstGeom>
          <a:solidFill>
            <a:srgbClr val="515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Oval 371"/>
          <p:cNvSpPr/>
          <p:nvPr/>
        </p:nvSpPr>
        <p:spPr>
          <a:xfrm>
            <a:off x="9325051" y="2092147"/>
            <a:ext cx="58521" cy="58521"/>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Oval 372"/>
          <p:cNvSpPr/>
          <p:nvPr/>
        </p:nvSpPr>
        <p:spPr>
          <a:xfrm>
            <a:off x="9421063" y="2092147"/>
            <a:ext cx="58521" cy="58521"/>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Oval 373"/>
          <p:cNvSpPr/>
          <p:nvPr/>
        </p:nvSpPr>
        <p:spPr>
          <a:xfrm>
            <a:off x="9517075" y="2092147"/>
            <a:ext cx="58521" cy="58521"/>
          </a:xfrm>
          <a:prstGeom prst="ellipse">
            <a:avLst/>
          </a:prstGeom>
          <a:solidFill>
            <a:srgbClr val="5656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Oval 374"/>
          <p:cNvSpPr/>
          <p:nvPr/>
        </p:nvSpPr>
        <p:spPr>
          <a:xfrm>
            <a:off x="9613087" y="2092147"/>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Oval 375"/>
          <p:cNvSpPr/>
          <p:nvPr/>
        </p:nvSpPr>
        <p:spPr>
          <a:xfrm>
            <a:off x="9709099" y="2092147"/>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Oval 376"/>
          <p:cNvSpPr/>
          <p:nvPr/>
        </p:nvSpPr>
        <p:spPr>
          <a:xfrm>
            <a:off x="9805111" y="2092147"/>
            <a:ext cx="58521" cy="58521"/>
          </a:xfrm>
          <a:prstGeom prst="ellipse">
            <a:avLst/>
          </a:prstGeom>
          <a:solidFill>
            <a:srgbClr val="5B5B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Oval 377"/>
          <p:cNvSpPr/>
          <p:nvPr/>
        </p:nvSpPr>
        <p:spPr>
          <a:xfrm>
            <a:off x="9901123" y="2092147"/>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Oval 378"/>
          <p:cNvSpPr/>
          <p:nvPr/>
        </p:nvSpPr>
        <p:spPr>
          <a:xfrm>
            <a:off x="9997135" y="2092147"/>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Oval 379"/>
          <p:cNvSpPr/>
          <p:nvPr/>
        </p:nvSpPr>
        <p:spPr>
          <a:xfrm>
            <a:off x="10093147" y="2092147"/>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Oval 380"/>
          <p:cNvSpPr/>
          <p:nvPr/>
        </p:nvSpPr>
        <p:spPr>
          <a:xfrm>
            <a:off x="10189159" y="2092147"/>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Oval 381"/>
          <p:cNvSpPr/>
          <p:nvPr/>
        </p:nvSpPr>
        <p:spPr>
          <a:xfrm>
            <a:off x="10285171" y="2092147"/>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Oval 382"/>
          <p:cNvSpPr/>
          <p:nvPr/>
        </p:nvSpPr>
        <p:spPr>
          <a:xfrm>
            <a:off x="10381183" y="2092147"/>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Oval 383"/>
          <p:cNvSpPr/>
          <p:nvPr/>
        </p:nvSpPr>
        <p:spPr>
          <a:xfrm>
            <a:off x="10477195" y="2092147"/>
            <a:ext cx="58521" cy="58521"/>
          </a:xfrm>
          <a:prstGeom prst="ellipse">
            <a:avLst/>
          </a:prstGeom>
          <a:solidFill>
            <a:srgbClr val="676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Oval 384"/>
          <p:cNvSpPr/>
          <p:nvPr/>
        </p:nvSpPr>
        <p:spPr>
          <a:xfrm>
            <a:off x="10573207" y="2092147"/>
            <a:ext cx="58521" cy="58521"/>
          </a:xfrm>
          <a:prstGeom prst="ellipse">
            <a:avLst/>
          </a:prstGeom>
          <a:solidFill>
            <a:srgbClr val="696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Oval 385"/>
          <p:cNvSpPr/>
          <p:nvPr/>
        </p:nvSpPr>
        <p:spPr>
          <a:xfrm>
            <a:off x="10669219" y="2092147"/>
            <a:ext cx="58521" cy="58521"/>
          </a:xfrm>
          <a:prstGeom prst="ellipse">
            <a:avLst/>
          </a:prstGeom>
          <a:solidFill>
            <a:srgbClr val="6A6A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Oval 386"/>
          <p:cNvSpPr/>
          <p:nvPr/>
        </p:nvSpPr>
        <p:spPr>
          <a:xfrm>
            <a:off x="10765231" y="2092147"/>
            <a:ext cx="58521" cy="58521"/>
          </a:xfrm>
          <a:prstGeom prst="ellipse">
            <a:avLst/>
          </a:prstGeom>
          <a:solidFill>
            <a:srgbClr val="6C6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Oval 387"/>
          <p:cNvSpPr/>
          <p:nvPr/>
        </p:nvSpPr>
        <p:spPr>
          <a:xfrm>
            <a:off x="10861243" y="2092147"/>
            <a:ext cx="58521" cy="58521"/>
          </a:xfrm>
          <a:prstGeom prst="ellipse">
            <a:avLst/>
          </a:prstGeom>
          <a:solidFill>
            <a:srgbClr val="6E6E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Oval 388"/>
          <p:cNvSpPr/>
          <p:nvPr/>
        </p:nvSpPr>
        <p:spPr>
          <a:xfrm>
            <a:off x="10957255" y="2092147"/>
            <a:ext cx="58521" cy="58521"/>
          </a:xfrm>
          <a:prstGeom prst="ellipse">
            <a:avLst/>
          </a:prstGeom>
          <a:solidFill>
            <a:srgbClr val="6F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Oval 389"/>
          <p:cNvSpPr/>
          <p:nvPr/>
        </p:nvSpPr>
        <p:spPr>
          <a:xfrm>
            <a:off x="11053267" y="2092147"/>
            <a:ext cx="58521" cy="58521"/>
          </a:xfrm>
          <a:prstGeom prst="ellipse">
            <a:avLst/>
          </a:prstGeom>
          <a:solidFill>
            <a:srgbClr val="7171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Oval 390"/>
          <p:cNvSpPr/>
          <p:nvPr/>
        </p:nvSpPr>
        <p:spPr>
          <a:xfrm>
            <a:off x="11149279" y="2092147"/>
            <a:ext cx="58521" cy="58521"/>
          </a:xfrm>
          <a:prstGeom prst="ellipse">
            <a:avLst/>
          </a:prstGeom>
          <a:solidFill>
            <a:srgbClr val="7373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Oval 391"/>
          <p:cNvSpPr/>
          <p:nvPr/>
        </p:nvSpPr>
        <p:spPr>
          <a:xfrm>
            <a:off x="11245291" y="2092147"/>
            <a:ext cx="58521" cy="58521"/>
          </a:xfrm>
          <a:prstGeom prst="ellipse">
            <a:avLst/>
          </a:prstGeom>
          <a:solidFill>
            <a:srgbClr val="7474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Oval 392"/>
          <p:cNvSpPr/>
          <p:nvPr/>
        </p:nvSpPr>
        <p:spPr>
          <a:xfrm>
            <a:off x="7404811" y="2188159"/>
            <a:ext cx="58521" cy="58521"/>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Oval 393"/>
          <p:cNvSpPr/>
          <p:nvPr/>
        </p:nvSpPr>
        <p:spPr>
          <a:xfrm>
            <a:off x="7500823" y="2188159"/>
            <a:ext cx="58521" cy="58521"/>
          </a:xfrm>
          <a:prstGeom prst="ellipse">
            <a:avLst/>
          </a:prstGeom>
          <a:solidFill>
            <a:srgbClr val="353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Oval 394"/>
          <p:cNvSpPr/>
          <p:nvPr/>
        </p:nvSpPr>
        <p:spPr>
          <a:xfrm>
            <a:off x="7596835" y="2188159"/>
            <a:ext cx="58521" cy="58521"/>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Oval 395"/>
          <p:cNvSpPr/>
          <p:nvPr/>
        </p:nvSpPr>
        <p:spPr>
          <a:xfrm>
            <a:off x="7692847" y="2188159"/>
            <a:ext cx="58521" cy="58521"/>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Oval 396"/>
          <p:cNvSpPr/>
          <p:nvPr/>
        </p:nvSpPr>
        <p:spPr>
          <a:xfrm>
            <a:off x="7788859" y="2188159"/>
            <a:ext cx="58521" cy="58521"/>
          </a:xfrm>
          <a:prstGeom prst="ellipse">
            <a:avLst/>
          </a:prstGeom>
          <a:solidFill>
            <a:srgbClr val="3A3A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Oval 397"/>
          <p:cNvSpPr/>
          <p:nvPr/>
        </p:nvSpPr>
        <p:spPr>
          <a:xfrm>
            <a:off x="7884871" y="2188159"/>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Oval 398"/>
          <p:cNvSpPr/>
          <p:nvPr/>
        </p:nvSpPr>
        <p:spPr>
          <a:xfrm>
            <a:off x="7980883" y="2188159"/>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Oval 399"/>
          <p:cNvSpPr/>
          <p:nvPr/>
        </p:nvSpPr>
        <p:spPr>
          <a:xfrm>
            <a:off x="8076895" y="2188159"/>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Oval 400"/>
          <p:cNvSpPr/>
          <p:nvPr/>
        </p:nvSpPr>
        <p:spPr>
          <a:xfrm>
            <a:off x="8172907" y="2188159"/>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Oval 401"/>
          <p:cNvSpPr/>
          <p:nvPr/>
        </p:nvSpPr>
        <p:spPr>
          <a:xfrm>
            <a:off x="8268919" y="2188159"/>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Oval 402"/>
          <p:cNvSpPr/>
          <p:nvPr/>
        </p:nvSpPr>
        <p:spPr>
          <a:xfrm>
            <a:off x="8364931" y="2188159"/>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Oval 403"/>
          <p:cNvSpPr/>
          <p:nvPr/>
        </p:nvSpPr>
        <p:spPr>
          <a:xfrm>
            <a:off x="8460943" y="2188159"/>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Oval 404"/>
          <p:cNvSpPr/>
          <p:nvPr/>
        </p:nvSpPr>
        <p:spPr>
          <a:xfrm>
            <a:off x="8556955" y="2188159"/>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Oval 405"/>
          <p:cNvSpPr/>
          <p:nvPr/>
        </p:nvSpPr>
        <p:spPr>
          <a:xfrm>
            <a:off x="8652967" y="2188159"/>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Oval 406"/>
          <p:cNvSpPr/>
          <p:nvPr/>
        </p:nvSpPr>
        <p:spPr>
          <a:xfrm>
            <a:off x="8748979" y="2188159"/>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Oval 407"/>
          <p:cNvSpPr/>
          <p:nvPr/>
        </p:nvSpPr>
        <p:spPr>
          <a:xfrm>
            <a:off x="8844991" y="2188159"/>
            <a:ext cx="58521" cy="58521"/>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Oval 408"/>
          <p:cNvSpPr/>
          <p:nvPr/>
        </p:nvSpPr>
        <p:spPr>
          <a:xfrm>
            <a:off x="8941003" y="2188159"/>
            <a:ext cx="58521" cy="58521"/>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Oval 409"/>
          <p:cNvSpPr/>
          <p:nvPr/>
        </p:nvSpPr>
        <p:spPr>
          <a:xfrm>
            <a:off x="9037015" y="2188159"/>
            <a:ext cx="58521" cy="58521"/>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Oval 410"/>
          <p:cNvSpPr/>
          <p:nvPr/>
        </p:nvSpPr>
        <p:spPr>
          <a:xfrm>
            <a:off x="9133027" y="2188159"/>
            <a:ext cx="58521" cy="58521"/>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Oval 411"/>
          <p:cNvSpPr/>
          <p:nvPr/>
        </p:nvSpPr>
        <p:spPr>
          <a:xfrm>
            <a:off x="9229039" y="2188159"/>
            <a:ext cx="58521" cy="58521"/>
          </a:xfrm>
          <a:prstGeom prst="ellipse">
            <a:avLst/>
          </a:prstGeom>
          <a:solidFill>
            <a:srgbClr val="5353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Oval 412"/>
          <p:cNvSpPr/>
          <p:nvPr/>
        </p:nvSpPr>
        <p:spPr>
          <a:xfrm>
            <a:off x="9325051" y="2188159"/>
            <a:ext cx="58521" cy="58521"/>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Oval 413"/>
          <p:cNvSpPr/>
          <p:nvPr/>
        </p:nvSpPr>
        <p:spPr>
          <a:xfrm>
            <a:off x="9421063" y="2188159"/>
            <a:ext cx="58521" cy="58521"/>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Oval 414"/>
          <p:cNvSpPr/>
          <p:nvPr/>
        </p:nvSpPr>
        <p:spPr>
          <a:xfrm>
            <a:off x="9517075" y="2188159"/>
            <a:ext cx="58521" cy="58521"/>
          </a:xfrm>
          <a:prstGeom prst="ellipse">
            <a:avLst/>
          </a:prstGeom>
          <a:solidFill>
            <a:srgbClr val="585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Oval 415"/>
          <p:cNvSpPr/>
          <p:nvPr/>
        </p:nvSpPr>
        <p:spPr>
          <a:xfrm>
            <a:off x="9613087" y="2188159"/>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Oval 416"/>
          <p:cNvSpPr/>
          <p:nvPr/>
        </p:nvSpPr>
        <p:spPr>
          <a:xfrm>
            <a:off x="9709099" y="2188159"/>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Oval 417"/>
          <p:cNvSpPr/>
          <p:nvPr/>
        </p:nvSpPr>
        <p:spPr>
          <a:xfrm>
            <a:off x="9805111" y="2188159"/>
            <a:ext cx="58521" cy="58521"/>
          </a:xfrm>
          <a:prstGeom prst="ellipse">
            <a:avLst/>
          </a:prstGeom>
          <a:solidFill>
            <a:srgbClr val="5D5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Oval 418"/>
          <p:cNvSpPr/>
          <p:nvPr/>
        </p:nvSpPr>
        <p:spPr>
          <a:xfrm>
            <a:off x="9901123" y="2188159"/>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Oval 419"/>
          <p:cNvSpPr/>
          <p:nvPr/>
        </p:nvSpPr>
        <p:spPr>
          <a:xfrm>
            <a:off x="9997135" y="2188159"/>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Oval 420"/>
          <p:cNvSpPr/>
          <p:nvPr/>
        </p:nvSpPr>
        <p:spPr>
          <a:xfrm>
            <a:off x="10093147" y="2188159"/>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Oval 421"/>
          <p:cNvSpPr/>
          <p:nvPr/>
        </p:nvSpPr>
        <p:spPr>
          <a:xfrm>
            <a:off x="10189159" y="2188159"/>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Oval 422"/>
          <p:cNvSpPr/>
          <p:nvPr/>
        </p:nvSpPr>
        <p:spPr>
          <a:xfrm>
            <a:off x="10285171" y="2188159"/>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Oval 423"/>
          <p:cNvSpPr/>
          <p:nvPr/>
        </p:nvSpPr>
        <p:spPr>
          <a:xfrm>
            <a:off x="10381183" y="2188159"/>
            <a:ext cx="58521" cy="58521"/>
          </a:xfrm>
          <a:prstGeom prst="ellipse">
            <a:avLst/>
          </a:prstGeom>
          <a:solidFill>
            <a:srgbClr val="686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Oval 424"/>
          <p:cNvSpPr/>
          <p:nvPr/>
        </p:nvSpPr>
        <p:spPr>
          <a:xfrm>
            <a:off x="10477195" y="2188159"/>
            <a:ext cx="58521" cy="58521"/>
          </a:xfrm>
          <a:prstGeom prst="ellipse">
            <a:avLst/>
          </a:prstGeom>
          <a:solidFill>
            <a:srgbClr val="6969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Oval 425"/>
          <p:cNvSpPr/>
          <p:nvPr/>
        </p:nvSpPr>
        <p:spPr>
          <a:xfrm>
            <a:off x="10573207" y="2188159"/>
            <a:ext cx="58521" cy="58521"/>
          </a:xfrm>
          <a:prstGeom prst="ellipse">
            <a:avLst/>
          </a:prstGeom>
          <a:solidFill>
            <a:srgbClr val="6B6B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Oval 426"/>
          <p:cNvSpPr/>
          <p:nvPr/>
        </p:nvSpPr>
        <p:spPr>
          <a:xfrm>
            <a:off x="10669219" y="2188159"/>
            <a:ext cx="58521" cy="58521"/>
          </a:xfrm>
          <a:prstGeom prst="ellipse">
            <a:avLst/>
          </a:prstGeom>
          <a:solidFill>
            <a:srgbClr val="6D6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Oval 427"/>
          <p:cNvSpPr/>
          <p:nvPr/>
        </p:nvSpPr>
        <p:spPr>
          <a:xfrm>
            <a:off x="10765231" y="2188159"/>
            <a:ext cx="58521" cy="58521"/>
          </a:xfrm>
          <a:prstGeom prst="ellipse">
            <a:avLst/>
          </a:prstGeom>
          <a:solidFill>
            <a:srgbClr val="6E6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Oval 428"/>
          <p:cNvSpPr/>
          <p:nvPr/>
        </p:nvSpPr>
        <p:spPr>
          <a:xfrm>
            <a:off x="10861243" y="2188159"/>
            <a:ext cx="58521" cy="58521"/>
          </a:xfrm>
          <a:prstGeom prst="ellipse">
            <a:avLst/>
          </a:prstGeom>
          <a:solidFill>
            <a:srgbClr val="7070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Oval 429"/>
          <p:cNvSpPr/>
          <p:nvPr/>
        </p:nvSpPr>
        <p:spPr>
          <a:xfrm>
            <a:off x="10957255" y="2188159"/>
            <a:ext cx="58521" cy="58521"/>
          </a:xfrm>
          <a:prstGeom prst="ellipse">
            <a:avLst/>
          </a:prstGeom>
          <a:solidFill>
            <a:srgbClr val="7272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Oval 430"/>
          <p:cNvSpPr/>
          <p:nvPr/>
        </p:nvSpPr>
        <p:spPr>
          <a:xfrm>
            <a:off x="11053267" y="2188159"/>
            <a:ext cx="58521" cy="58521"/>
          </a:xfrm>
          <a:prstGeom prst="ellipse">
            <a:avLst/>
          </a:prstGeom>
          <a:solidFill>
            <a:srgbClr val="7373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Oval 431"/>
          <p:cNvSpPr/>
          <p:nvPr/>
        </p:nvSpPr>
        <p:spPr>
          <a:xfrm>
            <a:off x="11149279" y="2188159"/>
            <a:ext cx="58521" cy="58521"/>
          </a:xfrm>
          <a:prstGeom prst="ellipse">
            <a:avLst/>
          </a:prstGeom>
          <a:solidFill>
            <a:srgbClr val="7575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Oval 432"/>
          <p:cNvSpPr/>
          <p:nvPr/>
        </p:nvSpPr>
        <p:spPr>
          <a:xfrm>
            <a:off x="11245291" y="2188159"/>
            <a:ext cx="58521" cy="58521"/>
          </a:xfrm>
          <a:prstGeom prst="ellipse">
            <a:avLst/>
          </a:prstGeom>
          <a:solidFill>
            <a:srgbClr val="77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Oval 433"/>
          <p:cNvSpPr/>
          <p:nvPr/>
        </p:nvSpPr>
        <p:spPr>
          <a:xfrm>
            <a:off x="11341303" y="2188159"/>
            <a:ext cx="58521" cy="58521"/>
          </a:xfrm>
          <a:prstGeom prst="ellipse">
            <a:avLst/>
          </a:prstGeom>
          <a:solidFill>
            <a:srgbClr val="7878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Oval 434"/>
          <p:cNvSpPr/>
          <p:nvPr/>
        </p:nvSpPr>
        <p:spPr>
          <a:xfrm>
            <a:off x="7308799" y="2284171"/>
            <a:ext cx="58521" cy="58521"/>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Oval 435"/>
          <p:cNvSpPr/>
          <p:nvPr/>
        </p:nvSpPr>
        <p:spPr>
          <a:xfrm>
            <a:off x="7404811" y="2284171"/>
            <a:ext cx="58521" cy="58521"/>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Oval 436"/>
          <p:cNvSpPr/>
          <p:nvPr/>
        </p:nvSpPr>
        <p:spPr>
          <a:xfrm>
            <a:off x="7500823" y="2284171"/>
            <a:ext cx="58521" cy="58521"/>
          </a:xfrm>
          <a:prstGeom prst="ellipse">
            <a:avLst/>
          </a:prstGeom>
          <a:solidFill>
            <a:srgbClr val="3737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Oval 437"/>
          <p:cNvSpPr/>
          <p:nvPr/>
        </p:nvSpPr>
        <p:spPr>
          <a:xfrm>
            <a:off x="7596835" y="2284171"/>
            <a:ext cx="58521" cy="58521"/>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Oval 438"/>
          <p:cNvSpPr/>
          <p:nvPr/>
        </p:nvSpPr>
        <p:spPr>
          <a:xfrm>
            <a:off x="7692847" y="2284171"/>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Oval 439"/>
          <p:cNvSpPr/>
          <p:nvPr/>
        </p:nvSpPr>
        <p:spPr>
          <a:xfrm>
            <a:off x="7788859" y="2284171"/>
            <a:ext cx="58521" cy="58521"/>
          </a:xfrm>
          <a:prstGeom prst="ellipse">
            <a:avLst/>
          </a:prstGeom>
          <a:solidFill>
            <a:srgbClr val="3C3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Oval 440"/>
          <p:cNvSpPr/>
          <p:nvPr/>
        </p:nvSpPr>
        <p:spPr>
          <a:xfrm>
            <a:off x="7884871" y="2284171"/>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Oval 441"/>
          <p:cNvSpPr/>
          <p:nvPr/>
        </p:nvSpPr>
        <p:spPr>
          <a:xfrm>
            <a:off x="7980883" y="2284171"/>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Oval 442"/>
          <p:cNvSpPr/>
          <p:nvPr/>
        </p:nvSpPr>
        <p:spPr>
          <a:xfrm>
            <a:off x="8076895" y="2284171"/>
            <a:ext cx="58521" cy="58521"/>
          </a:xfrm>
          <a:prstGeom prst="ellipse">
            <a:avLst/>
          </a:prstGeom>
          <a:solidFill>
            <a:srgbClr val="4141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Oval 443"/>
          <p:cNvSpPr/>
          <p:nvPr/>
        </p:nvSpPr>
        <p:spPr>
          <a:xfrm>
            <a:off x="8172907" y="2284171"/>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Oval 444"/>
          <p:cNvSpPr/>
          <p:nvPr/>
        </p:nvSpPr>
        <p:spPr>
          <a:xfrm>
            <a:off x="8268919" y="2284171"/>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Oval 445"/>
          <p:cNvSpPr/>
          <p:nvPr/>
        </p:nvSpPr>
        <p:spPr>
          <a:xfrm>
            <a:off x="8364931" y="2284171"/>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Oval 446"/>
          <p:cNvSpPr/>
          <p:nvPr/>
        </p:nvSpPr>
        <p:spPr>
          <a:xfrm>
            <a:off x="8460943" y="2284171"/>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Oval 447"/>
          <p:cNvSpPr/>
          <p:nvPr/>
        </p:nvSpPr>
        <p:spPr>
          <a:xfrm>
            <a:off x="8556955" y="2284171"/>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Oval 448"/>
          <p:cNvSpPr/>
          <p:nvPr/>
        </p:nvSpPr>
        <p:spPr>
          <a:xfrm>
            <a:off x="8652967" y="2284171"/>
            <a:ext cx="58521" cy="58521"/>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Oval 449"/>
          <p:cNvSpPr/>
          <p:nvPr/>
        </p:nvSpPr>
        <p:spPr>
          <a:xfrm>
            <a:off x="8748979" y="2284171"/>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Oval 450"/>
          <p:cNvSpPr/>
          <p:nvPr/>
        </p:nvSpPr>
        <p:spPr>
          <a:xfrm>
            <a:off x="8844991" y="2284171"/>
            <a:ext cx="58521" cy="58521"/>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Oval 451"/>
          <p:cNvSpPr/>
          <p:nvPr/>
        </p:nvSpPr>
        <p:spPr>
          <a:xfrm>
            <a:off x="8941003" y="2284171"/>
            <a:ext cx="58521" cy="58521"/>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Oval 452"/>
          <p:cNvSpPr/>
          <p:nvPr/>
        </p:nvSpPr>
        <p:spPr>
          <a:xfrm>
            <a:off x="9037015" y="2284171"/>
            <a:ext cx="58521" cy="58521"/>
          </a:xfrm>
          <a:prstGeom prst="ellipse">
            <a:avLst/>
          </a:prstGeom>
          <a:solidFill>
            <a:srgbClr val="525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Oval 453"/>
          <p:cNvSpPr/>
          <p:nvPr/>
        </p:nvSpPr>
        <p:spPr>
          <a:xfrm>
            <a:off x="9133027" y="2284171"/>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Oval 454"/>
          <p:cNvSpPr/>
          <p:nvPr/>
        </p:nvSpPr>
        <p:spPr>
          <a:xfrm>
            <a:off x="9229039" y="2284171"/>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Oval 455"/>
          <p:cNvSpPr/>
          <p:nvPr/>
        </p:nvSpPr>
        <p:spPr>
          <a:xfrm>
            <a:off x="9325051" y="2284171"/>
            <a:ext cx="58521" cy="58521"/>
          </a:xfrm>
          <a:prstGeom prst="ellipse">
            <a:avLst/>
          </a:prstGeom>
          <a:solidFill>
            <a:srgbClr val="5757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Oval 456"/>
          <p:cNvSpPr/>
          <p:nvPr/>
        </p:nvSpPr>
        <p:spPr>
          <a:xfrm>
            <a:off x="9421063" y="2284171"/>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Oval 457"/>
          <p:cNvSpPr/>
          <p:nvPr/>
        </p:nvSpPr>
        <p:spPr>
          <a:xfrm>
            <a:off x="9517075" y="2284171"/>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Oval 458"/>
          <p:cNvSpPr/>
          <p:nvPr/>
        </p:nvSpPr>
        <p:spPr>
          <a:xfrm>
            <a:off x="9613087" y="2284171"/>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Oval 459"/>
          <p:cNvSpPr/>
          <p:nvPr/>
        </p:nvSpPr>
        <p:spPr>
          <a:xfrm>
            <a:off x="9709099" y="2284171"/>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Oval 460"/>
          <p:cNvSpPr/>
          <p:nvPr/>
        </p:nvSpPr>
        <p:spPr>
          <a:xfrm>
            <a:off x="9805111" y="2284171"/>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Oval 461"/>
          <p:cNvSpPr/>
          <p:nvPr/>
        </p:nvSpPr>
        <p:spPr>
          <a:xfrm>
            <a:off x="9901123" y="2284171"/>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Oval 462"/>
          <p:cNvSpPr/>
          <p:nvPr/>
        </p:nvSpPr>
        <p:spPr>
          <a:xfrm>
            <a:off x="9997135" y="2284171"/>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Oval 463"/>
          <p:cNvSpPr/>
          <p:nvPr/>
        </p:nvSpPr>
        <p:spPr>
          <a:xfrm>
            <a:off x="10093147" y="2284171"/>
            <a:ext cx="58521" cy="58521"/>
          </a:xfrm>
          <a:prstGeom prst="ellipse">
            <a:avLst/>
          </a:prstGeom>
          <a:solidFill>
            <a:srgbClr val="6565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Oval 464"/>
          <p:cNvSpPr/>
          <p:nvPr/>
        </p:nvSpPr>
        <p:spPr>
          <a:xfrm>
            <a:off x="10189159" y="2284171"/>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Oval 465"/>
          <p:cNvSpPr/>
          <p:nvPr/>
        </p:nvSpPr>
        <p:spPr>
          <a:xfrm>
            <a:off x="10285171" y="2284171"/>
            <a:ext cx="58521" cy="58521"/>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Oval 466"/>
          <p:cNvSpPr/>
          <p:nvPr/>
        </p:nvSpPr>
        <p:spPr>
          <a:xfrm>
            <a:off x="10381183" y="2284171"/>
            <a:ext cx="58521" cy="58521"/>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Oval 467"/>
          <p:cNvSpPr/>
          <p:nvPr/>
        </p:nvSpPr>
        <p:spPr>
          <a:xfrm>
            <a:off x="10477195" y="2284171"/>
            <a:ext cx="58521" cy="58521"/>
          </a:xfrm>
          <a:prstGeom prst="ellipse">
            <a:avLst/>
          </a:prstGeom>
          <a:solidFill>
            <a:srgbClr val="6B6B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Oval 468"/>
          <p:cNvSpPr/>
          <p:nvPr/>
        </p:nvSpPr>
        <p:spPr>
          <a:xfrm>
            <a:off x="10573207" y="2284171"/>
            <a:ext cx="58521" cy="58521"/>
          </a:xfrm>
          <a:prstGeom prst="ellipse">
            <a:avLst/>
          </a:prstGeom>
          <a:solidFill>
            <a:srgbClr val="6D6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Oval 469"/>
          <p:cNvSpPr/>
          <p:nvPr/>
        </p:nvSpPr>
        <p:spPr>
          <a:xfrm>
            <a:off x="10669219" y="2284171"/>
            <a:ext cx="58521" cy="58521"/>
          </a:xfrm>
          <a:prstGeom prst="ellipse">
            <a:avLst/>
          </a:prstGeom>
          <a:solidFill>
            <a:srgbClr val="6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Oval 470"/>
          <p:cNvSpPr/>
          <p:nvPr/>
        </p:nvSpPr>
        <p:spPr>
          <a:xfrm>
            <a:off x="10765231" y="2284171"/>
            <a:ext cx="58521" cy="58521"/>
          </a:xfrm>
          <a:prstGeom prst="ellipse">
            <a:avLst/>
          </a:prstGeom>
          <a:solidFill>
            <a:srgbClr val="707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Oval 471"/>
          <p:cNvSpPr/>
          <p:nvPr/>
        </p:nvSpPr>
        <p:spPr>
          <a:xfrm>
            <a:off x="10861243" y="2284171"/>
            <a:ext cx="58521" cy="58521"/>
          </a:xfrm>
          <a:prstGeom prst="ellipse">
            <a:avLst/>
          </a:prstGeom>
          <a:solidFill>
            <a:srgbClr val="7272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Oval 472"/>
          <p:cNvSpPr/>
          <p:nvPr/>
        </p:nvSpPr>
        <p:spPr>
          <a:xfrm>
            <a:off x="10957255" y="2284171"/>
            <a:ext cx="58521" cy="58521"/>
          </a:xfrm>
          <a:prstGeom prst="ellipse">
            <a:avLst/>
          </a:prstGeom>
          <a:solidFill>
            <a:srgbClr val="747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Oval 473"/>
          <p:cNvSpPr/>
          <p:nvPr/>
        </p:nvSpPr>
        <p:spPr>
          <a:xfrm>
            <a:off x="11053267" y="2284171"/>
            <a:ext cx="58521" cy="58521"/>
          </a:xfrm>
          <a:prstGeom prst="ellipse">
            <a:avLst/>
          </a:prstGeom>
          <a:solidFill>
            <a:srgbClr val="7575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Oval 474"/>
          <p:cNvSpPr/>
          <p:nvPr/>
        </p:nvSpPr>
        <p:spPr>
          <a:xfrm>
            <a:off x="11149279" y="2284171"/>
            <a:ext cx="58521" cy="58521"/>
          </a:xfrm>
          <a:prstGeom prst="ellipse">
            <a:avLst/>
          </a:prstGeom>
          <a:solidFill>
            <a:srgbClr val="77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Oval 475"/>
          <p:cNvSpPr/>
          <p:nvPr/>
        </p:nvSpPr>
        <p:spPr>
          <a:xfrm>
            <a:off x="11245291" y="2284171"/>
            <a:ext cx="58521" cy="58521"/>
          </a:xfrm>
          <a:prstGeom prst="ellipse">
            <a:avLst/>
          </a:prstGeom>
          <a:solidFill>
            <a:srgbClr val="7979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Oval 476"/>
          <p:cNvSpPr/>
          <p:nvPr/>
        </p:nvSpPr>
        <p:spPr>
          <a:xfrm>
            <a:off x="11341303" y="2284171"/>
            <a:ext cx="58521" cy="58521"/>
          </a:xfrm>
          <a:prstGeom prst="ellipse">
            <a:avLst/>
          </a:prstGeom>
          <a:solidFill>
            <a:srgbClr val="7A7A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Oval 477"/>
          <p:cNvSpPr/>
          <p:nvPr/>
        </p:nvSpPr>
        <p:spPr>
          <a:xfrm>
            <a:off x="7308799" y="2380183"/>
            <a:ext cx="58521" cy="58521"/>
          </a:xfrm>
          <a:prstGeom prst="ellipse">
            <a:avLst/>
          </a:prstGeom>
          <a:solidFill>
            <a:srgbClr val="363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Oval 478"/>
          <p:cNvSpPr/>
          <p:nvPr/>
        </p:nvSpPr>
        <p:spPr>
          <a:xfrm>
            <a:off x="7404811" y="2380183"/>
            <a:ext cx="58521" cy="58521"/>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Oval 479"/>
          <p:cNvSpPr/>
          <p:nvPr/>
        </p:nvSpPr>
        <p:spPr>
          <a:xfrm>
            <a:off x="7500823" y="2380183"/>
            <a:ext cx="58521" cy="58521"/>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Oval 480"/>
          <p:cNvSpPr/>
          <p:nvPr/>
        </p:nvSpPr>
        <p:spPr>
          <a:xfrm>
            <a:off x="7596835" y="2380183"/>
            <a:ext cx="58521" cy="58521"/>
          </a:xfrm>
          <a:prstGeom prst="ellipse">
            <a:avLst/>
          </a:prstGeom>
          <a:solidFill>
            <a:srgbClr val="3B3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Oval 481"/>
          <p:cNvSpPr/>
          <p:nvPr/>
        </p:nvSpPr>
        <p:spPr>
          <a:xfrm>
            <a:off x="7692847" y="2380183"/>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Oval 482"/>
          <p:cNvSpPr/>
          <p:nvPr/>
        </p:nvSpPr>
        <p:spPr>
          <a:xfrm>
            <a:off x="7788859" y="2380183"/>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Oval 483"/>
          <p:cNvSpPr/>
          <p:nvPr/>
        </p:nvSpPr>
        <p:spPr>
          <a:xfrm>
            <a:off x="7884871" y="2380183"/>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Oval 484"/>
          <p:cNvSpPr/>
          <p:nvPr/>
        </p:nvSpPr>
        <p:spPr>
          <a:xfrm>
            <a:off x="7980883" y="2380183"/>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Oval 485"/>
          <p:cNvSpPr/>
          <p:nvPr/>
        </p:nvSpPr>
        <p:spPr>
          <a:xfrm>
            <a:off x="8076895" y="2380183"/>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Oval 486"/>
          <p:cNvSpPr/>
          <p:nvPr/>
        </p:nvSpPr>
        <p:spPr>
          <a:xfrm>
            <a:off x="8172907" y="2380183"/>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Oval 487"/>
          <p:cNvSpPr/>
          <p:nvPr/>
        </p:nvSpPr>
        <p:spPr>
          <a:xfrm>
            <a:off x="8268919" y="2380183"/>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Oval 488"/>
          <p:cNvSpPr/>
          <p:nvPr/>
        </p:nvSpPr>
        <p:spPr>
          <a:xfrm>
            <a:off x="8364931" y="2380183"/>
            <a:ext cx="58521" cy="58521"/>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Oval 489"/>
          <p:cNvSpPr/>
          <p:nvPr/>
        </p:nvSpPr>
        <p:spPr>
          <a:xfrm>
            <a:off x="8460943" y="2380183"/>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Oval 490"/>
          <p:cNvSpPr/>
          <p:nvPr/>
        </p:nvSpPr>
        <p:spPr>
          <a:xfrm>
            <a:off x="8556955" y="2380183"/>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Oval 491"/>
          <p:cNvSpPr/>
          <p:nvPr/>
        </p:nvSpPr>
        <p:spPr>
          <a:xfrm>
            <a:off x="8652967" y="2380183"/>
            <a:ext cx="58521" cy="58521"/>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Oval 492"/>
          <p:cNvSpPr/>
          <p:nvPr/>
        </p:nvSpPr>
        <p:spPr>
          <a:xfrm>
            <a:off x="8748979" y="2380183"/>
            <a:ext cx="58521" cy="58521"/>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Oval 493"/>
          <p:cNvSpPr/>
          <p:nvPr/>
        </p:nvSpPr>
        <p:spPr>
          <a:xfrm>
            <a:off x="8844991" y="2380183"/>
            <a:ext cx="58521" cy="58521"/>
          </a:xfrm>
          <a:prstGeom prst="ellipse">
            <a:avLst/>
          </a:prstGeom>
          <a:solidFill>
            <a:srgbClr val="515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Oval 494"/>
          <p:cNvSpPr/>
          <p:nvPr/>
        </p:nvSpPr>
        <p:spPr>
          <a:xfrm>
            <a:off x="8941003" y="2380183"/>
            <a:ext cx="58521" cy="58521"/>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Oval 495"/>
          <p:cNvSpPr/>
          <p:nvPr/>
        </p:nvSpPr>
        <p:spPr>
          <a:xfrm>
            <a:off x="9037015" y="2380183"/>
            <a:ext cx="58521" cy="58521"/>
          </a:xfrm>
          <a:prstGeom prst="ellipse">
            <a:avLst/>
          </a:prstGeom>
          <a:solidFill>
            <a:srgbClr val="5454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Oval 496"/>
          <p:cNvSpPr/>
          <p:nvPr/>
        </p:nvSpPr>
        <p:spPr>
          <a:xfrm>
            <a:off x="9133027" y="2380183"/>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Oval 497"/>
          <p:cNvSpPr/>
          <p:nvPr/>
        </p:nvSpPr>
        <p:spPr>
          <a:xfrm>
            <a:off x="9229039" y="2380183"/>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Oval 498"/>
          <p:cNvSpPr/>
          <p:nvPr/>
        </p:nvSpPr>
        <p:spPr>
          <a:xfrm>
            <a:off x="9325051" y="2380183"/>
            <a:ext cx="58521" cy="58521"/>
          </a:xfrm>
          <a:prstGeom prst="ellipse">
            <a:avLst/>
          </a:prstGeom>
          <a:solidFill>
            <a:srgbClr val="5959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9421063" y="2380183"/>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9517075" y="2380183"/>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9613087" y="2380183"/>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9709099" y="2380183"/>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Oval 503"/>
          <p:cNvSpPr/>
          <p:nvPr/>
        </p:nvSpPr>
        <p:spPr>
          <a:xfrm>
            <a:off x="9805111" y="2380183"/>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Oval 504"/>
          <p:cNvSpPr/>
          <p:nvPr/>
        </p:nvSpPr>
        <p:spPr>
          <a:xfrm>
            <a:off x="9901123" y="2380183"/>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Oval 505"/>
          <p:cNvSpPr/>
          <p:nvPr/>
        </p:nvSpPr>
        <p:spPr>
          <a:xfrm>
            <a:off x="9997135" y="2380183"/>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Oval 506"/>
          <p:cNvSpPr/>
          <p:nvPr/>
        </p:nvSpPr>
        <p:spPr>
          <a:xfrm>
            <a:off x="10093147" y="2380183"/>
            <a:ext cx="58521" cy="58521"/>
          </a:xfrm>
          <a:prstGeom prst="ellipse">
            <a:avLst/>
          </a:prstGeom>
          <a:solidFill>
            <a:srgbClr val="676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Oval 507"/>
          <p:cNvSpPr/>
          <p:nvPr/>
        </p:nvSpPr>
        <p:spPr>
          <a:xfrm>
            <a:off x="10189159" y="2380183"/>
            <a:ext cx="58521" cy="58521"/>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Oval 508"/>
          <p:cNvSpPr/>
          <p:nvPr/>
        </p:nvSpPr>
        <p:spPr>
          <a:xfrm>
            <a:off x="10285171" y="2380183"/>
            <a:ext cx="58521" cy="58521"/>
          </a:xfrm>
          <a:prstGeom prst="ellipse">
            <a:avLst/>
          </a:prstGeom>
          <a:solidFill>
            <a:srgbClr val="6A6A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Oval 509"/>
          <p:cNvSpPr/>
          <p:nvPr/>
        </p:nvSpPr>
        <p:spPr>
          <a:xfrm>
            <a:off x="10381183" y="2380183"/>
            <a:ext cx="58521" cy="58521"/>
          </a:xfrm>
          <a:prstGeom prst="ellipse">
            <a:avLst/>
          </a:prstGeom>
          <a:solidFill>
            <a:srgbClr val="6C6C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Oval 510"/>
          <p:cNvSpPr/>
          <p:nvPr/>
        </p:nvSpPr>
        <p:spPr>
          <a:xfrm>
            <a:off x="10477195" y="2380183"/>
            <a:ext cx="58521" cy="58521"/>
          </a:xfrm>
          <a:prstGeom prst="ellipse">
            <a:avLst/>
          </a:prstGeom>
          <a:solidFill>
            <a:srgbClr val="6D6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Oval 511"/>
          <p:cNvSpPr/>
          <p:nvPr/>
        </p:nvSpPr>
        <p:spPr>
          <a:xfrm>
            <a:off x="10573207" y="2380183"/>
            <a:ext cx="58521" cy="58521"/>
          </a:xfrm>
          <a:prstGeom prst="ellipse">
            <a:avLst/>
          </a:prstGeom>
          <a:solidFill>
            <a:srgbClr val="6F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Oval 512"/>
          <p:cNvSpPr/>
          <p:nvPr/>
        </p:nvSpPr>
        <p:spPr>
          <a:xfrm>
            <a:off x="10669219" y="2380183"/>
            <a:ext cx="58521" cy="58521"/>
          </a:xfrm>
          <a:prstGeom prst="ellipse">
            <a:avLst/>
          </a:prstGeom>
          <a:solidFill>
            <a:srgbClr val="7171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Oval 513"/>
          <p:cNvSpPr/>
          <p:nvPr/>
        </p:nvSpPr>
        <p:spPr>
          <a:xfrm>
            <a:off x="10765231" y="2380183"/>
            <a:ext cx="58521" cy="58521"/>
          </a:xfrm>
          <a:prstGeom prst="ellipse">
            <a:avLst/>
          </a:prstGeom>
          <a:solidFill>
            <a:srgbClr val="7272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Oval 514"/>
          <p:cNvSpPr/>
          <p:nvPr/>
        </p:nvSpPr>
        <p:spPr>
          <a:xfrm>
            <a:off x="10861243" y="2380183"/>
            <a:ext cx="58521" cy="58521"/>
          </a:xfrm>
          <a:prstGeom prst="ellipse">
            <a:avLst/>
          </a:prstGeom>
          <a:solidFill>
            <a:srgbClr val="747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Oval 515"/>
          <p:cNvSpPr/>
          <p:nvPr/>
        </p:nvSpPr>
        <p:spPr>
          <a:xfrm>
            <a:off x="10957255" y="2380183"/>
            <a:ext cx="58521" cy="58521"/>
          </a:xfrm>
          <a:prstGeom prst="ellipse">
            <a:avLst/>
          </a:prstGeom>
          <a:solidFill>
            <a:srgbClr val="7676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Oval 516"/>
          <p:cNvSpPr/>
          <p:nvPr/>
        </p:nvSpPr>
        <p:spPr>
          <a:xfrm>
            <a:off x="11053267" y="2380183"/>
            <a:ext cx="58521" cy="58521"/>
          </a:xfrm>
          <a:prstGeom prst="ellipse">
            <a:avLst/>
          </a:prstGeom>
          <a:solidFill>
            <a:srgbClr val="7878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Oval 517"/>
          <p:cNvSpPr/>
          <p:nvPr/>
        </p:nvSpPr>
        <p:spPr>
          <a:xfrm>
            <a:off x="11149279" y="2380183"/>
            <a:ext cx="58521" cy="58521"/>
          </a:xfrm>
          <a:prstGeom prst="ellipse">
            <a:avLst/>
          </a:prstGeom>
          <a:solidFill>
            <a:srgbClr val="7979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Oval 518"/>
          <p:cNvSpPr/>
          <p:nvPr/>
        </p:nvSpPr>
        <p:spPr>
          <a:xfrm>
            <a:off x="11245291" y="2380183"/>
            <a:ext cx="58521" cy="58521"/>
          </a:xfrm>
          <a:prstGeom prst="ellipse">
            <a:avLst/>
          </a:prstGeom>
          <a:solidFill>
            <a:srgbClr val="7B7B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Oval 519"/>
          <p:cNvSpPr/>
          <p:nvPr/>
        </p:nvSpPr>
        <p:spPr>
          <a:xfrm>
            <a:off x="11341303" y="2380183"/>
            <a:ext cx="58521" cy="58521"/>
          </a:xfrm>
          <a:prstGeom prst="ellipse">
            <a:avLst/>
          </a:prstGeom>
          <a:solidFill>
            <a:srgbClr val="7D7D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Oval 520"/>
          <p:cNvSpPr/>
          <p:nvPr/>
        </p:nvSpPr>
        <p:spPr>
          <a:xfrm>
            <a:off x="7212787" y="2476195"/>
            <a:ext cx="58521" cy="58521"/>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Oval 521"/>
          <p:cNvSpPr/>
          <p:nvPr/>
        </p:nvSpPr>
        <p:spPr>
          <a:xfrm>
            <a:off x="7308799" y="2476195"/>
            <a:ext cx="58521" cy="58521"/>
          </a:xfrm>
          <a:prstGeom prst="ellipse">
            <a:avLst/>
          </a:prstGeom>
          <a:solidFill>
            <a:srgbClr val="3838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Oval 522"/>
          <p:cNvSpPr/>
          <p:nvPr/>
        </p:nvSpPr>
        <p:spPr>
          <a:xfrm>
            <a:off x="7404811" y="2476195"/>
            <a:ext cx="58521" cy="58521"/>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Oval 523"/>
          <p:cNvSpPr/>
          <p:nvPr/>
        </p:nvSpPr>
        <p:spPr>
          <a:xfrm>
            <a:off x="7500823" y="2476195"/>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Oval 524"/>
          <p:cNvSpPr/>
          <p:nvPr/>
        </p:nvSpPr>
        <p:spPr>
          <a:xfrm>
            <a:off x="7596835" y="2476195"/>
            <a:ext cx="58521" cy="58521"/>
          </a:xfrm>
          <a:prstGeom prst="ellipse">
            <a:avLst/>
          </a:prstGeom>
          <a:solidFill>
            <a:srgbClr val="3D3D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Oval 525"/>
          <p:cNvSpPr/>
          <p:nvPr/>
        </p:nvSpPr>
        <p:spPr>
          <a:xfrm>
            <a:off x="7692847" y="2476195"/>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Oval 526"/>
          <p:cNvSpPr/>
          <p:nvPr/>
        </p:nvSpPr>
        <p:spPr>
          <a:xfrm>
            <a:off x="7788859" y="2476195"/>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Oval 527"/>
          <p:cNvSpPr/>
          <p:nvPr/>
        </p:nvSpPr>
        <p:spPr>
          <a:xfrm>
            <a:off x="7884871" y="2476195"/>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Oval 528"/>
          <p:cNvSpPr/>
          <p:nvPr/>
        </p:nvSpPr>
        <p:spPr>
          <a:xfrm>
            <a:off x="7980883" y="2476195"/>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Oval 529"/>
          <p:cNvSpPr/>
          <p:nvPr/>
        </p:nvSpPr>
        <p:spPr>
          <a:xfrm>
            <a:off x="8076895" y="2476195"/>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Oval 530"/>
          <p:cNvSpPr/>
          <p:nvPr/>
        </p:nvSpPr>
        <p:spPr>
          <a:xfrm>
            <a:off x="8172907" y="2476195"/>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Oval 531"/>
          <p:cNvSpPr/>
          <p:nvPr/>
        </p:nvSpPr>
        <p:spPr>
          <a:xfrm>
            <a:off x="8268919" y="2476195"/>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Oval 532"/>
          <p:cNvSpPr/>
          <p:nvPr/>
        </p:nvSpPr>
        <p:spPr>
          <a:xfrm>
            <a:off x="8364931" y="2476195"/>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Oval 533"/>
          <p:cNvSpPr/>
          <p:nvPr/>
        </p:nvSpPr>
        <p:spPr>
          <a:xfrm>
            <a:off x="8460943" y="2476195"/>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Oval 534"/>
          <p:cNvSpPr/>
          <p:nvPr/>
        </p:nvSpPr>
        <p:spPr>
          <a:xfrm>
            <a:off x="8556955" y="2476195"/>
            <a:ext cx="58521" cy="58521"/>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Oval 535"/>
          <p:cNvSpPr/>
          <p:nvPr/>
        </p:nvSpPr>
        <p:spPr>
          <a:xfrm>
            <a:off x="8652967" y="2476195"/>
            <a:ext cx="58521" cy="58521"/>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Oval 536"/>
          <p:cNvSpPr/>
          <p:nvPr/>
        </p:nvSpPr>
        <p:spPr>
          <a:xfrm>
            <a:off x="8748979" y="2476195"/>
            <a:ext cx="58521" cy="58521"/>
          </a:xfrm>
          <a:prstGeom prst="ellipse">
            <a:avLst/>
          </a:prstGeom>
          <a:solidFill>
            <a:srgbClr val="515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Oval 537"/>
          <p:cNvSpPr/>
          <p:nvPr/>
        </p:nvSpPr>
        <p:spPr>
          <a:xfrm>
            <a:off x="8844991" y="2476195"/>
            <a:ext cx="58521" cy="58521"/>
          </a:xfrm>
          <a:prstGeom prst="ellipse">
            <a:avLst/>
          </a:prstGeom>
          <a:solidFill>
            <a:srgbClr val="5353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Oval 538"/>
          <p:cNvSpPr/>
          <p:nvPr/>
        </p:nvSpPr>
        <p:spPr>
          <a:xfrm>
            <a:off x="8941003" y="2476195"/>
            <a:ext cx="58521" cy="58521"/>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Oval 539"/>
          <p:cNvSpPr/>
          <p:nvPr/>
        </p:nvSpPr>
        <p:spPr>
          <a:xfrm>
            <a:off x="9037015" y="2476195"/>
            <a:ext cx="58521" cy="58521"/>
          </a:xfrm>
          <a:prstGeom prst="ellipse">
            <a:avLst/>
          </a:prstGeom>
          <a:solidFill>
            <a:srgbClr val="5656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Oval 540"/>
          <p:cNvSpPr/>
          <p:nvPr/>
        </p:nvSpPr>
        <p:spPr>
          <a:xfrm>
            <a:off x="9133027" y="2476195"/>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Oval 541"/>
          <p:cNvSpPr/>
          <p:nvPr/>
        </p:nvSpPr>
        <p:spPr>
          <a:xfrm>
            <a:off x="9229039" y="2476195"/>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Oval 542"/>
          <p:cNvSpPr/>
          <p:nvPr/>
        </p:nvSpPr>
        <p:spPr>
          <a:xfrm>
            <a:off x="9325051" y="2476195"/>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Oval 543"/>
          <p:cNvSpPr/>
          <p:nvPr/>
        </p:nvSpPr>
        <p:spPr>
          <a:xfrm>
            <a:off x="9421063" y="2476195"/>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Oval 544"/>
          <p:cNvSpPr/>
          <p:nvPr/>
        </p:nvSpPr>
        <p:spPr>
          <a:xfrm>
            <a:off x="9517075" y="2476195"/>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Oval 545"/>
          <p:cNvSpPr/>
          <p:nvPr/>
        </p:nvSpPr>
        <p:spPr>
          <a:xfrm>
            <a:off x="9613087" y="2476195"/>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Oval 546"/>
          <p:cNvSpPr/>
          <p:nvPr/>
        </p:nvSpPr>
        <p:spPr>
          <a:xfrm>
            <a:off x="9709099" y="2476195"/>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Oval 547"/>
          <p:cNvSpPr/>
          <p:nvPr/>
        </p:nvSpPr>
        <p:spPr>
          <a:xfrm>
            <a:off x="9805111" y="2476195"/>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Oval 548"/>
          <p:cNvSpPr/>
          <p:nvPr/>
        </p:nvSpPr>
        <p:spPr>
          <a:xfrm>
            <a:off x="9901123" y="2476195"/>
            <a:ext cx="58521" cy="58521"/>
          </a:xfrm>
          <a:prstGeom prst="ellipse">
            <a:avLst/>
          </a:prstGeom>
          <a:solidFill>
            <a:srgbClr val="6666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Oval 549"/>
          <p:cNvSpPr/>
          <p:nvPr/>
        </p:nvSpPr>
        <p:spPr>
          <a:xfrm>
            <a:off x="9997135" y="2476195"/>
            <a:ext cx="58521" cy="58521"/>
          </a:xfrm>
          <a:prstGeom prst="ellipse">
            <a:avLst/>
          </a:prstGeom>
          <a:solidFill>
            <a:srgbClr val="676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Oval 550"/>
          <p:cNvSpPr/>
          <p:nvPr/>
        </p:nvSpPr>
        <p:spPr>
          <a:xfrm>
            <a:off x="10093147" y="2476195"/>
            <a:ext cx="58521" cy="58521"/>
          </a:xfrm>
          <a:prstGeom prst="ellipse">
            <a:avLst/>
          </a:prstGeom>
          <a:solidFill>
            <a:srgbClr val="6969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Oval 551"/>
          <p:cNvSpPr/>
          <p:nvPr/>
        </p:nvSpPr>
        <p:spPr>
          <a:xfrm>
            <a:off x="10189159" y="2476195"/>
            <a:ext cx="58521" cy="58521"/>
          </a:xfrm>
          <a:prstGeom prst="ellipse">
            <a:avLst/>
          </a:prstGeom>
          <a:solidFill>
            <a:srgbClr val="6B6B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Oval 552"/>
          <p:cNvSpPr/>
          <p:nvPr/>
        </p:nvSpPr>
        <p:spPr>
          <a:xfrm>
            <a:off x="10285171" y="2476195"/>
            <a:ext cx="58521" cy="58521"/>
          </a:xfrm>
          <a:prstGeom prst="ellipse">
            <a:avLst/>
          </a:prstGeom>
          <a:solidFill>
            <a:srgbClr val="6C6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Oval 553"/>
          <p:cNvSpPr/>
          <p:nvPr/>
        </p:nvSpPr>
        <p:spPr>
          <a:xfrm>
            <a:off x="10381183" y="2476195"/>
            <a:ext cx="58521" cy="58521"/>
          </a:xfrm>
          <a:prstGeom prst="ellipse">
            <a:avLst/>
          </a:prstGeom>
          <a:solidFill>
            <a:srgbClr val="6E6E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Oval 554"/>
          <p:cNvSpPr/>
          <p:nvPr/>
        </p:nvSpPr>
        <p:spPr>
          <a:xfrm>
            <a:off x="10477195" y="2476195"/>
            <a:ext cx="58521" cy="58521"/>
          </a:xfrm>
          <a:prstGeom prst="ellipse">
            <a:avLst/>
          </a:prstGeom>
          <a:solidFill>
            <a:srgbClr val="7070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Oval 555"/>
          <p:cNvSpPr/>
          <p:nvPr/>
        </p:nvSpPr>
        <p:spPr>
          <a:xfrm>
            <a:off x="10573207" y="2476195"/>
            <a:ext cx="58521" cy="58521"/>
          </a:xfrm>
          <a:prstGeom prst="ellipse">
            <a:avLst/>
          </a:prstGeom>
          <a:solidFill>
            <a:srgbClr val="7171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Oval 556"/>
          <p:cNvSpPr/>
          <p:nvPr/>
        </p:nvSpPr>
        <p:spPr>
          <a:xfrm>
            <a:off x="10669219" y="2476195"/>
            <a:ext cx="58521" cy="58521"/>
          </a:xfrm>
          <a:prstGeom prst="ellipse">
            <a:avLst/>
          </a:prstGeom>
          <a:solidFill>
            <a:srgbClr val="7373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Oval 557"/>
          <p:cNvSpPr/>
          <p:nvPr/>
        </p:nvSpPr>
        <p:spPr>
          <a:xfrm>
            <a:off x="10765231" y="2476195"/>
            <a:ext cx="58521" cy="58521"/>
          </a:xfrm>
          <a:prstGeom prst="ellipse">
            <a:avLst/>
          </a:prstGeom>
          <a:solidFill>
            <a:srgbClr val="7575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Oval 558"/>
          <p:cNvSpPr/>
          <p:nvPr/>
        </p:nvSpPr>
        <p:spPr>
          <a:xfrm>
            <a:off x="10861243" y="2476195"/>
            <a:ext cx="58521" cy="58521"/>
          </a:xfrm>
          <a:prstGeom prst="ellipse">
            <a:avLst/>
          </a:prstGeom>
          <a:solidFill>
            <a:srgbClr val="767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Oval 559"/>
          <p:cNvSpPr/>
          <p:nvPr/>
        </p:nvSpPr>
        <p:spPr>
          <a:xfrm>
            <a:off x="10957255" y="2476195"/>
            <a:ext cx="58521" cy="58521"/>
          </a:xfrm>
          <a:prstGeom prst="ellipse">
            <a:avLst/>
          </a:prstGeom>
          <a:solidFill>
            <a:srgbClr val="7878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Oval 560"/>
          <p:cNvSpPr/>
          <p:nvPr/>
        </p:nvSpPr>
        <p:spPr>
          <a:xfrm>
            <a:off x="11053267" y="2476195"/>
            <a:ext cx="58521" cy="58521"/>
          </a:xfrm>
          <a:prstGeom prst="ellipse">
            <a:avLst/>
          </a:prstGeom>
          <a:solidFill>
            <a:srgbClr val="7A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Oval 561"/>
          <p:cNvSpPr/>
          <p:nvPr/>
        </p:nvSpPr>
        <p:spPr>
          <a:xfrm>
            <a:off x="11149279" y="2476195"/>
            <a:ext cx="58521" cy="58521"/>
          </a:xfrm>
          <a:prstGeom prst="ellipse">
            <a:avLst/>
          </a:prstGeom>
          <a:solidFill>
            <a:srgbClr val="7B7B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Oval 562"/>
          <p:cNvSpPr/>
          <p:nvPr/>
        </p:nvSpPr>
        <p:spPr>
          <a:xfrm>
            <a:off x="11245291" y="2476195"/>
            <a:ext cx="58521" cy="58521"/>
          </a:xfrm>
          <a:prstGeom prst="ellipse">
            <a:avLst/>
          </a:prstGeom>
          <a:solidFill>
            <a:srgbClr val="7D7D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Oval 563"/>
          <p:cNvSpPr/>
          <p:nvPr/>
        </p:nvSpPr>
        <p:spPr>
          <a:xfrm>
            <a:off x="7116775" y="2572207"/>
            <a:ext cx="58521" cy="58521"/>
          </a:xfrm>
          <a:prstGeom prst="ellipse">
            <a:avLst/>
          </a:prstGeom>
          <a:solidFill>
            <a:srgbClr val="3737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Oval 564"/>
          <p:cNvSpPr/>
          <p:nvPr/>
        </p:nvSpPr>
        <p:spPr>
          <a:xfrm>
            <a:off x="7212787" y="2572207"/>
            <a:ext cx="58521" cy="58521"/>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Oval 565"/>
          <p:cNvSpPr/>
          <p:nvPr/>
        </p:nvSpPr>
        <p:spPr>
          <a:xfrm>
            <a:off x="7308799" y="2572207"/>
            <a:ext cx="58521" cy="58521"/>
          </a:xfrm>
          <a:prstGeom prst="ellipse">
            <a:avLst/>
          </a:prstGeom>
          <a:solidFill>
            <a:srgbClr val="3A3A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Oval 566"/>
          <p:cNvSpPr/>
          <p:nvPr/>
        </p:nvSpPr>
        <p:spPr>
          <a:xfrm>
            <a:off x="7404811" y="2572207"/>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Oval 567"/>
          <p:cNvSpPr/>
          <p:nvPr/>
        </p:nvSpPr>
        <p:spPr>
          <a:xfrm>
            <a:off x="7500823" y="2572207"/>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Oval 568"/>
          <p:cNvSpPr/>
          <p:nvPr/>
        </p:nvSpPr>
        <p:spPr>
          <a:xfrm>
            <a:off x="7596835" y="2572207"/>
            <a:ext cx="58521" cy="58521"/>
          </a:xfrm>
          <a:prstGeom prst="ellipse">
            <a:avLst/>
          </a:prstGeom>
          <a:solidFill>
            <a:srgbClr val="3F3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Oval 569"/>
          <p:cNvSpPr/>
          <p:nvPr/>
        </p:nvSpPr>
        <p:spPr>
          <a:xfrm>
            <a:off x="7692847" y="2572207"/>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Oval 570"/>
          <p:cNvSpPr/>
          <p:nvPr/>
        </p:nvSpPr>
        <p:spPr>
          <a:xfrm>
            <a:off x="7788859" y="2572207"/>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Oval 571"/>
          <p:cNvSpPr/>
          <p:nvPr/>
        </p:nvSpPr>
        <p:spPr>
          <a:xfrm>
            <a:off x="7884871" y="2572207"/>
            <a:ext cx="58521" cy="58521"/>
          </a:xfrm>
          <a:prstGeom prst="ellipse">
            <a:avLst/>
          </a:prstGeom>
          <a:solidFill>
            <a:srgbClr val="454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Oval 572"/>
          <p:cNvSpPr/>
          <p:nvPr/>
        </p:nvSpPr>
        <p:spPr>
          <a:xfrm>
            <a:off x="7980883" y="2572207"/>
            <a:ext cx="58521" cy="58521"/>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Oval 573"/>
          <p:cNvSpPr/>
          <p:nvPr/>
        </p:nvSpPr>
        <p:spPr>
          <a:xfrm>
            <a:off x="8076895" y="2572207"/>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Oval 574"/>
          <p:cNvSpPr/>
          <p:nvPr/>
        </p:nvSpPr>
        <p:spPr>
          <a:xfrm>
            <a:off x="8172907" y="2572207"/>
            <a:ext cx="58521" cy="58521"/>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Oval 575"/>
          <p:cNvSpPr/>
          <p:nvPr/>
        </p:nvSpPr>
        <p:spPr>
          <a:xfrm>
            <a:off x="8268919" y="2572207"/>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Oval 576"/>
          <p:cNvSpPr/>
          <p:nvPr/>
        </p:nvSpPr>
        <p:spPr>
          <a:xfrm>
            <a:off x="8364931" y="2572207"/>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Oval 577"/>
          <p:cNvSpPr/>
          <p:nvPr/>
        </p:nvSpPr>
        <p:spPr>
          <a:xfrm>
            <a:off x="8460943" y="2572207"/>
            <a:ext cx="58521" cy="58521"/>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Oval 578"/>
          <p:cNvSpPr/>
          <p:nvPr/>
        </p:nvSpPr>
        <p:spPr>
          <a:xfrm>
            <a:off x="8556955" y="2572207"/>
            <a:ext cx="58521" cy="58521"/>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Oval 579"/>
          <p:cNvSpPr/>
          <p:nvPr/>
        </p:nvSpPr>
        <p:spPr>
          <a:xfrm>
            <a:off x="8652967" y="2572207"/>
            <a:ext cx="58521" cy="58521"/>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Oval 580"/>
          <p:cNvSpPr/>
          <p:nvPr/>
        </p:nvSpPr>
        <p:spPr>
          <a:xfrm>
            <a:off x="8748979" y="2572207"/>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Oval 581"/>
          <p:cNvSpPr/>
          <p:nvPr/>
        </p:nvSpPr>
        <p:spPr>
          <a:xfrm>
            <a:off x="8844991" y="2572207"/>
            <a:ext cx="58521" cy="58521"/>
          </a:xfrm>
          <a:prstGeom prst="ellipse">
            <a:avLst/>
          </a:prstGeom>
          <a:solidFill>
            <a:srgbClr val="5555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Oval 582"/>
          <p:cNvSpPr/>
          <p:nvPr/>
        </p:nvSpPr>
        <p:spPr>
          <a:xfrm>
            <a:off x="8941003" y="2572207"/>
            <a:ext cx="58521" cy="58521"/>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Oval 583"/>
          <p:cNvSpPr/>
          <p:nvPr/>
        </p:nvSpPr>
        <p:spPr>
          <a:xfrm>
            <a:off x="9037015" y="2572207"/>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Oval 584"/>
          <p:cNvSpPr/>
          <p:nvPr/>
        </p:nvSpPr>
        <p:spPr>
          <a:xfrm>
            <a:off x="9133027" y="2572207"/>
            <a:ext cx="58521" cy="58521"/>
          </a:xfrm>
          <a:prstGeom prst="ellipse">
            <a:avLst/>
          </a:prstGeom>
          <a:solidFill>
            <a:srgbClr val="5A5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Oval 585"/>
          <p:cNvSpPr/>
          <p:nvPr/>
        </p:nvSpPr>
        <p:spPr>
          <a:xfrm>
            <a:off x="9229039" y="2572207"/>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Oval 586"/>
          <p:cNvSpPr/>
          <p:nvPr/>
        </p:nvSpPr>
        <p:spPr>
          <a:xfrm>
            <a:off x="9325051" y="2572207"/>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Oval 587"/>
          <p:cNvSpPr/>
          <p:nvPr/>
        </p:nvSpPr>
        <p:spPr>
          <a:xfrm>
            <a:off x="9421063" y="2572207"/>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Oval 588"/>
          <p:cNvSpPr/>
          <p:nvPr/>
        </p:nvSpPr>
        <p:spPr>
          <a:xfrm>
            <a:off x="9517075" y="2572207"/>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Oval 589"/>
          <p:cNvSpPr/>
          <p:nvPr/>
        </p:nvSpPr>
        <p:spPr>
          <a:xfrm>
            <a:off x="9613087" y="2572207"/>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Oval 590"/>
          <p:cNvSpPr/>
          <p:nvPr/>
        </p:nvSpPr>
        <p:spPr>
          <a:xfrm>
            <a:off x="9709099" y="2572207"/>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Oval 591"/>
          <p:cNvSpPr/>
          <p:nvPr/>
        </p:nvSpPr>
        <p:spPr>
          <a:xfrm>
            <a:off x="9805111" y="2572207"/>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Oval 592"/>
          <p:cNvSpPr/>
          <p:nvPr/>
        </p:nvSpPr>
        <p:spPr>
          <a:xfrm>
            <a:off x="9901123" y="2572207"/>
            <a:ext cx="58521" cy="58521"/>
          </a:xfrm>
          <a:prstGeom prst="ellipse">
            <a:avLst/>
          </a:prstGeom>
          <a:solidFill>
            <a:srgbClr val="686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Oval 593"/>
          <p:cNvSpPr/>
          <p:nvPr/>
        </p:nvSpPr>
        <p:spPr>
          <a:xfrm>
            <a:off x="9997135" y="2572207"/>
            <a:ext cx="58521" cy="58521"/>
          </a:xfrm>
          <a:prstGeom prst="ellipse">
            <a:avLst/>
          </a:prstGeom>
          <a:solidFill>
            <a:srgbClr val="6969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Oval 594"/>
          <p:cNvSpPr/>
          <p:nvPr/>
        </p:nvSpPr>
        <p:spPr>
          <a:xfrm>
            <a:off x="10093147" y="2572207"/>
            <a:ext cx="58521" cy="58521"/>
          </a:xfrm>
          <a:prstGeom prst="ellipse">
            <a:avLst/>
          </a:prstGeom>
          <a:solidFill>
            <a:srgbClr val="6B6B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Oval 595"/>
          <p:cNvSpPr/>
          <p:nvPr/>
        </p:nvSpPr>
        <p:spPr>
          <a:xfrm>
            <a:off x="10189159" y="2572207"/>
            <a:ext cx="58521" cy="58521"/>
          </a:xfrm>
          <a:prstGeom prst="ellipse">
            <a:avLst/>
          </a:prstGeom>
          <a:solidFill>
            <a:srgbClr val="6D6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Oval 596"/>
          <p:cNvSpPr/>
          <p:nvPr/>
        </p:nvSpPr>
        <p:spPr>
          <a:xfrm>
            <a:off x="10285171" y="2572207"/>
            <a:ext cx="58521" cy="58521"/>
          </a:xfrm>
          <a:prstGeom prst="ellipse">
            <a:avLst/>
          </a:prstGeom>
          <a:solidFill>
            <a:srgbClr val="6E6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Oval 597"/>
          <p:cNvSpPr/>
          <p:nvPr/>
        </p:nvSpPr>
        <p:spPr>
          <a:xfrm>
            <a:off x="10381183" y="2572207"/>
            <a:ext cx="58521" cy="58521"/>
          </a:xfrm>
          <a:prstGeom prst="ellipse">
            <a:avLst/>
          </a:prstGeom>
          <a:solidFill>
            <a:srgbClr val="707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Oval 598"/>
          <p:cNvSpPr/>
          <p:nvPr/>
        </p:nvSpPr>
        <p:spPr>
          <a:xfrm>
            <a:off x="10477195" y="2572207"/>
            <a:ext cx="58521" cy="58521"/>
          </a:xfrm>
          <a:prstGeom prst="ellipse">
            <a:avLst/>
          </a:prstGeom>
          <a:solidFill>
            <a:srgbClr val="7272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Oval 599"/>
          <p:cNvSpPr/>
          <p:nvPr/>
        </p:nvSpPr>
        <p:spPr>
          <a:xfrm>
            <a:off x="10573207" y="2572207"/>
            <a:ext cx="58521" cy="58521"/>
          </a:xfrm>
          <a:prstGeom prst="ellipse">
            <a:avLst/>
          </a:prstGeom>
          <a:solidFill>
            <a:srgbClr val="7373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Oval 600"/>
          <p:cNvSpPr/>
          <p:nvPr/>
        </p:nvSpPr>
        <p:spPr>
          <a:xfrm>
            <a:off x="10669219" y="2572207"/>
            <a:ext cx="58521" cy="58521"/>
          </a:xfrm>
          <a:prstGeom prst="ellipse">
            <a:avLst/>
          </a:prstGeom>
          <a:solidFill>
            <a:srgbClr val="7575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Oval 601"/>
          <p:cNvSpPr/>
          <p:nvPr/>
        </p:nvSpPr>
        <p:spPr>
          <a:xfrm>
            <a:off x="10765231" y="2572207"/>
            <a:ext cx="58521" cy="58521"/>
          </a:xfrm>
          <a:prstGeom prst="ellipse">
            <a:avLst/>
          </a:prstGeom>
          <a:solidFill>
            <a:srgbClr val="77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Oval 602"/>
          <p:cNvSpPr/>
          <p:nvPr/>
        </p:nvSpPr>
        <p:spPr>
          <a:xfrm>
            <a:off x="10861243" y="2572207"/>
            <a:ext cx="58521" cy="58521"/>
          </a:xfrm>
          <a:prstGeom prst="ellipse">
            <a:avLst/>
          </a:prstGeom>
          <a:solidFill>
            <a:srgbClr val="7878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Oval 603"/>
          <p:cNvSpPr/>
          <p:nvPr/>
        </p:nvSpPr>
        <p:spPr>
          <a:xfrm>
            <a:off x="10957255" y="2572207"/>
            <a:ext cx="58521" cy="58521"/>
          </a:xfrm>
          <a:prstGeom prst="ellipse">
            <a:avLst/>
          </a:prstGeom>
          <a:solidFill>
            <a:srgbClr val="7A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Oval 604"/>
          <p:cNvSpPr/>
          <p:nvPr/>
        </p:nvSpPr>
        <p:spPr>
          <a:xfrm>
            <a:off x="11053267" y="2572207"/>
            <a:ext cx="58521" cy="58521"/>
          </a:xfrm>
          <a:prstGeom prst="ellipse">
            <a:avLst/>
          </a:prstGeom>
          <a:solidFill>
            <a:srgbClr val="7C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Oval 605"/>
          <p:cNvSpPr/>
          <p:nvPr/>
        </p:nvSpPr>
        <p:spPr>
          <a:xfrm>
            <a:off x="11149279" y="2572207"/>
            <a:ext cx="58521" cy="58521"/>
          </a:xfrm>
          <a:prstGeom prst="ellipse">
            <a:avLst/>
          </a:prstGeom>
          <a:solidFill>
            <a:srgbClr val="7D7D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Oval 606"/>
          <p:cNvSpPr/>
          <p:nvPr/>
        </p:nvSpPr>
        <p:spPr>
          <a:xfrm>
            <a:off x="11245291" y="2572207"/>
            <a:ext cx="58521" cy="58521"/>
          </a:xfrm>
          <a:prstGeom prst="ellipse">
            <a:avLst/>
          </a:prstGeom>
          <a:solidFill>
            <a:srgbClr val="7F7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Oval 607"/>
          <p:cNvSpPr/>
          <p:nvPr/>
        </p:nvSpPr>
        <p:spPr>
          <a:xfrm>
            <a:off x="7020763" y="2668219"/>
            <a:ext cx="58521" cy="58521"/>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Oval 608"/>
          <p:cNvSpPr/>
          <p:nvPr/>
        </p:nvSpPr>
        <p:spPr>
          <a:xfrm>
            <a:off x="7116775" y="2668219"/>
            <a:ext cx="58521" cy="58521"/>
          </a:xfrm>
          <a:prstGeom prst="ellipse">
            <a:avLst/>
          </a:prstGeom>
          <a:solidFill>
            <a:srgbClr val="3939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Oval 609"/>
          <p:cNvSpPr/>
          <p:nvPr/>
        </p:nvSpPr>
        <p:spPr>
          <a:xfrm>
            <a:off x="7212787" y="2668219"/>
            <a:ext cx="58521" cy="58521"/>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Oval 610"/>
          <p:cNvSpPr/>
          <p:nvPr/>
        </p:nvSpPr>
        <p:spPr>
          <a:xfrm>
            <a:off x="7308799" y="2668219"/>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Oval 611"/>
          <p:cNvSpPr/>
          <p:nvPr/>
        </p:nvSpPr>
        <p:spPr>
          <a:xfrm>
            <a:off x="7404811" y="2668219"/>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Oval 612"/>
          <p:cNvSpPr/>
          <p:nvPr/>
        </p:nvSpPr>
        <p:spPr>
          <a:xfrm>
            <a:off x="7500823" y="2668219"/>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Oval 613"/>
          <p:cNvSpPr/>
          <p:nvPr/>
        </p:nvSpPr>
        <p:spPr>
          <a:xfrm>
            <a:off x="7596835" y="2668219"/>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Oval 614"/>
          <p:cNvSpPr/>
          <p:nvPr/>
        </p:nvSpPr>
        <p:spPr>
          <a:xfrm>
            <a:off x="7692847" y="2668219"/>
            <a:ext cx="58521" cy="58521"/>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Oval 615"/>
          <p:cNvSpPr/>
          <p:nvPr/>
        </p:nvSpPr>
        <p:spPr>
          <a:xfrm>
            <a:off x="7788859" y="2668219"/>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Oval 616"/>
          <p:cNvSpPr/>
          <p:nvPr/>
        </p:nvSpPr>
        <p:spPr>
          <a:xfrm>
            <a:off x="7884871" y="2668219"/>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Oval 617"/>
          <p:cNvSpPr/>
          <p:nvPr/>
        </p:nvSpPr>
        <p:spPr>
          <a:xfrm>
            <a:off x="7980883" y="2668219"/>
            <a:ext cx="58521" cy="58521"/>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Oval 618"/>
          <p:cNvSpPr/>
          <p:nvPr/>
        </p:nvSpPr>
        <p:spPr>
          <a:xfrm>
            <a:off x="8076895" y="2668219"/>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Oval 619"/>
          <p:cNvSpPr/>
          <p:nvPr/>
        </p:nvSpPr>
        <p:spPr>
          <a:xfrm>
            <a:off x="8172907" y="2668219"/>
            <a:ext cx="58521" cy="58521"/>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Oval 620"/>
          <p:cNvSpPr/>
          <p:nvPr/>
        </p:nvSpPr>
        <p:spPr>
          <a:xfrm>
            <a:off x="8268919" y="2668219"/>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Oval 621"/>
          <p:cNvSpPr/>
          <p:nvPr/>
        </p:nvSpPr>
        <p:spPr>
          <a:xfrm>
            <a:off x="8364931" y="2668219"/>
            <a:ext cx="58521" cy="58521"/>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Oval 622"/>
          <p:cNvSpPr/>
          <p:nvPr/>
        </p:nvSpPr>
        <p:spPr>
          <a:xfrm>
            <a:off x="8460943" y="2668219"/>
            <a:ext cx="58521" cy="58521"/>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Oval 623"/>
          <p:cNvSpPr/>
          <p:nvPr/>
        </p:nvSpPr>
        <p:spPr>
          <a:xfrm>
            <a:off x="8556955" y="2668219"/>
            <a:ext cx="58521" cy="58521"/>
          </a:xfrm>
          <a:prstGeom prst="ellipse">
            <a:avLst/>
          </a:prstGeom>
          <a:solidFill>
            <a:srgbClr val="525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Oval 624"/>
          <p:cNvSpPr/>
          <p:nvPr/>
        </p:nvSpPr>
        <p:spPr>
          <a:xfrm>
            <a:off x="8652967" y="2668219"/>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Oval 625"/>
          <p:cNvSpPr/>
          <p:nvPr/>
        </p:nvSpPr>
        <p:spPr>
          <a:xfrm>
            <a:off x="8748979" y="2668219"/>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Oval 626"/>
          <p:cNvSpPr/>
          <p:nvPr/>
        </p:nvSpPr>
        <p:spPr>
          <a:xfrm>
            <a:off x="8844991" y="2668219"/>
            <a:ext cx="58521" cy="58521"/>
          </a:xfrm>
          <a:prstGeom prst="ellipse">
            <a:avLst/>
          </a:prstGeom>
          <a:solidFill>
            <a:srgbClr val="5757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Oval 627"/>
          <p:cNvSpPr/>
          <p:nvPr/>
        </p:nvSpPr>
        <p:spPr>
          <a:xfrm>
            <a:off x="8941003" y="2668219"/>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Oval 628"/>
          <p:cNvSpPr/>
          <p:nvPr/>
        </p:nvSpPr>
        <p:spPr>
          <a:xfrm>
            <a:off x="9037015" y="2668219"/>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Oval 629"/>
          <p:cNvSpPr/>
          <p:nvPr/>
        </p:nvSpPr>
        <p:spPr>
          <a:xfrm>
            <a:off x="9133027" y="2668219"/>
            <a:ext cx="58521" cy="58521"/>
          </a:xfrm>
          <a:prstGeom prst="ellipse">
            <a:avLst/>
          </a:prstGeom>
          <a:solidFill>
            <a:srgbClr val="5C5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Oval 630"/>
          <p:cNvSpPr/>
          <p:nvPr/>
        </p:nvSpPr>
        <p:spPr>
          <a:xfrm>
            <a:off x="9229039" y="2668219"/>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Oval 631"/>
          <p:cNvSpPr/>
          <p:nvPr/>
        </p:nvSpPr>
        <p:spPr>
          <a:xfrm>
            <a:off x="9325051" y="2668219"/>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Oval 632"/>
          <p:cNvSpPr/>
          <p:nvPr/>
        </p:nvSpPr>
        <p:spPr>
          <a:xfrm>
            <a:off x="9421063" y="2668219"/>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Oval 633"/>
          <p:cNvSpPr/>
          <p:nvPr/>
        </p:nvSpPr>
        <p:spPr>
          <a:xfrm>
            <a:off x="9517075" y="2668219"/>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Oval 634"/>
          <p:cNvSpPr/>
          <p:nvPr/>
        </p:nvSpPr>
        <p:spPr>
          <a:xfrm>
            <a:off x="9613087" y="2668219"/>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Oval 635"/>
          <p:cNvSpPr/>
          <p:nvPr/>
        </p:nvSpPr>
        <p:spPr>
          <a:xfrm>
            <a:off x="9709099" y="2668219"/>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Oval 636"/>
          <p:cNvSpPr/>
          <p:nvPr/>
        </p:nvSpPr>
        <p:spPr>
          <a:xfrm>
            <a:off x="9805111" y="2668219"/>
            <a:ext cx="58521" cy="58521"/>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Oval 637"/>
          <p:cNvSpPr/>
          <p:nvPr/>
        </p:nvSpPr>
        <p:spPr>
          <a:xfrm>
            <a:off x="9901123" y="2668219"/>
            <a:ext cx="58521" cy="58521"/>
          </a:xfrm>
          <a:prstGeom prst="ellipse">
            <a:avLst/>
          </a:prstGeom>
          <a:solidFill>
            <a:srgbClr val="6A6A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Oval 638"/>
          <p:cNvSpPr/>
          <p:nvPr/>
        </p:nvSpPr>
        <p:spPr>
          <a:xfrm>
            <a:off x="9997135" y="2668219"/>
            <a:ext cx="58521" cy="58521"/>
          </a:xfrm>
          <a:prstGeom prst="ellipse">
            <a:avLst/>
          </a:prstGeom>
          <a:solidFill>
            <a:srgbClr val="6B6B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Oval 639"/>
          <p:cNvSpPr/>
          <p:nvPr/>
        </p:nvSpPr>
        <p:spPr>
          <a:xfrm>
            <a:off x="10093147" y="2668219"/>
            <a:ext cx="58521" cy="58521"/>
          </a:xfrm>
          <a:prstGeom prst="ellipse">
            <a:avLst/>
          </a:prstGeom>
          <a:solidFill>
            <a:srgbClr val="6D6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Oval 640"/>
          <p:cNvSpPr/>
          <p:nvPr/>
        </p:nvSpPr>
        <p:spPr>
          <a:xfrm>
            <a:off x="10189159" y="2668219"/>
            <a:ext cx="58521" cy="58521"/>
          </a:xfrm>
          <a:prstGeom prst="ellipse">
            <a:avLst/>
          </a:prstGeom>
          <a:solidFill>
            <a:srgbClr val="6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Oval 641"/>
          <p:cNvSpPr/>
          <p:nvPr/>
        </p:nvSpPr>
        <p:spPr>
          <a:xfrm>
            <a:off x="10285171" y="2668219"/>
            <a:ext cx="58521" cy="58521"/>
          </a:xfrm>
          <a:prstGeom prst="ellipse">
            <a:avLst/>
          </a:prstGeom>
          <a:solidFill>
            <a:srgbClr val="7171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Oval 642"/>
          <p:cNvSpPr/>
          <p:nvPr/>
        </p:nvSpPr>
        <p:spPr>
          <a:xfrm>
            <a:off x="10381183" y="2668219"/>
            <a:ext cx="58521" cy="58521"/>
          </a:xfrm>
          <a:prstGeom prst="ellipse">
            <a:avLst/>
          </a:prstGeom>
          <a:solidFill>
            <a:srgbClr val="7272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Oval 643"/>
          <p:cNvSpPr/>
          <p:nvPr/>
        </p:nvSpPr>
        <p:spPr>
          <a:xfrm>
            <a:off x="10477195" y="2668219"/>
            <a:ext cx="58521" cy="58521"/>
          </a:xfrm>
          <a:prstGeom prst="ellipse">
            <a:avLst/>
          </a:prstGeom>
          <a:solidFill>
            <a:srgbClr val="747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Oval 644"/>
          <p:cNvSpPr/>
          <p:nvPr/>
        </p:nvSpPr>
        <p:spPr>
          <a:xfrm>
            <a:off x="10573207" y="2668219"/>
            <a:ext cx="58521" cy="58521"/>
          </a:xfrm>
          <a:prstGeom prst="ellipse">
            <a:avLst/>
          </a:prstGeom>
          <a:solidFill>
            <a:srgbClr val="7676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Oval 645"/>
          <p:cNvSpPr/>
          <p:nvPr/>
        </p:nvSpPr>
        <p:spPr>
          <a:xfrm>
            <a:off x="10669219" y="2668219"/>
            <a:ext cx="58521" cy="58521"/>
          </a:xfrm>
          <a:prstGeom prst="ellipse">
            <a:avLst/>
          </a:prstGeom>
          <a:solidFill>
            <a:srgbClr val="77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Oval 646"/>
          <p:cNvSpPr/>
          <p:nvPr/>
        </p:nvSpPr>
        <p:spPr>
          <a:xfrm>
            <a:off x="10765231" y="2668219"/>
            <a:ext cx="58521" cy="58521"/>
          </a:xfrm>
          <a:prstGeom prst="ellipse">
            <a:avLst/>
          </a:prstGeom>
          <a:solidFill>
            <a:srgbClr val="7979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Oval 647"/>
          <p:cNvSpPr/>
          <p:nvPr/>
        </p:nvSpPr>
        <p:spPr>
          <a:xfrm>
            <a:off x="10861243" y="2668219"/>
            <a:ext cx="58521" cy="58521"/>
          </a:xfrm>
          <a:prstGeom prst="ellipse">
            <a:avLst/>
          </a:prstGeom>
          <a:solidFill>
            <a:srgbClr val="7B7B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Oval 648"/>
          <p:cNvSpPr/>
          <p:nvPr/>
        </p:nvSpPr>
        <p:spPr>
          <a:xfrm>
            <a:off x="10957255" y="2668219"/>
            <a:ext cx="58521" cy="58521"/>
          </a:xfrm>
          <a:prstGeom prst="ellipse">
            <a:avLst/>
          </a:prstGeom>
          <a:solidFill>
            <a:srgbClr val="7C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Oval 649"/>
          <p:cNvSpPr/>
          <p:nvPr/>
        </p:nvSpPr>
        <p:spPr>
          <a:xfrm>
            <a:off x="11053267" y="2668219"/>
            <a:ext cx="58521" cy="58521"/>
          </a:xfrm>
          <a:prstGeom prst="ellipse">
            <a:avLst/>
          </a:prstGeom>
          <a:solidFill>
            <a:srgbClr val="7E7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Oval 650"/>
          <p:cNvSpPr/>
          <p:nvPr/>
        </p:nvSpPr>
        <p:spPr>
          <a:xfrm>
            <a:off x="11149279" y="2668219"/>
            <a:ext cx="58521" cy="58521"/>
          </a:xfrm>
          <a:prstGeom prst="ellipse">
            <a:avLst/>
          </a:prstGeom>
          <a:solidFill>
            <a:srgbClr val="8080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Oval 651"/>
          <p:cNvSpPr/>
          <p:nvPr/>
        </p:nvSpPr>
        <p:spPr>
          <a:xfrm>
            <a:off x="7020763" y="2764231"/>
            <a:ext cx="58521" cy="58521"/>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Oval 652"/>
          <p:cNvSpPr/>
          <p:nvPr/>
        </p:nvSpPr>
        <p:spPr>
          <a:xfrm>
            <a:off x="7116775" y="2764231"/>
            <a:ext cx="58521" cy="58521"/>
          </a:xfrm>
          <a:prstGeom prst="ellipse">
            <a:avLst/>
          </a:prstGeom>
          <a:solidFill>
            <a:srgbClr val="3B3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Oval 653"/>
          <p:cNvSpPr/>
          <p:nvPr/>
        </p:nvSpPr>
        <p:spPr>
          <a:xfrm>
            <a:off x="7212787" y="2764231"/>
            <a:ext cx="58521" cy="58521"/>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Oval 654"/>
          <p:cNvSpPr/>
          <p:nvPr/>
        </p:nvSpPr>
        <p:spPr>
          <a:xfrm>
            <a:off x="7308799" y="2764231"/>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Oval 655"/>
          <p:cNvSpPr/>
          <p:nvPr/>
        </p:nvSpPr>
        <p:spPr>
          <a:xfrm>
            <a:off x="7404811" y="2764231"/>
            <a:ext cx="58521" cy="58521"/>
          </a:xfrm>
          <a:prstGeom prst="ellipse">
            <a:avLst/>
          </a:prstGeom>
          <a:solidFill>
            <a:srgbClr val="4040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Oval 656"/>
          <p:cNvSpPr/>
          <p:nvPr/>
        </p:nvSpPr>
        <p:spPr>
          <a:xfrm>
            <a:off x="7500823" y="2764231"/>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Oval 657"/>
          <p:cNvSpPr/>
          <p:nvPr/>
        </p:nvSpPr>
        <p:spPr>
          <a:xfrm>
            <a:off x="7596835" y="2764231"/>
            <a:ext cx="58521" cy="58521"/>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Oval 658"/>
          <p:cNvSpPr/>
          <p:nvPr/>
        </p:nvSpPr>
        <p:spPr>
          <a:xfrm>
            <a:off x="7692847" y="2764231"/>
            <a:ext cx="58521" cy="58521"/>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Oval 659"/>
          <p:cNvSpPr/>
          <p:nvPr/>
        </p:nvSpPr>
        <p:spPr>
          <a:xfrm>
            <a:off x="7788859" y="2764231"/>
            <a:ext cx="58521" cy="58521"/>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Oval 660"/>
          <p:cNvSpPr/>
          <p:nvPr/>
        </p:nvSpPr>
        <p:spPr>
          <a:xfrm>
            <a:off x="7884871" y="2764231"/>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Oval 661"/>
          <p:cNvSpPr/>
          <p:nvPr/>
        </p:nvSpPr>
        <p:spPr>
          <a:xfrm>
            <a:off x="7980883" y="2764231"/>
            <a:ext cx="58521" cy="58521"/>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Oval 662"/>
          <p:cNvSpPr/>
          <p:nvPr/>
        </p:nvSpPr>
        <p:spPr>
          <a:xfrm>
            <a:off x="8076895" y="2764231"/>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Oval 663"/>
          <p:cNvSpPr/>
          <p:nvPr/>
        </p:nvSpPr>
        <p:spPr>
          <a:xfrm>
            <a:off x="8172907" y="2764231"/>
            <a:ext cx="58521" cy="58521"/>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Oval 664"/>
          <p:cNvSpPr/>
          <p:nvPr/>
        </p:nvSpPr>
        <p:spPr>
          <a:xfrm>
            <a:off x="8268919" y="2764231"/>
            <a:ext cx="58521" cy="58521"/>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Oval 665"/>
          <p:cNvSpPr/>
          <p:nvPr/>
        </p:nvSpPr>
        <p:spPr>
          <a:xfrm>
            <a:off x="8364931" y="2764231"/>
            <a:ext cx="58521" cy="58521"/>
          </a:xfrm>
          <a:prstGeom prst="ellipse">
            <a:avLst/>
          </a:prstGeom>
          <a:solidFill>
            <a:srgbClr val="515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Oval 666"/>
          <p:cNvSpPr/>
          <p:nvPr/>
        </p:nvSpPr>
        <p:spPr>
          <a:xfrm>
            <a:off x="8460943" y="2764231"/>
            <a:ext cx="58521" cy="58521"/>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Oval 667"/>
          <p:cNvSpPr/>
          <p:nvPr/>
        </p:nvSpPr>
        <p:spPr>
          <a:xfrm>
            <a:off x="8556955" y="2764231"/>
            <a:ext cx="58521" cy="58521"/>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Oval 668"/>
          <p:cNvSpPr/>
          <p:nvPr/>
        </p:nvSpPr>
        <p:spPr>
          <a:xfrm>
            <a:off x="8652967" y="2764231"/>
            <a:ext cx="58521" cy="58521"/>
          </a:xfrm>
          <a:prstGeom prst="ellipse">
            <a:avLst/>
          </a:prstGeom>
          <a:solidFill>
            <a:srgbClr val="5656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Oval 669"/>
          <p:cNvSpPr/>
          <p:nvPr/>
        </p:nvSpPr>
        <p:spPr>
          <a:xfrm>
            <a:off x="8748979" y="2764231"/>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Oval 670"/>
          <p:cNvSpPr/>
          <p:nvPr/>
        </p:nvSpPr>
        <p:spPr>
          <a:xfrm>
            <a:off x="8844991" y="2764231"/>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Oval 671"/>
          <p:cNvSpPr/>
          <p:nvPr/>
        </p:nvSpPr>
        <p:spPr>
          <a:xfrm>
            <a:off x="8941003" y="2764231"/>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Oval 672"/>
          <p:cNvSpPr/>
          <p:nvPr/>
        </p:nvSpPr>
        <p:spPr>
          <a:xfrm>
            <a:off x="9037015" y="2764231"/>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Oval 673"/>
          <p:cNvSpPr/>
          <p:nvPr/>
        </p:nvSpPr>
        <p:spPr>
          <a:xfrm>
            <a:off x="9133027" y="2764231"/>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Oval 674"/>
          <p:cNvSpPr/>
          <p:nvPr/>
        </p:nvSpPr>
        <p:spPr>
          <a:xfrm>
            <a:off x="9229039" y="2764231"/>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Oval 675"/>
          <p:cNvSpPr/>
          <p:nvPr/>
        </p:nvSpPr>
        <p:spPr>
          <a:xfrm>
            <a:off x="9325051" y="2764231"/>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Oval 676"/>
          <p:cNvSpPr/>
          <p:nvPr/>
        </p:nvSpPr>
        <p:spPr>
          <a:xfrm>
            <a:off x="9421063" y="2764231"/>
            <a:ext cx="58521" cy="58521"/>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Oval 677"/>
          <p:cNvSpPr/>
          <p:nvPr/>
        </p:nvSpPr>
        <p:spPr>
          <a:xfrm>
            <a:off x="9517075" y="2764231"/>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Oval 678"/>
          <p:cNvSpPr/>
          <p:nvPr/>
        </p:nvSpPr>
        <p:spPr>
          <a:xfrm>
            <a:off x="9613087" y="2764231"/>
            <a:ext cx="58521" cy="58521"/>
          </a:xfrm>
          <a:prstGeom prst="ellipse">
            <a:avLst/>
          </a:prstGeom>
          <a:solidFill>
            <a:srgbClr val="676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Oval 679"/>
          <p:cNvSpPr/>
          <p:nvPr/>
        </p:nvSpPr>
        <p:spPr>
          <a:xfrm>
            <a:off x="9709099" y="2764231"/>
            <a:ext cx="58521" cy="58521"/>
          </a:xfrm>
          <a:prstGeom prst="ellipse">
            <a:avLst/>
          </a:prstGeom>
          <a:solidFill>
            <a:srgbClr val="696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Oval 680"/>
          <p:cNvSpPr/>
          <p:nvPr/>
        </p:nvSpPr>
        <p:spPr>
          <a:xfrm>
            <a:off x="9805111" y="2764231"/>
            <a:ext cx="58521" cy="58521"/>
          </a:xfrm>
          <a:prstGeom prst="ellipse">
            <a:avLst/>
          </a:prstGeom>
          <a:solidFill>
            <a:srgbClr val="6A6A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Oval 681"/>
          <p:cNvSpPr/>
          <p:nvPr/>
        </p:nvSpPr>
        <p:spPr>
          <a:xfrm>
            <a:off x="9901123" y="2764231"/>
            <a:ext cx="58521" cy="58521"/>
          </a:xfrm>
          <a:prstGeom prst="ellipse">
            <a:avLst/>
          </a:prstGeom>
          <a:solidFill>
            <a:srgbClr val="6C6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Oval 682"/>
          <p:cNvSpPr/>
          <p:nvPr/>
        </p:nvSpPr>
        <p:spPr>
          <a:xfrm>
            <a:off x="9997135" y="2764231"/>
            <a:ext cx="58521" cy="58521"/>
          </a:xfrm>
          <a:prstGeom prst="ellipse">
            <a:avLst/>
          </a:prstGeom>
          <a:solidFill>
            <a:srgbClr val="6E6E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Oval 683"/>
          <p:cNvSpPr/>
          <p:nvPr/>
        </p:nvSpPr>
        <p:spPr>
          <a:xfrm>
            <a:off x="10093147" y="2764231"/>
            <a:ext cx="58521" cy="58521"/>
          </a:xfrm>
          <a:prstGeom prst="ellipse">
            <a:avLst/>
          </a:prstGeom>
          <a:solidFill>
            <a:srgbClr val="6F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Oval 684"/>
          <p:cNvSpPr/>
          <p:nvPr/>
        </p:nvSpPr>
        <p:spPr>
          <a:xfrm>
            <a:off x="10189159" y="2764231"/>
            <a:ext cx="58521" cy="58521"/>
          </a:xfrm>
          <a:prstGeom prst="ellipse">
            <a:avLst/>
          </a:prstGeom>
          <a:solidFill>
            <a:srgbClr val="7171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Oval 685"/>
          <p:cNvSpPr/>
          <p:nvPr/>
        </p:nvSpPr>
        <p:spPr>
          <a:xfrm>
            <a:off x="10285171" y="2764231"/>
            <a:ext cx="58521" cy="58521"/>
          </a:xfrm>
          <a:prstGeom prst="ellipse">
            <a:avLst/>
          </a:prstGeom>
          <a:solidFill>
            <a:srgbClr val="7373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Oval 686"/>
          <p:cNvSpPr/>
          <p:nvPr/>
        </p:nvSpPr>
        <p:spPr>
          <a:xfrm>
            <a:off x="10381183" y="2764231"/>
            <a:ext cx="58521" cy="58521"/>
          </a:xfrm>
          <a:prstGeom prst="ellipse">
            <a:avLst/>
          </a:prstGeom>
          <a:solidFill>
            <a:srgbClr val="7474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Oval 687"/>
          <p:cNvSpPr/>
          <p:nvPr/>
        </p:nvSpPr>
        <p:spPr>
          <a:xfrm>
            <a:off x="10477195" y="2764231"/>
            <a:ext cx="58521" cy="58521"/>
          </a:xfrm>
          <a:prstGeom prst="ellipse">
            <a:avLst/>
          </a:prstGeom>
          <a:solidFill>
            <a:srgbClr val="7676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Oval 688"/>
          <p:cNvSpPr/>
          <p:nvPr/>
        </p:nvSpPr>
        <p:spPr>
          <a:xfrm>
            <a:off x="10573207" y="2764231"/>
            <a:ext cx="58521" cy="58521"/>
          </a:xfrm>
          <a:prstGeom prst="ellipse">
            <a:avLst/>
          </a:prstGeom>
          <a:solidFill>
            <a:srgbClr val="7878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Oval 689"/>
          <p:cNvSpPr/>
          <p:nvPr/>
        </p:nvSpPr>
        <p:spPr>
          <a:xfrm>
            <a:off x="10669219" y="2764231"/>
            <a:ext cx="58521" cy="58521"/>
          </a:xfrm>
          <a:prstGeom prst="ellipse">
            <a:avLst/>
          </a:prstGeom>
          <a:solidFill>
            <a:srgbClr val="7979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Oval 690"/>
          <p:cNvSpPr/>
          <p:nvPr/>
        </p:nvSpPr>
        <p:spPr>
          <a:xfrm>
            <a:off x="10765231" y="2764231"/>
            <a:ext cx="58521" cy="58521"/>
          </a:xfrm>
          <a:prstGeom prst="ellipse">
            <a:avLst/>
          </a:prstGeom>
          <a:solidFill>
            <a:srgbClr val="7B7B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Oval 691"/>
          <p:cNvSpPr/>
          <p:nvPr/>
        </p:nvSpPr>
        <p:spPr>
          <a:xfrm>
            <a:off x="10861243" y="2764231"/>
            <a:ext cx="58521" cy="58521"/>
          </a:xfrm>
          <a:prstGeom prst="ellipse">
            <a:avLst/>
          </a:prstGeom>
          <a:solidFill>
            <a:srgbClr val="7D7D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Oval 692"/>
          <p:cNvSpPr/>
          <p:nvPr/>
        </p:nvSpPr>
        <p:spPr>
          <a:xfrm>
            <a:off x="10957255" y="2764231"/>
            <a:ext cx="58521" cy="58521"/>
          </a:xfrm>
          <a:prstGeom prst="ellipse">
            <a:avLst/>
          </a:prstGeom>
          <a:solidFill>
            <a:srgbClr val="7E7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Oval 693"/>
          <p:cNvSpPr/>
          <p:nvPr/>
        </p:nvSpPr>
        <p:spPr>
          <a:xfrm>
            <a:off x="11053267" y="2764231"/>
            <a:ext cx="58521" cy="58521"/>
          </a:xfrm>
          <a:prstGeom prst="ellipse">
            <a:avLst/>
          </a:prstGeom>
          <a:solidFill>
            <a:srgbClr val="8080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Oval 694"/>
          <p:cNvSpPr/>
          <p:nvPr/>
        </p:nvSpPr>
        <p:spPr>
          <a:xfrm>
            <a:off x="11149279" y="2764231"/>
            <a:ext cx="58521" cy="58521"/>
          </a:xfrm>
          <a:prstGeom prst="ellipse">
            <a:avLst/>
          </a:prstGeom>
          <a:solidFill>
            <a:srgbClr val="828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Oval 695"/>
          <p:cNvSpPr/>
          <p:nvPr/>
        </p:nvSpPr>
        <p:spPr>
          <a:xfrm>
            <a:off x="6924751" y="2860243"/>
            <a:ext cx="58521" cy="58521"/>
          </a:xfrm>
          <a:prstGeom prst="ellipse">
            <a:avLst/>
          </a:prstGeom>
          <a:solidFill>
            <a:srgbClr val="3A3A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Oval 696"/>
          <p:cNvSpPr/>
          <p:nvPr/>
        </p:nvSpPr>
        <p:spPr>
          <a:xfrm>
            <a:off x="7020763" y="2860243"/>
            <a:ext cx="58521" cy="58521"/>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Oval 697"/>
          <p:cNvSpPr/>
          <p:nvPr/>
        </p:nvSpPr>
        <p:spPr>
          <a:xfrm>
            <a:off x="7116775" y="2860243"/>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Oval 698"/>
          <p:cNvSpPr/>
          <p:nvPr/>
        </p:nvSpPr>
        <p:spPr>
          <a:xfrm>
            <a:off x="7212787" y="2860243"/>
            <a:ext cx="58521" cy="58521"/>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Oval 699"/>
          <p:cNvSpPr/>
          <p:nvPr/>
        </p:nvSpPr>
        <p:spPr>
          <a:xfrm>
            <a:off x="7308799" y="2860243"/>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Oval 700"/>
          <p:cNvSpPr/>
          <p:nvPr/>
        </p:nvSpPr>
        <p:spPr>
          <a:xfrm>
            <a:off x="7692847" y="2860243"/>
            <a:ext cx="58521" cy="58521"/>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Oval 701"/>
          <p:cNvSpPr/>
          <p:nvPr/>
        </p:nvSpPr>
        <p:spPr>
          <a:xfrm>
            <a:off x="7788859" y="2860243"/>
            <a:ext cx="58521" cy="58521"/>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Oval 702"/>
          <p:cNvSpPr/>
          <p:nvPr/>
        </p:nvSpPr>
        <p:spPr>
          <a:xfrm>
            <a:off x="7884871" y="2860243"/>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Oval 703"/>
          <p:cNvSpPr/>
          <p:nvPr/>
        </p:nvSpPr>
        <p:spPr>
          <a:xfrm>
            <a:off x="7980883" y="2860243"/>
            <a:ext cx="58521" cy="58521"/>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Oval 704"/>
          <p:cNvSpPr/>
          <p:nvPr/>
        </p:nvSpPr>
        <p:spPr>
          <a:xfrm>
            <a:off x="8076895" y="2860243"/>
            <a:ext cx="58521" cy="58521"/>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Oval 705"/>
          <p:cNvSpPr/>
          <p:nvPr/>
        </p:nvSpPr>
        <p:spPr>
          <a:xfrm>
            <a:off x="8172907" y="2860243"/>
            <a:ext cx="58521" cy="58521"/>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Oval 706"/>
          <p:cNvSpPr/>
          <p:nvPr/>
        </p:nvSpPr>
        <p:spPr>
          <a:xfrm>
            <a:off x="8268919" y="2860243"/>
            <a:ext cx="58521" cy="58521"/>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Oval 707"/>
          <p:cNvSpPr/>
          <p:nvPr/>
        </p:nvSpPr>
        <p:spPr>
          <a:xfrm>
            <a:off x="8364931" y="2860243"/>
            <a:ext cx="58521" cy="58521"/>
          </a:xfrm>
          <a:prstGeom prst="ellipse">
            <a:avLst/>
          </a:prstGeom>
          <a:solidFill>
            <a:srgbClr val="5353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Oval 708"/>
          <p:cNvSpPr/>
          <p:nvPr/>
        </p:nvSpPr>
        <p:spPr>
          <a:xfrm>
            <a:off x="8460943" y="2860243"/>
            <a:ext cx="58521" cy="58521"/>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Oval 709"/>
          <p:cNvSpPr/>
          <p:nvPr/>
        </p:nvSpPr>
        <p:spPr>
          <a:xfrm>
            <a:off x="8556955" y="2860243"/>
            <a:ext cx="58521" cy="58521"/>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Oval 710"/>
          <p:cNvSpPr/>
          <p:nvPr/>
        </p:nvSpPr>
        <p:spPr>
          <a:xfrm>
            <a:off x="8652967" y="2860243"/>
            <a:ext cx="58521" cy="58521"/>
          </a:xfrm>
          <a:prstGeom prst="ellipse">
            <a:avLst/>
          </a:prstGeom>
          <a:solidFill>
            <a:srgbClr val="585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Oval 711"/>
          <p:cNvSpPr/>
          <p:nvPr/>
        </p:nvSpPr>
        <p:spPr>
          <a:xfrm>
            <a:off x="8748979" y="2860243"/>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Oval 712"/>
          <p:cNvSpPr/>
          <p:nvPr/>
        </p:nvSpPr>
        <p:spPr>
          <a:xfrm>
            <a:off x="8844991" y="2860243"/>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Oval 713"/>
          <p:cNvSpPr/>
          <p:nvPr/>
        </p:nvSpPr>
        <p:spPr>
          <a:xfrm>
            <a:off x="8941003" y="2860243"/>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Oval 714"/>
          <p:cNvSpPr/>
          <p:nvPr/>
        </p:nvSpPr>
        <p:spPr>
          <a:xfrm>
            <a:off x="9037015" y="2860243"/>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Oval 715"/>
          <p:cNvSpPr/>
          <p:nvPr/>
        </p:nvSpPr>
        <p:spPr>
          <a:xfrm>
            <a:off x="9133027" y="2860243"/>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Oval 716"/>
          <p:cNvSpPr/>
          <p:nvPr/>
        </p:nvSpPr>
        <p:spPr>
          <a:xfrm>
            <a:off x="9229039" y="2860243"/>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Oval 717"/>
          <p:cNvSpPr/>
          <p:nvPr/>
        </p:nvSpPr>
        <p:spPr>
          <a:xfrm>
            <a:off x="9325051" y="2860243"/>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Oval 718"/>
          <p:cNvSpPr/>
          <p:nvPr/>
        </p:nvSpPr>
        <p:spPr>
          <a:xfrm>
            <a:off x="9421063" y="2860243"/>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Oval 719"/>
          <p:cNvSpPr/>
          <p:nvPr/>
        </p:nvSpPr>
        <p:spPr>
          <a:xfrm>
            <a:off x="9517075" y="2860243"/>
            <a:ext cx="58521" cy="58521"/>
          </a:xfrm>
          <a:prstGeom prst="ellipse">
            <a:avLst/>
          </a:prstGeom>
          <a:solidFill>
            <a:srgbClr val="676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Oval 720"/>
          <p:cNvSpPr/>
          <p:nvPr/>
        </p:nvSpPr>
        <p:spPr>
          <a:xfrm>
            <a:off x="9613087" y="2860243"/>
            <a:ext cx="58521" cy="58521"/>
          </a:xfrm>
          <a:prstGeom prst="ellipse">
            <a:avLst/>
          </a:prstGeom>
          <a:solidFill>
            <a:srgbClr val="6969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Oval 721"/>
          <p:cNvSpPr/>
          <p:nvPr/>
        </p:nvSpPr>
        <p:spPr>
          <a:xfrm>
            <a:off x="9709099" y="2860243"/>
            <a:ext cx="58521" cy="58521"/>
          </a:xfrm>
          <a:prstGeom prst="ellipse">
            <a:avLst/>
          </a:prstGeom>
          <a:solidFill>
            <a:srgbClr val="6B6B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Oval 722"/>
          <p:cNvSpPr/>
          <p:nvPr/>
        </p:nvSpPr>
        <p:spPr>
          <a:xfrm>
            <a:off x="9805111" y="2860243"/>
            <a:ext cx="58521" cy="58521"/>
          </a:xfrm>
          <a:prstGeom prst="ellipse">
            <a:avLst/>
          </a:prstGeom>
          <a:solidFill>
            <a:srgbClr val="6C6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Oval 723"/>
          <p:cNvSpPr/>
          <p:nvPr/>
        </p:nvSpPr>
        <p:spPr>
          <a:xfrm>
            <a:off x="9901123" y="2860243"/>
            <a:ext cx="58521" cy="58521"/>
          </a:xfrm>
          <a:prstGeom prst="ellipse">
            <a:avLst/>
          </a:prstGeom>
          <a:solidFill>
            <a:srgbClr val="6E6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Oval 724"/>
          <p:cNvSpPr/>
          <p:nvPr/>
        </p:nvSpPr>
        <p:spPr>
          <a:xfrm>
            <a:off x="9997135" y="2860243"/>
            <a:ext cx="58521" cy="58521"/>
          </a:xfrm>
          <a:prstGeom prst="ellipse">
            <a:avLst/>
          </a:prstGeom>
          <a:solidFill>
            <a:srgbClr val="7070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Oval 725"/>
          <p:cNvSpPr/>
          <p:nvPr/>
        </p:nvSpPr>
        <p:spPr>
          <a:xfrm>
            <a:off x="10093147" y="2860243"/>
            <a:ext cx="58521" cy="58521"/>
          </a:xfrm>
          <a:prstGeom prst="ellipse">
            <a:avLst/>
          </a:prstGeom>
          <a:solidFill>
            <a:srgbClr val="7171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Oval 726"/>
          <p:cNvSpPr/>
          <p:nvPr/>
        </p:nvSpPr>
        <p:spPr>
          <a:xfrm>
            <a:off x="10189159" y="2860243"/>
            <a:ext cx="58521" cy="58521"/>
          </a:xfrm>
          <a:prstGeom prst="ellipse">
            <a:avLst/>
          </a:prstGeom>
          <a:solidFill>
            <a:srgbClr val="7373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Oval 727"/>
          <p:cNvSpPr/>
          <p:nvPr/>
        </p:nvSpPr>
        <p:spPr>
          <a:xfrm>
            <a:off x="10285171" y="2860243"/>
            <a:ext cx="58521" cy="58521"/>
          </a:xfrm>
          <a:prstGeom prst="ellipse">
            <a:avLst/>
          </a:prstGeom>
          <a:solidFill>
            <a:srgbClr val="7575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Oval 728"/>
          <p:cNvSpPr/>
          <p:nvPr/>
        </p:nvSpPr>
        <p:spPr>
          <a:xfrm>
            <a:off x="10381183" y="2860243"/>
            <a:ext cx="58521" cy="58521"/>
          </a:xfrm>
          <a:prstGeom prst="ellipse">
            <a:avLst/>
          </a:prstGeom>
          <a:solidFill>
            <a:srgbClr val="7676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Oval 729"/>
          <p:cNvSpPr/>
          <p:nvPr/>
        </p:nvSpPr>
        <p:spPr>
          <a:xfrm>
            <a:off x="10477195" y="2860243"/>
            <a:ext cx="58521" cy="58521"/>
          </a:xfrm>
          <a:prstGeom prst="ellipse">
            <a:avLst/>
          </a:prstGeom>
          <a:solidFill>
            <a:srgbClr val="7878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Oval 730"/>
          <p:cNvSpPr/>
          <p:nvPr/>
        </p:nvSpPr>
        <p:spPr>
          <a:xfrm>
            <a:off x="10573207" y="2860243"/>
            <a:ext cx="58521" cy="58521"/>
          </a:xfrm>
          <a:prstGeom prst="ellipse">
            <a:avLst/>
          </a:prstGeom>
          <a:solidFill>
            <a:srgbClr val="7A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Oval 731"/>
          <p:cNvSpPr/>
          <p:nvPr/>
        </p:nvSpPr>
        <p:spPr>
          <a:xfrm>
            <a:off x="10669219" y="2860243"/>
            <a:ext cx="58521" cy="58521"/>
          </a:xfrm>
          <a:prstGeom prst="ellipse">
            <a:avLst/>
          </a:prstGeom>
          <a:solidFill>
            <a:srgbClr val="7B7B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Oval 732"/>
          <p:cNvSpPr/>
          <p:nvPr/>
        </p:nvSpPr>
        <p:spPr>
          <a:xfrm>
            <a:off x="10765231" y="2860243"/>
            <a:ext cx="58521" cy="58521"/>
          </a:xfrm>
          <a:prstGeom prst="ellipse">
            <a:avLst/>
          </a:prstGeom>
          <a:solidFill>
            <a:srgbClr val="7D7D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Oval 733"/>
          <p:cNvSpPr/>
          <p:nvPr/>
        </p:nvSpPr>
        <p:spPr>
          <a:xfrm>
            <a:off x="10861243" y="2860243"/>
            <a:ext cx="58521" cy="58521"/>
          </a:xfrm>
          <a:prstGeom prst="ellipse">
            <a:avLst/>
          </a:prstGeom>
          <a:solidFill>
            <a:srgbClr val="7F7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Oval 734"/>
          <p:cNvSpPr/>
          <p:nvPr/>
        </p:nvSpPr>
        <p:spPr>
          <a:xfrm>
            <a:off x="10957255" y="2860243"/>
            <a:ext cx="58521" cy="58521"/>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Oval 735"/>
          <p:cNvSpPr/>
          <p:nvPr/>
        </p:nvSpPr>
        <p:spPr>
          <a:xfrm>
            <a:off x="11053267" y="2860243"/>
            <a:ext cx="58521" cy="58521"/>
          </a:xfrm>
          <a:prstGeom prst="ellipse">
            <a:avLst/>
          </a:prstGeom>
          <a:solidFill>
            <a:srgbClr val="828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Oval 736"/>
          <p:cNvSpPr/>
          <p:nvPr/>
        </p:nvSpPr>
        <p:spPr>
          <a:xfrm>
            <a:off x="6924751" y="2956255"/>
            <a:ext cx="58521" cy="58521"/>
          </a:xfrm>
          <a:prstGeom prst="ellipse">
            <a:avLst/>
          </a:prstGeom>
          <a:solidFill>
            <a:srgbClr val="3C3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Oval 737"/>
          <p:cNvSpPr/>
          <p:nvPr/>
        </p:nvSpPr>
        <p:spPr>
          <a:xfrm>
            <a:off x="7020763" y="2956255"/>
            <a:ext cx="58521" cy="58521"/>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Oval 738"/>
          <p:cNvSpPr/>
          <p:nvPr/>
        </p:nvSpPr>
        <p:spPr>
          <a:xfrm>
            <a:off x="7116775" y="2956255"/>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Oval 739"/>
          <p:cNvSpPr/>
          <p:nvPr/>
        </p:nvSpPr>
        <p:spPr>
          <a:xfrm>
            <a:off x="7692847" y="2956255"/>
            <a:ext cx="58521" cy="58521"/>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Oval 740"/>
          <p:cNvSpPr/>
          <p:nvPr/>
        </p:nvSpPr>
        <p:spPr>
          <a:xfrm>
            <a:off x="7788859" y="2956255"/>
            <a:ext cx="58521" cy="58521"/>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Oval 741"/>
          <p:cNvSpPr/>
          <p:nvPr/>
        </p:nvSpPr>
        <p:spPr>
          <a:xfrm>
            <a:off x="7884871" y="2956255"/>
            <a:ext cx="58521" cy="58521"/>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Oval 742"/>
          <p:cNvSpPr/>
          <p:nvPr/>
        </p:nvSpPr>
        <p:spPr>
          <a:xfrm>
            <a:off x="7980883" y="2956255"/>
            <a:ext cx="58521" cy="58521"/>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Oval 743"/>
          <p:cNvSpPr/>
          <p:nvPr/>
        </p:nvSpPr>
        <p:spPr>
          <a:xfrm>
            <a:off x="8076895" y="2956255"/>
            <a:ext cx="58521" cy="58521"/>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Oval 744"/>
          <p:cNvSpPr/>
          <p:nvPr/>
        </p:nvSpPr>
        <p:spPr>
          <a:xfrm>
            <a:off x="8172907" y="2956255"/>
            <a:ext cx="58521" cy="58521"/>
          </a:xfrm>
          <a:prstGeom prst="ellipse">
            <a:avLst/>
          </a:prstGeom>
          <a:solidFill>
            <a:srgbClr val="525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Oval 745"/>
          <p:cNvSpPr/>
          <p:nvPr/>
        </p:nvSpPr>
        <p:spPr>
          <a:xfrm>
            <a:off x="8268919" y="2956255"/>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Oval 746"/>
          <p:cNvSpPr/>
          <p:nvPr/>
        </p:nvSpPr>
        <p:spPr>
          <a:xfrm>
            <a:off x="8364931" y="2956255"/>
            <a:ext cx="58521" cy="58521"/>
          </a:xfrm>
          <a:prstGeom prst="ellipse">
            <a:avLst/>
          </a:prstGeom>
          <a:solidFill>
            <a:srgbClr val="5555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Oval 747"/>
          <p:cNvSpPr/>
          <p:nvPr/>
        </p:nvSpPr>
        <p:spPr>
          <a:xfrm>
            <a:off x="8460943" y="2956255"/>
            <a:ext cx="58521" cy="58521"/>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Oval 748"/>
          <p:cNvSpPr/>
          <p:nvPr/>
        </p:nvSpPr>
        <p:spPr>
          <a:xfrm>
            <a:off x="8556955" y="2956255"/>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Oval 749"/>
          <p:cNvSpPr/>
          <p:nvPr/>
        </p:nvSpPr>
        <p:spPr>
          <a:xfrm>
            <a:off x="8652967" y="2956255"/>
            <a:ext cx="58521" cy="58521"/>
          </a:xfrm>
          <a:prstGeom prst="ellipse">
            <a:avLst/>
          </a:prstGeom>
          <a:solidFill>
            <a:srgbClr val="5A5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Oval 750"/>
          <p:cNvSpPr/>
          <p:nvPr/>
        </p:nvSpPr>
        <p:spPr>
          <a:xfrm>
            <a:off x="8748979" y="2956255"/>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Oval 751"/>
          <p:cNvSpPr/>
          <p:nvPr/>
        </p:nvSpPr>
        <p:spPr>
          <a:xfrm>
            <a:off x="8844991" y="2956255"/>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Oval 752"/>
          <p:cNvSpPr/>
          <p:nvPr/>
        </p:nvSpPr>
        <p:spPr>
          <a:xfrm>
            <a:off x="8941003" y="2956255"/>
            <a:ext cx="58521" cy="58521"/>
          </a:xfrm>
          <a:prstGeom prst="ellipse">
            <a:avLst/>
          </a:prstGeom>
          <a:solidFill>
            <a:srgbClr val="5F5F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Oval 753"/>
          <p:cNvSpPr/>
          <p:nvPr/>
        </p:nvSpPr>
        <p:spPr>
          <a:xfrm>
            <a:off x="9037015" y="2956255"/>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Oval 754"/>
          <p:cNvSpPr/>
          <p:nvPr/>
        </p:nvSpPr>
        <p:spPr>
          <a:xfrm>
            <a:off x="9133027" y="2956255"/>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Oval 755"/>
          <p:cNvSpPr/>
          <p:nvPr/>
        </p:nvSpPr>
        <p:spPr>
          <a:xfrm>
            <a:off x="9229039" y="2956255"/>
            <a:ext cx="58521" cy="58521"/>
          </a:xfrm>
          <a:prstGeom prst="ellipse">
            <a:avLst/>
          </a:prstGeom>
          <a:solidFill>
            <a:srgbClr val="6565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Oval 756"/>
          <p:cNvSpPr/>
          <p:nvPr/>
        </p:nvSpPr>
        <p:spPr>
          <a:xfrm>
            <a:off x="9325051" y="2956255"/>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Oval 757"/>
          <p:cNvSpPr/>
          <p:nvPr/>
        </p:nvSpPr>
        <p:spPr>
          <a:xfrm>
            <a:off x="9421063" y="2956255"/>
            <a:ext cx="58521" cy="58521"/>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Oval 758"/>
          <p:cNvSpPr/>
          <p:nvPr/>
        </p:nvSpPr>
        <p:spPr>
          <a:xfrm>
            <a:off x="9517075" y="2956255"/>
            <a:ext cx="58521" cy="58521"/>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Oval 759"/>
          <p:cNvSpPr/>
          <p:nvPr/>
        </p:nvSpPr>
        <p:spPr>
          <a:xfrm>
            <a:off x="9613087" y="2956255"/>
            <a:ext cx="58521" cy="58521"/>
          </a:xfrm>
          <a:prstGeom prst="ellipse">
            <a:avLst/>
          </a:prstGeom>
          <a:solidFill>
            <a:srgbClr val="6B6B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Oval 760"/>
          <p:cNvSpPr/>
          <p:nvPr/>
        </p:nvSpPr>
        <p:spPr>
          <a:xfrm>
            <a:off x="9709099" y="2956255"/>
            <a:ext cx="58521" cy="58521"/>
          </a:xfrm>
          <a:prstGeom prst="ellipse">
            <a:avLst/>
          </a:prstGeom>
          <a:solidFill>
            <a:srgbClr val="6D6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Oval 761"/>
          <p:cNvSpPr/>
          <p:nvPr/>
        </p:nvSpPr>
        <p:spPr>
          <a:xfrm>
            <a:off x="9805111" y="2956255"/>
            <a:ext cx="58521" cy="58521"/>
          </a:xfrm>
          <a:prstGeom prst="ellipse">
            <a:avLst/>
          </a:prstGeom>
          <a:solidFill>
            <a:srgbClr val="6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Oval 762"/>
          <p:cNvSpPr/>
          <p:nvPr/>
        </p:nvSpPr>
        <p:spPr>
          <a:xfrm>
            <a:off x="9901123" y="2956255"/>
            <a:ext cx="58521" cy="58521"/>
          </a:xfrm>
          <a:prstGeom prst="ellipse">
            <a:avLst/>
          </a:prstGeom>
          <a:solidFill>
            <a:srgbClr val="707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Oval 763"/>
          <p:cNvSpPr/>
          <p:nvPr/>
        </p:nvSpPr>
        <p:spPr>
          <a:xfrm>
            <a:off x="9997135" y="2956255"/>
            <a:ext cx="58521" cy="58521"/>
          </a:xfrm>
          <a:prstGeom prst="ellipse">
            <a:avLst/>
          </a:prstGeom>
          <a:solidFill>
            <a:srgbClr val="7272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Oval 764"/>
          <p:cNvSpPr/>
          <p:nvPr/>
        </p:nvSpPr>
        <p:spPr>
          <a:xfrm>
            <a:off x="10093147" y="2956255"/>
            <a:ext cx="58521" cy="58521"/>
          </a:xfrm>
          <a:prstGeom prst="ellipse">
            <a:avLst/>
          </a:prstGeom>
          <a:solidFill>
            <a:srgbClr val="747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Oval 765"/>
          <p:cNvSpPr/>
          <p:nvPr/>
        </p:nvSpPr>
        <p:spPr>
          <a:xfrm>
            <a:off x="10285171" y="2956255"/>
            <a:ext cx="58521" cy="58521"/>
          </a:xfrm>
          <a:prstGeom prst="ellipse">
            <a:avLst/>
          </a:prstGeom>
          <a:solidFill>
            <a:srgbClr val="77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Oval 766"/>
          <p:cNvSpPr/>
          <p:nvPr/>
        </p:nvSpPr>
        <p:spPr>
          <a:xfrm>
            <a:off x="10381183" y="2956255"/>
            <a:ext cx="58521" cy="58521"/>
          </a:xfrm>
          <a:prstGeom prst="ellipse">
            <a:avLst/>
          </a:prstGeom>
          <a:solidFill>
            <a:srgbClr val="7979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Oval 767"/>
          <p:cNvSpPr/>
          <p:nvPr/>
        </p:nvSpPr>
        <p:spPr>
          <a:xfrm>
            <a:off x="10477195" y="2956255"/>
            <a:ext cx="58521" cy="58521"/>
          </a:xfrm>
          <a:prstGeom prst="ellipse">
            <a:avLst/>
          </a:prstGeom>
          <a:solidFill>
            <a:srgbClr val="7A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Oval 768"/>
          <p:cNvSpPr/>
          <p:nvPr/>
        </p:nvSpPr>
        <p:spPr>
          <a:xfrm>
            <a:off x="10573207" y="2956255"/>
            <a:ext cx="58521" cy="58521"/>
          </a:xfrm>
          <a:prstGeom prst="ellipse">
            <a:avLst/>
          </a:prstGeom>
          <a:solidFill>
            <a:srgbClr val="7C7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Oval 769"/>
          <p:cNvSpPr/>
          <p:nvPr/>
        </p:nvSpPr>
        <p:spPr>
          <a:xfrm>
            <a:off x="10669219" y="2956255"/>
            <a:ext cx="58521" cy="58521"/>
          </a:xfrm>
          <a:prstGeom prst="ellipse">
            <a:avLst/>
          </a:prstGeom>
          <a:solidFill>
            <a:srgbClr val="7E7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Oval 770"/>
          <p:cNvSpPr/>
          <p:nvPr/>
        </p:nvSpPr>
        <p:spPr>
          <a:xfrm>
            <a:off x="10765231" y="2956255"/>
            <a:ext cx="58521" cy="58521"/>
          </a:xfrm>
          <a:prstGeom prst="ellipse">
            <a:avLst/>
          </a:prstGeom>
          <a:solidFill>
            <a:srgbClr val="7F7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Oval 771"/>
          <p:cNvSpPr/>
          <p:nvPr/>
        </p:nvSpPr>
        <p:spPr>
          <a:xfrm>
            <a:off x="10861243" y="2956255"/>
            <a:ext cx="58521" cy="58521"/>
          </a:xfrm>
          <a:prstGeom prst="ellipse">
            <a:avLst/>
          </a:prstGeom>
          <a:solidFill>
            <a:srgbClr val="8181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Oval 772"/>
          <p:cNvSpPr/>
          <p:nvPr/>
        </p:nvSpPr>
        <p:spPr>
          <a:xfrm>
            <a:off x="10957255" y="2956255"/>
            <a:ext cx="58521" cy="58521"/>
          </a:xfrm>
          <a:prstGeom prst="ellipse">
            <a:avLst/>
          </a:prstGeom>
          <a:solidFill>
            <a:srgbClr val="838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Oval 773"/>
          <p:cNvSpPr/>
          <p:nvPr/>
        </p:nvSpPr>
        <p:spPr>
          <a:xfrm>
            <a:off x="6924751" y="3052267"/>
            <a:ext cx="58521" cy="58521"/>
          </a:xfrm>
          <a:prstGeom prst="ellipse">
            <a:avLst/>
          </a:prstGeom>
          <a:solidFill>
            <a:srgbClr val="3E3E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Oval 774"/>
          <p:cNvSpPr/>
          <p:nvPr/>
        </p:nvSpPr>
        <p:spPr>
          <a:xfrm>
            <a:off x="7020763" y="3052267"/>
            <a:ext cx="58521" cy="58521"/>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Oval 775"/>
          <p:cNvSpPr/>
          <p:nvPr/>
        </p:nvSpPr>
        <p:spPr>
          <a:xfrm>
            <a:off x="7116775" y="3052267"/>
            <a:ext cx="58521" cy="58521"/>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Oval 776"/>
          <p:cNvSpPr/>
          <p:nvPr/>
        </p:nvSpPr>
        <p:spPr>
          <a:xfrm>
            <a:off x="7692847" y="3052267"/>
            <a:ext cx="58521" cy="58521"/>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Oval 777"/>
          <p:cNvSpPr/>
          <p:nvPr/>
        </p:nvSpPr>
        <p:spPr>
          <a:xfrm>
            <a:off x="7788859" y="3052267"/>
            <a:ext cx="58521" cy="58521"/>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Oval 778"/>
          <p:cNvSpPr/>
          <p:nvPr/>
        </p:nvSpPr>
        <p:spPr>
          <a:xfrm>
            <a:off x="7884871" y="3052267"/>
            <a:ext cx="58521" cy="58521"/>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Oval 779"/>
          <p:cNvSpPr/>
          <p:nvPr/>
        </p:nvSpPr>
        <p:spPr>
          <a:xfrm>
            <a:off x="7980883" y="3052267"/>
            <a:ext cx="58521" cy="58521"/>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Oval 780"/>
          <p:cNvSpPr/>
          <p:nvPr/>
        </p:nvSpPr>
        <p:spPr>
          <a:xfrm>
            <a:off x="8076895" y="3052267"/>
            <a:ext cx="58521" cy="58521"/>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Oval 781"/>
          <p:cNvSpPr/>
          <p:nvPr/>
        </p:nvSpPr>
        <p:spPr>
          <a:xfrm>
            <a:off x="8172907" y="3052267"/>
            <a:ext cx="58521" cy="58521"/>
          </a:xfrm>
          <a:prstGeom prst="ellipse">
            <a:avLst/>
          </a:prstGeom>
          <a:solidFill>
            <a:srgbClr val="5454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Oval 782"/>
          <p:cNvSpPr/>
          <p:nvPr/>
        </p:nvSpPr>
        <p:spPr>
          <a:xfrm>
            <a:off x="8268919" y="3052267"/>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Oval 783"/>
          <p:cNvSpPr/>
          <p:nvPr/>
        </p:nvSpPr>
        <p:spPr>
          <a:xfrm>
            <a:off x="8364931" y="3052267"/>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Oval 784"/>
          <p:cNvSpPr/>
          <p:nvPr/>
        </p:nvSpPr>
        <p:spPr>
          <a:xfrm>
            <a:off x="8460943" y="3052267"/>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Oval 785"/>
          <p:cNvSpPr/>
          <p:nvPr/>
        </p:nvSpPr>
        <p:spPr>
          <a:xfrm>
            <a:off x="8556955" y="3052267"/>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Oval 786"/>
          <p:cNvSpPr/>
          <p:nvPr/>
        </p:nvSpPr>
        <p:spPr>
          <a:xfrm>
            <a:off x="8652967" y="3052267"/>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Oval 787"/>
          <p:cNvSpPr/>
          <p:nvPr/>
        </p:nvSpPr>
        <p:spPr>
          <a:xfrm>
            <a:off x="8748979" y="3052267"/>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Oval 788"/>
          <p:cNvSpPr/>
          <p:nvPr/>
        </p:nvSpPr>
        <p:spPr>
          <a:xfrm>
            <a:off x="8844991" y="3052267"/>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Oval 789"/>
          <p:cNvSpPr/>
          <p:nvPr/>
        </p:nvSpPr>
        <p:spPr>
          <a:xfrm>
            <a:off x="8941003" y="3052267"/>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Oval 790"/>
          <p:cNvSpPr/>
          <p:nvPr/>
        </p:nvSpPr>
        <p:spPr>
          <a:xfrm>
            <a:off x="9037015" y="3052267"/>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Oval 791"/>
          <p:cNvSpPr/>
          <p:nvPr/>
        </p:nvSpPr>
        <p:spPr>
          <a:xfrm>
            <a:off x="9133027" y="3052267"/>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Oval 792"/>
          <p:cNvSpPr/>
          <p:nvPr/>
        </p:nvSpPr>
        <p:spPr>
          <a:xfrm>
            <a:off x="9229039" y="3052267"/>
            <a:ext cx="58521" cy="58521"/>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Oval 793"/>
          <p:cNvSpPr/>
          <p:nvPr/>
        </p:nvSpPr>
        <p:spPr>
          <a:xfrm>
            <a:off x="9325051" y="3052267"/>
            <a:ext cx="58521" cy="58521"/>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Oval 794"/>
          <p:cNvSpPr/>
          <p:nvPr/>
        </p:nvSpPr>
        <p:spPr>
          <a:xfrm>
            <a:off x="9421063" y="3052267"/>
            <a:ext cx="58521" cy="58521"/>
          </a:xfrm>
          <a:prstGeom prst="ellipse">
            <a:avLst/>
          </a:prstGeom>
          <a:solidFill>
            <a:srgbClr val="6A6A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Oval 795"/>
          <p:cNvSpPr/>
          <p:nvPr/>
        </p:nvSpPr>
        <p:spPr>
          <a:xfrm>
            <a:off x="9517075" y="3052267"/>
            <a:ext cx="58521" cy="58521"/>
          </a:xfrm>
          <a:prstGeom prst="ellipse">
            <a:avLst/>
          </a:prstGeom>
          <a:solidFill>
            <a:srgbClr val="6C6C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Oval 796"/>
          <p:cNvSpPr/>
          <p:nvPr/>
        </p:nvSpPr>
        <p:spPr>
          <a:xfrm>
            <a:off x="9613087" y="3052267"/>
            <a:ext cx="58521" cy="58521"/>
          </a:xfrm>
          <a:prstGeom prst="ellipse">
            <a:avLst/>
          </a:prstGeom>
          <a:solidFill>
            <a:srgbClr val="6D6D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Oval 797"/>
          <p:cNvSpPr/>
          <p:nvPr/>
        </p:nvSpPr>
        <p:spPr>
          <a:xfrm>
            <a:off x="9709099" y="3052267"/>
            <a:ext cx="58521" cy="58521"/>
          </a:xfrm>
          <a:prstGeom prst="ellipse">
            <a:avLst/>
          </a:prstGeom>
          <a:solidFill>
            <a:srgbClr val="6F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Oval 798"/>
          <p:cNvSpPr/>
          <p:nvPr/>
        </p:nvSpPr>
        <p:spPr>
          <a:xfrm>
            <a:off x="9805111" y="3052267"/>
            <a:ext cx="58521" cy="58521"/>
          </a:xfrm>
          <a:prstGeom prst="ellipse">
            <a:avLst/>
          </a:prstGeom>
          <a:solidFill>
            <a:srgbClr val="7171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Oval 799"/>
          <p:cNvSpPr/>
          <p:nvPr/>
        </p:nvSpPr>
        <p:spPr>
          <a:xfrm>
            <a:off x="9901123" y="3052267"/>
            <a:ext cx="58521" cy="58521"/>
          </a:xfrm>
          <a:prstGeom prst="ellipse">
            <a:avLst/>
          </a:prstGeom>
          <a:solidFill>
            <a:srgbClr val="7272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Oval 800"/>
          <p:cNvSpPr/>
          <p:nvPr/>
        </p:nvSpPr>
        <p:spPr>
          <a:xfrm>
            <a:off x="9997135" y="3052267"/>
            <a:ext cx="58521" cy="58521"/>
          </a:xfrm>
          <a:prstGeom prst="ellipse">
            <a:avLst/>
          </a:prstGeom>
          <a:solidFill>
            <a:srgbClr val="747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Oval 801"/>
          <p:cNvSpPr/>
          <p:nvPr/>
        </p:nvSpPr>
        <p:spPr>
          <a:xfrm>
            <a:off x="10093147" y="3052267"/>
            <a:ext cx="58521" cy="58521"/>
          </a:xfrm>
          <a:prstGeom prst="ellipse">
            <a:avLst/>
          </a:prstGeom>
          <a:solidFill>
            <a:srgbClr val="7676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Oval 802"/>
          <p:cNvSpPr/>
          <p:nvPr/>
        </p:nvSpPr>
        <p:spPr>
          <a:xfrm>
            <a:off x="10861243" y="3052267"/>
            <a:ext cx="58521" cy="58521"/>
          </a:xfrm>
          <a:prstGeom prst="ellipse">
            <a:avLst/>
          </a:prstGeom>
          <a:solidFill>
            <a:srgbClr val="838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Oval 803"/>
          <p:cNvSpPr/>
          <p:nvPr/>
        </p:nvSpPr>
        <p:spPr>
          <a:xfrm>
            <a:off x="10957255" y="3052267"/>
            <a:ext cx="58521" cy="58521"/>
          </a:xfrm>
          <a:prstGeom prst="ellipse">
            <a:avLst/>
          </a:prstGeom>
          <a:solidFill>
            <a:srgbClr val="8585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Oval 804"/>
          <p:cNvSpPr/>
          <p:nvPr/>
        </p:nvSpPr>
        <p:spPr>
          <a:xfrm>
            <a:off x="6924751" y="3148279"/>
            <a:ext cx="58521" cy="58521"/>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Oval 805"/>
          <p:cNvSpPr/>
          <p:nvPr/>
        </p:nvSpPr>
        <p:spPr>
          <a:xfrm>
            <a:off x="7692847" y="3148279"/>
            <a:ext cx="58521" cy="58521"/>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Oval 806"/>
          <p:cNvSpPr/>
          <p:nvPr/>
        </p:nvSpPr>
        <p:spPr>
          <a:xfrm>
            <a:off x="7788859" y="3148279"/>
            <a:ext cx="58521" cy="58521"/>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Oval 807"/>
          <p:cNvSpPr/>
          <p:nvPr/>
        </p:nvSpPr>
        <p:spPr>
          <a:xfrm>
            <a:off x="7884871" y="3148279"/>
            <a:ext cx="58521" cy="58521"/>
          </a:xfrm>
          <a:prstGeom prst="ellipse">
            <a:avLst/>
          </a:prstGeom>
          <a:solidFill>
            <a:srgbClr val="515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Oval 808"/>
          <p:cNvSpPr/>
          <p:nvPr/>
        </p:nvSpPr>
        <p:spPr>
          <a:xfrm>
            <a:off x="7980883" y="3148279"/>
            <a:ext cx="58521" cy="58521"/>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Oval 809"/>
          <p:cNvSpPr/>
          <p:nvPr/>
        </p:nvSpPr>
        <p:spPr>
          <a:xfrm>
            <a:off x="8076895" y="3148279"/>
            <a:ext cx="58521" cy="58521"/>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Oval 810"/>
          <p:cNvSpPr/>
          <p:nvPr/>
        </p:nvSpPr>
        <p:spPr>
          <a:xfrm>
            <a:off x="8172907" y="3148279"/>
            <a:ext cx="58521" cy="58521"/>
          </a:xfrm>
          <a:prstGeom prst="ellipse">
            <a:avLst/>
          </a:prstGeom>
          <a:solidFill>
            <a:srgbClr val="5656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Oval 811"/>
          <p:cNvSpPr/>
          <p:nvPr/>
        </p:nvSpPr>
        <p:spPr>
          <a:xfrm>
            <a:off x="8268919" y="3148279"/>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Oval 812"/>
          <p:cNvSpPr/>
          <p:nvPr/>
        </p:nvSpPr>
        <p:spPr>
          <a:xfrm>
            <a:off x="8364931" y="3148279"/>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Oval 813"/>
          <p:cNvSpPr/>
          <p:nvPr/>
        </p:nvSpPr>
        <p:spPr>
          <a:xfrm>
            <a:off x="8460943" y="3148279"/>
            <a:ext cx="58521" cy="58521"/>
          </a:xfrm>
          <a:prstGeom prst="ellipse">
            <a:avLst/>
          </a:prstGeom>
          <a:solidFill>
            <a:srgbClr val="5B5B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Oval 814"/>
          <p:cNvSpPr/>
          <p:nvPr/>
        </p:nvSpPr>
        <p:spPr>
          <a:xfrm>
            <a:off x="8556955" y="3148279"/>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Oval 815"/>
          <p:cNvSpPr/>
          <p:nvPr/>
        </p:nvSpPr>
        <p:spPr>
          <a:xfrm>
            <a:off x="8652967" y="3148279"/>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Oval 816"/>
          <p:cNvSpPr/>
          <p:nvPr/>
        </p:nvSpPr>
        <p:spPr>
          <a:xfrm>
            <a:off x="8748979" y="3148279"/>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Oval 817"/>
          <p:cNvSpPr/>
          <p:nvPr/>
        </p:nvSpPr>
        <p:spPr>
          <a:xfrm>
            <a:off x="8844991" y="3148279"/>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Oval 818"/>
          <p:cNvSpPr/>
          <p:nvPr/>
        </p:nvSpPr>
        <p:spPr>
          <a:xfrm>
            <a:off x="8941003" y="3148279"/>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Oval 819"/>
          <p:cNvSpPr/>
          <p:nvPr/>
        </p:nvSpPr>
        <p:spPr>
          <a:xfrm>
            <a:off x="9037015" y="3148279"/>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Oval 820"/>
          <p:cNvSpPr/>
          <p:nvPr/>
        </p:nvSpPr>
        <p:spPr>
          <a:xfrm>
            <a:off x="9133027" y="3148279"/>
            <a:ext cx="58521" cy="58521"/>
          </a:xfrm>
          <a:prstGeom prst="ellipse">
            <a:avLst/>
          </a:prstGeom>
          <a:solidFill>
            <a:srgbClr val="676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Oval 821"/>
          <p:cNvSpPr/>
          <p:nvPr/>
        </p:nvSpPr>
        <p:spPr>
          <a:xfrm>
            <a:off x="9517075" y="3148279"/>
            <a:ext cx="58521" cy="58521"/>
          </a:xfrm>
          <a:prstGeom prst="ellipse">
            <a:avLst/>
          </a:prstGeom>
          <a:solidFill>
            <a:srgbClr val="6E6E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Oval 822"/>
          <p:cNvSpPr/>
          <p:nvPr/>
        </p:nvSpPr>
        <p:spPr>
          <a:xfrm>
            <a:off x="9613087" y="3148279"/>
            <a:ext cx="58521" cy="58521"/>
          </a:xfrm>
          <a:prstGeom prst="ellipse">
            <a:avLst/>
          </a:prstGeom>
          <a:solidFill>
            <a:srgbClr val="6F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Oval 823"/>
          <p:cNvSpPr/>
          <p:nvPr/>
        </p:nvSpPr>
        <p:spPr>
          <a:xfrm>
            <a:off x="9709099" y="3148279"/>
            <a:ext cx="58521" cy="58521"/>
          </a:xfrm>
          <a:prstGeom prst="ellipse">
            <a:avLst/>
          </a:prstGeom>
          <a:solidFill>
            <a:srgbClr val="7171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Oval 824"/>
          <p:cNvSpPr/>
          <p:nvPr/>
        </p:nvSpPr>
        <p:spPr>
          <a:xfrm>
            <a:off x="9805111" y="3148279"/>
            <a:ext cx="58521" cy="58521"/>
          </a:xfrm>
          <a:prstGeom prst="ellipse">
            <a:avLst/>
          </a:prstGeom>
          <a:solidFill>
            <a:srgbClr val="7373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Oval 825"/>
          <p:cNvSpPr/>
          <p:nvPr/>
        </p:nvSpPr>
        <p:spPr>
          <a:xfrm>
            <a:off x="9901123" y="3148279"/>
            <a:ext cx="58521" cy="58521"/>
          </a:xfrm>
          <a:prstGeom prst="ellipse">
            <a:avLst/>
          </a:prstGeom>
          <a:solidFill>
            <a:srgbClr val="7575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Oval 826"/>
          <p:cNvSpPr/>
          <p:nvPr/>
        </p:nvSpPr>
        <p:spPr>
          <a:xfrm>
            <a:off x="9997135" y="3148279"/>
            <a:ext cx="58521" cy="58521"/>
          </a:xfrm>
          <a:prstGeom prst="ellipse">
            <a:avLst/>
          </a:prstGeom>
          <a:solidFill>
            <a:srgbClr val="7676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Oval 827"/>
          <p:cNvSpPr/>
          <p:nvPr/>
        </p:nvSpPr>
        <p:spPr>
          <a:xfrm>
            <a:off x="10093147" y="3148279"/>
            <a:ext cx="58521" cy="58521"/>
          </a:xfrm>
          <a:prstGeom prst="ellipse">
            <a:avLst/>
          </a:prstGeom>
          <a:solidFill>
            <a:srgbClr val="7878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Oval 828"/>
          <p:cNvSpPr/>
          <p:nvPr/>
        </p:nvSpPr>
        <p:spPr>
          <a:xfrm>
            <a:off x="7788859" y="3244291"/>
            <a:ext cx="58521" cy="58521"/>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Oval 829"/>
          <p:cNvSpPr/>
          <p:nvPr/>
        </p:nvSpPr>
        <p:spPr>
          <a:xfrm>
            <a:off x="7884871" y="3244291"/>
            <a:ext cx="58521" cy="58521"/>
          </a:xfrm>
          <a:prstGeom prst="ellipse">
            <a:avLst/>
          </a:prstGeom>
          <a:solidFill>
            <a:srgbClr val="5353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Oval 830"/>
          <p:cNvSpPr/>
          <p:nvPr/>
        </p:nvSpPr>
        <p:spPr>
          <a:xfrm>
            <a:off x="7980883" y="3244291"/>
            <a:ext cx="58521" cy="58521"/>
          </a:xfrm>
          <a:prstGeom prst="ellipse">
            <a:avLst/>
          </a:prstGeom>
          <a:solidFill>
            <a:srgbClr val="5555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Oval 831"/>
          <p:cNvSpPr/>
          <p:nvPr/>
        </p:nvSpPr>
        <p:spPr>
          <a:xfrm>
            <a:off x="8076895" y="3244291"/>
            <a:ext cx="58521" cy="58521"/>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Oval 832"/>
          <p:cNvSpPr/>
          <p:nvPr/>
        </p:nvSpPr>
        <p:spPr>
          <a:xfrm>
            <a:off x="8172907" y="3244291"/>
            <a:ext cx="58521" cy="58521"/>
          </a:xfrm>
          <a:prstGeom prst="ellipse">
            <a:avLst/>
          </a:prstGeom>
          <a:solidFill>
            <a:srgbClr val="585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Oval 833"/>
          <p:cNvSpPr/>
          <p:nvPr/>
        </p:nvSpPr>
        <p:spPr>
          <a:xfrm>
            <a:off x="8268919" y="3244291"/>
            <a:ext cx="58521" cy="58521"/>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Oval 834"/>
          <p:cNvSpPr/>
          <p:nvPr/>
        </p:nvSpPr>
        <p:spPr>
          <a:xfrm>
            <a:off x="8364931" y="3244291"/>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Oval 835"/>
          <p:cNvSpPr/>
          <p:nvPr/>
        </p:nvSpPr>
        <p:spPr>
          <a:xfrm>
            <a:off x="8460943" y="3244291"/>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Oval 836"/>
          <p:cNvSpPr/>
          <p:nvPr/>
        </p:nvSpPr>
        <p:spPr>
          <a:xfrm>
            <a:off x="8556955" y="3244291"/>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Oval 837"/>
          <p:cNvSpPr/>
          <p:nvPr/>
        </p:nvSpPr>
        <p:spPr>
          <a:xfrm>
            <a:off x="8652967" y="3244291"/>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Oval 838"/>
          <p:cNvSpPr/>
          <p:nvPr/>
        </p:nvSpPr>
        <p:spPr>
          <a:xfrm>
            <a:off x="8748979" y="3244291"/>
            <a:ext cx="58521" cy="58521"/>
          </a:xfrm>
          <a:prstGeom prst="ellipse">
            <a:avLst/>
          </a:prstGeom>
          <a:solidFill>
            <a:srgbClr val="636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Oval 839"/>
          <p:cNvSpPr/>
          <p:nvPr/>
        </p:nvSpPr>
        <p:spPr>
          <a:xfrm>
            <a:off x="8844991" y="3244291"/>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Oval 840"/>
          <p:cNvSpPr/>
          <p:nvPr/>
        </p:nvSpPr>
        <p:spPr>
          <a:xfrm>
            <a:off x="8941003" y="3244291"/>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Oval 841"/>
          <p:cNvSpPr/>
          <p:nvPr/>
        </p:nvSpPr>
        <p:spPr>
          <a:xfrm>
            <a:off x="9037015" y="3244291"/>
            <a:ext cx="58521" cy="58521"/>
          </a:xfrm>
          <a:prstGeom prst="ellipse">
            <a:avLst/>
          </a:prstGeom>
          <a:solidFill>
            <a:srgbClr val="686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Oval 842"/>
          <p:cNvSpPr/>
          <p:nvPr/>
        </p:nvSpPr>
        <p:spPr>
          <a:xfrm>
            <a:off x="9613087" y="3244291"/>
            <a:ext cx="58521" cy="58521"/>
          </a:xfrm>
          <a:prstGeom prst="ellipse">
            <a:avLst/>
          </a:prstGeom>
          <a:solidFill>
            <a:srgbClr val="7272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Oval 843"/>
          <p:cNvSpPr/>
          <p:nvPr/>
        </p:nvSpPr>
        <p:spPr>
          <a:xfrm>
            <a:off x="9709099" y="3244291"/>
            <a:ext cx="58521" cy="58521"/>
          </a:xfrm>
          <a:prstGeom prst="ellipse">
            <a:avLst/>
          </a:prstGeom>
          <a:solidFill>
            <a:srgbClr val="7373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Oval 844"/>
          <p:cNvSpPr/>
          <p:nvPr/>
        </p:nvSpPr>
        <p:spPr>
          <a:xfrm>
            <a:off x="9805111" y="3244291"/>
            <a:ext cx="58521" cy="58521"/>
          </a:xfrm>
          <a:prstGeom prst="ellipse">
            <a:avLst/>
          </a:prstGeom>
          <a:solidFill>
            <a:srgbClr val="7575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Oval 845"/>
          <p:cNvSpPr/>
          <p:nvPr/>
        </p:nvSpPr>
        <p:spPr>
          <a:xfrm>
            <a:off x="9901123" y="3244291"/>
            <a:ext cx="58521" cy="58521"/>
          </a:xfrm>
          <a:prstGeom prst="ellipse">
            <a:avLst/>
          </a:prstGeom>
          <a:solidFill>
            <a:srgbClr val="77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Oval 846"/>
          <p:cNvSpPr/>
          <p:nvPr/>
        </p:nvSpPr>
        <p:spPr>
          <a:xfrm>
            <a:off x="9997135" y="3244291"/>
            <a:ext cx="58521" cy="58521"/>
          </a:xfrm>
          <a:prstGeom prst="ellipse">
            <a:avLst/>
          </a:prstGeom>
          <a:solidFill>
            <a:srgbClr val="7878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Oval 847"/>
          <p:cNvSpPr/>
          <p:nvPr/>
        </p:nvSpPr>
        <p:spPr>
          <a:xfrm>
            <a:off x="10093147" y="3244291"/>
            <a:ext cx="58521" cy="58521"/>
          </a:xfrm>
          <a:prstGeom prst="ellipse">
            <a:avLst/>
          </a:prstGeom>
          <a:solidFill>
            <a:srgbClr val="7A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Oval 848"/>
          <p:cNvSpPr/>
          <p:nvPr/>
        </p:nvSpPr>
        <p:spPr>
          <a:xfrm>
            <a:off x="7788859" y="3340303"/>
            <a:ext cx="58521" cy="58521"/>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Oval 849"/>
          <p:cNvSpPr/>
          <p:nvPr/>
        </p:nvSpPr>
        <p:spPr>
          <a:xfrm>
            <a:off x="7884871" y="3340303"/>
            <a:ext cx="58521" cy="58521"/>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Oval 850"/>
          <p:cNvSpPr/>
          <p:nvPr/>
        </p:nvSpPr>
        <p:spPr>
          <a:xfrm>
            <a:off x="7980883" y="3340303"/>
            <a:ext cx="58521" cy="58521"/>
          </a:xfrm>
          <a:prstGeom prst="ellipse">
            <a:avLst/>
          </a:prstGeom>
          <a:solidFill>
            <a:srgbClr val="5757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Oval 851"/>
          <p:cNvSpPr/>
          <p:nvPr/>
        </p:nvSpPr>
        <p:spPr>
          <a:xfrm>
            <a:off x="8076895" y="3340303"/>
            <a:ext cx="58521" cy="58521"/>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Oval 852"/>
          <p:cNvSpPr/>
          <p:nvPr/>
        </p:nvSpPr>
        <p:spPr>
          <a:xfrm>
            <a:off x="8172907" y="3340303"/>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Oval 853"/>
          <p:cNvSpPr/>
          <p:nvPr/>
        </p:nvSpPr>
        <p:spPr>
          <a:xfrm>
            <a:off x="8268919" y="3340303"/>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Oval 854"/>
          <p:cNvSpPr/>
          <p:nvPr/>
        </p:nvSpPr>
        <p:spPr>
          <a:xfrm>
            <a:off x="8364931" y="3340303"/>
            <a:ext cx="58521" cy="58521"/>
          </a:xfrm>
          <a:prstGeom prst="ellipse">
            <a:avLst/>
          </a:prstGeom>
          <a:solidFill>
            <a:srgbClr val="5E5E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Oval 855"/>
          <p:cNvSpPr/>
          <p:nvPr/>
        </p:nvSpPr>
        <p:spPr>
          <a:xfrm>
            <a:off x="8460943" y="3340303"/>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Oval 856"/>
          <p:cNvSpPr/>
          <p:nvPr/>
        </p:nvSpPr>
        <p:spPr>
          <a:xfrm>
            <a:off x="8556955" y="3340303"/>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Oval 857"/>
          <p:cNvSpPr/>
          <p:nvPr/>
        </p:nvSpPr>
        <p:spPr>
          <a:xfrm>
            <a:off x="8652967" y="3340303"/>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Oval 858"/>
          <p:cNvSpPr/>
          <p:nvPr/>
        </p:nvSpPr>
        <p:spPr>
          <a:xfrm>
            <a:off x="8748979" y="3340303"/>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Oval 859"/>
          <p:cNvSpPr/>
          <p:nvPr/>
        </p:nvSpPr>
        <p:spPr>
          <a:xfrm>
            <a:off x="8844991" y="3340303"/>
            <a:ext cx="58521" cy="58521"/>
          </a:xfrm>
          <a:prstGeom prst="ellipse">
            <a:avLst/>
          </a:prstGeom>
          <a:solidFill>
            <a:srgbClr val="666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Oval 860"/>
          <p:cNvSpPr/>
          <p:nvPr/>
        </p:nvSpPr>
        <p:spPr>
          <a:xfrm>
            <a:off x="8941003" y="3340303"/>
            <a:ext cx="58521" cy="58521"/>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Oval 861"/>
          <p:cNvSpPr/>
          <p:nvPr/>
        </p:nvSpPr>
        <p:spPr>
          <a:xfrm>
            <a:off x="9709099" y="3340303"/>
            <a:ext cx="58521" cy="58521"/>
          </a:xfrm>
          <a:prstGeom prst="ellipse">
            <a:avLst/>
          </a:prstGeom>
          <a:solidFill>
            <a:srgbClr val="7575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Oval 862"/>
          <p:cNvSpPr/>
          <p:nvPr/>
        </p:nvSpPr>
        <p:spPr>
          <a:xfrm>
            <a:off x="9805111" y="3340303"/>
            <a:ext cx="58521" cy="58521"/>
          </a:xfrm>
          <a:prstGeom prst="ellipse">
            <a:avLst/>
          </a:prstGeom>
          <a:solidFill>
            <a:srgbClr val="77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Oval 863"/>
          <p:cNvSpPr/>
          <p:nvPr/>
        </p:nvSpPr>
        <p:spPr>
          <a:xfrm>
            <a:off x="9901123" y="3340303"/>
            <a:ext cx="58521" cy="58521"/>
          </a:xfrm>
          <a:prstGeom prst="ellipse">
            <a:avLst/>
          </a:prstGeom>
          <a:solidFill>
            <a:srgbClr val="7979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Oval 864"/>
          <p:cNvSpPr/>
          <p:nvPr/>
        </p:nvSpPr>
        <p:spPr>
          <a:xfrm>
            <a:off x="9997135" y="3340303"/>
            <a:ext cx="58521" cy="58521"/>
          </a:xfrm>
          <a:prstGeom prst="ellipse">
            <a:avLst/>
          </a:prstGeom>
          <a:solidFill>
            <a:srgbClr val="7A7A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Oval 865"/>
          <p:cNvSpPr/>
          <p:nvPr/>
        </p:nvSpPr>
        <p:spPr>
          <a:xfrm>
            <a:off x="7884871" y="3436315"/>
            <a:ext cx="58521" cy="58521"/>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Oval 866"/>
          <p:cNvSpPr/>
          <p:nvPr/>
        </p:nvSpPr>
        <p:spPr>
          <a:xfrm>
            <a:off x="7980883" y="3436315"/>
            <a:ext cx="58521" cy="58521"/>
          </a:xfrm>
          <a:prstGeom prst="ellipse">
            <a:avLst/>
          </a:prstGeom>
          <a:solidFill>
            <a:srgbClr val="5959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Oval 867"/>
          <p:cNvSpPr/>
          <p:nvPr/>
        </p:nvSpPr>
        <p:spPr>
          <a:xfrm>
            <a:off x="8076895" y="3436315"/>
            <a:ext cx="58521" cy="58521"/>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Oval 868"/>
          <p:cNvSpPr/>
          <p:nvPr/>
        </p:nvSpPr>
        <p:spPr>
          <a:xfrm>
            <a:off x="8172907" y="3436315"/>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Oval 869"/>
          <p:cNvSpPr/>
          <p:nvPr/>
        </p:nvSpPr>
        <p:spPr>
          <a:xfrm>
            <a:off x="8268919" y="3436315"/>
            <a:ext cx="58521" cy="58521"/>
          </a:xfrm>
          <a:prstGeom prst="ellipse">
            <a:avLst/>
          </a:prstGeom>
          <a:solidFill>
            <a:srgbClr val="5E5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Oval 870"/>
          <p:cNvSpPr/>
          <p:nvPr/>
        </p:nvSpPr>
        <p:spPr>
          <a:xfrm>
            <a:off x="8364931" y="3436315"/>
            <a:ext cx="58521" cy="58521"/>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Oval 871"/>
          <p:cNvSpPr/>
          <p:nvPr/>
        </p:nvSpPr>
        <p:spPr>
          <a:xfrm>
            <a:off x="8460943" y="3436315"/>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Oval 872"/>
          <p:cNvSpPr/>
          <p:nvPr/>
        </p:nvSpPr>
        <p:spPr>
          <a:xfrm>
            <a:off x="8556955" y="3436315"/>
            <a:ext cx="58521" cy="58521"/>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Oval 873"/>
          <p:cNvSpPr/>
          <p:nvPr/>
        </p:nvSpPr>
        <p:spPr>
          <a:xfrm>
            <a:off x="8652967" y="3436315"/>
            <a:ext cx="58521" cy="58521"/>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Oval 874"/>
          <p:cNvSpPr/>
          <p:nvPr/>
        </p:nvSpPr>
        <p:spPr>
          <a:xfrm>
            <a:off x="8748979" y="3436315"/>
            <a:ext cx="58521" cy="58521"/>
          </a:xfrm>
          <a:prstGeom prst="ellipse">
            <a:avLst/>
          </a:prstGeom>
          <a:solidFill>
            <a:srgbClr val="676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Oval 875"/>
          <p:cNvSpPr/>
          <p:nvPr/>
        </p:nvSpPr>
        <p:spPr>
          <a:xfrm>
            <a:off x="8844991" y="3436315"/>
            <a:ext cx="58521" cy="58521"/>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Oval 876"/>
          <p:cNvSpPr/>
          <p:nvPr/>
        </p:nvSpPr>
        <p:spPr>
          <a:xfrm>
            <a:off x="9805111" y="3436315"/>
            <a:ext cx="58521" cy="58521"/>
          </a:xfrm>
          <a:prstGeom prst="ellipse">
            <a:avLst/>
          </a:prstGeom>
          <a:solidFill>
            <a:srgbClr val="7979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Oval 877"/>
          <p:cNvSpPr/>
          <p:nvPr/>
        </p:nvSpPr>
        <p:spPr>
          <a:xfrm>
            <a:off x="9901123" y="3436315"/>
            <a:ext cx="58521" cy="58521"/>
          </a:xfrm>
          <a:prstGeom prst="ellipse">
            <a:avLst/>
          </a:prstGeom>
          <a:solidFill>
            <a:srgbClr val="7B7B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Oval 878"/>
          <p:cNvSpPr/>
          <p:nvPr/>
        </p:nvSpPr>
        <p:spPr>
          <a:xfrm>
            <a:off x="9997135" y="3436315"/>
            <a:ext cx="58521" cy="58521"/>
          </a:xfrm>
          <a:prstGeom prst="ellipse">
            <a:avLst/>
          </a:prstGeom>
          <a:solidFill>
            <a:srgbClr val="7D7D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Oval 879"/>
          <p:cNvSpPr/>
          <p:nvPr/>
        </p:nvSpPr>
        <p:spPr>
          <a:xfrm>
            <a:off x="7980883" y="3532327"/>
            <a:ext cx="58521" cy="58521"/>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Oval 880"/>
          <p:cNvSpPr/>
          <p:nvPr/>
        </p:nvSpPr>
        <p:spPr>
          <a:xfrm>
            <a:off x="8076895" y="3532327"/>
            <a:ext cx="58521" cy="58521"/>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Oval 881"/>
          <p:cNvSpPr/>
          <p:nvPr/>
        </p:nvSpPr>
        <p:spPr>
          <a:xfrm>
            <a:off x="8172907" y="3532327"/>
            <a:ext cx="58521" cy="58521"/>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Oval 882"/>
          <p:cNvSpPr/>
          <p:nvPr/>
        </p:nvSpPr>
        <p:spPr>
          <a:xfrm>
            <a:off x="8268919" y="3532327"/>
            <a:ext cx="58521" cy="58521"/>
          </a:xfrm>
          <a:prstGeom prst="ellipse">
            <a:avLst/>
          </a:prstGeom>
          <a:solidFill>
            <a:srgbClr val="6161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Oval 883"/>
          <p:cNvSpPr/>
          <p:nvPr/>
        </p:nvSpPr>
        <p:spPr>
          <a:xfrm>
            <a:off x="8364931" y="3532327"/>
            <a:ext cx="58521" cy="58521"/>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Oval 884"/>
          <p:cNvSpPr/>
          <p:nvPr/>
        </p:nvSpPr>
        <p:spPr>
          <a:xfrm>
            <a:off x="8460943" y="3532327"/>
            <a:ext cx="58521" cy="58521"/>
          </a:xfrm>
          <a:prstGeom prst="ellipse">
            <a:avLst/>
          </a:prstGeom>
          <a:solidFill>
            <a:srgbClr val="6464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Oval 885"/>
          <p:cNvSpPr/>
          <p:nvPr/>
        </p:nvSpPr>
        <p:spPr>
          <a:xfrm>
            <a:off x="8556955" y="3532327"/>
            <a:ext cx="58521" cy="58521"/>
          </a:xfrm>
          <a:prstGeom prst="ellipse">
            <a:avLst/>
          </a:prstGeom>
          <a:solidFill>
            <a:srgbClr val="6666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Oval 886"/>
          <p:cNvSpPr/>
          <p:nvPr/>
        </p:nvSpPr>
        <p:spPr>
          <a:xfrm>
            <a:off x="8652967" y="3532327"/>
            <a:ext cx="58521" cy="58521"/>
          </a:xfrm>
          <a:prstGeom prst="ellipse">
            <a:avLst/>
          </a:prstGeom>
          <a:solidFill>
            <a:srgbClr val="676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Oval 887"/>
          <p:cNvSpPr/>
          <p:nvPr/>
        </p:nvSpPr>
        <p:spPr>
          <a:xfrm>
            <a:off x="9901123" y="3532327"/>
            <a:ext cx="58521" cy="58521"/>
          </a:xfrm>
          <a:prstGeom prst="ellipse">
            <a:avLst/>
          </a:prstGeom>
          <a:solidFill>
            <a:srgbClr val="7D7D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Oval 888"/>
          <p:cNvSpPr/>
          <p:nvPr/>
        </p:nvSpPr>
        <p:spPr>
          <a:xfrm>
            <a:off x="9997135" y="3532327"/>
            <a:ext cx="58521" cy="58521"/>
          </a:xfrm>
          <a:prstGeom prst="ellipse">
            <a:avLst/>
          </a:prstGeom>
          <a:solidFill>
            <a:srgbClr val="7F7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Oval 889"/>
          <p:cNvSpPr/>
          <p:nvPr/>
        </p:nvSpPr>
        <p:spPr>
          <a:xfrm>
            <a:off x="9841555" y="3395314"/>
            <a:ext cx="95097" cy="95097"/>
          </a:xfrm>
          <a:prstGeom prst="ellipse">
            <a:avLst/>
          </a:prstGeom>
          <a:solidFill>
            <a:srgbClr val="FFFFFF"/>
          </a:solidFill>
          <a:ln w="22860">
            <a:solidFill>
              <a:srgbClr val="0A0A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TextBox 890"/>
          <p:cNvSpPr txBox="1"/>
          <p:nvPr/>
        </p:nvSpPr>
        <p:spPr>
          <a:xfrm>
            <a:off x="6858000" y="3794760"/>
            <a:ext cx="5029200" cy="292608"/>
          </a:xfrm>
          <a:prstGeom prst="rect">
            <a:avLst/>
          </a:prstGeom>
          <a:noFill/>
        </p:spPr>
        <p:txBody>
          <a:bodyPr wrap="square">
            <a:spAutoFit/>
          </a:bodyPr>
          <a:lstStyle/>
          <a:p>
            <a:pPr algn="l"/>
            <a:r>
              <a:rPr sz="900" b="1" i="0">
                <a:solidFill>
                  <a:srgbClr val="585A5E"/>
                </a:solidFill>
                <a:latin typeface="Pretendard"/>
              </a:rPr>
              <a:t>Designed &amp; powered in Switzerland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CONTENTS</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14400"/>
            <a:ext cx="548640" cy="292608"/>
          </a:xfrm>
          <a:prstGeom prst="rect">
            <a:avLst/>
          </a:prstGeom>
          <a:noFill/>
        </p:spPr>
        <p:txBody>
          <a:bodyPr wrap="square">
            <a:spAutoFit/>
          </a:bodyPr>
          <a:lstStyle/>
          <a:p>
            <a:pPr algn="l"/>
            <a:r>
              <a:rPr sz="900" b="1" i="0">
                <a:solidFill>
                  <a:srgbClr val="878884"/>
                </a:solidFill>
                <a:latin typeface="Pretendard"/>
              </a:rPr>
              <a:t>01</a:t>
            </a:r>
          </a:p>
        </p:txBody>
      </p:sp>
      <p:sp>
        <p:nvSpPr>
          <p:cNvPr id="6" name="TextBox 5"/>
          <p:cNvSpPr txBox="1"/>
          <p:nvPr/>
        </p:nvSpPr>
        <p:spPr>
          <a:xfrm>
            <a:off x="1124712" y="914400"/>
            <a:ext cx="4754880" cy="292608"/>
          </a:xfrm>
          <a:prstGeom prst="rect">
            <a:avLst/>
          </a:prstGeom>
          <a:noFill/>
        </p:spPr>
        <p:txBody>
          <a:bodyPr wrap="square">
            <a:spAutoFit/>
          </a:bodyPr>
          <a:lstStyle/>
          <a:p>
            <a:pPr algn="l"/>
            <a:r>
              <a:rPr sz="1150" b="1" i="0">
                <a:solidFill>
                  <a:srgbClr val="0A0A0A"/>
                </a:solidFill>
                <a:latin typeface="Pretendard"/>
              </a:rPr>
              <a:t>Brand architecture</a:t>
            </a:r>
          </a:p>
        </p:txBody>
      </p:sp>
      <p:sp>
        <p:nvSpPr>
          <p:cNvPr id="7" name="TextBox 6"/>
          <p:cNvSpPr txBox="1"/>
          <p:nvPr/>
        </p:nvSpPr>
        <p:spPr>
          <a:xfrm>
            <a:off x="1124712" y="1216152"/>
            <a:ext cx="4937760" cy="256032"/>
          </a:xfrm>
          <a:prstGeom prst="rect">
            <a:avLst/>
          </a:prstGeom>
          <a:noFill/>
        </p:spPr>
        <p:txBody>
          <a:bodyPr wrap="square">
            <a:spAutoFit/>
          </a:bodyPr>
          <a:lstStyle/>
          <a:p>
            <a:pPr algn="l"/>
            <a:r>
              <a:rPr sz="850" b="0" i="0">
                <a:solidFill>
                  <a:srgbClr val="C8C8C4"/>
                </a:solidFill>
                <a:latin typeface="Pretendard"/>
              </a:rPr>
              <a:t>Prem masterbrand and six verified products</a:t>
            </a:r>
          </a:p>
        </p:txBody>
      </p:sp>
      <p:sp>
        <p:nvSpPr>
          <p:cNvPr id="8" name="TextBox 7"/>
          <p:cNvSpPr txBox="1"/>
          <p:nvPr/>
        </p:nvSpPr>
        <p:spPr>
          <a:xfrm>
            <a:off x="502920" y="1499616"/>
            <a:ext cx="548640" cy="292608"/>
          </a:xfrm>
          <a:prstGeom prst="rect">
            <a:avLst/>
          </a:prstGeom>
          <a:noFill/>
        </p:spPr>
        <p:txBody>
          <a:bodyPr wrap="square">
            <a:spAutoFit/>
          </a:bodyPr>
          <a:lstStyle/>
          <a:p>
            <a:pPr algn="l"/>
            <a:r>
              <a:rPr sz="900" b="1" i="0">
                <a:solidFill>
                  <a:srgbClr val="878884"/>
                </a:solidFill>
                <a:latin typeface="Pretendard"/>
              </a:rPr>
              <a:t>02</a:t>
            </a:r>
          </a:p>
        </p:txBody>
      </p:sp>
      <p:sp>
        <p:nvSpPr>
          <p:cNvPr id="9" name="TextBox 8"/>
          <p:cNvSpPr txBox="1"/>
          <p:nvPr/>
        </p:nvSpPr>
        <p:spPr>
          <a:xfrm>
            <a:off x="1124712" y="1499616"/>
            <a:ext cx="4754880" cy="292608"/>
          </a:xfrm>
          <a:prstGeom prst="rect">
            <a:avLst/>
          </a:prstGeom>
          <a:noFill/>
        </p:spPr>
        <p:txBody>
          <a:bodyPr wrap="square">
            <a:spAutoFit/>
          </a:bodyPr>
          <a:lstStyle/>
          <a:p>
            <a:pPr algn="l"/>
            <a:r>
              <a:rPr sz="1150" b="1" i="0">
                <a:solidFill>
                  <a:srgbClr val="0A0A0A"/>
                </a:solidFill>
                <a:latin typeface="Pretendard"/>
              </a:rPr>
              <a:t>The company</a:t>
            </a:r>
          </a:p>
        </p:txBody>
      </p:sp>
      <p:sp>
        <p:nvSpPr>
          <p:cNvPr id="10" name="TextBox 9"/>
          <p:cNvSpPr txBox="1"/>
          <p:nvPr/>
        </p:nvSpPr>
        <p:spPr>
          <a:xfrm>
            <a:off x="1124712" y="1801368"/>
            <a:ext cx="4937760" cy="256032"/>
          </a:xfrm>
          <a:prstGeom prst="rect">
            <a:avLst/>
          </a:prstGeom>
          <a:noFill/>
        </p:spPr>
        <p:txBody>
          <a:bodyPr wrap="square">
            <a:spAutoFit/>
          </a:bodyPr>
          <a:lstStyle/>
          <a:p>
            <a:pPr algn="l"/>
            <a:r>
              <a:rPr sz="850" b="0" i="0">
                <a:solidFill>
                  <a:srgbClr val="C8C8C4"/>
                </a:solidFill>
                <a:latin typeface="Pretendard"/>
              </a:rPr>
              <a:t>Intelligence in Service · Lugano · three offices</a:t>
            </a:r>
          </a:p>
        </p:txBody>
      </p:sp>
      <p:sp>
        <p:nvSpPr>
          <p:cNvPr id="11" name="TextBox 10"/>
          <p:cNvSpPr txBox="1"/>
          <p:nvPr/>
        </p:nvSpPr>
        <p:spPr>
          <a:xfrm>
            <a:off x="502920" y="2084832"/>
            <a:ext cx="548640" cy="292608"/>
          </a:xfrm>
          <a:prstGeom prst="rect">
            <a:avLst/>
          </a:prstGeom>
          <a:noFill/>
        </p:spPr>
        <p:txBody>
          <a:bodyPr wrap="square">
            <a:spAutoFit/>
          </a:bodyPr>
          <a:lstStyle/>
          <a:p>
            <a:pPr algn="l"/>
            <a:r>
              <a:rPr sz="900" b="1" i="0">
                <a:solidFill>
                  <a:srgbClr val="878884"/>
                </a:solidFill>
                <a:latin typeface="Pretendard"/>
              </a:rPr>
              <a:t>03</a:t>
            </a:r>
          </a:p>
        </p:txBody>
      </p:sp>
      <p:sp>
        <p:nvSpPr>
          <p:cNvPr id="12" name="TextBox 11"/>
          <p:cNvSpPr txBox="1"/>
          <p:nvPr/>
        </p:nvSpPr>
        <p:spPr>
          <a:xfrm>
            <a:off x="1124712" y="2084832"/>
            <a:ext cx="4754880" cy="292608"/>
          </a:xfrm>
          <a:prstGeom prst="rect">
            <a:avLst/>
          </a:prstGeom>
          <a:noFill/>
        </p:spPr>
        <p:txBody>
          <a:bodyPr wrap="square">
            <a:spAutoFit/>
          </a:bodyPr>
          <a:lstStyle/>
          <a:p>
            <a:pPr algn="l"/>
            <a:r>
              <a:rPr sz="1150" b="1" i="0">
                <a:solidFill>
                  <a:srgbClr val="0A0A0A"/>
                </a:solidFill>
                <a:latin typeface="Pretendard"/>
              </a:rPr>
              <a:t>Digital focus</a:t>
            </a:r>
          </a:p>
        </p:txBody>
      </p:sp>
      <p:sp>
        <p:nvSpPr>
          <p:cNvPr id="13" name="TextBox 12"/>
          <p:cNvSpPr txBox="1"/>
          <p:nvPr/>
        </p:nvSpPr>
        <p:spPr>
          <a:xfrm>
            <a:off x="1124712" y="2386584"/>
            <a:ext cx="4937760" cy="256032"/>
          </a:xfrm>
          <a:prstGeom prst="rect">
            <a:avLst/>
          </a:prstGeom>
          <a:noFill/>
        </p:spPr>
        <p:txBody>
          <a:bodyPr wrap="square">
            <a:spAutoFit/>
          </a:bodyPr>
          <a:lstStyle/>
          <a:p>
            <a:pPr algn="l"/>
            <a:r>
              <a:rPr sz="850" b="0" i="0">
                <a:solidFill>
                  <a:srgbClr val="C8C8C4"/>
                </a:solidFill>
                <a:latin typeface="Pretendard"/>
              </a:rPr>
              <a:t>40 Fluso · 20 Confidential API · 10 Sotto · 30 rest</a:t>
            </a:r>
          </a:p>
        </p:txBody>
      </p:sp>
      <p:sp>
        <p:nvSpPr>
          <p:cNvPr id="14" name="TextBox 13"/>
          <p:cNvSpPr txBox="1"/>
          <p:nvPr/>
        </p:nvSpPr>
        <p:spPr>
          <a:xfrm>
            <a:off x="502920" y="2670048"/>
            <a:ext cx="548640" cy="292608"/>
          </a:xfrm>
          <a:prstGeom prst="rect">
            <a:avLst/>
          </a:prstGeom>
          <a:noFill/>
        </p:spPr>
        <p:txBody>
          <a:bodyPr wrap="square">
            <a:spAutoFit/>
          </a:bodyPr>
          <a:lstStyle/>
          <a:p>
            <a:pPr algn="l"/>
            <a:r>
              <a:rPr sz="900" b="1" i="0">
                <a:solidFill>
                  <a:srgbClr val="878884"/>
                </a:solidFill>
                <a:latin typeface="Pretendard"/>
              </a:rPr>
              <a:t>04</a:t>
            </a:r>
          </a:p>
        </p:txBody>
      </p:sp>
      <p:sp>
        <p:nvSpPr>
          <p:cNvPr id="15" name="TextBox 14"/>
          <p:cNvSpPr txBox="1"/>
          <p:nvPr/>
        </p:nvSpPr>
        <p:spPr>
          <a:xfrm>
            <a:off x="1124712" y="2670048"/>
            <a:ext cx="4754880" cy="292608"/>
          </a:xfrm>
          <a:prstGeom prst="rect">
            <a:avLst/>
          </a:prstGeom>
          <a:noFill/>
        </p:spPr>
        <p:txBody>
          <a:bodyPr wrap="square">
            <a:spAutoFit/>
          </a:bodyPr>
          <a:lstStyle/>
          <a:p>
            <a:pPr algn="l"/>
            <a:r>
              <a:rPr sz="1150" b="1" i="0">
                <a:solidFill>
                  <a:srgbClr val="0A0A0A"/>
                </a:solidFill>
                <a:latin typeface="Pretendard"/>
              </a:rPr>
              <a:t>Positioning: Prem</a:t>
            </a:r>
          </a:p>
        </p:txBody>
      </p:sp>
      <p:sp>
        <p:nvSpPr>
          <p:cNvPr id="16" name="TextBox 15"/>
          <p:cNvSpPr txBox="1"/>
          <p:nvPr/>
        </p:nvSpPr>
        <p:spPr>
          <a:xfrm>
            <a:off x="1124712" y="2971800"/>
            <a:ext cx="4937760" cy="256032"/>
          </a:xfrm>
          <a:prstGeom prst="rect">
            <a:avLst/>
          </a:prstGeom>
          <a:noFill/>
        </p:spPr>
        <p:txBody>
          <a:bodyPr wrap="square">
            <a:spAutoFit/>
          </a:bodyPr>
          <a:lstStyle/>
          <a:p>
            <a:pPr algn="l"/>
            <a:r>
              <a:rPr sz="850" b="0" i="0">
                <a:solidFill>
                  <a:srgbClr val="C8C8C4"/>
                </a:solidFill>
                <a:latin typeface="Pretendard"/>
              </a:rPr>
              <a:t>Private Super Intelligence</a:t>
            </a:r>
          </a:p>
        </p:txBody>
      </p:sp>
      <p:sp>
        <p:nvSpPr>
          <p:cNvPr id="17" name="TextBox 16"/>
          <p:cNvSpPr txBox="1"/>
          <p:nvPr/>
        </p:nvSpPr>
        <p:spPr>
          <a:xfrm>
            <a:off x="502920" y="3255264"/>
            <a:ext cx="548640" cy="292608"/>
          </a:xfrm>
          <a:prstGeom prst="rect">
            <a:avLst/>
          </a:prstGeom>
          <a:noFill/>
        </p:spPr>
        <p:txBody>
          <a:bodyPr wrap="square">
            <a:spAutoFit/>
          </a:bodyPr>
          <a:lstStyle/>
          <a:p>
            <a:pPr algn="l"/>
            <a:r>
              <a:rPr sz="900" b="1" i="0">
                <a:solidFill>
                  <a:srgbClr val="878884"/>
                </a:solidFill>
                <a:latin typeface="Pretendard"/>
              </a:rPr>
              <a:t>05</a:t>
            </a:r>
          </a:p>
        </p:txBody>
      </p:sp>
      <p:sp>
        <p:nvSpPr>
          <p:cNvPr id="18" name="TextBox 17"/>
          <p:cNvSpPr txBox="1"/>
          <p:nvPr/>
        </p:nvSpPr>
        <p:spPr>
          <a:xfrm>
            <a:off x="1124712" y="3255264"/>
            <a:ext cx="4754880" cy="292608"/>
          </a:xfrm>
          <a:prstGeom prst="rect">
            <a:avLst/>
          </a:prstGeom>
          <a:noFill/>
        </p:spPr>
        <p:txBody>
          <a:bodyPr wrap="square">
            <a:spAutoFit/>
          </a:bodyPr>
          <a:lstStyle/>
          <a:p>
            <a:pPr algn="l"/>
            <a:r>
              <a:rPr sz="1150" b="1" i="0">
                <a:solidFill>
                  <a:srgbClr val="0A0A0A"/>
                </a:solidFill>
                <a:latin typeface="Pretendard"/>
              </a:rPr>
              <a:t>Positioning: Fluso</a:t>
            </a:r>
          </a:p>
        </p:txBody>
      </p:sp>
      <p:sp>
        <p:nvSpPr>
          <p:cNvPr id="19" name="TextBox 18"/>
          <p:cNvSpPr txBox="1"/>
          <p:nvPr/>
        </p:nvSpPr>
        <p:spPr>
          <a:xfrm>
            <a:off x="1124712" y="3557016"/>
            <a:ext cx="4937760" cy="256032"/>
          </a:xfrm>
          <a:prstGeom prst="rect">
            <a:avLst/>
          </a:prstGeom>
          <a:noFill/>
        </p:spPr>
        <p:txBody>
          <a:bodyPr wrap="square">
            <a:spAutoFit/>
          </a:bodyPr>
          <a:lstStyle/>
          <a:p>
            <a:pPr algn="l"/>
            <a:r>
              <a:rPr sz="850" b="0" i="0">
                <a:solidFill>
                  <a:srgbClr val="C8C8C4"/>
                </a:solidFill>
                <a:latin typeface="Pretendard"/>
              </a:rPr>
              <a:t>Work deeper, not longer</a:t>
            </a:r>
          </a:p>
        </p:txBody>
      </p:sp>
      <p:sp>
        <p:nvSpPr>
          <p:cNvPr id="20" name="TextBox 19"/>
          <p:cNvSpPr txBox="1"/>
          <p:nvPr/>
        </p:nvSpPr>
        <p:spPr>
          <a:xfrm>
            <a:off x="502920" y="3840480"/>
            <a:ext cx="548640" cy="292608"/>
          </a:xfrm>
          <a:prstGeom prst="rect">
            <a:avLst/>
          </a:prstGeom>
          <a:noFill/>
        </p:spPr>
        <p:txBody>
          <a:bodyPr wrap="square">
            <a:spAutoFit/>
          </a:bodyPr>
          <a:lstStyle/>
          <a:p>
            <a:pPr algn="l"/>
            <a:r>
              <a:rPr sz="900" b="1" i="0">
                <a:solidFill>
                  <a:srgbClr val="878884"/>
                </a:solidFill>
                <a:latin typeface="Pretendard"/>
              </a:rPr>
              <a:t>06</a:t>
            </a:r>
          </a:p>
        </p:txBody>
      </p:sp>
      <p:sp>
        <p:nvSpPr>
          <p:cNvPr id="21" name="TextBox 20"/>
          <p:cNvSpPr txBox="1"/>
          <p:nvPr/>
        </p:nvSpPr>
        <p:spPr>
          <a:xfrm>
            <a:off x="1124712" y="3840480"/>
            <a:ext cx="4754880" cy="292608"/>
          </a:xfrm>
          <a:prstGeom prst="rect">
            <a:avLst/>
          </a:prstGeom>
          <a:noFill/>
        </p:spPr>
        <p:txBody>
          <a:bodyPr wrap="square">
            <a:spAutoFit/>
          </a:bodyPr>
          <a:lstStyle/>
          <a:p>
            <a:pPr algn="l"/>
            <a:r>
              <a:rPr sz="1150" b="1" i="0">
                <a:solidFill>
                  <a:srgbClr val="0A0A0A"/>
                </a:solidFill>
                <a:latin typeface="Pretendard"/>
              </a:rPr>
              <a:t>Positioning: other products</a:t>
            </a:r>
          </a:p>
        </p:txBody>
      </p:sp>
      <p:sp>
        <p:nvSpPr>
          <p:cNvPr id="22" name="TextBox 21"/>
          <p:cNvSpPr txBox="1"/>
          <p:nvPr/>
        </p:nvSpPr>
        <p:spPr>
          <a:xfrm>
            <a:off x="1124712" y="4142232"/>
            <a:ext cx="4937760" cy="256032"/>
          </a:xfrm>
          <a:prstGeom prst="rect">
            <a:avLst/>
          </a:prstGeom>
          <a:noFill/>
        </p:spPr>
        <p:txBody>
          <a:bodyPr wrap="square">
            <a:spAutoFit/>
          </a:bodyPr>
          <a:lstStyle/>
          <a:p>
            <a:pPr algn="l"/>
            <a:r>
              <a:rPr sz="850" b="0" i="0">
                <a:solidFill>
                  <a:srgbClr val="C8C8C4"/>
                </a:solidFill>
                <a:latin typeface="Pretendard"/>
              </a:rPr>
              <a:t>Confidential API, Enclave, Concierge, Studio, Sotto</a:t>
            </a:r>
          </a:p>
        </p:txBody>
      </p:sp>
      <p:sp>
        <p:nvSpPr>
          <p:cNvPr id="23" name="TextBox 22"/>
          <p:cNvSpPr txBox="1"/>
          <p:nvPr/>
        </p:nvSpPr>
        <p:spPr>
          <a:xfrm>
            <a:off x="502920" y="4425696"/>
            <a:ext cx="548640" cy="292608"/>
          </a:xfrm>
          <a:prstGeom prst="rect">
            <a:avLst/>
          </a:prstGeom>
          <a:noFill/>
        </p:spPr>
        <p:txBody>
          <a:bodyPr wrap="square">
            <a:spAutoFit/>
          </a:bodyPr>
          <a:lstStyle/>
          <a:p>
            <a:pPr algn="l"/>
            <a:r>
              <a:rPr sz="900" b="1" i="0">
                <a:solidFill>
                  <a:srgbClr val="878884"/>
                </a:solidFill>
                <a:latin typeface="Pretendard"/>
              </a:rPr>
              <a:t>07</a:t>
            </a:r>
          </a:p>
        </p:txBody>
      </p:sp>
      <p:sp>
        <p:nvSpPr>
          <p:cNvPr id="24" name="TextBox 23"/>
          <p:cNvSpPr txBox="1"/>
          <p:nvPr/>
        </p:nvSpPr>
        <p:spPr>
          <a:xfrm>
            <a:off x="1124712" y="4425696"/>
            <a:ext cx="4754880" cy="292608"/>
          </a:xfrm>
          <a:prstGeom prst="rect">
            <a:avLst/>
          </a:prstGeom>
          <a:noFill/>
        </p:spPr>
        <p:txBody>
          <a:bodyPr wrap="square">
            <a:spAutoFit/>
          </a:bodyPr>
          <a:lstStyle/>
          <a:p>
            <a:pPr algn="l"/>
            <a:r>
              <a:rPr sz="1150" b="1" i="0">
                <a:solidFill>
                  <a:srgbClr val="0A0A0A"/>
                </a:solidFill>
                <a:latin typeface="Pretendard"/>
              </a:rPr>
              <a:t>The category</a:t>
            </a:r>
          </a:p>
        </p:txBody>
      </p:sp>
      <p:sp>
        <p:nvSpPr>
          <p:cNvPr id="25" name="TextBox 24"/>
          <p:cNvSpPr txBox="1"/>
          <p:nvPr/>
        </p:nvSpPr>
        <p:spPr>
          <a:xfrm>
            <a:off x="1124712" y="4727448"/>
            <a:ext cx="4937760" cy="256032"/>
          </a:xfrm>
          <a:prstGeom prst="rect">
            <a:avLst/>
          </a:prstGeom>
          <a:noFill/>
        </p:spPr>
        <p:txBody>
          <a:bodyPr wrap="square">
            <a:spAutoFit/>
          </a:bodyPr>
          <a:lstStyle/>
          <a:p>
            <a:pPr algn="l"/>
            <a:r>
              <a:rPr sz="850" b="0" i="0">
                <a:solidFill>
                  <a:srgbClr val="C8C8C4"/>
                </a:solidFill>
                <a:latin typeface="Pretendard"/>
              </a:rPr>
              <a:t>Verifiable AI</a:t>
            </a:r>
          </a:p>
        </p:txBody>
      </p:sp>
      <p:sp>
        <p:nvSpPr>
          <p:cNvPr id="26" name="TextBox 25"/>
          <p:cNvSpPr txBox="1"/>
          <p:nvPr/>
        </p:nvSpPr>
        <p:spPr>
          <a:xfrm>
            <a:off x="502920" y="5010912"/>
            <a:ext cx="548640" cy="292608"/>
          </a:xfrm>
          <a:prstGeom prst="rect">
            <a:avLst/>
          </a:prstGeom>
          <a:noFill/>
        </p:spPr>
        <p:txBody>
          <a:bodyPr wrap="square">
            <a:spAutoFit/>
          </a:bodyPr>
          <a:lstStyle/>
          <a:p>
            <a:pPr algn="l"/>
            <a:r>
              <a:rPr sz="900" b="1" i="0">
                <a:solidFill>
                  <a:srgbClr val="878884"/>
                </a:solidFill>
                <a:latin typeface="Pretendard"/>
              </a:rPr>
              <a:t>08</a:t>
            </a:r>
          </a:p>
        </p:txBody>
      </p:sp>
      <p:sp>
        <p:nvSpPr>
          <p:cNvPr id="27" name="TextBox 26"/>
          <p:cNvSpPr txBox="1"/>
          <p:nvPr/>
        </p:nvSpPr>
        <p:spPr>
          <a:xfrm>
            <a:off x="1124712" y="5010912"/>
            <a:ext cx="4754880" cy="292608"/>
          </a:xfrm>
          <a:prstGeom prst="rect">
            <a:avLst/>
          </a:prstGeom>
          <a:noFill/>
        </p:spPr>
        <p:txBody>
          <a:bodyPr wrap="square">
            <a:spAutoFit/>
          </a:bodyPr>
          <a:lstStyle/>
          <a:p>
            <a:pPr algn="l"/>
            <a:r>
              <a:rPr sz="1150" b="1" i="0">
                <a:solidFill>
                  <a:srgbClr val="0A0A0A"/>
                </a:solidFill>
                <a:latin typeface="Pretendard"/>
              </a:rPr>
              <a:t>Voice and tone</a:t>
            </a:r>
          </a:p>
        </p:txBody>
      </p:sp>
      <p:sp>
        <p:nvSpPr>
          <p:cNvPr id="28" name="TextBox 27"/>
          <p:cNvSpPr txBox="1"/>
          <p:nvPr/>
        </p:nvSpPr>
        <p:spPr>
          <a:xfrm>
            <a:off x="1124712" y="5312664"/>
            <a:ext cx="4937760" cy="256032"/>
          </a:xfrm>
          <a:prstGeom prst="rect">
            <a:avLst/>
          </a:prstGeom>
          <a:noFill/>
        </p:spPr>
        <p:txBody>
          <a:bodyPr wrap="square">
            <a:spAutoFit/>
          </a:bodyPr>
          <a:lstStyle/>
          <a:p>
            <a:pPr algn="l"/>
            <a:r>
              <a:rPr sz="850" b="0" i="0">
                <a:solidFill>
                  <a:srgbClr val="C8C8C4"/>
                </a:solidFill>
                <a:latin typeface="Pretendard"/>
              </a:rPr>
              <a:t>Four principles · the banned list · examples</a:t>
            </a:r>
          </a:p>
        </p:txBody>
      </p:sp>
      <p:sp>
        <p:nvSpPr>
          <p:cNvPr id="29" name="TextBox 28"/>
          <p:cNvSpPr txBox="1"/>
          <p:nvPr/>
        </p:nvSpPr>
        <p:spPr>
          <a:xfrm>
            <a:off x="502920" y="5596128"/>
            <a:ext cx="548640" cy="292608"/>
          </a:xfrm>
          <a:prstGeom prst="rect">
            <a:avLst/>
          </a:prstGeom>
          <a:noFill/>
        </p:spPr>
        <p:txBody>
          <a:bodyPr wrap="square">
            <a:spAutoFit/>
          </a:bodyPr>
          <a:lstStyle/>
          <a:p>
            <a:pPr algn="l"/>
            <a:r>
              <a:rPr sz="900" b="1" i="0">
                <a:solidFill>
                  <a:srgbClr val="878884"/>
                </a:solidFill>
                <a:latin typeface="Pretendard"/>
              </a:rPr>
              <a:t>09</a:t>
            </a:r>
          </a:p>
        </p:txBody>
      </p:sp>
      <p:sp>
        <p:nvSpPr>
          <p:cNvPr id="30" name="TextBox 29"/>
          <p:cNvSpPr txBox="1"/>
          <p:nvPr/>
        </p:nvSpPr>
        <p:spPr>
          <a:xfrm>
            <a:off x="1124712" y="5596128"/>
            <a:ext cx="4754880" cy="292608"/>
          </a:xfrm>
          <a:prstGeom prst="rect">
            <a:avLst/>
          </a:prstGeom>
          <a:noFill/>
        </p:spPr>
        <p:txBody>
          <a:bodyPr wrap="square">
            <a:spAutoFit/>
          </a:bodyPr>
          <a:lstStyle/>
          <a:p>
            <a:pPr algn="l"/>
            <a:r>
              <a:rPr sz="1150" b="1" i="0">
                <a:solidFill>
                  <a:srgbClr val="0A0A0A"/>
                </a:solidFill>
                <a:latin typeface="Pretendard"/>
              </a:rPr>
              <a:t>Color</a:t>
            </a:r>
          </a:p>
        </p:txBody>
      </p:sp>
      <p:sp>
        <p:nvSpPr>
          <p:cNvPr id="31" name="TextBox 30"/>
          <p:cNvSpPr txBox="1"/>
          <p:nvPr/>
        </p:nvSpPr>
        <p:spPr>
          <a:xfrm>
            <a:off x="1124712" y="5897880"/>
            <a:ext cx="4937760" cy="256032"/>
          </a:xfrm>
          <a:prstGeom prst="rect">
            <a:avLst/>
          </a:prstGeom>
          <a:noFill/>
        </p:spPr>
        <p:txBody>
          <a:bodyPr wrap="square">
            <a:spAutoFit/>
          </a:bodyPr>
          <a:lstStyle/>
          <a:p>
            <a:pPr algn="l"/>
            <a:r>
              <a:rPr sz="850" b="0" i="0">
                <a:solidFill>
                  <a:srgbClr val="C8C8C4"/>
                </a:solidFill>
                <a:latin typeface="Pretendard"/>
              </a:rPr>
              <a:t>Monochrome, like the mark</a:t>
            </a:r>
          </a:p>
        </p:txBody>
      </p:sp>
      <p:sp>
        <p:nvSpPr>
          <p:cNvPr id="32" name="TextBox 31"/>
          <p:cNvSpPr txBox="1"/>
          <p:nvPr/>
        </p:nvSpPr>
        <p:spPr>
          <a:xfrm>
            <a:off x="502920" y="6181344"/>
            <a:ext cx="548640" cy="292608"/>
          </a:xfrm>
          <a:prstGeom prst="rect">
            <a:avLst/>
          </a:prstGeom>
          <a:noFill/>
        </p:spPr>
        <p:txBody>
          <a:bodyPr wrap="square">
            <a:spAutoFit/>
          </a:bodyPr>
          <a:lstStyle/>
          <a:p>
            <a:pPr algn="l"/>
            <a:r>
              <a:rPr sz="900" b="1" i="0">
                <a:solidFill>
                  <a:srgbClr val="878884"/>
                </a:solidFill>
                <a:latin typeface="Pretendard"/>
              </a:rPr>
              <a:t>10</a:t>
            </a:r>
          </a:p>
        </p:txBody>
      </p:sp>
      <p:sp>
        <p:nvSpPr>
          <p:cNvPr id="33" name="TextBox 32"/>
          <p:cNvSpPr txBox="1"/>
          <p:nvPr/>
        </p:nvSpPr>
        <p:spPr>
          <a:xfrm>
            <a:off x="1124712" y="6181344"/>
            <a:ext cx="4754880" cy="292608"/>
          </a:xfrm>
          <a:prstGeom prst="rect">
            <a:avLst/>
          </a:prstGeom>
          <a:noFill/>
        </p:spPr>
        <p:txBody>
          <a:bodyPr wrap="square">
            <a:spAutoFit/>
          </a:bodyPr>
          <a:lstStyle/>
          <a:p>
            <a:pPr algn="l"/>
            <a:r>
              <a:rPr sz="1150" b="1" i="0">
                <a:solidFill>
                  <a:srgbClr val="0A0A0A"/>
                </a:solidFill>
                <a:latin typeface="Pretendard"/>
              </a:rPr>
              <a:t>Typography</a:t>
            </a:r>
          </a:p>
        </p:txBody>
      </p:sp>
      <p:sp>
        <p:nvSpPr>
          <p:cNvPr id="34" name="TextBox 33"/>
          <p:cNvSpPr txBox="1"/>
          <p:nvPr/>
        </p:nvSpPr>
        <p:spPr>
          <a:xfrm>
            <a:off x="1124712" y="6483096"/>
            <a:ext cx="4937760" cy="256032"/>
          </a:xfrm>
          <a:prstGeom prst="rect">
            <a:avLst/>
          </a:prstGeom>
          <a:noFill/>
        </p:spPr>
        <p:txBody>
          <a:bodyPr wrap="square">
            <a:spAutoFit/>
          </a:bodyPr>
          <a:lstStyle/>
          <a:p>
            <a:pPr algn="l"/>
            <a:r>
              <a:rPr sz="850" b="0" i="0">
                <a:solidFill>
                  <a:srgbClr val="C8C8C4"/>
                </a:solidFill>
                <a:latin typeface="Pretendard"/>
              </a:rPr>
              <a:t>The Prem wordmark typeface</a:t>
            </a:r>
          </a:p>
        </p:txBody>
      </p:sp>
      <p:sp>
        <p:nvSpPr>
          <p:cNvPr id="35" name="TextBox 34"/>
          <p:cNvSpPr txBox="1"/>
          <p:nvPr/>
        </p:nvSpPr>
        <p:spPr>
          <a:xfrm>
            <a:off x="6446520" y="914400"/>
            <a:ext cx="548640" cy="292608"/>
          </a:xfrm>
          <a:prstGeom prst="rect">
            <a:avLst/>
          </a:prstGeom>
          <a:noFill/>
        </p:spPr>
        <p:txBody>
          <a:bodyPr wrap="square">
            <a:spAutoFit/>
          </a:bodyPr>
          <a:lstStyle/>
          <a:p>
            <a:pPr algn="l"/>
            <a:r>
              <a:rPr sz="900" b="1" i="0">
                <a:solidFill>
                  <a:srgbClr val="878884"/>
                </a:solidFill>
                <a:latin typeface="Pretendard"/>
              </a:rPr>
              <a:t>11</a:t>
            </a:r>
          </a:p>
        </p:txBody>
      </p:sp>
      <p:sp>
        <p:nvSpPr>
          <p:cNvPr id="36" name="TextBox 35"/>
          <p:cNvSpPr txBox="1"/>
          <p:nvPr/>
        </p:nvSpPr>
        <p:spPr>
          <a:xfrm>
            <a:off x="7068312" y="914400"/>
            <a:ext cx="4754880" cy="292608"/>
          </a:xfrm>
          <a:prstGeom prst="rect">
            <a:avLst/>
          </a:prstGeom>
          <a:noFill/>
        </p:spPr>
        <p:txBody>
          <a:bodyPr wrap="square">
            <a:spAutoFit/>
          </a:bodyPr>
          <a:lstStyle/>
          <a:p>
            <a:pPr algn="l"/>
            <a:r>
              <a:rPr sz="1150" b="1" i="0">
                <a:solidFill>
                  <a:srgbClr val="0A0A0A"/>
                </a:solidFill>
                <a:latin typeface="Pretendard"/>
              </a:rPr>
              <a:t>The Swiss visual world</a:t>
            </a:r>
          </a:p>
        </p:txBody>
      </p:sp>
      <p:sp>
        <p:nvSpPr>
          <p:cNvPr id="37" name="TextBox 36"/>
          <p:cNvSpPr txBox="1"/>
          <p:nvPr/>
        </p:nvSpPr>
        <p:spPr>
          <a:xfrm>
            <a:off x="7068312" y="1216152"/>
            <a:ext cx="4937760" cy="256032"/>
          </a:xfrm>
          <a:prstGeom prst="rect">
            <a:avLst/>
          </a:prstGeom>
          <a:noFill/>
        </p:spPr>
        <p:txBody>
          <a:bodyPr wrap="square">
            <a:spAutoFit/>
          </a:bodyPr>
          <a:lstStyle/>
          <a:p>
            <a:pPr algn="l"/>
            <a:r>
              <a:rPr sz="850" b="0" i="0">
                <a:solidFill>
                  <a:srgbClr val="C8C8C4"/>
                </a:solidFill>
                <a:latin typeface="Pretendard"/>
              </a:rPr>
              <a:t>Alps, Lugano, the dot map, the grid</a:t>
            </a:r>
          </a:p>
        </p:txBody>
      </p:sp>
      <p:sp>
        <p:nvSpPr>
          <p:cNvPr id="38" name="TextBox 37"/>
          <p:cNvSpPr txBox="1"/>
          <p:nvPr/>
        </p:nvSpPr>
        <p:spPr>
          <a:xfrm>
            <a:off x="6446520" y="1499616"/>
            <a:ext cx="548640" cy="292608"/>
          </a:xfrm>
          <a:prstGeom prst="rect">
            <a:avLst/>
          </a:prstGeom>
          <a:noFill/>
        </p:spPr>
        <p:txBody>
          <a:bodyPr wrap="square">
            <a:spAutoFit/>
          </a:bodyPr>
          <a:lstStyle/>
          <a:p>
            <a:pPr algn="l"/>
            <a:r>
              <a:rPr sz="900" b="1" i="0">
                <a:solidFill>
                  <a:srgbClr val="878884"/>
                </a:solidFill>
                <a:latin typeface="Pretendard"/>
              </a:rPr>
              <a:t>12</a:t>
            </a:r>
          </a:p>
        </p:txBody>
      </p:sp>
      <p:sp>
        <p:nvSpPr>
          <p:cNvPr id="39" name="TextBox 38"/>
          <p:cNvSpPr txBox="1"/>
          <p:nvPr/>
        </p:nvSpPr>
        <p:spPr>
          <a:xfrm>
            <a:off x="7068312" y="1499616"/>
            <a:ext cx="4754880" cy="292608"/>
          </a:xfrm>
          <a:prstGeom prst="rect">
            <a:avLst/>
          </a:prstGeom>
          <a:noFill/>
        </p:spPr>
        <p:txBody>
          <a:bodyPr wrap="square">
            <a:spAutoFit/>
          </a:bodyPr>
          <a:lstStyle/>
          <a:p>
            <a:pPr algn="l"/>
            <a:r>
              <a:rPr sz="1150" b="1" i="0">
                <a:solidFill>
                  <a:srgbClr val="0A0A0A"/>
                </a:solidFill>
                <a:latin typeface="Pretendard"/>
              </a:rPr>
              <a:t>Social templates</a:t>
            </a:r>
          </a:p>
        </p:txBody>
      </p:sp>
      <p:sp>
        <p:nvSpPr>
          <p:cNvPr id="40" name="TextBox 39"/>
          <p:cNvSpPr txBox="1"/>
          <p:nvPr/>
        </p:nvSpPr>
        <p:spPr>
          <a:xfrm>
            <a:off x="7068312" y="1801368"/>
            <a:ext cx="4937760" cy="256032"/>
          </a:xfrm>
          <a:prstGeom prst="rect">
            <a:avLst/>
          </a:prstGeom>
          <a:noFill/>
        </p:spPr>
        <p:txBody>
          <a:bodyPr wrap="square">
            <a:spAutoFit/>
          </a:bodyPr>
          <a:lstStyle/>
          <a:p>
            <a:pPr algn="l"/>
            <a:r>
              <a:rPr sz="850" b="0" i="0">
                <a:solidFill>
                  <a:srgbClr val="C8C8C4"/>
                </a:solidFill>
                <a:latin typeface="Pretendard"/>
              </a:rPr>
              <a:t>Reel cover, carousel, quote card</a:t>
            </a:r>
          </a:p>
        </p:txBody>
      </p:sp>
      <p:sp>
        <p:nvSpPr>
          <p:cNvPr id="41" name="TextBox 40"/>
          <p:cNvSpPr txBox="1"/>
          <p:nvPr/>
        </p:nvSpPr>
        <p:spPr>
          <a:xfrm>
            <a:off x="6446520" y="2084832"/>
            <a:ext cx="548640" cy="292608"/>
          </a:xfrm>
          <a:prstGeom prst="rect">
            <a:avLst/>
          </a:prstGeom>
          <a:noFill/>
        </p:spPr>
        <p:txBody>
          <a:bodyPr wrap="square">
            <a:spAutoFit/>
          </a:bodyPr>
          <a:lstStyle/>
          <a:p>
            <a:pPr algn="l"/>
            <a:r>
              <a:rPr sz="900" b="1" i="0">
                <a:solidFill>
                  <a:srgbClr val="878884"/>
                </a:solidFill>
                <a:latin typeface="Pretendard"/>
              </a:rPr>
              <a:t>13</a:t>
            </a:r>
          </a:p>
        </p:txBody>
      </p:sp>
      <p:sp>
        <p:nvSpPr>
          <p:cNvPr id="42" name="TextBox 41"/>
          <p:cNvSpPr txBox="1"/>
          <p:nvPr/>
        </p:nvSpPr>
        <p:spPr>
          <a:xfrm>
            <a:off x="7068312" y="2084832"/>
            <a:ext cx="4754880" cy="292608"/>
          </a:xfrm>
          <a:prstGeom prst="rect">
            <a:avLst/>
          </a:prstGeom>
          <a:noFill/>
        </p:spPr>
        <p:txBody>
          <a:bodyPr wrap="square">
            <a:spAutoFit/>
          </a:bodyPr>
          <a:lstStyle/>
          <a:p>
            <a:pPr algn="l"/>
            <a:r>
              <a:rPr sz="1150" b="1" i="0">
                <a:solidFill>
                  <a:srgbClr val="0A0A0A"/>
                </a:solidFill>
                <a:latin typeface="Pretendard"/>
              </a:rPr>
              <a:t>Platform: LinkedIn</a:t>
            </a:r>
          </a:p>
        </p:txBody>
      </p:sp>
      <p:sp>
        <p:nvSpPr>
          <p:cNvPr id="43" name="TextBox 42"/>
          <p:cNvSpPr txBox="1"/>
          <p:nvPr/>
        </p:nvSpPr>
        <p:spPr>
          <a:xfrm>
            <a:off x="7068312" y="2386584"/>
            <a:ext cx="4937760" cy="256032"/>
          </a:xfrm>
          <a:prstGeom prst="rect">
            <a:avLst/>
          </a:prstGeom>
          <a:noFill/>
        </p:spPr>
        <p:txBody>
          <a:bodyPr wrap="square">
            <a:spAutoFit/>
          </a:bodyPr>
          <a:lstStyle/>
          <a:p>
            <a:pPr algn="l"/>
            <a:r>
              <a:rPr sz="850" b="0" i="0">
                <a:solidFill>
                  <a:srgbClr val="C8C8C4"/>
                </a:solidFill>
                <a:latin typeface="Pretendard"/>
              </a:rPr>
              <a:t>Prem-led authority</a:t>
            </a:r>
          </a:p>
        </p:txBody>
      </p:sp>
      <p:sp>
        <p:nvSpPr>
          <p:cNvPr id="44" name="TextBox 43"/>
          <p:cNvSpPr txBox="1"/>
          <p:nvPr/>
        </p:nvSpPr>
        <p:spPr>
          <a:xfrm>
            <a:off x="6446520" y="2670048"/>
            <a:ext cx="548640" cy="292608"/>
          </a:xfrm>
          <a:prstGeom prst="rect">
            <a:avLst/>
          </a:prstGeom>
          <a:noFill/>
        </p:spPr>
        <p:txBody>
          <a:bodyPr wrap="square">
            <a:spAutoFit/>
          </a:bodyPr>
          <a:lstStyle/>
          <a:p>
            <a:pPr algn="l"/>
            <a:r>
              <a:rPr sz="900" b="1" i="0">
                <a:solidFill>
                  <a:srgbClr val="878884"/>
                </a:solidFill>
                <a:latin typeface="Pretendard"/>
              </a:rPr>
              <a:t>14</a:t>
            </a:r>
          </a:p>
        </p:txBody>
      </p:sp>
      <p:sp>
        <p:nvSpPr>
          <p:cNvPr id="45" name="TextBox 44"/>
          <p:cNvSpPr txBox="1"/>
          <p:nvPr/>
        </p:nvSpPr>
        <p:spPr>
          <a:xfrm>
            <a:off x="7068312" y="2670048"/>
            <a:ext cx="4754880" cy="292608"/>
          </a:xfrm>
          <a:prstGeom prst="rect">
            <a:avLst/>
          </a:prstGeom>
          <a:noFill/>
        </p:spPr>
        <p:txBody>
          <a:bodyPr wrap="square">
            <a:spAutoFit/>
          </a:bodyPr>
          <a:lstStyle/>
          <a:p>
            <a:pPr algn="l"/>
            <a:r>
              <a:rPr sz="1150" b="1" i="0">
                <a:solidFill>
                  <a:srgbClr val="0A0A0A"/>
                </a:solidFill>
                <a:latin typeface="Pretendard"/>
              </a:rPr>
              <a:t>Platform: X</a:t>
            </a:r>
          </a:p>
        </p:txBody>
      </p:sp>
      <p:sp>
        <p:nvSpPr>
          <p:cNvPr id="46" name="TextBox 45"/>
          <p:cNvSpPr txBox="1"/>
          <p:nvPr/>
        </p:nvSpPr>
        <p:spPr>
          <a:xfrm>
            <a:off x="7068312" y="2971800"/>
            <a:ext cx="4937760" cy="256032"/>
          </a:xfrm>
          <a:prstGeom prst="rect">
            <a:avLst/>
          </a:prstGeom>
          <a:noFill/>
        </p:spPr>
        <p:txBody>
          <a:bodyPr wrap="square">
            <a:spAutoFit/>
          </a:bodyPr>
          <a:lstStyle/>
          <a:p>
            <a:pPr algn="l"/>
            <a:r>
              <a:rPr sz="850" b="0" i="0">
                <a:solidFill>
                  <a:srgbClr val="C8C8C4"/>
                </a:solidFill>
                <a:latin typeface="Pretendard"/>
              </a:rPr>
              <a:t>Fluso-led builder credibility</a:t>
            </a:r>
          </a:p>
        </p:txBody>
      </p:sp>
      <p:sp>
        <p:nvSpPr>
          <p:cNvPr id="47" name="TextBox 46"/>
          <p:cNvSpPr txBox="1"/>
          <p:nvPr/>
        </p:nvSpPr>
        <p:spPr>
          <a:xfrm>
            <a:off x="6446520" y="3255264"/>
            <a:ext cx="548640" cy="292608"/>
          </a:xfrm>
          <a:prstGeom prst="rect">
            <a:avLst/>
          </a:prstGeom>
          <a:noFill/>
        </p:spPr>
        <p:txBody>
          <a:bodyPr wrap="square">
            <a:spAutoFit/>
          </a:bodyPr>
          <a:lstStyle/>
          <a:p>
            <a:pPr algn="l"/>
            <a:r>
              <a:rPr sz="900" b="1" i="0">
                <a:solidFill>
                  <a:srgbClr val="878884"/>
                </a:solidFill>
                <a:latin typeface="Pretendard"/>
              </a:rPr>
              <a:t>15</a:t>
            </a:r>
          </a:p>
        </p:txBody>
      </p:sp>
      <p:sp>
        <p:nvSpPr>
          <p:cNvPr id="48" name="TextBox 47"/>
          <p:cNvSpPr txBox="1"/>
          <p:nvPr/>
        </p:nvSpPr>
        <p:spPr>
          <a:xfrm>
            <a:off x="7068312" y="3255264"/>
            <a:ext cx="4754880" cy="292608"/>
          </a:xfrm>
          <a:prstGeom prst="rect">
            <a:avLst/>
          </a:prstGeom>
          <a:noFill/>
        </p:spPr>
        <p:txBody>
          <a:bodyPr wrap="square">
            <a:spAutoFit/>
          </a:bodyPr>
          <a:lstStyle/>
          <a:p>
            <a:pPr algn="l"/>
            <a:r>
              <a:rPr sz="1150" b="1" i="0">
                <a:solidFill>
                  <a:srgbClr val="0A0A0A"/>
                </a:solidFill>
                <a:latin typeface="Pretendard"/>
              </a:rPr>
              <a:t>Platform: Instagram + Facebook</a:t>
            </a:r>
          </a:p>
        </p:txBody>
      </p:sp>
      <p:sp>
        <p:nvSpPr>
          <p:cNvPr id="49" name="TextBox 48"/>
          <p:cNvSpPr txBox="1"/>
          <p:nvPr/>
        </p:nvSpPr>
        <p:spPr>
          <a:xfrm>
            <a:off x="7068312" y="3557016"/>
            <a:ext cx="4937760" cy="256032"/>
          </a:xfrm>
          <a:prstGeom prst="rect">
            <a:avLst/>
          </a:prstGeom>
          <a:noFill/>
        </p:spPr>
        <p:txBody>
          <a:bodyPr wrap="square">
            <a:spAutoFit/>
          </a:bodyPr>
          <a:lstStyle/>
          <a:p>
            <a:pPr algn="l"/>
            <a:r>
              <a:rPr sz="850" b="0" i="0">
                <a:solidFill>
                  <a:srgbClr val="C8C8C4"/>
                </a:solidFill>
                <a:latin typeface="Pretendard"/>
              </a:rPr>
              <a:t>Visual world and warm remarketing</a:t>
            </a:r>
          </a:p>
        </p:txBody>
      </p:sp>
      <p:sp>
        <p:nvSpPr>
          <p:cNvPr id="50" name="TextBox 49"/>
          <p:cNvSpPr txBox="1"/>
          <p:nvPr/>
        </p:nvSpPr>
        <p:spPr>
          <a:xfrm>
            <a:off x="6446520" y="3840480"/>
            <a:ext cx="548640" cy="292608"/>
          </a:xfrm>
          <a:prstGeom prst="rect">
            <a:avLst/>
          </a:prstGeom>
          <a:noFill/>
        </p:spPr>
        <p:txBody>
          <a:bodyPr wrap="square">
            <a:spAutoFit/>
          </a:bodyPr>
          <a:lstStyle/>
          <a:p>
            <a:pPr algn="l"/>
            <a:r>
              <a:rPr sz="900" b="1" i="0">
                <a:solidFill>
                  <a:srgbClr val="878884"/>
                </a:solidFill>
                <a:latin typeface="Pretendard"/>
              </a:rPr>
              <a:t>16</a:t>
            </a:r>
          </a:p>
        </p:txBody>
      </p:sp>
      <p:sp>
        <p:nvSpPr>
          <p:cNvPr id="51" name="TextBox 50"/>
          <p:cNvSpPr txBox="1"/>
          <p:nvPr/>
        </p:nvSpPr>
        <p:spPr>
          <a:xfrm>
            <a:off x="7068312" y="3840480"/>
            <a:ext cx="4754880" cy="292608"/>
          </a:xfrm>
          <a:prstGeom prst="rect">
            <a:avLst/>
          </a:prstGeom>
          <a:noFill/>
        </p:spPr>
        <p:txBody>
          <a:bodyPr wrap="square">
            <a:spAutoFit/>
          </a:bodyPr>
          <a:lstStyle/>
          <a:p>
            <a:pPr algn="l"/>
            <a:r>
              <a:rPr sz="1150" b="1" i="0">
                <a:solidFill>
                  <a:srgbClr val="0A0A0A"/>
                </a:solidFill>
                <a:latin typeface="Pretendard"/>
              </a:rPr>
              <a:t>Content pillars</a:t>
            </a:r>
          </a:p>
        </p:txBody>
      </p:sp>
      <p:sp>
        <p:nvSpPr>
          <p:cNvPr id="52" name="TextBox 51"/>
          <p:cNvSpPr txBox="1"/>
          <p:nvPr/>
        </p:nvSpPr>
        <p:spPr>
          <a:xfrm>
            <a:off x="7068312" y="4142232"/>
            <a:ext cx="4937760" cy="256032"/>
          </a:xfrm>
          <a:prstGeom prst="rect">
            <a:avLst/>
          </a:prstGeom>
          <a:noFill/>
        </p:spPr>
        <p:txBody>
          <a:bodyPr wrap="square">
            <a:spAutoFit/>
          </a:bodyPr>
          <a:lstStyle/>
          <a:p>
            <a:pPr algn="l"/>
            <a:r>
              <a:rPr sz="850" b="0" i="0">
                <a:solidFill>
                  <a:srgbClr val="C8C8C4"/>
                </a:solidFill>
                <a:latin typeface="Pretendard"/>
              </a:rPr>
              <a:t>What each focus bucket publishes</a:t>
            </a:r>
          </a:p>
        </p:txBody>
      </p:sp>
      <p:sp>
        <p:nvSpPr>
          <p:cNvPr id="53" name="TextBox 52"/>
          <p:cNvSpPr txBox="1"/>
          <p:nvPr/>
        </p:nvSpPr>
        <p:spPr>
          <a:xfrm>
            <a:off x="6446520" y="4425696"/>
            <a:ext cx="548640" cy="292608"/>
          </a:xfrm>
          <a:prstGeom prst="rect">
            <a:avLst/>
          </a:prstGeom>
          <a:noFill/>
        </p:spPr>
        <p:txBody>
          <a:bodyPr wrap="square">
            <a:spAutoFit/>
          </a:bodyPr>
          <a:lstStyle/>
          <a:p>
            <a:pPr algn="l"/>
            <a:r>
              <a:rPr sz="900" b="1" i="0">
                <a:solidFill>
                  <a:srgbClr val="878884"/>
                </a:solidFill>
                <a:latin typeface="Pretendard"/>
              </a:rPr>
              <a:t>17</a:t>
            </a:r>
          </a:p>
        </p:txBody>
      </p:sp>
      <p:sp>
        <p:nvSpPr>
          <p:cNvPr id="54" name="TextBox 53"/>
          <p:cNvSpPr txBox="1"/>
          <p:nvPr/>
        </p:nvSpPr>
        <p:spPr>
          <a:xfrm>
            <a:off x="7068312" y="4425696"/>
            <a:ext cx="4754880" cy="292608"/>
          </a:xfrm>
          <a:prstGeom prst="rect">
            <a:avLst/>
          </a:prstGeom>
          <a:noFill/>
        </p:spPr>
        <p:txBody>
          <a:bodyPr wrap="square">
            <a:spAutoFit/>
          </a:bodyPr>
          <a:lstStyle/>
          <a:p>
            <a:pPr algn="l"/>
            <a:r>
              <a:rPr sz="1150" b="1" i="0">
                <a:solidFill>
                  <a:srgbClr val="0A0A0A"/>
                </a:solidFill>
                <a:latin typeface="Pretendard"/>
              </a:rPr>
              <a:t>Audience architecture</a:t>
            </a:r>
          </a:p>
        </p:txBody>
      </p:sp>
      <p:sp>
        <p:nvSpPr>
          <p:cNvPr id="55" name="TextBox 54"/>
          <p:cNvSpPr txBox="1"/>
          <p:nvPr/>
        </p:nvSpPr>
        <p:spPr>
          <a:xfrm>
            <a:off x="7068312" y="4727448"/>
            <a:ext cx="4937760" cy="256032"/>
          </a:xfrm>
          <a:prstGeom prst="rect">
            <a:avLst/>
          </a:prstGeom>
          <a:noFill/>
        </p:spPr>
        <p:txBody>
          <a:bodyPr wrap="square">
            <a:spAutoFit/>
          </a:bodyPr>
          <a:lstStyle/>
          <a:p>
            <a:pPr algn="l"/>
            <a:r>
              <a:rPr sz="850" b="0" i="0">
                <a:solidFill>
                  <a:srgbClr val="C8C8C4"/>
                </a:solidFill>
                <a:latin typeface="Pretendard"/>
              </a:rPr>
              <a:t>Persona to platform mapping</a:t>
            </a:r>
          </a:p>
        </p:txBody>
      </p:sp>
      <p:sp>
        <p:nvSpPr>
          <p:cNvPr id="56" name="TextBox 55"/>
          <p:cNvSpPr txBox="1"/>
          <p:nvPr/>
        </p:nvSpPr>
        <p:spPr>
          <a:xfrm>
            <a:off x="6446520" y="5010912"/>
            <a:ext cx="548640" cy="292608"/>
          </a:xfrm>
          <a:prstGeom prst="rect">
            <a:avLst/>
          </a:prstGeom>
          <a:noFill/>
        </p:spPr>
        <p:txBody>
          <a:bodyPr wrap="square">
            <a:spAutoFit/>
          </a:bodyPr>
          <a:lstStyle/>
          <a:p>
            <a:pPr algn="l"/>
            <a:r>
              <a:rPr sz="900" b="1" i="0">
                <a:solidFill>
                  <a:srgbClr val="878884"/>
                </a:solidFill>
                <a:latin typeface="Pretendard"/>
              </a:rPr>
              <a:t>18</a:t>
            </a:r>
          </a:p>
        </p:txBody>
      </p:sp>
      <p:sp>
        <p:nvSpPr>
          <p:cNvPr id="57" name="TextBox 56"/>
          <p:cNvSpPr txBox="1"/>
          <p:nvPr/>
        </p:nvSpPr>
        <p:spPr>
          <a:xfrm>
            <a:off x="7068312" y="5010912"/>
            <a:ext cx="4754880" cy="292608"/>
          </a:xfrm>
          <a:prstGeom prst="rect">
            <a:avLst/>
          </a:prstGeom>
          <a:noFill/>
        </p:spPr>
        <p:txBody>
          <a:bodyPr wrap="square">
            <a:spAutoFit/>
          </a:bodyPr>
          <a:lstStyle/>
          <a:p>
            <a:pPr algn="l"/>
            <a:r>
              <a:rPr sz="1150" b="1" i="0">
                <a:solidFill>
                  <a:srgbClr val="0A0A0A"/>
                </a:solidFill>
                <a:latin typeface="Pretendard"/>
              </a:rPr>
              <a:t>Vocabulary</a:t>
            </a:r>
          </a:p>
        </p:txBody>
      </p:sp>
      <p:sp>
        <p:nvSpPr>
          <p:cNvPr id="58" name="TextBox 57"/>
          <p:cNvSpPr txBox="1"/>
          <p:nvPr/>
        </p:nvSpPr>
        <p:spPr>
          <a:xfrm>
            <a:off x="7068312" y="5312664"/>
            <a:ext cx="4937760" cy="256032"/>
          </a:xfrm>
          <a:prstGeom prst="rect">
            <a:avLst/>
          </a:prstGeom>
          <a:noFill/>
        </p:spPr>
        <p:txBody>
          <a:bodyPr wrap="square">
            <a:spAutoFit/>
          </a:bodyPr>
          <a:lstStyle/>
          <a:p>
            <a:pPr algn="l"/>
            <a:r>
              <a:rPr sz="850" b="0" i="0">
                <a:solidFill>
                  <a:srgbClr val="C8C8C4"/>
                </a:solidFill>
                <a:latin typeface="Pretendard"/>
              </a:rPr>
              <a:t>Words we own · words we never use</a:t>
            </a:r>
          </a:p>
        </p:txBody>
      </p:sp>
      <p:sp>
        <p:nvSpPr>
          <p:cNvPr id="59" name="TextBox 58"/>
          <p:cNvSpPr txBox="1"/>
          <p:nvPr/>
        </p:nvSpPr>
        <p:spPr>
          <a:xfrm>
            <a:off x="6446520" y="5596128"/>
            <a:ext cx="548640" cy="292608"/>
          </a:xfrm>
          <a:prstGeom prst="rect">
            <a:avLst/>
          </a:prstGeom>
          <a:noFill/>
        </p:spPr>
        <p:txBody>
          <a:bodyPr wrap="square">
            <a:spAutoFit/>
          </a:bodyPr>
          <a:lstStyle/>
          <a:p>
            <a:pPr algn="l"/>
            <a:r>
              <a:rPr sz="900" b="1" i="0">
                <a:solidFill>
                  <a:srgbClr val="878884"/>
                </a:solidFill>
                <a:latin typeface="Pretendard"/>
              </a:rPr>
              <a:t>19</a:t>
            </a:r>
          </a:p>
        </p:txBody>
      </p:sp>
      <p:sp>
        <p:nvSpPr>
          <p:cNvPr id="60" name="TextBox 59"/>
          <p:cNvSpPr txBox="1"/>
          <p:nvPr/>
        </p:nvSpPr>
        <p:spPr>
          <a:xfrm>
            <a:off x="7068312" y="5596128"/>
            <a:ext cx="4754880" cy="292608"/>
          </a:xfrm>
          <a:prstGeom prst="rect">
            <a:avLst/>
          </a:prstGeom>
          <a:noFill/>
        </p:spPr>
        <p:txBody>
          <a:bodyPr wrap="square">
            <a:spAutoFit/>
          </a:bodyPr>
          <a:lstStyle/>
          <a:p>
            <a:pPr algn="l"/>
            <a:r>
              <a:rPr sz="1150" b="1" i="0">
                <a:solidFill>
                  <a:srgbClr val="0A0A0A"/>
                </a:solidFill>
                <a:latin typeface="Pretendard"/>
              </a:rPr>
              <a:t>Positioning test</a:t>
            </a:r>
          </a:p>
        </p:txBody>
      </p:sp>
      <p:sp>
        <p:nvSpPr>
          <p:cNvPr id="61" name="TextBox 60"/>
          <p:cNvSpPr txBox="1"/>
          <p:nvPr/>
        </p:nvSpPr>
        <p:spPr>
          <a:xfrm>
            <a:off x="7068312" y="5897880"/>
            <a:ext cx="4937760" cy="256032"/>
          </a:xfrm>
          <a:prstGeom prst="rect">
            <a:avLst/>
          </a:prstGeom>
          <a:noFill/>
        </p:spPr>
        <p:txBody>
          <a:bodyPr wrap="square">
            <a:spAutoFit/>
          </a:bodyPr>
          <a:lstStyle/>
          <a:p>
            <a:pPr algn="l"/>
            <a:r>
              <a:rPr sz="850" b="0" i="0">
                <a:solidFill>
                  <a:srgbClr val="C8C8C4"/>
                </a:solidFill>
                <a:latin typeface="Pretendard"/>
              </a:rPr>
              <a:t>The six-question check</a:t>
            </a:r>
          </a:p>
        </p:txBody>
      </p:sp>
      <p:sp>
        <p:nvSpPr>
          <p:cNvPr id="62" name="TextBox 61"/>
          <p:cNvSpPr txBox="1"/>
          <p:nvPr/>
        </p:nvSpPr>
        <p:spPr>
          <a:xfrm>
            <a:off x="6446520" y="6181344"/>
            <a:ext cx="548640" cy="292608"/>
          </a:xfrm>
          <a:prstGeom prst="rect">
            <a:avLst/>
          </a:prstGeom>
          <a:noFill/>
        </p:spPr>
        <p:txBody>
          <a:bodyPr wrap="square">
            <a:spAutoFit/>
          </a:bodyPr>
          <a:lstStyle/>
          <a:p>
            <a:pPr algn="l"/>
            <a:r>
              <a:rPr sz="900" b="1" i="0">
                <a:solidFill>
                  <a:srgbClr val="878884"/>
                </a:solidFill>
                <a:latin typeface="Pretendard"/>
              </a:rPr>
              <a:t>20</a:t>
            </a:r>
          </a:p>
        </p:txBody>
      </p:sp>
      <p:sp>
        <p:nvSpPr>
          <p:cNvPr id="63" name="TextBox 62"/>
          <p:cNvSpPr txBox="1"/>
          <p:nvPr/>
        </p:nvSpPr>
        <p:spPr>
          <a:xfrm>
            <a:off x="7068312" y="6181344"/>
            <a:ext cx="4754880" cy="292608"/>
          </a:xfrm>
          <a:prstGeom prst="rect">
            <a:avLst/>
          </a:prstGeom>
          <a:noFill/>
        </p:spPr>
        <p:txBody>
          <a:bodyPr wrap="square">
            <a:spAutoFit/>
          </a:bodyPr>
          <a:lstStyle/>
          <a:p>
            <a:pPr algn="l"/>
            <a:r>
              <a:rPr sz="1150" b="1" i="0">
                <a:solidFill>
                  <a:srgbClr val="0A0A0A"/>
                </a:solidFill>
                <a:latin typeface="Pretendard"/>
              </a:rPr>
              <a:t>Governance</a:t>
            </a:r>
          </a:p>
        </p:txBody>
      </p:sp>
      <p:sp>
        <p:nvSpPr>
          <p:cNvPr id="64" name="TextBox 63"/>
          <p:cNvSpPr txBox="1"/>
          <p:nvPr/>
        </p:nvSpPr>
        <p:spPr>
          <a:xfrm>
            <a:off x="7068312" y="6483096"/>
            <a:ext cx="4937760" cy="256032"/>
          </a:xfrm>
          <a:prstGeom prst="rect">
            <a:avLst/>
          </a:prstGeom>
          <a:noFill/>
        </p:spPr>
        <p:txBody>
          <a:bodyPr wrap="square">
            <a:spAutoFit/>
          </a:bodyPr>
          <a:lstStyle/>
          <a:p>
            <a:pPr algn="l"/>
            <a:r>
              <a:rPr sz="850" b="0" i="0">
                <a:solidFill>
                  <a:srgbClr val="C8C8C4"/>
                </a:solidFill>
                <a:latin typeface="Pretendard"/>
              </a:rPr>
              <a:t>Sign-off by role · no exceptions</a:t>
            </a:r>
          </a:p>
        </p:txBody>
      </p:sp>
      <p:sp>
        <p:nvSpPr>
          <p:cNvPr id="65" name="Rectangle 64"/>
          <p:cNvSpPr/>
          <p:nvPr/>
        </p:nvSpPr>
        <p:spPr>
          <a:xfrm>
            <a:off x="6263640" y="868680"/>
            <a:ext cx="9144" cy="5166360"/>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384280" y="6446520"/>
            <a:ext cx="91440" cy="91440"/>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1551615" y="6462979"/>
            <a:ext cx="58521" cy="585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1691518" y="6452006"/>
            <a:ext cx="80467" cy="8046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1857024" y="6466636"/>
            <a:ext cx="51206" cy="5120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1998756" y="6457492"/>
            <a:ext cx="69494" cy="6949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01  BRAND ARCHITECTURE</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0972800" cy="566928"/>
          </a:xfrm>
          <a:prstGeom prst="rect">
            <a:avLst/>
          </a:prstGeom>
          <a:noFill/>
        </p:spPr>
        <p:txBody>
          <a:bodyPr wrap="square">
            <a:spAutoFit/>
          </a:bodyPr>
          <a:lstStyle/>
          <a:p>
            <a:pPr algn="l"/>
            <a:r>
              <a:rPr sz="2600" b="1" i="0">
                <a:solidFill>
                  <a:srgbClr val="0A0A0A"/>
                </a:solidFill>
                <a:latin typeface="Pretendard"/>
              </a:rPr>
              <a:t>One masterbrand. Six products. One direction.</a:t>
            </a:r>
          </a:p>
        </p:txBody>
      </p:sp>
      <p:sp>
        <p:nvSpPr>
          <p:cNvPr id="6" name="Rectangle 5"/>
          <p:cNvSpPr/>
          <p:nvPr/>
        </p:nvSpPr>
        <p:spPr>
          <a:xfrm>
            <a:off x="502920" y="1572768"/>
            <a:ext cx="11192256" cy="868680"/>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14044" y="1807540"/>
            <a:ext cx="55321" cy="55321"/>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86968" y="1815083"/>
            <a:ext cx="40233" cy="40233"/>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8324" y="1811060"/>
            <a:ext cx="48280" cy="48280"/>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0241" y="1817598"/>
            <a:ext cx="35204" cy="35204"/>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82100" y="1814078"/>
            <a:ext cx="42245" cy="42245"/>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5284" y="1881469"/>
            <a:ext cx="38221" cy="38221"/>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13622" y="1874428"/>
            <a:ext cx="52303" cy="52303"/>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85037" y="1880463"/>
            <a:ext cx="40233" cy="40233"/>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46393" y="1876440"/>
            <a:ext cx="48280" cy="48280"/>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20825" y="1885492"/>
            <a:ext cx="30175" cy="30175"/>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0582" y="1944837"/>
            <a:ext cx="42245" cy="42245"/>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83950" y="1942825"/>
            <a:ext cx="46268" cy="46268"/>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3295" y="1936790"/>
            <a:ext cx="58338" cy="58338"/>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15715" y="1943831"/>
            <a:ext cx="44256" cy="44256"/>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84112" y="1946849"/>
            <a:ext cx="38221" cy="38221"/>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0313" y="2017257"/>
            <a:ext cx="28163" cy="28163"/>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5634" y="2007199"/>
            <a:ext cx="48280" cy="48280"/>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7493" y="2003678"/>
            <a:ext cx="55321" cy="55321"/>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50417" y="2011222"/>
            <a:ext cx="40233" cy="40233"/>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13784" y="2009211"/>
            <a:ext cx="44256" cy="44256"/>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5611" y="2080625"/>
            <a:ext cx="32186" cy="32186"/>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86968" y="2076602"/>
            <a:ext cx="40233" cy="40233"/>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48324" y="2072579"/>
            <a:ext cx="48280" cy="48280"/>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20744" y="2079619"/>
            <a:ext cx="34198" cy="34198"/>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89141" y="2082637"/>
            <a:ext cx="28163" cy="28163"/>
          </a:xfrm>
          <a:prstGeom prst="ellipse">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508760" y="1764792"/>
            <a:ext cx="2743200" cy="347472"/>
          </a:xfrm>
          <a:prstGeom prst="rect">
            <a:avLst/>
          </a:prstGeom>
          <a:noFill/>
        </p:spPr>
        <p:txBody>
          <a:bodyPr wrap="square">
            <a:spAutoFit/>
          </a:bodyPr>
          <a:lstStyle/>
          <a:p>
            <a:pPr algn="l"/>
            <a:r>
              <a:rPr sz="2000" b="1" i="0">
                <a:solidFill>
                  <a:srgbClr val="FFFFFF"/>
                </a:solidFill>
                <a:latin typeface="Pretendard"/>
              </a:rPr>
              <a:t>PREM</a:t>
            </a:r>
          </a:p>
        </p:txBody>
      </p:sp>
      <p:sp>
        <p:nvSpPr>
          <p:cNvPr id="33" name="TextBox 32"/>
          <p:cNvSpPr txBox="1"/>
          <p:nvPr/>
        </p:nvSpPr>
        <p:spPr>
          <a:xfrm>
            <a:off x="1508760" y="2121408"/>
            <a:ext cx="3200400" cy="256032"/>
          </a:xfrm>
          <a:prstGeom prst="rect">
            <a:avLst/>
          </a:prstGeom>
          <a:noFill/>
        </p:spPr>
        <p:txBody>
          <a:bodyPr wrap="square">
            <a:spAutoFit/>
          </a:bodyPr>
          <a:lstStyle/>
          <a:p>
            <a:pPr algn="l"/>
            <a:r>
              <a:rPr sz="900" b="0" i="0">
                <a:solidFill>
                  <a:srgbClr val="878884"/>
                </a:solidFill>
                <a:latin typeface="Pretendard"/>
              </a:rPr>
              <a:t>Intelligence in Service</a:t>
            </a:r>
          </a:p>
        </p:txBody>
      </p:sp>
      <p:sp>
        <p:nvSpPr>
          <p:cNvPr id="34" name="TextBox 33"/>
          <p:cNvSpPr txBox="1"/>
          <p:nvPr/>
        </p:nvSpPr>
        <p:spPr>
          <a:xfrm>
            <a:off x="4114800" y="1938528"/>
            <a:ext cx="7315200" cy="457200"/>
          </a:xfrm>
          <a:prstGeom prst="rect">
            <a:avLst/>
          </a:prstGeom>
          <a:noFill/>
        </p:spPr>
        <p:txBody>
          <a:bodyPr wrap="square">
            <a:spAutoFit/>
          </a:bodyPr>
          <a:lstStyle/>
          <a:p>
            <a:pPr algn="l"/>
            <a:r>
              <a:rPr sz="1000" b="0" i="0">
                <a:solidFill>
                  <a:srgbClr val="F2F0EA"/>
                </a:solidFill>
                <a:latin typeface="Pretendard"/>
              </a:rPr>
              <a:t>Private · Verifiable · Sovereign  ·  premai.io  ·  Lugano, Switzerland</a:t>
            </a:r>
          </a:p>
        </p:txBody>
      </p:sp>
      <p:sp>
        <p:nvSpPr>
          <p:cNvPr id="35" name="TextBox 34"/>
          <p:cNvSpPr txBox="1"/>
          <p:nvPr/>
        </p:nvSpPr>
        <p:spPr>
          <a:xfrm>
            <a:off x="502920" y="2633472"/>
            <a:ext cx="3657600" cy="256032"/>
          </a:xfrm>
          <a:prstGeom prst="rect">
            <a:avLst/>
          </a:prstGeom>
          <a:noFill/>
        </p:spPr>
        <p:txBody>
          <a:bodyPr wrap="square">
            <a:spAutoFit/>
          </a:bodyPr>
          <a:lstStyle/>
          <a:p>
            <a:pPr algn="l"/>
            <a:r>
              <a:rPr sz="800" b="1" i="0">
                <a:solidFill>
                  <a:srgbClr val="878884"/>
                </a:solidFill>
                <a:latin typeface="Pretendard"/>
              </a:rPr>
              <a:t>PRODUCTS</a:t>
            </a:r>
          </a:p>
        </p:txBody>
      </p:sp>
      <p:sp>
        <p:nvSpPr>
          <p:cNvPr id="36" name="Rectangle 35"/>
          <p:cNvSpPr/>
          <p:nvPr/>
        </p:nvSpPr>
        <p:spPr>
          <a:xfrm>
            <a:off x="502920" y="2944368"/>
            <a:ext cx="3520440" cy="19385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 y="3090672"/>
            <a:ext cx="3108960" cy="320040"/>
          </a:xfrm>
          <a:prstGeom prst="rect">
            <a:avLst/>
          </a:prstGeom>
          <a:noFill/>
        </p:spPr>
        <p:txBody>
          <a:bodyPr wrap="square">
            <a:spAutoFit/>
          </a:bodyPr>
          <a:lstStyle/>
          <a:p>
            <a:pPr algn="l"/>
            <a:r>
              <a:rPr sz="1300" b="1" i="0">
                <a:solidFill>
                  <a:srgbClr val="0A0A0A"/>
                </a:solidFill>
                <a:latin typeface="Pretendard"/>
              </a:rPr>
              <a:t>Confidential API</a:t>
            </a:r>
          </a:p>
        </p:txBody>
      </p:sp>
      <p:sp>
        <p:nvSpPr>
          <p:cNvPr id="38" name="TextBox 37"/>
          <p:cNvSpPr txBox="1"/>
          <p:nvPr/>
        </p:nvSpPr>
        <p:spPr>
          <a:xfrm>
            <a:off x="704088" y="3429000"/>
            <a:ext cx="3108960" cy="237744"/>
          </a:xfrm>
          <a:prstGeom prst="rect">
            <a:avLst/>
          </a:prstGeom>
          <a:noFill/>
        </p:spPr>
        <p:txBody>
          <a:bodyPr wrap="square">
            <a:spAutoFit/>
          </a:bodyPr>
          <a:lstStyle/>
          <a:p>
            <a:pPr algn="l"/>
            <a:r>
              <a:rPr sz="750" b="1" i="0">
                <a:solidFill>
                  <a:srgbClr val="878884"/>
                </a:solidFill>
                <a:latin typeface="Pretendard"/>
              </a:rPr>
              <a:t>BUILD WITH ENCRYPTED INFERENCE</a:t>
            </a:r>
          </a:p>
        </p:txBody>
      </p:sp>
      <p:sp>
        <p:nvSpPr>
          <p:cNvPr id="39" name="TextBox 38"/>
          <p:cNvSpPr txBox="1"/>
          <p:nvPr/>
        </p:nvSpPr>
        <p:spPr>
          <a:xfrm>
            <a:off x="704088" y="3730752"/>
            <a:ext cx="3127248" cy="1005840"/>
          </a:xfrm>
          <a:prstGeom prst="rect">
            <a:avLst/>
          </a:prstGeom>
          <a:noFill/>
        </p:spPr>
        <p:txBody>
          <a:bodyPr wrap="square">
            <a:spAutoFit/>
          </a:bodyPr>
          <a:lstStyle/>
          <a:p>
            <a:pPr algn="l"/>
            <a:r>
              <a:rPr sz="900" b="0" i="0">
                <a:solidFill>
                  <a:srgbClr val="585A5E"/>
                </a:solidFill>
                <a:latin typeface="Pretendard"/>
              </a:rPr>
              <a:t>Build with encrypted inference over private models. The developer and enterprise API entry point.</a:t>
            </a:r>
          </a:p>
        </p:txBody>
      </p:sp>
      <p:sp>
        <p:nvSpPr>
          <p:cNvPr id="40" name="Rectangle 39"/>
          <p:cNvSpPr/>
          <p:nvPr/>
        </p:nvSpPr>
        <p:spPr>
          <a:xfrm>
            <a:off x="4251959" y="2944368"/>
            <a:ext cx="3520440" cy="19385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53127" y="3090672"/>
            <a:ext cx="3108960" cy="320040"/>
          </a:xfrm>
          <a:prstGeom prst="rect">
            <a:avLst/>
          </a:prstGeom>
          <a:noFill/>
        </p:spPr>
        <p:txBody>
          <a:bodyPr wrap="square">
            <a:spAutoFit/>
          </a:bodyPr>
          <a:lstStyle/>
          <a:p>
            <a:pPr algn="l"/>
            <a:r>
              <a:rPr sz="1300" b="1" i="0">
                <a:solidFill>
                  <a:srgbClr val="0A0A0A"/>
                </a:solidFill>
                <a:latin typeface="Pretendard"/>
              </a:rPr>
              <a:t>Prem Enclave</a:t>
            </a:r>
          </a:p>
        </p:txBody>
      </p:sp>
      <p:sp>
        <p:nvSpPr>
          <p:cNvPr id="42" name="TextBox 41"/>
          <p:cNvSpPr txBox="1"/>
          <p:nvPr/>
        </p:nvSpPr>
        <p:spPr>
          <a:xfrm>
            <a:off x="4453127" y="3429000"/>
            <a:ext cx="3108960" cy="237744"/>
          </a:xfrm>
          <a:prstGeom prst="rect">
            <a:avLst/>
          </a:prstGeom>
          <a:noFill/>
        </p:spPr>
        <p:txBody>
          <a:bodyPr wrap="square">
            <a:spAutoFit/>
          </a:bodyPr>
          <a:lstStyle/>
          <a:p>
            <a:pPr algn="l"/>
            <a:r>
              <a:rPr sz="750" b="1" i="0">
                <a:solidFill>
                  <a:srgbClr val="878884"/>
                </a:solidFill>
                <a:latin typeface="Pretendard"/>
              </a:rPr>
              <a:t>VERIFIABLE INFRASTRUCTURE</a:t>
            </a:r>
          </a:p>
        </p:txBody>
      </p:sp>
      <p:sp>
        <p:nvSpPr>
          <p:cNvPr id="43" name="TextBox 42"/>
          <p:cNvSpPr txBox="1"/>
          <p:nvPr/>
        </p:nvSpPr>
        <p:spPr>
          <a:xfrm>
            <a:off x="4453127" y="3730752"/>
            <a:ext cx="3127248" cy="1005840"/>
          </a:xfrm>
          <a:prstGeom prst="rect">
            <a:avLst/>
          </a:prstGeom>
          <a:noFill/>
        </p:spPr>
        <p:txBody>
          <a:bodyPr wrap="square">
            <a:spAutoFit/>
          </a:bodyPr>
          <a:lstStyle/>
          <a:p>
            <a:pPr algn="l"/>
            <a:r>
              <a:rPr sz="900" b="0" i="0">
                <a:solidFill>
                  <a:srgbClr val="585A5E"/>
                </a:solidFill>
                <a:latin typeface="Pretendard"/>
              </a:rPr>
              <a:t>Runs models inside a trusted execution environment. Hardware-level privacy, not policy-level promises.</a:t>
            </a:r>
          </a:p>
        </p:txBody>
      </p:sp>
      <p:sp>
        <p:nvSpPr>
          <p:cNvPr id="44" name="Rectangle 43"/>
          <p:cNvSpPr/>
          <p:nvPr/>
        </p:nvSpPr>
        <p:spPr>
          <a:xfrm>
            <a:off x="8001000" y="2944368"/>
            <a:ext cx="3520440" cy="19385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01000" y="2944368"/>
            <a:ext cx="3520440" cy="36576"/>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012680" y="2990088"/>
            <a:ext cx="1325880" cy="25603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12680" y="2999232"/>
            <a:ext cx="1325880" cy="237744"/>
          </a:xfrm>
          <a:prstGeom prst="rect">
            <a:avLst/>
          </a:prstGeom>
          <a:noFill/>
        </p:spPr>
        <p:txBody>
          <a:bodyPr wrap="square">
            <a:spAutoFit/>
          </a:bodyPr>
          <a:lstStyle/>
          <a:p>
            <a:pPr algn="ctr"/>
            <a:r>
              <a:rPr sz="700" b="1" i="0">
                <a:solidFill>
                  <a:srgbClr val="FFFFFF"/>
                </a:solidFill>
                <a:latin typeface="Pretendard"/>
              </a:rPr>
              <a:t>FLAGSHIP</a:t>
            </a:r>
          </a:p>
        </p:txBody>
      </p:sp>
      <p:sp>
        <p:nvSpPr>
          <p:cNvPr id="48" name="TextBox 47"/>
          <p:cNvSpPr txBox="1"/>
          <p:nvPr/>
        </p:nvSpPr>
        <p:spPr>
          <a:xfrm>
            <a:off x="8202168" y="3090672"/>
            <a:ext cx="3108960" cy="320040"/>
          </a:xfrm>
          <a:prstGeom prst="rect">
            <a:avLst/>
          </a:prstGeom>
          <a:noFill/>
        </p:spPr>
        <p:txBody>
          <a:bodyPr wrap="square">
            <a:spAutoFit/>
          </a:bodyPr>
          <a:lstStyle/>
          <a:p>
            <a:pPr algn="l"/>
            <a:r>
              <a:rPr sz="1300" b="1" i="0">
                <a:solidFill>
                  <a:srgbClr val="0A0A0A"/>
                </a:solidFill>
                <a:latin typeface="Pretendard"/>
              </a:rPr>
              <a:t>Fluso</a:t>
            </a:r>
          </a:p>
        </p:txBody>
      </p:sp>
      <p:sp>
        <p:nvSpPr>
          <p:cNvPr id="49" name="TextBox 48"/>
          <p:cNvSpPr txBox="1"/>
          <p:nvPr/>
        </p:nvSpPr>
        <p:spPr>
          <a:xfrm>
            <a:off x="8202168" y="3429000"/>
            <a:ext cx="3108960" cy="237744"/>
          </a:xfrm>
          <a:prstGeom prst="rect">
            <a:avLst/>
          </a:prstGeom>
          <a:noFill/>
        </p:spPr>
        <p:txBody>
          <a:bodyPr wrap="square">
            <a:spAutoFit/>
          </a:bodyPr>
          <a:lstStyle/>
          <a:p>
            <a:pPr algn="l"/>
            <a:r>
              <a:rPr sz="750" b="1" i="0">
                <a:solidFill>
                  <a:srgbClr val="878884"/>
                </a:solidFill>
                <a:latin typeface="Pretendard"/>
              </a:rPr>
              <a:t>PRIVATE AI WORKSPACE</a:t>
            </a:r>
          </a:p>
        </p:txBody>
      </p:sp>
      <p:sp>
        <p:nvSpPr>
          <p:cNvPr id="50" name="TextBox 49"/>
          <p:cNvSpPr txBox="1"/>
          <p:nvPr/>
        </p:nvSpPr>
        <p:spPr>
          <a:xfrm>
            <a:off x="8202168" y="3730752"/>
            <a:ext cx="3127248" cy="1005840"/>
          </a:xfrm>
          <a:prstGeom prst="rect">
            <a:avLst/>
          </a:prstGeom>
          <a:noFill/>
        </p:spPr>
        <p:txBody>
          <a:bodyPr wrap="square">
            <a:spAutoFit/>
          </a:bodyPr>
          <a:lstStyle/>
          <a:p>
            <a:pPr algn="l"/>
            <a:r>
              <a:rPr sz="900" b="0" i="0">
                <a:solidFill>
                  <a:srgbClr val="585A5E"/>
                </a:solidFill>
                <a:latin typeface="Pretendard"/>
              </a:rPr>
              <a:t>The flagship. Deep-work AI for knowledge professionals. Compounding memory, 50+ connectors, session audit trail.</a:t>
            </a:r>
          </a:p>
        </p:txBody>
      </p:sp>
      <p:sp>
        <p:nvSpPr>
          <p:cNvPr id="51" name="TextBox 50"/>
          <p:cNvSpPr txBox="1"/>
          <p:nvPr/>
        </p:nvSpPr>
        <p:spPr>
          <a:xfrm>
            <a:off x="502920" y="5029200"/>
            <a:ext cx="4572000" cy="256032"/>
          </a:xfrm>
          <a:prstGeom prst="rect">
            <a:avLst/>
          </a:prstGeom>
          <a:noFill/>
        </p:spPr>
        <p:txBody>
          <a:bodyPr wrap="square">
            <a:spAutoFit/>
          </a:bodyPr>
          <a:lstStyle/>
          <a:p>
            <a:pPr algn="l"/>
            <a:r>
              <a:rPr sz="800" b="1" i="0">
                <a:solidFill>
                  <a:srgbClr val="878884"/>
                </a:solidFill>
                <a:latin typeface="Pretendard"/>
              </a:rPr>
              <a:t>RESEARCH &amp; PLATFORM</a:t>
            </a:r>
          </a:p>
        </p:txBody>
      </p:sp>
      <p:sp>
        <p:nvSpPr>
          <p:cNvPr id="52" name="Rectangle 51"/>
          <p:cNvSpPr/>
          <p:nvPr/>
        </p:nvSpPr>
        <p:spPr>
          <a:xfrm>
            <a:off x="502920" y="5349240"/>
            <a:ext cx="3520440" cy="10515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04088" y="5458968"/>
            <a:ext cx="3108960" cy="292608"/>
          </a:xfrm>
          <a:prstGeom prst="rect">
            <a:avLst/>
          </a:prstGeom>
          <a:noFill/>
        </p:spPr>
        <p:txBody>
          <a:bodyPr wrap="square">
            <a:spAutoFit/>
          </a:bodyPr>
          <a:lstStyle/>
          <a:p>
            <a:pPr algn="l"/>
            <a:r>
              <a:rPr sz="1200" b="1" i="0">
                <a:solidFill>
                  <a:srgbClr val="0A0A0A"/>
                </a:solidFill>
                <a:latin typeface="Pretendard"/>
              </a:rPr>
              <a:t>Prem Studio</a:t>
            </a:r>
          </a:p>
        </p:txBody>
      </p:sp>
      <p:sp>
        <p:nvSpPr>
          <p:cNvPr id="54" name="TextBox 53"/>
          <p:cNvSpPr txBox="1"/>
          <p:nvPr/>
        </p:nvSpPr>
        <p:spPr>
          <a:xfrm>
            <a:off x="704088" y="5779008"/>
            <a:ext cx="3108960" cy="548640"/>
          </a:xfrm>
          <a:prstGeom prst="rect">
            <a:avLst/>
          </a:prstGeom>
          <a:noFill/>
        </p:spPr>
        <p:txBody>
          <a:bodyPr wrap="square">
            <a:spAutoFit/>
          </a:bodyPr>
          <a:lstStyle/>
          <a:p>
            <a:pPr algn="l"/>
            <a:r>
              <a:rPr sz="900" b="0" i="0">
                <a:solidFill>
                  <a:srgbClr val="585A5E"/>
                </a:solidFill>
                <a:latin typeface="Pretendard"/>
              </a:rPr>
              <a:t>Customize models on private data</a:t>
            </a:r>
          </a:p>
        </p:txBody>
      </p:sp>
      <p:sp>
        <p:nvSpPr>
          <p:cNvPr id="55" name="Rectangle 54"/>
          <p:cNvSpPr/>
          <p:nvPr/>
        </p:nvSpPr>
        <p:spPr>
          <a:xfrm>
            <a:off x="4251959" y="5349240"/>
            <a:ext cx="3520440" cy="10515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53127" y="5458968"/>
            <a:ext cx="3108960" cy="292608"/>
          </a:xfrm>
          <a:prstGeom prst="rect">
            <a:avLst/>
          </a:prstGeom>
          <a:noFill/>
        </p:spPr>
        <p:txBody>
          <a:bodyPr wrap="square">
            <a:spAutoFit/>
          </a:bodyPr>
          <a:lstStyle/>
          <a:p>
            <a:pPr algn="l"/>
            <a:r>
              <a:rPr sz="1200" b="1" i="0">
                <a:solidFill>
                  <a:srgbClr val="0A0A0A"/>
                </a:solidFill>
                <a:latin typeface="Pretendard"/>
              </a:rPr>
              <a:t>Prem Concierge</a:t>
            </a:r>
          </a:p>
        </p:txBody>
      </p:sp>
      <p:sp>
        <p:nvSpPr>
          <p:cNvPr id="57" name="TextBox 56"/>
          <p:cNvSpPr txBox="1"/>
          <p:nvPr/>
        </p:nvSpPr>
        <p:spPr>
          <a:xfrm>
            <a:off x="4453127" y="5779008"/>
            <a:ext cx="3108960" cy="548640"/>
          </a:xfrm>
          <a:prstGeom prst="rect">
            <a:avLst/>
          </a:prstGeom>
          <a:noFill/>
        </p:spPr>
        <p:txBody>
          <a:bodyPr wrap="square">
            <a:spAutoFit/>
          </a:bodyPr>
          <a:lstStyle/>
          <a:p>
            <a:pPr algn="l"/>
            <a:r>
              <a:rPr sz="900" b="0" i="0">
                <a:solidFill>
                  <a:srgbClr val="585A5E"/>
                </a:solidFill>
                <a:latin typeface="Pretendard"/>
              </a:rPr>
              <a:t>Secure daily workflow assistant</a:t>
            </a:r>
          </a:p>
        </p:txBody>
      </p:sp>
      <p:sp>
        <p:nvSpPr>
          <p:cNvPr id="58" name="Rectangle 57"/>
          <p:cNvSpPr/>
          <p:nvPr/>
        </p:nvSpPr>
        <p:spPr>
          <a:xfrm>
            <a:off x="8001000" y="5349240"/>
            <a:ext cx="3520440" cy="10515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02168" y="5458968"/>
            <a:ext cx="3108960" cy="292608"/>
          </a:xfrm>
          <a:prstGeom prst="rect">
            <a:avLst/>
          </a:prstGeom>
          <a:noFill/>
        </p:spPr>
        <p:txBody>
          <a:bodyPr wrap="square">
            <a:spAutoFit/>
          </a:bodyPr>
          <a:lstStyle/>
          <a:p>
            <a:pPr algn="l"/>
            <a:r>
              <a:rPr sz="1200" b="1" i="0">
                <a:solidFill>
                  <a:srgbClr val="0A0A0A"/>
                </a:solidFill>
                <a:latin typeface="Pretendard"/>
              </a:rPr>
              <a:t>Prem Sotto</a:t>
            </a:r>
          </a:p>
        </p:txBody>
      </p:sp>
      <p:sp>
        <p:nvSpPr>
          <p:cNvPr id="60" name="TextBox 59"/>
          <p:cNvSpPr txBox="1"/>
          <p:nvPr/>
        </p:nvSpPr>
        <p:spPr>
          <a:xfrm>
            <a:off x="8202168" y="5779008"/>
            <a:ext cx="3108960" cy="548640"/>
          </a:xfrm>
          <a:prstGeom prst="rect">
            <a:avLst/>
          </a:prstGeom>
          <a:noFill/>
        </p:spPr>
        <p:txBody>
          <a:bodyPr wrap="square">
            <a:spAutoFit/>
          </a:bodyPr>
          <a:lstStyle/>
          <a:p>
            <a:pPr algn="l"/>
            <a:r>
              <a:rPr sz="900" b="0" i="0">
                <a:solidFill>
                  <a:srgbClr val="585A5E"/>
                </a:solidFill>
                <a:latin typeface="Pretendard"/>
              </a:rPr>
              <a:t>Encrypted dictation for every app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0" y="0"/>
            <a:ext cx="5334609" cy="6858000"/>
          </a:xfrm>
          <a:prstGeom prst="rect">
            <a:avLst/>
          </a:prstGeom>
          <a:solidFill>
            <a:srgbClr val="AABC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0" y="1371600"/>
            <a:ext cx="5334609" cy="5486400"/>
          </a:xfrm>
          <a:prstGeom prst="rect">
            <a:avLst/>
          </a:prstGeom>
          <a:solidFill>
            <a:srgbClr val="BEC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0" y="2743200"/>
            <a:ext cx="5334609" cy="4114800"/>
          </a:xfrm>
          <a:prstGeom prst="rect">
            <a:avLst/>
          </a:prstGeom>
          <a:solidFill>
            <a:srgbClr val="D7E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6858000" y="1737360"/>
            <a:ext cx="5334609" cy="5120640"/>
          </a:xfrm>
          <a:custGeom>
            <a:avLst/>
            <a:gdLst/>
            <a:ahLst/>
            <a:cxnLst/>
            <a:rect l="l" t="t" r="r" b="b"/>
            <a:pathLst>
              <a:path w="5334609" h="5120640">
                <a:moveTo>
                  <a:pt x="0" y="5120640"/>
                </a:moveTo>
                <a:lnTo>
                  <a:pt x="0" y="822960"/>
                </a:lnTo>
                <a:lnTo>
                  <a:pt x="1005840" y="182880"/>
                </a:lnTo>
                <a:lnTo>
                  <a:pt x="2103120" y="685800"/>
                </a:lnTo>
                <a:lnTo>
                  <a:pt x="3200400" y="0"/>
                </a:lnTo>
                <a:lnTo>
                  <a:pt x="4297680" y="594360"/>
                </a:lnTo>
                <a:lnTo>
                  <a:pt x="5334609" y="274320"/>
                </a:lnTo>
                <a:lnTo>
                  <a:pt x="5334609" y="5120640"/>
                </a:lnTo>
                <a:close/>
              </a:path>
            </a:pathLst>
          </a:custGeom>
          <a:solidFill>
            <a:srgbClr val="ACAD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6858000" y="2514600"/>
            <a:ext cx="5334609" cy="4343400"/>
          </a:xfrm>
          <a:custGeom>
            <a:avLst/>
            <a:gdLst/>
            <a:ahLst/>
            <a:cxnLst/>
            <a:rect l="l" t="t" r="r" b="b"/>
            <a:pathLst>
              <a:path w="5334609" h="4343400">
                <a:moveTo>
                  <a:pt x="0" y="4343400"/>
                </a:moveTo>
                <a:lnTo>
                  <a:pt x="0" y="685800"/>
                </a:lnTo>
                <a:lnTo>
                  <a:pt x="1188720" y="137160"/>
                </a:lnTo>
                <a:lnTo>
                  <a:pt x="2468880" y="594360"/>
                </a:lnTo>
                <a:lnTo>
                  <a:pt x="3749040" y="0"/>
                </a:lnTo>
                <a:lnTo>
                  <a:pt x="5334609" y="411480"/>
                </a:lnTo>
                <a:lnTo>
                  <a:pt x="5334609" y="4343400"/>
                </a:lnTo>
                <a:close/>
              </a:path>
            </a:pathLst>
          </a:custGeom>
          <a:solidFill>
            <a:srgbClr val="C3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0" y="0"/>
            <a:ext cx="18288" cy="6858000"/>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02  THE COMPANY</a:t>
            </a:r>
          </a:p>
        </p:txBody>
      </p:sp>
      <p:sp>
        <p:nvSpPr>
          <p:cNvPr id="10" name="Rectangle 9"/>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868680"/>
            <a:ext cx="5943600" cy="640080"/>
          </a:xfrm>
          <a:prstGeom prst="rect">
            <a:avLst/>
          </a:prstGeom>
          <a:noFill/>
        </p:spPr>
        <p:txBody>
          <a:bodyPr wrap="square">
            <a:spAutoFit/>
          </a:bodyPr>
          <a:lstStyle/>
          <a:p>
            <a:pPr algn="l"/>
            <a:r>
              <a:rPr sz="3000" b="1" i="0">
                <a:solidFill>
                  <a:srgbClr val="0A0A0A"/>
                </a:solidFill>
                <a:latin typeface="Pretendard"/>
              </a:rPr>
              <a:t>Intelligence in Service</a:t>
            </a:r>
          </a:p>
        </p:txBody>
      </p:sp>
      <p:sp>
        <p:nvSpPr>
          <p:cNvPr id="12" name="Rectangle 11"/>
          <p:cNvSpPr/>
          <p:nvPr/>
        </p:nvSpPr>
        <p:spPr>
          <a:xfrm>
            <a:off x="502920" y="1600200"/>
            <a:ext cx="3200400"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755648"/>
            <a:ext cx="5943600" cy="777240"/>
          </a:xfrm>
          <a:prstGeom prst="rect">
            <a:avLst/>
          </a:prstGeom>
          <a:noFill/>
        </p:spPr>
        <p:txBody>
          <a:bodyPr wrap="square">
            <a:spAutoFit/>
          </a:bodyPr>
          <a:lstStyle/>
          <a:p>
            <a:pPr algn="l"/>
            <a:r>
              <a:rPr sz="1200" b="0" i="1">
                <a:solidFill>
                  <a:srgbClr val="585A5E"/>
                </a:solidFill>
                <a:latin typeface="Pretendard"/>
              </a:rPr>
              <a:t>"AI is the most powerful technology of our era.
Prem makes it private, verifiable, and sovereign."</a:t>
            </a:r>
          </a:p>
        </p:txBody>
      </p:sp>
      <p:sp>
        <p:nvSpPr>
          <p:cNvPr id="14" name="TextBox 13"/>
          <p:cNvSpPr txBox="1"/>
          <p:nvPr/>
        </p:nvSpPr>
        <p:spPr>
          <a:xfrm>
            <a:off x="502920" y="2697480"/>
            <a:ext cx="5943600" cy="320040"/>
          </a:xfrm>
          <a:prstGeom prst="rect">
            <a:avLst/>
          </a:prstGeom>
          <a:noFill/>
        </p:spPr>
        <p:txBody>
          <a:bodyPr wrap="square">
            <a:spAutoFit/>
          </a:bodyPr>
          <a:lstStyle/>
          <a:p>
            <a:pPr algn="l"/>
            <a:r>
              <a:rPr sz="1100" b="1" i="0">
                <a:solidFill>
                  <a:srgbClr val="0A0A0A"/>
                </a:solidFill>
                <a:latin typeface="Pretendard"/>
              </a:rPr>
              <a:t>Designed &amp; powered in Switzerland</a:t>
            </a:r>
          </a:p>
        </p:txBody>
      </p:sp>
      <p:sp>
        <p:nvSpPr>
          <p:cNvPr id="15" name="TextBox 14"/>
          <p:cNvSpPr txBox="1"/>
          <p:nvPr/>
        </p:nvSpPr>
        <p:spPr>
          <a:xfrm>
            <a:off x="502920" y="3090672"/>
            <a:ext cx="6035040" cy="502920"/>
          </a:xfrm>
          <a:prstGeom prst="rect">
            <a:avLst/>
          </a:prstGeom>
          <a:noFill/>
        </p:spPr>
        <p:txBody>
          <a:bodyPr wrap="square">
            <a:spAutoFit/>
          </a:bodyPr>
          <a:lstStyle/>
          <a:p>
            <a:pPr algn="l"/>
            <a:r>
              <a:rPr sz="1000" b="0" i="0">
                <a:solidFill>
                  <a:srgbClr val="585A5E"/>
                </a:solidFill>
                <a:latin typeface="Pretendard"/>
              </a:rPr>
              <a:t>Built in Lugano. The Alpine geography is not a backdrop — it is a design principle. Precise, quiet, built to last.</a:t>
            </a:r>
          </a:p>
        </p:txBody>
      </p:sp>
      <p:sp>
        <p:nvSpPr>
          <p:cNvPr id="16" name="Rectangle 15"/>
          <p:cNvSpPr/>
          <p:nvPr/>
        </p:nvSpPr>
        <p:spPr>
          <a:xfrm>
            <a:off x="502920" y="3794760"/>
            <a:ext cx="6080760" cy="621792"/>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867912"/>
            <a:ext cx="3200400" cy="256032"/>
          </a:xfrm>
          <a:prstGeom prst="rect">
            <a:avLst/>
          </a:prstGeom>
          <a:noFill/>
        </p:spPr>
        <p:txBody>
          <a:bodyPr wrap="square">
            <a:spAutoFit/>
          </a:bodyPr>
          <a:lstStyle/>
          <a:p>
            <a:pPr algn="l"/>
            <a:r>
              <a:rPr sz="1050" b="1" i="0">
                <a:solidFill>
                  <a:srgbClr val="0A0A0A"/>
                </a:solidFill>
                <a:latin typeface="Pretendard"/>
              </a:rPr>
              <a:t>Lugano, Switzerland</a:t>
            </a:r>
          </a:p>
        </p:txBody>
      </p:sp>
      <p:sp>
        <p:nvSpPr>
          <p:cNvPr id="18" name="TextBox 17"/>
          <p:cNvSpPr txBox="1"/>
          <p:nvPr/>
        </p:nvSpPr>
        <p:spPr>
          <a:xfrm>
            <a:off x="713232" y="4142232"/>
            <a:ext cx="3474720" cy="228600"/>
          </a:xfrm>
          <a:prstGeom prst="rect">
            <a:avLst/>
          </a:prstGeom>
          <a:noFill/>
        </p:spPr>
        <p:txBody>
          <a:bodyPr wrap="square">
            <a:spAutoFit/>
          </a:bodyPr>
          <a:lstStyle/>
          <a:p>
            <a:pPr algn="l"/>
            <a:r>
              <a:rPr sz="850" b="0" i="0">
                <a:solidFill>
                  <a:srgbClr val="585A5E"/>
                </a:solidFill>
                <a:latin typeface="Pretendard"/>
              </a:rPr>
              <a:t>Crocicchio Cortogna 6, 6900 Lugano</a:t>
            </a:r>
          </a:p>
        </p:txBody>
      </p:sp>
      <p:sp>
        <p:nvSpPr>
          <p:cNvPr id="19" name="TextBox 18"/>
          <p:cNvSpPr txBox="1"/>
          <p:nvPr/>
        </p:nvSpPr>
        <p:spPr>
          <a:xfrm>
            <a:off x="4389120" y="3959352"/>
            <a:ext cx="1828800" cy="256032"/>
          </a:xfrm>
          <a:prstGeom prst="rect">
            <a:avLst/>
          </a:prstGeom>
          <a:noFill/>
        </p:spPr>
        <p:txBody>
          <a:bodyPr wrap="square">
            <a:spAutoFit/>
          </a:bodyPr>
          <a:lstStyle/>
          <a:p>
            <a:pPr algn="r"/>
            <a:r>
              <a:rPr sz="750" b="1" i="0">
                <a:solidFill>
                  <a:srgbClr val="878884"/>
                </a:solidFill>
                <a:latin typeface="Pretendard"/>
              </a:rPr>
              <a:t>PRIMARY HQ</a:t>
            </a:r>
          </a:p>
        </p:txBody>
      </p:sp>
      <p:sp>
        <p:nvSpPr>
          <p:cNvPr id="20" name="Rectangle 19"/>
          <p:cNvSpPr/>
          <p:nvPr/>
        </p:nvSpPr>
        <p:spPr>
          <a:xfrm>
            <a:off x="502920" y="4526280"/>
            <a:ext cx="6080760" cy="621792"/>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4599432"/>
            <a:ext cx="3200400" cy="256032"/>
          </a:xfrm>
          <a:prstGeom prst="rect">
            <a:avLst/>
          </a:prstGeom>
          <a:noFill/>
        </p:spPr>
        <p:txBody>
          <a:bodyPr wrap="square">
            <a:spAutoFit/>
          </a:bodyPr>
          <a:lstStyle/>
          <a:p>
            <a:pPr algn="l"/>
            <a:r>
              <a:rPr sz="1050" b="1" i="0">
                <a:solidFill>
                  <a:srgbClr val="0A0A0A"/>
                </a:solidFill>
                <a:latin typeface="Pretendard"/>
              </a:rPr>
              <a:t>Wilmington, Delaware</a:t>
            </a:r>
          </a:p>
        </p:txBody>
      </p:sp>
      <p:sp>
        <p:nvSpPr>
          <p:cNvPr id="22" name="TextBox 21"/>
          <p:cNvSpPr txBox="1"/>
          <p:nvPr/>
        </p:nvSpPr>
        <p:spPr>
          <a:xfrm>
            <a:off x="713232" y="4873752"/>
            <a:ext cx="3474720" cy="228600"/>
          </a:xfrm>
          <a:prstGeom prst="rect">
            <a:avLst/>
          </a:prstGeom>
          <a:noFill/>
        </p:spPr>
        <p:txBody>
          <a:bodyPr wrap="square">
            <a:spAutoFit/>
          </a:bodyPr>
          <a:lstStyle/>
          <a:p>
            <a:pPr algn="l"/>
            <a:r>
              <a:rPr sz="850" b="0" i="0">
                <a:solidFill>
                  <a:srgbClr val="585A5E"/>
                </a:solidFill>
                <a:latin typeface="Pretendard"/>
              </a:rPr>
              <a:t>901 N Market Street, Suite 100</a:t>
            </a:r>
          </a:p>
        </p:txBody>
      </p:sp>
      <p:sp>
        <p:nvSpPr>
          <p:cNvPr id="23" name="TextBox 22"/>
          <p:cNvSpPr txBox="1"/>
          <p:nvPr/>
        </p:nvSpPr>
        <p:spPr>
          <a:xfrm>
            <a:off x="4389120" y="4690872"/>
            <a:ext cx="1828800" cy="256032"/>
          </a:xfrm>
          <a:prstGeom prst="rect">
            <a:avLst/>
          </a:prstGeom>
          <a:noFill/>
        </p:spPr>
        <p:txBody>
          <a:bodyPr wrap="square">
            <a:spAutoFit/>
          </a:bodyPr>
          <a:lstStyle/>
          <a:p>
            <a:pPr algn="r"/>
            <a:r>
              <a:rPr sz="750" b="1" i="0">
                <a:solidFill>
                  <a:srgbClr val="878884"/>
                </a:solidFill>
                <a:latin typeface="Pretendard"/>
              </a:rPr>
              <a:t>US ENTITY</a:t>
            </a:r>
          </a:p>
        </p:txBody>
      </p:sp>
      <p:sp>
        <p:nvSpPr>
          <p:cNvPr id="24" name="Rectangle 23"/>
          <p:cNvSpPr/>
          <p:nvPr/>
        </p:nvSpPr>
        <p:spPr>
          <a:xfrm>
            <a:off x="502920" y="5257800"/>
            <a:ext cx="6080760" cy="621792"/>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5330952"/>
            <a:ext cx="3200400" cy="256032"/>
          </a:xfrm>
          <a:prstGeom prst="rect">
            <a:avLst/>
          </a:prstGeom>
          <a:noFill/>
        </p:spPr>
        <p:txBody>
          <a:bodyPr wrap="square">
            <a:spAutoFit/>
          </a:bodyPr>
          <a:lstStyle/>
          <a:p>
            <a:pPr algn="l"/>
            <a:r>
              <a:rPr sz="1050" b="1" i="0">
                <a:solidFill>
                  <a:srgbClr val="0A0A0A"/>
                </a:solidFill>
                <a:latin typeface="Pretendard"/>
              </a:rPr>
              <a:t>Putignano, Bari, Italy</a:t>
            </a:r>
          </a:p>
        </p:txBody>
      </p:sp>
      <p:sp>
        <p:nvSpPr>
          <p:cNvPr id="26" name="TextBox 25"/>
          <p:cNvSpPr txBox="1"/>
          <p:nvPr/>
        </p:nvSpPr>
        <p:spPr>
          <a:xfrm>
            <a:off x="713232" y="5605272"/>
            <a:ext cx="3474720" cy="228600"/>
          </a:xfrm>
          <a:prstGeom prst="rect">
            <a:avLst/>
          </a:prstGeom>
          <a:noFill/>
        </p:spPr>
        <p:txBody>
          <a:bodyPr wrap="square">
            <a:spAutoFit/>
          </a:bodyPr>
          <a:lstStyle/>
          <a:p>
            <a:pPr algn="l"/>
            <a:r>
              <a:rPr sz="850" b="0" i="0">
                <a:solidFill>
                  <a:srgbClr val="585A5E"/>
                </a:solidFill>
                <a:latin typeface="Pretendard"/>
              </a:rPr>
              <a:t>Via Giuseppe Verdi 6, 70017 Putignano</a:t>
            </a:r>
          </a:p>
        </p:txBody>
      </p:sp>
      <p:sp>
        <p:nvSpPr>
          <p:cNvPr id="27" name="TextBox 26"/>
          <p:cNvSpPr txBox="1"/>
          <p:nvPr/>
        </p:nvSpPr>
        <p:spPr>
          <a:xfrm>
            <a:off x="4389120" y="5422392"/>
            <a:ext cx="1828800" cy="256032"/>
          </a:xfrm>
          <a:prstGeom prst="rect">
            <a:avLst/>
          </a:prstGeom>
          <a:noFill/>
        </p:spPr>
        <p:txBody>
          <a:bodyPr wrap="square">
            <a:spAutoFit/>
          </a:bodyPr>
          <a:lstStyle/>
          <a:p>
            <a:pPr algn="r"/>
            <a:r>
              <a:rPr sz="750" b="1" i="0">
                <a:solidFill>
                  <a:srgbClr val="878884"/>
                </a:solidFill>
                <a:latin typeface="Pretendard"/>
              </a:rPr>
              <a:t>R&amp;D</a:t>
            </a:r>
          </a:p>
        </p:txBody>
      </p:sp>
      <p:sp>
        <p:nvSpPr>
          <p:cNvPr id="28" name="TextBox 27"/>
          <p:cNvSpPr txBox="1"/>
          <p:nvPr/>
        </p:nvSpPr>
        <p:spPr>
          <a:xfrm>
            <a:off x="502920" y="6473952"/>
            <a:ext cx="1828800" cy="256032"/>
          </a:xfrm>
          <a:prstGeom prst="rect">
            <a:avLst/>
          </a:prstGeom>
          <a:noFill/>
        </p:spPr>
        <p:txBody>
          <a:bodyPr wrap="square">
            <a:spAutoFit/>
          </a:bodyPr>
          <a:lstStyle/>
          <a:p>
            <a:pPr algn="l"/>
            <a:r>
              <a:rPr sz="850" b="0" i="0">
                <a:solidFill>
                  <a:srgbClr val="878884"/>
                </a:solidFill>
                <a:latin typeface="Pretendard"/>
              </a:rPr>
              <a:t>Trust Center</a:t>
            </a:r>
          </a:p>
        </p:txBody>
      </p:sp>
      <p:sp>
        <p:nvSpPr>
          <p:cNvPr id="29" name="TextBox 28"/>
          <p:cNvSpPr txBox="1"/>
          <p:nvPr/>
        </p:nvSpPr>
        <p:spPr>
          <a:xfrm>
            <a:off x="1463040" y="6473952"/>
            <a:ext cx="2743200" cy="256032"/>
          </a:xfrm>
          <a:prstGeom prst="rect">
            <a:avLst/>
          </a:prstGeom>
          <a:noFill/>
        </p:spPr>
        <p:txBody>
          <a:bodyPr wrap="square">
            <a:spAutoFit/>
          </a:bodyPr>
          <a:lstStyle/>
          <a:p>
            <a:pPr algn="l"/>
            <a:r>
              <a:rPr sz="850" b="1" i="0">
                <a:solidFill>
                  <a:srgbClr val="0A0A0A"/>
                </a:solidFill>
                <a:latin typeface="Pretendard"/>
              </a:rPr>
              <a:t>premai.io/security</a:t>
            </a:r>
          </a:p>
        </p:txBody>
      </p:sp>
      <p:sp>
        <p:nvSpPr>
          <p:cNvPr id="30" name="TextBox 29"/>
          <p:cNvSpPr txBox="1"/>
          <p:nvPr/>
        </p:nvSpPr>
        <p:spPr>
          <a:xfrm>
            <a:off x="8229600" y="6080760"/>
            <a:ext cx="2743200" cy="256032"/>
          </a:xfrm>
          <a:prstGeom prst="rect">
            <a:avLst/>
          </a:prstGeom>
          <a:noFill/>
        </p:spPr>
        <p:txBody>
          <a:bodyPr wrap="square">
            <a:spAutoFit/>
          </a:bodyPr>
          <a:lstStyle/>
          <a:p>
            <a:pPr algn="l"/>
            <a:r>
              <a:rPr sz="900" b="1" i="0">
                <a:solidFill>
                  <a:srgbClr val="585A5E"/>
                </a:solidFill>
                <a:latin typeface="Pretendard"/>
              </a:rPr>
              <a:t>Lake Lugano</a:t>
            </a:r>
          </a:p>
        </p:txBody>
      </p:sp>
      <p:sp>
        <p:nvSpPr>
          <p:cNvPr id="31" name="Oval 30"/>
          <p:cNvSpPr/>
          <p:nvPr/>
        </p:nvSpPr>
        <p:spPr>
          <a:xfrm>
            <a:off x="8183879" y="6446520"/>
            <a:ext cx="91440" cy="91440"/>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351215" y="6462979"/>
            <a:ext cx="58521" cy="58521"/>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91118" y="6452006"/>
            <a:ext cx="80467" cy="80467"/>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656624" y="6466636"/>
            <a:ext cx="51206" cy="51206"/>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798356" y="6457492"/>
            <a:ext cx="69494" cy="69494"/>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03  DIGITAL FOCUS  |  ATTENTION AND RESOURCE ALLOCATION</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1155680" cy="411480"/>
          </a:xfrm>
          <a:prstGeom prst="rect">
            <a:avLst/>
          </a:prstGeom>
          <a:noFill/>
        </p:spPr>
        <p:txBody>
          <a:bodyPr wrap="square">
            <a:spAutoFit/>
          </a:bodyPr>
          <a:lstStyle/>
          <a:p>
            <a:pPr algn="l"/>
            <a:r>
              <a:rPr sz="1300" b="1" i="0">
                <a:solidFill>
                  <a:srgbClr val="0A0A0A"/>
                </a:solidFill>
                <a:latin typeface="Pretendard"/>
              </a:rPr>
              <a:t>The split governs production investment, not post frequency.</a:t>
            </a:r>
          </a:p>
        </p:txBody>
      </p:sp>
      <p:sp>
        <p:nvSpPr>
          <p:cNvPr id="6" name="TextBox 5"/>
          <p:cNvSpPr txBox="1"/>
          <p:nvPr/>
        </p:nvSpPr>
        <p:spPr>
          <a:xfrm>
            <a:off x="502920" y="1298448"/>
            <a:ext cx="11155680" cy="347472"/>
          </a:xfrm>
          <a:prstGeom prst="rect">
            <a:avLst/>
          </a:prstGeom>
          <a:noFill/>
        </p:spPr>
        <p:txBody>
          <a:bodyPr wrap="square">
            <a:spAutoFit/>
          </a:bodyPr>
          <a:lstStyle/>
          <a:p>
            <a:pPr algn="l"/>
            <a:r>
              <a:rPr sz="1050" b="0" i="0">
                <a:solidFill>
                  <a:srgbClr val="585A5E"/>
                </a:solidFill>
                <a:latin typeface="Pretendard"/>
              </a:rPr>
              <a:t>Content does not announce these ratios. The editorial voice is Prem and Fluso. Other products surface when there is a genuine story.</a:t>
            </a:r>
          </a:p>
        </p:txBody>
      </p:sp>
      <p:sp>
        <p:nvSpPr>
          <p:cNvPr id="7" name="Rectangle 6"/>
          <p:cNvSpPr/>
          <p:nvPr/>
        </p:nvSpPr>
        <p:spPr>
          <a:xfrm>
            <a:off x="502920" y="1920240"/>
            <a:ext cx="4476902" cy="1005840"/>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29968"/>
            <a:ext cx="4294022" cy="411480"/>
          </a:xfrm>
          <a:prstGeom prst="rect">
            <a:avLst/>
          </a:prstGeom>
          <a:noFill/>
        </p:spPr>
        <p:txBody>
          <a:bodyPr wrap="square">
            <a:spAutoFit/>
          </a:bodyPr>
          <a:lstStyle/>
          <a:p>
            <a:pPr algn="l"/>
            <a:r>
              <a:rPr sz="2200" b="1" i="0">
                <a:solidFill>
                  <a:srgbClr val="FFFFFF"/>
                </a:solidFill>
                <a:latin typeface="Pretendard"/>
              </a:rPr>
              <a:t>40%</a:t>
            </a:r>
          </a:p>
        </p:txBody>
      </p:sp>
      <p:sp>
        <p:nvSpPr>
          <p:cNvPr id="9" name="TextBox 8"/>
          <p:cNvSpPr txBox="1"/>
          <p:nvPr/>
        </p:nvSpPr>
        <p:spPr>
          <a:xfrm>
            <a:off x="640080" y="2450592"/>
            <a:ext cx="4294022" cy="347472"/>
          </a:xfrm>
          <a:prstGeom prst="rect">
            <a:avLst/>
          </a:prstGeom>
          <a:noFill/>
        </p:spPr>
        <p:txBody>
          <a:bodyPr wrap="square">
            <a:spAutoFit/>
          </a:bodyPr>
          <a:lstStyle/>
          <a:p>
            <a:pPr algn="l"/>
            <a:r>
              <a:rPr sz="850" b="1" i="0">
                <a:solidFill>
                  <a:srgbClr val="FFFFFF"/>
                </a:solidFill>
                <a:latin typeface="Pretendard"/>
              </a:rPr>
              <a:t>FLUSO</a:t>
            </a:r>
          </a:p>
        </p:txBody>
      </p:sp>
      <p:sp>
        <p:nvSpPr>
          <p:cNvPr id="10" name="Rectangle 9"/>
          <p:cNvSpPr/>
          <p:nvPr/>
        </p:nvSpPr>
        <p:spPr>
          <a:xfrm>
            <a:off x="4979822" y="1920240"/>
            <a:ext cx="2238451" cy="1005840"/>
          </a:xfrm>
          <a:prstGeom prst="rect">
            <a:avLst/>
          </a:prstGeom>
          <a:solidFill>
            <a:srgbClr val="32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6982" y="2029968"/>
            <a:ext cx="2055571" cy="411480"/>
          </a:xfrm>
          <a:prstGeom prst="rect">
            <a:avLst/>
          </a:prstGeom>
          <a:noFill/>
        </p:spPr>
        <p:txBody>
          <a:bodyPr wrap="square">
            <a:spAutoFit/>
          </a:bodyPr>
          <a:lstStyle/>
          <a:p>
            <a:pPr algn="l"/>
            <a:r>
              <a:rPr sz="2200" b="1" i="0">
                <a:solidFill>
                  <a:srgbClr val="FFFFFF"/>
                </a:solidFill>
                <a:latin typeface="Pretendard"/>
              </a:rPr>
              <a:t>20%</a:t>
            </a:r>
          </a:p>
        </p:txBody>
      </p:sp>
      <p:sp>
        <p:nvSpPr>
          <p:cNvPr id="12" name="TextBox 11"/>
          <p:cNvSpPr txBox="1"/>
          <p:nvPr/>
        </p:nvSpPr>
        <p:spPr>
          <a:xfrm>
            <a:off x="5116982" y="2450592"/>
            <a:ext cx="2055571" cy="347472"/>
          </a:xfrm>
          <a:prstGeom prst="rect">
            <a:avLst/>
          </a:prstGeom>
          <a:noFill/>
        </p:spPr>
        <p:txBody>
          <a:bodyPr wrap="square">
            <a:spAutoFit/>
          </a:bodyPr>
          <a:lstStyle/>
          <a:p>
            <a:pPr algn="l"/>
            <a:r>
              <a:rPr sz="850" b="1" i="0">
                <a:solidFill>
                  <a:srgbClr val="FFFFFF"/>
                </a:solidFill>
                <a:latin typeface="Pretendard"/>
              </a:rPr>
              <a:t>CONFIDENTIAL API</a:t>
            </a:r>
          </a:p>
        </p:txBody>
      </p:sp>
      <p:sp>
        <p:nvSpPr>
          <p:cNvPr id="13" name="Rectangle 12"/>
          <p:cNvSpPr/>
          <p:nvPr/>
        </p:nvSpPr>
        <p:spPr>
          <a:xfrm>
            <a:off x="7218273" y="1920240"/>
            <a:ext cx="1119225" cy="1005840"/>
          </a:xfrm>
          <a:prstGeom prst="rect">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91425" y="2029968"/>
            <a:ext cx="1027785" cy="411480"/>
          </a:xfrm>
          <a:prstGeom prst="rect">
            <a:avLst/>
          </a:prstGeom>
          <a:noFill/>
        </p:spPr>
        <p:txBody>
          <a:bodyPr wrap="square">
            <a:spAutoFit/>
          </a:bodyPr>
          <a:lstStyle/>
          <a:p>
            <a:pPr algn="l"/>
            <a:r>
              <a:rPr sz="1600" b="1" i="0">
                <a:solidFill>
                  <a:srgbClr val="FFFFFF"/>
                </a:solidFill>
                <a:latin typeface="Pretendard"/>
              </a:rPr>
              <a:t>10%</a:t>
            </a:r>
          </a:p>
        </p:txBody>
      </p:sp>
      <p:sp>
        <p:nvSpPr>
          <p:cNvPr id="15" name="Rectangle 14"/>
          <p:cNvSpPr/>
          <p:nvPr/>
        </p:nvSpPr>
        <p:spPr>
          <a:xfrm>
            <a:off x="8337499" y="1920240"/>
            <a:ext cx="3357676" cy="1005840"/>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4659" y="2029968"/>
            <a:ext cx="3174796" cy="411480"/>
          </a:xfrm>
          <a:prstGeom prst="rect">
            <a:avLst/>
          </a:prstGeom>
          <a:noFill/>
        </p:spPr>
        <p:txBody>
          <a:bodyPr wrap="square">
            <a:spAutoFit/>
          </a:bodyPr>
          <a:lstStyle/>
          <a:p>
            <a:pPr algn="l"/>
            <a:r>
              <a:rPr sz="2200" b="1" i="0">
                <a:solidFill>
                  <a:srgbClr val="0A0A0A"/>
                </a:solidFill>
                <a:latin typeface="Pretendard"/>
              </a:rPr>
              <a:t>30%</a:t>
            </a:r>
          </a:p>
        </p:txBody>
      </p:sp>
      <p:sp>
        <p:nvSpPr>
          <p:cNvPr id="17" name="TextBox 16"/>
          <p:cNvSpPr txBox="1"/>
          <p:nvPr/>
        </p:nvSpPr>
        <p:spPr>
          <a:xfrm>
            <a:off x="8474659" y="2450592"/>
            <a:ext cx="3174796" cy="347472"/>
          </a:xfrm>
          <a:prstGeom prst="rect">
            <a:avLst/>
          </a:prstGeom>
          <a:noFill/>
        </p:spPr>
        <p:txBody>
          <a:bodyPr wrap="square">
            <a:spAutoFit/>
          </a:bodyPr>
          <a:lstStyle/>
          <a:p>
            <a:pPr algn="l"/>
            <a:r>
              <a:rPr sz="850" b="1" i="0">
                <a:solidFill>
                  <a:srgbClr val="0A0A0A"/>
                </a:solidFill>
                <a:latin typeface="Pretendard"/>
              </a:rPr>
              <a:t>REST</a:t>
            </a:r>
          </a:p>
        </p:txBody>
      </p:sp>
      <p:sp>
        <p:nvSpPr>
          <p:cNvPr id="18" name="Rectangle 17"/>
          <p:cNvSpPr/>
          <p:nvPr/>
        </p:nvSpPr>
        <p:spPr>
          <a:xfrm>
            <a:off x="502920" y="3154680"/>
            <a:ext cx="2743200" cy="329184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3291840"/>
            <a:ext cx="2377440" cy="384048"/>
          </a:xfrm>
          <a:prstGeom prst="rect">
            <a:avLst/>
          </a:prstGeom>
          <a:noFill/>
        </p:spPr>
        <p:txBody>
          <a:bodyPr wrap="square">
            <a:spAutoFit/>
          </a:bodyPr>
          <a:lstStyle/>
          <a:p>
            <a:pPr algn="l"/>
            <a:r>
              <a:rPr sz="1000" b="1" i="0">
                <a:solidFill>
                  <a:srgbClr val="0A0A0A"/>
                </a:solidFill>
                <a:latin typeface="Pretendard"/>
              </a:rPr>
              <a:t>40 %   FLUSO</a:t>
            </a:r>
          </a:p>
        </p:txBody>
      </p:sp>
      <p:sp>
        <p:nvSpPr>
          <p:cNvPr id="20" name="TextBox 19"/>
          <p:cNvSpPr txBox="1"/>
          <p:nvPr/>
        </p:nvSpPr>
        <p:spPr>
          <a:xfrm>
            <a:off x="704088" y="3749039"/>
            <a:ext cx="2423160" cy="2514600"/>
          </a:xfrm>
          <a:prstGeom prst="rect">
            <a:avLst/>
          </a:prstGeom>
          <a:noFill/>
        </p:spPr>
        <p:txBody>
          <a:bodyPr wrap="square">
            <a:spAutoFit/>
          </a:bodyPr>
          <a:lstStyle/>
          <a:p>
            <a:pPr algn="l"/>
            <a:r>
              <a:rPr sz="900" b="0" i="0">
                <a:solidFill>
                  <a:srgbClr val="585A5E"/>
                </a:solidFill>
                <a:latin typeface="Pretendard"/>
              </a:rPr>
              <a:t>Full flagship treatment: daily X posts, Instagram as its visual home, influencer program, waitlist-driving campaigns and every major product drop.</a:t>
            </a:r>
          </a:p>
        </p:txBody>
      </p:sp>
      <p:sp>
        <p:nvSpPr>
          <p:cNvPr id="21" name="Rectangle 20"/>
          <p:cNvSpPr/>
          <p:nvPr/>
        </p:nvSpPr>
        <p:spPr>
          <a:xfrm>
            <a:off x="3447288" y="3154680"/>
            <a:ext cx="2743200" cy="329184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48456" y="3291840"/>
            <a:ext cx="2377440" cy="384048"/>
          </a:xfrm>
          <a:prstGeom prst="rect">
            <a:avLst/>
          </a:prstGeom>
          <a:noFill/>
        </p:spPr>
        <p:txBody>
          <a:bodyPr wrap="square">
            <a:spAutoFit/>
          </a:bodyPr>
          <a:lstStyle/>
          <a:p>
            <a:pPr algn="l"/>
            <a:r>
              <a:rPr sz="1000" b="1" i="0">
                <a:solidFill>
                  <a:srgbClr val="0A0A0A"/>
                </a:solidFill>
                <a:latin typeface="Pretendard"/>
              </a:rPr>
              <a:t>20 %   CONFIDENTIAL API</a:t>
            </a:r>
          </a:p>
        </p:txBody>
      </p:sp>
      <p:sp>
        <p:nvSpPr>
          <p:cNvPr id="23" name="TextBox 22"/>
          <p:cNvSpPr txBox="1"/>
          <p:nvPr/>
        </p:nvSpPr>
        <p:spPr>
          <a:xfrm>
            <a:off x="3648456" y="3749039"/>
            <a:ext cx="2423160" cy="2514600"/>
          </a:xfrm>
          <a:prstGeom prst="rect">
            <a:avLst/>
          </a:prstGeom>
          <a:noFill/>
        </p:spPr>
        <p:txBody>
          <a:bodyPr wrap="square">
            <a:spAutoFit/>
          </a:bodyPr>
          <a:lstStyle/>
          <a:p>
            <a:pPr algn="l"/>
            <a:r>
              <a:rPr sz="900" b="0" i="0">
                <a:solidFill>
                  <a:srgbClr val="585A5E"/>
                </a:solidFill>
                <a:latin typeface="Pretendard"/>
              </a:rPr>
              <a:t>Enterprise developer entry point. Technical content: architecture explainers, encrypted inference use cases, developer tutorials and integration proof.</a:t>
            </a:r>
          </a:p>
        </p:txBody>
      </p:sp>
      <p:sp>
        <p:nvSpPr>
          <p:cNvPr id="24" name="Rectangle 23"/>
          <p:cNvSpPr/>
          <p:nvPr/>
        </p:nvSpPr>
        <p:spPr>
          <a:xfrm>
            <a:off x="6391656" y="3154680"/>
            <a:ext cx="2743200" cy="329184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2824" y="3291840"/>
            <a:ext cx="2377440" cy="384048"/>
          </a:xfrm>
          <a:prstGeom prst="rect">
            <a:avLst/>
          </a:prstGeom>
          <a:noFill/>
        </p:spPr>
        <p:txBody>
          <a:bodyPr wrap="square">
            <a:spAutoFit/>
          </a:bodyPr>
          <a:lstStyle/>
          <a:p>
            <a:pPr algn="l"/>
            <a:r>
              <a:rPr sz="1000" b="1" i="0">
                <a:solidFill>
                  <a:srgbClr val="0A0A0A"/>
                </a:solidFill>
                <a:latin typeface="Pretendard"/>
              </a:rPr>
              <a:t>10 %   SOTTO</a:t>
            </a:r>
          </a:p>
        </p:txBody>
      </p:sp>
      <p:sp>
        <p:nvSpPr>
          <p:cNvPr id="26" name="TextBox 25"/>
          <p:cNvSpPr txBox="1"/>
          <p:nvPr/>
        </p:nvSpPr>
        <p:spPr>
          <a:xfrm>
            <a:off x="6592824" y="3749039"/>
            <a:ext cx="2423160" cy="2514600"/>
          </a:xfrm>
          <a:prstGeom prst="rect">
            <a:avLst/>
          </a:prstGeom>
          <a:noFill/>
        </p:spPr>
        <p:txBody>
          <a:bodyPr wrap="square">
            <a:spAutoFit/>
          </a:bodyPr>
          <a:lstStyle/>
          <a:p>
            <a:pPr algn="l"/>
            <a:r>
              <a:rPr sz="900" b="0" i="0">
                <a:solidFill>
                  <a:srgbClr val="585A5E"/>
                </a:solidFill>
                <a:latin typeface="Pretendard"/>
              </a:rPr>
              <a:t>Appears when there is a product story or real user receipt. Encrypted dictation is niche but highly shareable among its audience.</a:t>
            </a:r>
          </a:p>
        </p:txBody>
      </p:sp>
      <p:sp>
        <p:nvSpPr>
          <p:cNvPr id="27" name="Rectangle 26"/>
          <p:cNvSpPr/>
          <p:nvPr/>
        </p:nvSpPr>
        <p:spPr>
          <a:xfrm>
            <a:off x="9336024" y="3154680"/>
            <a:ext cx="2743200" cy="329184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37192" y="3291840"/>
            <a:ext cx="2377440" cy="384048"/>
          </a:xfrm>
          <a:prstGeom prst="rect">
            <a:avLst/>
          </a:prstGeom>
          <a:noFill/>
        </p:spPr>
        <p:txBody>
          <a:bodyPr wrap="square">
            <a:spAutoFit/>
          </a:bodyPr>
          <a:lstStyle/>
          <a:p>
            <a:pPr algn="l"/>
            <a:r>
              <a:rPr sz="1000" b="1" i="0">
                <a:solidFill>
                  <a:srgbClr val="0A0A0A"/>
                </a:solidFill>
                <a:latin typeface="Pretendard"/>
              </a:rPr>
              <a:t>30 %   THE REST</a:t>
            </a:r>
          </a:p>
        </p:txBody>
      </p:sp>
      <p:sp>
        <p:nvSpPr>
          <p:cNvPr id="29" name="TextBox 28"/>
          <p:cNvSpPr txBox="1"/>
          <p:nvPr/>
        </p:nvSpPr>
        <p:spPr>
          <a:xfrm>
            <a:off x="9537192" y="3749039"/>
            <a:ext cx="2423160" cy="2514600"/>
          </a:xfrm>
          <a:prstGeom prst="rect">
            <a:avLst/>
          </a:prstGeom>
          <a:noFill/>
        </p:spPr>
        <p:txBody>
          <a:bodyPr wrap="square">
            <a:spAutoFit/>
          </a:bodyPr>
          <a:lstStyle/>
          <a:p>
            <a:pPr algn="l"/>
            <a:r>
              <a:rPr sz="900" b="0" i="0">
                <a:solidFill>
                  <a:srgbClr val="585A5E"/>
                </a:solidFill>
                <a:latin typeface="Pretendard"/>
              </a:rPr>
              <a:t>Prem brand authority (LinkedIn, press, research), Enclave compliance content, Concierge workflow use cases, Studio for developer depth.</a:t>
            </a:r>
          </a:p>
        </p:txBody>
      </p:sp>
      <p:sp>
        <p:nvSpPr>
          <p:cNvPr id="30" name="TextBox 29"/>
          <p:cNvSpPr txBox="1"/>
          <p:nvPr/>
        </p:nvSpPr>
        <p:spPr>
          <a:xfrm>
            <a:off x="502920" y="6492240"/>
            <a:ext cx="11155680" cy="256032"/>
          </a:xfrm>
          <a:prstGeom prst="rect">
            <a:avLst/>
          </a:prstGeom>
          <a:noFill/>
        </p:spPr>
        <p:txBody>
          <a:bodyPr wrap="square">
            <a:spAutoFit/>
          </a:bodyPr>
          <a:lstStyle/>
          <a:p>
            <a:pPr algn="l"/>
            <a:r>
              <a:rPr sz="850" b="0" i="0">
                <a:solidFill>
                  <a:srgbClr val="878884"/>
                </a:solidFill>
                <a:latin typeface="Pretendard"/>
              </a:rPr>
              <a:t>Rebalance the split monthly by counting published posts per product. If any bucket drifts more than ±10 points, adjust the following month's calendar.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04  POSITIONING: PREM</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822960"/>
            <a:ext cx="12192609" cy="2331720"/>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005840"/>
            <a:ext cx="10972800" cy="594360"/>
          </a:xfrm>
          <a:prstGeom prst="rect">
            <a:avLst/>
          </a:prstGeom>
          <a:noFill/>
        </p:spPr>
        <p:txBody>
          <a:bodyPr wrap="square">
            <a:spAutoFit/>
          </a:bodyPr>
          <a:lstStyle/>
          <a:p>
            <a:pPr algn="l"/>
            <a:r>
              <a:rPr sz="3000" b="1" i="0">
                <a:solidFill>
                  <a:srgbClr val="FFFFFF"/>
                </a:solidFill>
                <a:latin typeface="Pretendard"/>
              </a:rPr>
              <a:t>"Private Super Intelligence"</a:t>
            </a:r>
          </a:p>
        </p:txBody>
      </p:sp>
      <p:sp>
        <p:nvSpPr>
          <p:cNvPr id="7" name="TextBox 6"/>
          <p:cNvSpPr txBox="1"/>
          <p:nvPr/>
        </p:nvSpPr>
        <p:spPr>
          <a:xfrm>
            <a:off x="502920" y="1645920"/>
            <a:ext cx="10789920" cy="457200"/>
          </a:xfrm>
          <a:prstGeom prst="rect">
            <a:avLst/>
          </a:prstGeom>
          <a:noFill/>
        </p:spPr>
        <p:txBody>
          <a:bodyPr wrap="square">
            <a:spAutoFit/>
          </a:bodyPr>
          <a:lstStyle/>
          <a:p>
            <a:pPr algn="l"/>
            <a:r>
              <a:rPr sz="1200" b="0" i="1">
                <a:solidFill>
                  <a:srgbClr val="878884"/>
                </a:solidFill>
                <a:latin typeface="Pretendard"/>
              </a:rPr>
              <a:t>"AI is the most powerful technology of our era. Prem makes it private, verifiable, and sovereign."</a:t>
            </a:r>
          </a:p>
        </p:txBody>
      </p:sp>
      <p:sp>
        <p:nvSpPr>
          <p:cNvPr id="8" name="TextBox 7"/>
          <p:cNvSpPr txBox="1"/>
          <p:nvPr/>
        </p:nvSpPr>
        <p:spPr>
          <a:xfrm>
            <a:off x="502920" y="2212848"/>
            <a:ext cx="4572000" cy="292608"/>
          </a:xfrm>
          <a:prstGeom prst="rect">
            <a:avLst/>
          </a:prstGeom>
          <a:noFill/>
        </p:spPr>
        <p:txBody>
          <a:bodyPr wrap="square">
            <a:spAutoFit/>
          </a:bodyPr>
          <a:lstStyle/>
          <a:p>
            <a:pPr algn="l"/>
            <a:r>
              <a:rPr sz="900" b="1" i="0">
                <a:solidFill>
                  <a:srgbClr val="878884"/>
                </a:solidFill>
                <a:latin typeface="Pretendard"/>
              </a:rPr>
              <a:t>The three pillars — from the live site hero</a:t>
            </a:r>
          </a:p>
        </p:txBody>
      </p:sp>
      <p:sp>
        <p:nvSpPr>
          <p:cNvPr id="9" name="Rectangle 8"/>
          <p:cNvSpPr/>
          <p:nvPr/>
        </p:nvSpPr>
        <p:spPr>
          <a:xfrm>
            <a:off x="502920" y="3383280"/>
            <a:ext cx="3611880" cy="31089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547872"/>
            <a:ext cx="3154680" cy="384048"/>
          </a:xfrm>
          <a:prstGeom prst="rect">
            <a:avLst/>
          </a:prstGeom>
          <a:noFill/>
        </p:spPr>
        <p:txBody>
          <a:bodyPr wrap="square">
            <a:spAutoFit/>
          </a:bodyPr>
          <a:lstStyle/>
          <a:p>
            <a:pPr algn="l"/>
            <a:r>
              <a:rPr sz="1700" b="1" i="0">
                <a:solidFill>
                  <a:srgbClr val="0A0A0A"/>
                </a:solidFill>
                <a:latin typeface="Pretendard"/>
              </a:rPr>
              <a:t>Private</a:t>
            </a:r>
          </a:p>
        </p:txBody>
      </p:sp>
      <p:sp>
        <p:nvSpPr>
          <p:cNvPr id="11" name="TextBox 10"/>
          <p:cNvSpPr txBox="1"/>
          <p:nvPr/>
        </p:nvSpPr>
        <p:spPr>
          <a:xfrm>
            <a:off x="731520" y="4005072"/>
            <a:ext cx="3154680" cy="1645920"/>
          </a:xfrm>
          <a:prstGeom prst="rect">
            <a:avLst/>
          </a:prstGeom>
          <a:noFill/>
        </p:spPr>
        <p:txBody>
          <a:bodyPr wrap="square">
            <a:spAutoFit/>
          </a:bodyPr>
          <a:lstStyle/>
          <a:p>
            <a:pPr algn="l"/>
            <a:r>
              <a:rPr sz="950" b="0" i="0">
                <a:solidFill>
                  <a:srgbClr val="585A5E"/>
                </a:solidFill>
                <a:latin typeface="Pretendard"/>
              </a:rPr>
              <a:t>Runs on the customer's infrastructure via Prem Enclave. Data never leaves their VPC, never reaches Prem servers. Not a contractual promise — a technical architecture.</a:t>
            </a:r>
          </a:p>
        </p:txBody>
      </p:sp>
      <p:sp>
        <p:nvSpPr>
          <p:cNvPr id="12" name="Rectangle 11"/>
          <p:cNvSpPr/>
          <p:nvPr/>
        </p:nvSpPr>
        <p:spPr>
          <a:xfrm>
            <a:off x="731520" y="5760720"/>
            <a:ext cx="3154680" cy="9144"/>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870448"/>
            <a:ext cx="3154680" cy="502920"/>
          </a:xfrm>
          <a:prstGeom prst="rect">
            <a:avLst/>
          </a:prstGeom>
          <a:noFill/>
        </p:spPr>
        <p:txBody>
          <a:bodyPr wrap="square">
            <a:spAutoFit/>
          </a:bodyPr>
          <a:lstStyle/>
          <a:p>
            <a:pPr algn="l"/>
            <a:r>
              <a:rPr sz="850" b="0" i="1">
                <a:solidFill>
                  <a:srgbClr val="585A5E"/>
                </a:solidFill>
                <a:latin typeface="Pretendard"/>
              </a:rPr>
              <a:t>Loss-aversion frame: "Policy promises cannot survive a subpoena."</a:t>
            </a:r>
          </a:p>
        </p:txBody>
      </p:sp>
      <p:sp>
        <p:nvSpPr>
          <p:cNvPr id="14" name="Rectangle 13"/>
          <p:cNvSpPr/>
          <p:nvPr/>
        </p:nvSpPr>
        <p:spPr>
          <a:xfrm>
            <a:off x="4407407" y="3383280"/>
            <a:ext cx="3611880" cy="31089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6007" y="3547872"/>
            <a:ext cx="3154680" cy="384048"/>
          </a:xfrm>
          <a:prstGeom prst="rect">
            <a:avLst/>
          </a:prstGeom>
          <a:noFill/>
        </p:spPr>
        <p:txBody>
          <a:bodyPr wrap="square">
            <a:spAutoFit/>
          </a:bodyPr>
          <a:lstStyle/>
          <a:p>
            <a:pPr algn="l"/>
            <a:r>
              <a:rPr sz="1700" b="1" i="0">
                <a:solidFill>
                  <a:srgbClr val="0A0A0A"/>
                </a:solidFill>
                <a:latin typeface="Pretendard"/>
              </a:rPr>
              <a:t>Verifiable</a:t>
            </a:r>
          </a:p>
        </p:txBody>
      </p:sp>
      <p:sp>
        <p:nvSpPr>
          <p:cNvPr id="16" name="TextBox 15"/>
          <p:cNvSpPr txBox="1"/>
          <p:nvPr/>
        </p:nvSpPr>
        <p:spPr>
          <a:xfrm>
            <a:off x="4636007" y="4005072"/>
            <a:ext cx="3154680" cy="1645920"/>
          </a:xfrm>
          <a:prstGeom prst="rect">
            <a:avLst/>
          </a:prstGeom>
          <a:noFill/>
        </p:spPr>
        <p:txBody>
          <a:bodyPr wrap="square">
            <a:spAutoFit/>
          </a:bodyPr>
          <a:lstStyle/>
          <a:p>
            <a:pPr algn="l"/>
            <a:r>
              <a:rPr sz="950" b="0" i="0">
                <a:solidFill>
                  <a:srgbClr val="585A5E"/>
                </a:solidFill>
                <a:latin typeface="Pretendard"/>
              </a:rPr>
              <a:t>Confidential API uses encrypted inference: the model processes data inside a trusted execution environment. Customers can audit what ran, on which model, when.</a:t>
            </a:r>
          </a:p>
        </p:txBody>
      </p:sp>
      <p:sp>
        <p:nvSpPr>
          <p:cNvPr id="17" name="Rectangle 16"/>
          <p:cNvSpPr/>
          <p:nvPr/>
        </p:nvSpPr>
        <p:spPr>
          <a:xfrm>
            <a:off x="4636007" y="5760720"/>
            <a:ext cx="3154680" cy="9144"/>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7" y="5870448"/>
            <a:ext cx="3154680" cy="502920"/>
          </a:xfrm>
          <a:prstGeom prst="rect">
            <a:avLst/>
          </a:prstGeom>
          <a:noFill/>
        </p:spPr>
        <p:txBody>
          <a:bodyPr wrap="square">
            <a:spAutoFit/>
          </a:bodyPr>
          <a:lstStyle/>
          <a:p>
            <a:pPr algn="l"/>
            <a:r>
              <a:rPr sz="850" b="0" i="1">
                <a:solidFill>
                  <a:srgbClr val="585A5E"/>
                </a:solidFill>
                <a:latin typeface="Pretendard"/>
              </a:rPr>
              <a:t>Proof frame: "Auditable by your team, your counsel, your regulator."</a:t>
            </a:r>
          </a:p>
        </p:txBody>
      </p:sp>
      <p:sp>
        <p:nvSpPr>
          <p:cNvPr id="19" name="Rectangle 18"/>
          <p:cNvSpPr/>
          <p:nvPr/>
        </p:nvSpPr>
        <p:spPr>
          <a:xfrm>
            <a:off x="8311896" y="3383280"/>
            <a:ext cx="3611880" cy="31089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0496" y="3547872"/>
            <a:ext cx="3154680" cy="384048"/>
          </a:xfrm>
          <a:prstGeom prst="rect">
            <a:avLst/>
          </a:prstGeom>
          <a:noFill/>
        </p:spPr>
        <p:txBody>
          <a:bodyPr wrap="square">
            <a:spAutoFit/>
          </a:bodyPr>
          <a:lstStyle/>
          <a:p>
            <a:pPr algn="l"/>
            <a:r>
              <a:rPr sz="1700" b="1" i="0">
                <a:solidFill>
                  <a:srgbClr val="0A0A0A"/>
                </a:solidFill>
                <a:latin typeface="Pretendard"/>
              </a:rPr>
              <a:t>Sovereign</a:t>
            </a:r>
          </a:p>
        </p:txBody>
      </p:sp>
      <p:sp>
        <p:nvSpPr>
          <p:cNvPr id="21" name="TextBox 20"/>
          <p:cNvSpPr txBox="1"/>
          <p:nvPr/>
        </p:nvSpPr>
        <p:spPr>
          <a:xfrm>
            <a:off x="8540496" y="4005072"/>
            <a:ext cx="3154680" cy="1645920"/>
          </a:xfrm>
          <a:prstGeom prst="rect">
            <a:avLst/>
          </a:prstGeom>
          <a:noFill/>
        </p:spPr>
        <p:txBody>
          <a:bodyPr wrap="square">
            <a:spAutoFit/>
          </a:bodyPr>
          <a:lstStyle/>
          <a:p>
            <a:pPr algn="l"/>
            <a:r>
              <a:rPr sz="950" b="0" i="0">
                <a:solidFill>
                  <a:srgbClr val="585A5E"/>
                </a:solidFill>
                <a:latin typeface="Pretendard"/>
              </a:rPr>
              <a:t>Any open model, any infrastructure, customer's jurisdiction governs. Prem does not dictate the model, the location or the data handling terms.</a:t>
            </a:r>
          </a:p>
        </p:txBody>
      </p:sp>
      <p:sp>
        <p:nvSpPr>
          <p:cNvPr id="22" name="Rectangle 21"/>
          <p:cNvSpPr/>
          <p:nvPr/>
        </p:nvSpPr>
        <p:spPr>
          <a:xfrm>
            <a:off x="8540496" y="5760720"/>
            <a:ext cx="3154680" cy="9144"/>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0496" y="5870448"/>
            <a:ext cx="3154680" cy="502920"/>
          </a:xfrm>
          <a:prstGeom prst="rect">
            <a:avLst/>
          </a:prstGeom>
          <a:noFill/>
        </p:spPr>
        <p:txBody>
          <a:bodyPr wrap="square">
            <a:spAutoFit/>
          </a:bodyPr>
          <a:lstStyle/>
          <a:p>
            <a:pPr algn="l"/>
            <a:r>
              <a:rPr sz="850" b="0" i="1">
                <a:solidFill>
                  <a:srgbClr val="585A5E"/>
                </a:solidFill>
                <a:latin typeface="Pretendard"/>
              </a:rPr>
              <a:t>Autonomy frame: "You own the stack. We help you run it."</a:t>
            </a:r>
          </a:p>
        </p:txBody>
      </p:sp>
      <p:sp>
        <p:nvSpPr>
          <p:cNvPr id="24" name="TextBox 23"/>
          <p:cNvSpPr txBox="1"/>
          <p:nvPr/>
        </p:nvSpPr>
        <p:spPr>
          <a:xfrm>
            <a:off x="502920" y="6492240"/>
            <a:ext cx="11155680" cy="274320"/>
          </a:xfrm>
          <a:prstGeom prst="rect">
            <a:avLst/>
          </a:prstGeom>
          <a:noFill/>
        </p:spPr>
        <p:txBody>
          <a:bodyPr wrap="square">
            <a:spAutoFit/>
          </a:bodyPr>
          <a:lstStyle/>
          <a:p>
            <a:pPr algn="l"/>
            <a:r>
              <a:rPr sz="850" b="1" i="0">
                <a:solidFill>
                  <a:srgbClr val="878884"/>
                </a:solidFill>
                <a:latin typeface="Pretendard"/>
              </a:rPr>
              <a:t>PROOF BANK  (site-verified):  Trusted by NVIDIA · AWS · Microsoft · Index Ventures · Innosuisse · SUPSI · Abu Dhabi Investment Office · Plug and Play · Breyer Capital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05  POSITIONING: FLUSO  (THE FLAGSHIP)</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0972800" cy="731520"/>
          </a:xfrm>
          <a:prstGeom prst="rect">
            <a:avLst/>
          </a:prstGeom>
          <a:noFill/>
        </p:spPr>
        <p:txBody>
          <a:bodyPr wrap="square">
            <a:spAutoFit/>
          </a:bodyPr>
          <a:lstStyle/>
          <a:p>
            <a:pPr algn="l"/>
            <a:r>
              <a:rPr sz="3400" b="1" i="0">
                <a:solidFill>
                  <a:srgbClr val="0A0A0A"/>
                </a:solidFill>
                <a:latin typeface="Pretendard"/>
              </a:rPr>
              <a:t>"Work deeper, not longer."</a:t>
            </a:r>
          </a:p>
        </p:txBody>
      </p:sp>
      <p:sp>
        <p:nvSpPr>
          <p:cNvPr id="6" name="TextBox 5"/>
          <p:cNvSpPr txBox="1"/>
          <p:nvPr/>
        </p:nvSpPr>
        <p:spPr>
          <a:xfrm>
            <a:off x="502920" y="1600200"/>
            <a:ext cx="10972800" cy="320040"/>
          </a:xfrm>
          <a:prstGeom prst="rect">
            <a:avLst/>
          </a:prstGeom>
          <a:noFill/>
        </p:spPr>
        <p:txBody>
          <a:bodyPr wrap="square">
            <a:spAutoFit/>
          </a:bodyPr>
          <a:lstStyle/>
          <a:p>
            <a:pPr algn="l"/>
            <a:r>
              <a:rPr sz="1050" b="0" i="0">
                <a:solidFill>
                  <a:srgbClr val="878884"/>
                </a:solidFill>
                <a:latin typeface="Pretendard"/>
              </a:rPr>
              <a:t>"Private AI workspace" — premai.io/products</a:t>
            </a:r>
          </a:p>
        </p:txBody>
      </p:sp>
      <p:sp>
        <p:nvSpPr>
          <p:cNvPr id="7" name="Rectangle 6"/>
          <p:cNvSpPr/>
          <p:nvPr/>
        </p:nvSpPr>
        <p:spPr>
          <a:xfrm>
            <a:off x="502920" y="20574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267712"/>
            <a:ext cx="1417320" cy="502920"/>
          </a:xfrm>
          <a:prstGeom prst="rect">
            <a:avLst/>
          </a:prstGeom>
          <a:noFill/>
        </p:spPr>
        <p:txBody>
          <a:bodyPr wrap="square">
            <a:spAutoFit/>
          </a:bodyPr>
          <a:lstStyle/>
          <a:p>
            <a:pPr algn="l"/>
            <a:r>
              <a:rPr sz="850" b="1" i="0">
                <a:solidFill>
                  <a:srgbClr val="878884"/>
                </a:solidFill>
                <a:latin typeface="Pretendard"/>
              </a:rPr>
              <a:t>FOR</a:t>
            </a:r>
          </a:p>
        </p:txBody>
      </p:sp>
      <p:sp>
        <p:nvSpPr>
          <p:cNvPr id="9" name="TextBox 8"/>
          <p:cNvSpPr txBox="1"/>
          <p:nvPr/>
        </p:nvSpPr>
        <p:spPr>
          <a:xfrm>
            <a:off x="2057400" y="2267712"/>
            <a:ext cx="9601200" cy="658368"/>
          </a:xfrm>
          <a:prstGeom prst="rect">
            <a:avLst/>
          </a:prstGeom>
          <a:noFill/>
        </p:spPr>
        <p:txBody>
          <a:bodyPr wrap="square">
            <a:spAutoFit/>
          </a:bodyPr>
          <a:lstStyle/>
          <a:p>
            <a:pPr algn="l"/>
            <a:r>
              <a:rPr sz="1100" b="0" i="0">
                <a:solidFill>
                  <a:srgbClr val="0A0A0A"/>
                </a:solidFill>
                <a:latin typeface="Pretendard"/>
              </a:rPr>
              <a:t>Lawyers, analysts, researchers and engineers doing cognitive-heavy, context-dependent work</a:t>
            </a:r>
          </a:p>
        </p:txBody>
      </p:sp>
      <p:sp>
        <p:nvSpPr>
          <p:cNvPr id="10" name="TextBox 9"/>
          <p:cNvSpPr txBox="1"/>
          <p:nvPr/>
        </p:nvSpPr>
        <p:spPr>
          <a:xfrm>
            <a:off x="502920" y="3017520"/>
            <a:ext cx="1417320" cy="502920"/>
          </a:xfrm>
          <a:prstGeom prst="rect">
            <a:avLst/>
          </a:prstGeom>
          <a:noFill/>
        </p:spPr>
        <p:txBody>
          <a:bodyPr wrap="square">
            <a:spAutoFit/>
          </a:bodyPr>
          <a:lstStyle/>
          <a:p>
            <a:pPr algn="l"/>
            <a:r>
              <a:rPr sz="850" b="1" i="0">
                <a:solidFill>
                  <a:srgbClr val="878884"/>
                </a:solidFill>
                <a:latin typeface="Pretendard"/>
              </a:rPr>
              <a:t>WHO NEED</a:t>
            </a:r>
          </a:p>
        </p:txBody>
      </p:sp>
      <p:sp>
        <p:nvSpPr>
          <p:cNvPr id="11" name="TextBox 10"/>
          <p:cNvSpPr txBox="1"/>
          <p:nvPr/>
        </p:nvSpPr>
        <p:spPr>
          <a:xfrm>
            <a:off x="2057400" y="3017520"/>
            <a:ext cx="9601200" cy="658368"/>
          </a:xfrm>
          <a:prstGeom prst="rect">
            <a:avLst/>
          </a:prstGeom>
          <a:noFill/>
        </p:spPr>
        <p:txBody>
          <a:bodyPr wrap="square">
            <a:spAutoFit/>
          </a:bodyPr>
          <a:lstStyle/>
          <a:p>
            <a:pPr algn="l"/>
            <a:r>
              <a:rPr sz="1100" b="0" i="0">
                <a:solidFill>
                  <a:srgbClr val="0A0A0A"/>
                </a:solidFill>
                <a:latin typeface="Pretendard"/>
              </a:rPr>
              <a:t>AI that integrates into deep-work sessions without breaking concentration or creating its own overhead</a:t>
            </a:r>
          </a:p>
        </p:txBody>
      </p:sp>
      <p:sp>
        <p:nvSpPr>
          <p:cNvPr id="12" name="TextBox 11"/>
          <p:cNvSpPr txBox="1"/>
          <p:nvPr/>
        </p:nvSpPr>
        <p:spPr>
          <a:xfrm>
            <a:off x="502920" y="3767328"/>
            <a:ext cx="1417320" cy="502920"/>
          </a:xfrm>
          <a:prstGeom prst="rect">
            <a:avLst/>
          </a:prstGeom>
          <a:noFill/>
        </p:spPr>
        <p:txBody>
          <a:bodyPr wrap="square">
            <a:spAutoFit/>
          </a:bodyPr>
          <a:lstStyle/>
          <a:p>
            <a:pPr algn="l"/>
            <a:r>
              <a:rPr sz="850" b="1" i="0">
                <a:solidFill>
                  <a:srgbClr val="878884"/>
                </a:solidFill>
                <a:latin typeface="Pretendard"/>
              </a:rPr>
              <a:t>UNLIKE</a:t>
            </a:r>
          </a:p>
        </p:txBody>
      </p:sp>
      <p:sp>
        <p:nvSpPr>
          <p:cNvPr id="13" name="TextBox 12"/>
          <p:cNvSpPr txBox="1"/>
          <p:nvPr/>
        </p:nvSpPr>
        <p:spPr>
          <a:xfrm>
            <a:off x="2057400" y="3767328"/>
            <a:ext cx="9601200" cy="658368"/>
          </a:xfrm>
          <a:prstGeom prst="rect">
            <a:avLst/>
          </a:prstGeom>
          <a:noFill/>
        </p:spPr>
        <p:txBody>
          <a:bodyPr wrap="square">
            <a:spAutoFit/>
          </a:bodyPr>
          <a:lstStyle/>
          <a:p>
            <a:pPr algn="l"/>
            <a:r>
              <a:rPr sz="1100" b="0" i="0">
                <a:solidFill>
                  <a:srgbClr val="0A0A0A"/>
                </a:solidFill>
                <a:latin typeface="Pretendard"/>
              </a:rPr>
              <a:t>Chat-first tools optimised for quick single-turn answers, not sustained multi-context reasoning</a:t>
            </a:r>
          </a:p>
        </p:txBody>
      </p:sp>
      <p:sp>
        <p:nvSpPr>
          <p:cNvPr id="14" name="TextBox 13"/>
          <p:cNvSpPr txBox="1"/>
          <p:nvPr/>
        </p:nvSpPr>
        <p:spPr>
          <a:xfrm>
            <a:off x="502920" y="4517136"/>
            <a:ext cx="1417320" cy="502920"/>
          </a:xfrm>
          <a:prstGeom prst="rect">
            <a:avLst/>
          </a:prstGeom>
          <a:noFill/>
        </p:spPr>
        <p:txBody>
          <a:bodyPr wrap="square">
            <a:spAutoFit/>
          </a:bodyPr>
          <a:lstStyle/>
          <a:p>
            <a:pPr algn="l"/>
            <a:r>
              <a:rPr sz="850" b="1" i="0">
                <a:solidFill>
                  <a:srgbClr val="878884"/>
                </a:solidFill>
                <a:latin typeface="Pretendard"/>
              </a:rPr>
              <a:t>FLUSO IS</a:t>
            </a:r>
          </a:p>
        </p:txBody>
      </p:sp>
      <p:sp>
        <p:nvSpPr>
          <p:cNvPr id="15" name="TextBox 14"/>
          <p:cNvSpPr txBox="1"/>
          <p:nvPr/>
        </p:nvSpPr>
        <p:spPr>
          <a:xfrm>
            <a:off x="2057400" y="4517136"/>
            <a:ext cx="9601200" cy="658368"/>
          </a:xfrm>
          <a:prstGeom prst="rect">
            <a:avLst/>
          </a:prstGeom>
          <a:noFill/>
        </p:spPr>
        <p:txBody>
          <a:bodyPr wrap="square">
            <a:spAutoFit/>
          </a:bodyPr>
          <a:lstStyle/>
          <a:p>
            <a:pPr algn="l"/>
            <a:r>
              <a:rPr sz="1100" b="0" i="0">
                <a:solidFill>
                  <a:srgbClr val="0A0A0A"/>
                </a:solidFill>
                <a:latin typeface="Pretendard"/>
              </a:rPr>
              <a:t>A private AI workspace with compounding memory and 50+ connectors. Designed for 10 to 30 minute focused sessions with a full session audit trail.</a:t>
            </a:r>
          </a:p>
        </p:txBody>
      </p:sp>
      <p:sp>
        <p:nvSpPr>
          <p:cNvPr id="16" name="TextBox 15"/>
          <p:cNvSpPr txBox="1"/>
          <p:nvPr/>
        </p:nvSpPr>
        <p:spPr>
          <a:xfrm>
            <a:off x="502920" y="5266944"/>
            <a:ext cx="1417320" cy="502920"/>
          </a:xfrm>
          <a:prstGeom prst="rect">
            <a:avLst/>
          </a:prstGeom>
          <a:noFill/>
        </p:spPr>
        <p:txBody>
          <a:bodyPr wrap="square">
            <a:spAutoFit/>
          </a:bodyPr>
          <a:lstStyle/>
          <a:p>
            <a:pPr algn="l"/>
            <a:r>
              <a:rPr sz="850" b="1" i="0">
                <a:solidFill>
                  <a:srgbClr val="878884"/>
                </a:solidFill>
                <a:latin typeface="Pretendard"/>
              </a:rPr>
              <a:t>THE NUMBERS</a:t>
            </a:r>
          </a:p>
        </p:txBody>
      </p:sp>
      <p:sp>
        <p:nvSpPr>
          <p:cNvPr id="17" name="TextBox 16"/>
          <p:cNvSpPr txBox="1"/>
          <p:nvPr/>
        </p:nvSpPr>
        <p:spPr>
          <a:xfrm>
            <a:off x="2057400" y="5266944"/>
            <a:ext cx="9601200" cy="658368"/>
          </a:xfrm>
          <a:prstGeom prst="rect">
            <a:avLst/>
          </a:prstGeom>
          <a:noFill/>
        </p:spPr>
        <p:txBody>
          <a:bodyPr wrap="square">
            <a:spAutoFit/>
          </a:bodyPr>
          <a:lstStyle/>
          <a:p>
            <a:pPr algn="l"/>
            <a:r>
              <a:rPr sz="1100" b="0" i="0">
                <a:solidFill>
                  <a:srgbClr val="0A0A0A"/>
                </a:solidFill>
                <a:latin typeface="Pretendard"/>
              </a:rPr>
              <a:t>59 minutes per day lost to information search. 60% of knowledge-worker time consumed by work about work. Fluso targets both.</a:t>
            </a:r>
          </a:p>
        </p:txBody>
      </p:sp>
      <p:sp>
        <p:nvSpPr>
          <p:cNvPr id="18" name="TextBox 17"/>
          <p:cNvSpPr txBox="1"/>
          <p:nvPr/>
        </p:nvSpPr>
        <p:spPr>
          <a:xfrm>
            <a:off x="502920" y="6016752"/>
            <a:ext cx="1417320" cy="502920"/>
          </a:xfrm>
          <a:prstGeom prst="rect">
            <a:avLst/>
          </a:prstGeom>
          <a:noFill/>
        </p:spPr>
        <p:txBody>
          <a:bodyPr wrap="square">
            <a:spAutoFit/>
          </a:bodyPr>
          <a:lstStyle/>
          <a:p>
            <a:pPr algn="l"/>
            <a:r>
              <a:rPr sz="850" b="1" i="0">
                <a:solidFill>
                  <a:srgbClr val="878884"/>
                </a:solidFill>
                <a:latin typeface="Pretendard"/>
              </a:rPr>
              <a:t>RIGHT NOW</a:t>
            </a:r>
          </a:p>
        </p:txBody>
      </p:sp>
      <p:sp>
        <p:nvSpPr>
          <p:cNvPr id="19" name="TextBox 18"/>
          <p:cNvSpPr txBox="1"/>
          <p:nvPr/>
        </p:nvSpPr>
        <p:spPr>
          <a:xfrm>
            <a:off x="2057400" y="6016752"/>
            <a:ext cx="9601200" cy="658368"/>
          </a:xfrm>
          <a:prstGeom prst="rect">
            <a:avLst/>
          </a:prstGeom>
          <a:noFill/>
        </p:spPr>
        <p:txBody>
          <a:bodyPr wrap="square">
            <a:spAutoFit/>
          </a:bodyPr>
          <a:lstStyle/>
          <a:p>
            <a:pPr algn="l"/>
            <a:r>
              <a:rPr sz="1100" b="0" i="0">
                <a:solidFill>
                  <a:srgbClr val="0A0A0A"/>
                </a:solidFill>
                <a:latin typeface="Pretendard"/>
              </a:rPr>
              <a:t>Waitlist stage. "Sign up to Fluso waitlist" is the only conversion goal. Every piece of Fluso content ends here.</a:t>
            </a:r>
          </a:p>
        </p:txBody>
      </p:sp>
      <p:sp>
        <p:nvSpPr>
          <p:cNvPr id="20" name="Oval 19"/>
          <p:cNvSpPr/>
          <p:nvPr/>
        </p:nvSpPr>
        <p:spPr>
          <a:xfrm>
            <a:off x="11292840" y="6446520"/>
            <a:ext cx="91440" cy="91440"/>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460175" y="6462979"/>
            <a:ext cx="58521" cy="585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600078" y="6452006"/>
            <a:ext cx="80467" cy="8046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765584" y="6466636"/>
            <a:ext cx="51206" cy="5120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1907316" y="6457492"/>
            <a:ext cx="69494" cy="6949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06  POSITIONING: OTHER PRODUCTS  (VERIFIED SITE COPY)</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1155680" cy="365760"/>
          </a:xfrm>
          <a:prstGeom prst="rect">
            <a:avLst/>
          </a:prstGeom>
          <a:noFill/>
        </p:spPr>
        <p:txBody>
          <a:bodyPr wrap="square">
            <a:spAutoFit/>
          </a:bodyPr>
          <a:lstStyle/>
          <a:p>
            <a:pPr algn="l"/>
            <a:r>
              <a:rPr sz="1300" b="1" i="0">
                <a:solidFill>
                  <a:srgbClr val="0A0A0A"/>
                </a:solidFill>
                <a:latin typeface="Pretendard"/>
              </a:rPr>
              <a:t>Every product gets a single sentence. Use the site's own words.</a:t>
            </a:r>
          </a:p>
        </p:txBody>
      </p:sp>
      <p:sp>
        <p:nvSpPr>
          <p:cNvPr id="6" name="Rectangle 5"/>
          <p:cNvSpPr/>
          <p:nvPr/>
        </p:nvSpPr>
        <p:spPr>
          <a:xfrm>
            <a:off x="502920" y="1389888"/>
            <a:ext cx="5614416" cy="164592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481328"/>
            <a:ext cx="3657600" cy="329184"/>
          </a:xfrm>
          <a:prstGeom prst="rect">
            <a:avLst/>
          </a:prstGeom>
          <a:noFill/>
        </p:spPr>
        <p:txBody>
          <a:bodyPr wrap="square">
            <a:spAutoFit/>
          </a:bodyPr>
          <a:lstStyle/>
          <a:p>
            <a:pPr algn="l"/>
            <a:r>
              <a:rPr sz="1300" b="1" i="0">
                <a:solidFill>
                  <a:srgbClr val="0A0A0A"/>
                </a:solidFill>
                <a:latin typeface="Pretendard"/>
              </a:rPr>
              <a:t>Confidential API</a:t>
            </a:r>
          </a:p>
        </p:txBody>
      </p:sp>
      <p:sp>
        <p:nvSpPr>
          <p:cNvPr id="8" name="TextBox 7"/>
          <p:cNvSpPr txBox="1"/>
          <p:nvPr/>
        </p:nvSpPr>
        <p:spPr>
          <a:xfrm>
            <a:off x="704088" y="1828800"/>
            <a:ext cx="5120640" cy="237744"/>
          </a:xfrm>
          <a:prstGeom prst="rect">
            <a:avLst/>
          </a:prstGeom>
          <a:noFill/>
        </p:spPr>
        <p:txBody>
          <a:bodyPr wrap="square">
            <a:spAutoFit/>
          </a:bodyPr>
          <a:lstStyle/>
          <a:p>
            <a:pPr algn="l"/>
            <a:r>
              <a:rPr sz="750" b="1" i="0">
                <a:solidFill>
                  <a:srgbClr val="878884"/>
                </a:solidFill>
                <a:latin typeface="Pretendard"/>
              </a:rPr>
              <a:t>BUILD WITH ENCRYPTED INFERENCE</a:t>
            </a:r>
          </a:p>
        </p:txBody>
      </p:sp>
      <p:sp>
        <p:nvSpPr>
          <p:cNvPr id="9" name="TextBox 8"/>
          <p:cNvSpPr txBox="1"/>
          <p:nvPr/>
        </p:nvSpPr>
        <p:spPr>
          <a:xfrm>
            <a:off x="704088" y="2103120"/>
            <a:ext cx="5212080" cy="868680"/>
          </a:xfrm>
          <a:prstGeom prst="rect">
            <a:avLst/>
          </a:prstGeom>
          <a:noFill/>
        </p:spPr>
        <p:txBody>
          <a:bodyPr wrap="square">
            <a:spAutoFit/>
          </a:bodyPr>
          <a:lstStyle/>
          <a:p>
            <a:pPr algn="l"/>
            <a:r>
              <a:rPr sz="900" b="0" i="0">
                <a:solidFill>
                  <a:srgbClr val="585A5E"/>
                </a:solidFill>
                <a:latin typeface="Pretendard"/>
              </a:rPr>
              <a:t>The developer and enterprise entry point. Encrypted inference means the model never sees raw data in plaintext. Target: engineers building private AI applications into their products.
Conversion goal: API access / demo request.</a:t>
            </a:r>
          </a:p>
        </p:txBody>
      </p:sp>
      <p:sp>
        <p:nvSpPr>
          <p:cNvPr id="10" name="Rectangle 9"/>
          <p:cNvSpPr/>
          <p:nvPr/>
        </p:nvSpPr>
        <p:spPr>
          <a:xfrm>
            <a:off x="6446520" y="1389888"/>
            <a:ext cx="5614416" cy="164592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47688" y="1481328"/>
            <a:ext cx="3657600" cy="329184"/>
          </a:xfrm>
          <a:prstGeom prst="rect">
            <a:avLst/>
          </a:prstGeom>
          <a:noFill/>
        </p:spPr>
        <p:txBody>
          <a:bodyPr wrap="square">
            <a:spAutoFit/>
          </a:bodyPr>
          <a:lstStyle/>
          <a:p>
            <a:pPr algn="l"/>
            <a:r>
              <a:rPr sz="1300" b="1" i="0">
                <a:solidFill>
                  <a:srgbClr val="0A0A0A"/>
                </a:solidFill>
                <a:latin typeface="Pretendard"/>
              </a:rPr>
              <a:t>Prem Enclave</a:t>
            </a:r>
          </a:p>
        </p:txBody>
      </p:sp>
      <p:sp>
        <p:nvSpPr>
          <p:cNvPr id="12" name="TextBox 11"/>
          <p:cNvSpPr txBox="1"/>
          <p:nvPr/>
        </p:nvSpPr>
        <p:spPr>
          <a:xfrm>
            <a:off x="6647688" y="1828800"/>
            <a:ext cx="5120640" cy="237744"/>
          </a:xfrm>
          <a:prstGeom prst="rect">
            <a:avLst/>
          </a:prstGeom>
          <a:noFill/>
        </p:spPr>
        <p:txBody>
          <a:bodyPr wrap="square">
            <a:spAutoFit/>
          </a:bodyPr>
          <a:lstStyle/>
          <a:p>
            <a:pPr algn="l"/>
            <a:r>
              <a:rPr sz="750" b="1" i="0">
                <a:solidFill>
                  <a:srgbClr val="878884"/>
                </a:solidFill>
                <a:latin typeface="Pretendard"/>
              </a:rPr>
              <a:t>VERIFIABLE INFRASTRUCTURE</a:t>
            </a:r>
          </a:p>
        </p:txBody>
      </p:sp>
      <p:sp>
        <p:nvSpPr>
          <p:cNvPr id="13" name="TextBox 12"/>
          <p:cNvSpPr txBox="1"/>
          <p:nvPr/>
        </p:nvSpPr>
        <p:spPr>
          <a:xfrm>
            <a:off x="6647688" y="2103120"/>
            <a:ext cx="5212080" cy="868680"/>
          </a:xfrm>
          <a:prstGeom prst="rect">
            <a:avLst/>
          </a:prstGeom>
          <a:noFill/>
        </p:spPr>
        <p:txBody>
          <a:bodyPr wrap="square">
            <a:spAutoFit/>
          </a:bodyPr>
          <a:lstStyle/>
          <a:p>
            <a:pPr algn="l"/>
            <a:r>
              <a:rPr sz="900" b="0" i="0">
                <a:solidFill>
                  <a:srgbClr val="585A5E"/>
                </a:solidFill>
                <a:latin typeface="Pretendard"/>
              </a:rPr>
              <a:t>The hardware layer that makes "private" a technical fact, not a policy. Confidential computing inside a trusted execution environment. Target: infrastructure and security engineers.
Conversion goal: technical evaluation, demo.</a:t>
            </a:r>
          </a:p>
        </p:txBody>
      </p:sp>
      <p:sp>
        <p:nvSpPr>
          <p:cNvPr id="14" name="Rectangle 13"/>
          <p:cNvSpPr/>
          <p:nvPr/>
        </p:nvSpPr>
        <p:spPr>
          <a:xfrm>
            <a:off x="502920" y="3200400"/>
            <a:ext cx="5614416" cy="164592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3291840"/>
            <a:ext cx="3657600" cy="329184"/>
          </a:xfrm>
          <a:prstGeom prst="rect">
            <a:avLst/>
          </a:prstGeom>
          <a:noFill/>
        </p:spPr>
        <p:txBody>
          <a:bodyPr wrap="square">
            <a:spAutoFit/>
          </a:bodyPr>
          <a:lstStyle/>
          <a:p>
            <a:pPr algn="l"/>
            <a:r>
              <a:rPr sz="1300" b="1" i="0">
                <a:solidFill>
                  <a:srgbClr val="0A0A0A"/>
                </a:solidFill>
                <a:latin typeface="Pretendard"/>
              </a:rPr>
              <a:t>Prem Concierge</a:t>
            </a:r>
          </a:p>
        </p:txBody>
      </p:sp>
      <p:sp>
        <p:nvSpPr>
          <p:cNvPr id="16" name="TextBox 15"/>
          <p:cNvSpPr txBox="1"/>
          <p:nvPr/>
        </p:nvSpPr>
        <p:spPr>
          <a:xfrm>
            <a:off x="704088" y="3639312"/>
            <a:ext cx="5120640" cy="237744"/>
          </a:xfrm>
          <a:prstGeom prst="rect">
            <a:avLst/>
          </a:prstGeom>
          <a:noFill/>
        </p:spPr>
        <p:txBody>
          <a:bodyPr wrap="square">
            <a:spAutoFit/>
          </a:bodyPr>
          <a:lstStyle/>
          <a:p>
            <a:pPr algn="l"/>
            <a:r>
              <a:rPr sz="750" b="1" i="0">
                <a:solidFill>
                  <a:srgbClr val="878884"/>
                </a:solidFill>
                <a:latin typeface="Pretendard"/>
              </a:rPr>
              <a:t>SECURE DAILY WORKFLOW ASSISTANT</a:t>
            </a:r>
          </a:p>
        </p:txBody>
      </p:sp>
      <p:sp>
        <p:nvSpPr>
          <p:cNvPr id="17" name="TextBox 16"/>
          <p:cNvSpPr txBox="1"/>
          <p:nvPr/>
        </p:nvSpPr>
        <p:spPr>
          <a:xfrm>
            <a:off x="704088" y="3913632"/>
            <a:ext cx="5212080" cy="868680"/>
          </a:xfrm>
          <a:prstGeom prst="rect">
            <a:avLst/>
          </a:prstGeom>
          <a:noFill/>
        </p:spPr>
        <p:txBody>
          <a:bodyPr wrap="square">
            <a:spAutoFit/>
          </a:bodyPr>
          <a:lstStyle/>
          <a:p>
            <a:pPr algn="l"/>
            <a:r>
              <a:rPr sz="900" b="0" i="0">
                <a:solidFill>
                  <a:srgbClr val="585A5E"/>
                </a:solidFill>
                <a:latin typeface="Pretendard"/>
              </a:rPr>
              <a:t>AI assistant for recurring enterprise workflows — research, summarisation, drafting — with the same privacy guarantees as the rest of the stack. Target: enterprise knowledge workers.
Conversion goal: enterprise pilot.</a:t>
            </a:r>
          </a:p>
        </p:txBody>
      </p:sp>
      <p:sp>
        <p:nvSpPr>
          <p:cNvPr id="18" name="Rectangle 17"/>
          <p:cNvSpPr/>
          <p:nvPr/>
        </p:nvSpPr>
        <p:spPr>
          <a:xfrm>
            <a:off x="6446520" y="3200400"/>
            <a:ext cx="5614416" cy="164592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47688" y="3291840"/>
            <a:ext cx="3657600" cy="329184"/>
          </a:xfrm>
          <a:prstGeom prst="rect">
            <a:avLst/>
          </a:prstGeom>
          <a:noFill/>
        </p:spPr>
        <p:txBody>
          <a:bodyPr wrap="square">
            <a:spAutoFit/>
          </a:bodyPr>
          <a:lstStyle/>
          <a:p>
            <a:pPr algn="l"/>
            <a:r>
              <a:rPr sz="1300" b="1" i="0">
                <a:solidFill>
                  <a:srgbClr val="0A0A0A"/>
                </a:solidFill>
                <a:latin typeface="Pretendard"/>
              </a:rPr>
              <a:t>Prem Studio</a:t>
            </a:r>
          </a:p>
        </p:txBody>
      </p:sp>
      <p:sp>
        <p:nvSpPr>
          <p:cNvPr id="20" name="TextBox 19"/>
          <p:cNvSpPr txBox="1"/>
          <p:nvPr/>
        </p:nvSpPr>
        <p:spPr>
          <a:xfrm>
            <a:off x="6647688" y="3639312"/>
            <a:ext cx="5120640" cy="237744"/>
          </a:xfrm>
          <a:prstGeom prst="rect">
            <a:avLst/>
          </a:prstGeom>
          <a:noFill/>
        </p:spPr>
        <p:txBody>
          <a:bodyPr wrap="square">
            <a:spAutoFit/>
          </a:bodyPr>
          <a:lstStyle/>
          <a:p>
            <a:pPr algn="l"/>
            <a:r>
              <a:rPr sz="750" b="1" i="0">
                <a:solidFill>
                  <a:srgbClr val="878884"/>
                </a:solidFill>
                <a:latin typeface="Pretendard"/>
              </a:rPr>
              <a:t>CUSTOMIZE MODELS ON PRIVATE DATA</a:t>
            </a:r>
          </a:p>
        </p:txBody>
      </p:sp>
      <p:sp>
        <p:nvSpPr>
          <p:cNvPr id="21" name="TextBox 20"/>
          <p:cNvSpPr txBox="1"/>
          <p:nvPr/>
        </p:nvSpPr>
        <p:spPr>
          <a:xfrm>
            <a:off x="6647688" y="3913632"/>
            <a:ext cx="5212080" cy="868680"/>
          </a:xfrm>
          <a:prstGeom prst="rect">
            <a:avLst/>
          </a:prstGeom>
          <a:noFill/>
        </p:spPr>
        <p:txBody>
          <a:bodyPr wrap="square">
            <a:spAutoFit/>
          </a:bodyPr>
          <a:lstStyle/>
          <a:p>
            <a:pPr algn="l"/>
            <a:r>
              <a:rPr sz="900" b="0" i="0">
                <a:solidFill>
                  <a:srgbClr val="585A5E"/>
                </a:solidFill>
                <a:latin typeface="Pretendard"/>
              </a:rPr>
              <a:t>Fine-tuning and model customisation on private data. No data leaves the environment during training. Target: ML teams inside regulated organisations.
Conversion goal: technical evaluation.</a:t>
            </a:r>
          </a:p>
        </p:txBody>
      </p:sp>
      <p:sp>
        <p:nvSpPr>
          <p:cNvPr id="22" name="Rectangle 21"/>
          <p:cNvSpPr/>
          <p:nvPr/>
        </p:nvSpPr>
        <p:spPr>
          <a:xfrm>
            <a:off x="502920" y="5010912"/>
            <a:ext cx="5614416" cy="164592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5102352"/>
            <a:ext cx="3657600" cy="329184"/>
          </a:xfrm>
          <a:prstGeom prst="rect">
            <a:avLst/>
          </a:prstGeom>
          <a:noFill/>
        </p:spPr>
        <p:txBody>
          <a:bodyPr wrap="square">
            <a:spAutoFit/>
          </a:bodyPr>
          <a:lstStyle/>
          <a:p>
            <a:pPr algn="l"/>
            <a:r>
              <a:rPr sz="1300" b="1" i="0">
                <a:solidFill>
                  <a:srgbClr val="0A0A0A"/>
                </a:solidFill>
                <a:latin typeface="Pretendard"/>
              </a:rPr>
              <a:t>Prem Sotto</a:t>
            </a:r>
          </a:p>
        </p:txBody>
      </p:sp>
      <p:sp>
        <p:nvSpPr>
          <p:cNvPr id="24" name="TextBox 23"/>
          <p:cNvSpPr txBox="1"/>
          <p:nvPr/>
        </p:nvSpPr>
        <p:spPr>
          <a:xfrm>
            <a:off x="704088" y="5449824"/>
            <a:ext cx="5120640" cy="237744"/>
          </a:xfrm>
          <a:prstGeom prst="rect">
            <a:avLst/>
          </a:prstGeom>
          <a:noFill/>
        </p:spPr>
        <p:txBody>
          <a:bodyPr wrap="square">
            <a:spAutoFit/>
          </a:bodyPr>
          <a:lstStyle/>
          <a:p>
            <a:pPr algn="l"/>
            <a:r>
              <a:rPr sz="750" b="1" i="0">
                <a:solidFill>
                  <a:srgbClr val="878884"/>
                </a:solidFill>
                <a:latin typeface="Pretendard"/>
              </a:rPr>
              <a:t>ENCRYPTED DICTATION FOR EVERY APP</a:t>
            </a:r>
          </a:p>
        </p:txBody>
      </p:sp>
      <p:sp>
        <p:nvSpPr>
          <p:cNvPr id="25" name="TextBox 24"/>
          <p:cNvSpPr txBox="1"/>
          <p:nvPr/>
        </p:nvSpPr>
        <p:spPr>
          <a:xfrm>
            <a:off x="704088" y="5724144"/>
            <a:ext cx="5212080" cy="868680"/>
          </a:xfrm>
          <a:prstGeom prst="rect">
            <a:avLst/>
          </a:prstGeom>
          <a:noFill/>
        </p:spPr>
        <p:txBody>
          <a:bodyPr wrap="square">
            <a:spAutoFit/>
          </a:bodyPr>
          <a:lstStyle/>
          <a:p>
            <a:pPr algn="l"/>
            <a:r>
              <a:rPr sz="900" b="0" i="0">
                <a:solidFill>
                  <a:srgbClr val="585A5E"/>
                </a:solidFill>
                <a:latin typeface="Pretendard"/>
              </a:rPr>
              <a:t>Voice-to-text with encrypted inference. Dictate into any application without sending audio to a third-party cloud. Target: professionals who dictate — lawyers, doctors, executives.
Conversion goal: download / waitlist.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07  THE CATEGORY WE ARE CREATING</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804672"/>
            <a:ext cx="12192609" cy="2057400"/>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960120"/>
            <a:ext cx="9144000" cy="749808"/>
          </a:xfrm>
          <a:prstGeom prst="rect">
            <a:avLst/>
          </a:prstGeom>
          <a:noFill/>
        </p:spPr>
        <p:txBody>
          <a:bodyPr wrap="square">
            <a:spAutoFit/>
          </a:bodyPr>
          <a:lstStyle/>
          <a:p>
            <a:pPr algn="l"/>
            <a:r>
              <a:rPr sz="4200" b="1" i="0">
                <a:solidFill>
                  <a:srgbClr val="FFFFFF"/>
                </a:solidFill>
                <a:latin typeface="Pretendard"/>
              </a:rPr>
              <a:t>Verifiable AI</a:t>
            </a:r>
          </a:p>
        </p:txBody>
      </p:sp>
      <p:sp>
        <p:nvSpPr>
          <p:cNvPr id="7" name="TextBox 6"/>
          <p:cNvSpPr txBox="1"/>
          <p:nvPr/>
        </p:nvSpPr>
        <p:spPr>
          <a:xfrm>
            <a:off x="502920" y="1755648"/>
            <a:ext cx="10789920" cy="347472"/>
          </a:xfrm>
          <a:prstGeom prst="rect">
            <a:avLst/>
          </a:prstGeom>
          <a:noFill/>
        </p:spPr>
        <p:txBody>
          <a:bodyPr wrap="square">
            <a:spAutoFit/>
          </a:bodyPr>
          <a:lstStyle/>
          <a:p>
            <a:pPr algn="l"/>
            <a:r>
              <a:rPr sz="1100" b="0" i="0">
                <a:solidFill>
                  <a:srgbClr val="878884"/>
                </a:solidFill>
                <a:latin typeface="Pretendard"/>
              </a:rPr>
              <a:t>"Verifiable" is already in the company's hero copy. The category move is naming the column and owning it.</a:t>
            </a:r>
          </a:p>
        </p:txBody>
      </p:sp>
      <p:sp>
        <p:nvSpPr>
          <p:cNvPr id="8" name="Rectangle 7"/>
          <p:cNvSpPr/>
          <p:nvPr/>
        </p:nvSpPr>
        <p:spPr>
          <a:xfrm>
            <a:off x="502920" y="3108960"/>
            <a:ext cx="3611880" cy="33375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108960"/>
            <a:ext cx="3611880" cy="36576"/>
          </a:xfrm>
          <a:prstGeom prst="rect">
            <a:avLst/>
          </a:prstGeom>
          <a:solidFill>
            <a:srgbClr val="878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273552"/>
            <a:ext cx="3154680" cy="457200"/>
          </a:xfrm>
          <a:prstGeom prst="rect">
            <a:avLst/>
          </a:prstGeom>
          <a:noFill/>
        </p:spPr>
        <p:txBody>
          <a:bodyPr wrap="square">
            <a:spAutoFit/>
          </a:bodyPr>
          <a:lstStyle/>
          <a:p>
            <a:pPr algn="l"/>
            <a:r>
              <a:rPr sz="1400" b="1" i="0">
                <a:solidFill>
                  <a:srgbClr val="585A5E"/>
                </a:solidFill>
                <a:latin typeface="Pretendard"/>
              </a:rPr>
              <a:t>Policy-based Privacy</a:t>
            </a:r>
          </a:p>
        </p:txBody>
      </p:sp>
      <p:sp>
        <p:nvSpPr>
          <p:cNvPr id="11" name="TextBox 10"/>
          <p:cNvSpPr txBox="1"/>
          <p:nvPr/>
        </p:nvSpPr>
        <p:spPr>
          <a:xfrm>
            <a:off x="731520" y="3822191"/>
            <a:ext cx="3154680" cy="2377440"/>
          </a:xfrm>
          <a:prstGeom prst="rect">
            <a:avLst/>
          </a:prstGeom>
          <a:noFill/>
        </p:spPr>
        <p:txBody>
          <a:bodyPr wrap="square">
            <a:spAutoFit/>
          </a:bodyPr>
          <a:lstStyle/>
          <a:p>
            <a:pPr algn="l"/>
            <a:r>
              <a:rPr sz="1000" b="0" i="0">
                <a:solidFill>
                  <a:srgbClr val="585A5E"/>
                </a:solidFill>
                <a:latin typeface="Pretendard"/>
              </a:rPr>
              <a:t>A contractual promise about data handling.
Breaks when terms change, a subpoena arrives, or the provider is acquired.
Requires trust. Cannot be audited.</a:t>
            </a:r>
          </a:p>
        </p:txBody>
      </p:sp>
      <p:sp>
        <p:nvSpPr>
          <p:cNvPr id="12" name="Rectangle 11"/>
          <p:cNvSpPr/>
          <p:nvPr/>
        </p:nvSpPr>
        <p:spPr>
          <a:xfrm>
            <a:off x="4407407" y="3108960"/>
            <a:ext cx="3611880" cy="33375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07407" y="3108960"/>
            <a:ext cx="3611880" cy="36576"/>
          </a:xfrm>
          <a:prstGeom prst="rect">
            <a:avLst/>
          </a:prstGeom>
          <a:solidFill>
            <a:srgbClr val="878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7" y="3273552"/>
            <a:ext cx="3154680" cy="457200"/>
          </a:xfrm>
          <a:prstGeom prst="rect">
            <a:avLst/>
          </a:prstGeom>
          <a:noFill/>
        </p:spPr>
        <p:txBody>
          <a:bodyPr wrap="square">
            <a:spAutoFit/>
          </a:bodyPr>
          <a:lstStyle/>
          <a:p>
            <a:pPr algn="l"/>
            <a:r>
              <a:rPr sz="1400" b="1" i="0">
                <a:solidFill>
                  <a:srgbClr val="585A5E"/>
                </a:solidFill>
                <a:latin typeface="Pretendard"/>
              </a:rPr>
              <a:t>Perimeter Security</a:t>
            </a:r>
          </a:p>
        </p:txBody>
      </p:sp>
      <p:sp>
        <p:nvSpPr>
          <p:cNvPr id="15" name="TextBox 14"/>
          <p:cNvSpPr txBox="1"/>
          <p:nvPr/>
        </p:nvSpPr>
        <p:spPr>
          <a:xfrm>
            <a:off x="4636007" y="3822191"/>
            <a:ext cx="3154680" cy="2377440"/>
          </a:xfrm>
          <a:prstGeom prst="rect">
            <a:avLst/>
          </a:prstGeom>
          <a:noFill/>
        </p:spPr>
        <p:txBody>
          <a:bodyPr wrap="square">
            <a:spAutoFit/>
          </a:bodyPr>
          <a:lstStyle/>
          <a:p>
            <a:pPr algn="l"/>
            <a:r>
              <a:rPr sz="1000" b="0" i="0">
                <a:solidFill>
                  <a:srgbClr val="585A5E"/>
                </a:solidFill>
                <a:latin typeface="Pretendard"/>
              </a:rPr>
              <a:t>Firewalls and access controls around the system.
Describes the boundary, not what happened inside the model during inference.
Proves the perimeter, not the behaviour.</a:t>
            </a:r>
          </a:p>
        </p:txBody>
      </p:sp>
      <p:sp>
        <p:nvSpPr>
          <p:cNvPr id="16" name="Rectangle 15"/>
          <p:cNvSpPr/>
          <p:nvPr/>
        </p:nvSpPr>
        <p:spPr>
          <a:xfrm>
            <a:off x="8311896" y="3108960"/>
            <a:ext cx="3611880" cy="3337560"/>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0496" y="3273552"/>
            <a:ext cx="3154680" cy="457200"/>
          </a:xfrm>
          <a:prstGeom prst="rect">
            <a:avLst/>
          </a:prstGeom>
          <a:noFill/>
        </p:spPr>
        <p:txBody>
          <a:bodyPr wrap="square">
            <a:spAutoFit/>
          </a:bodyPr>
          <a:lstStyle/>
          <a:p>
            <a:pPr algn="l"/>
            <a:r>
              <a:rPr sz="1400" b="1" i="0">
                <a:solidFill>
                  <a:srgbClr val="FFFFFF"/>
                </a:solidFill>
                <a:latin typeface="Pretendard"/>
              </a:rPr>
              <a:t>Verifiable AI</a:t>
            </a:r>
          </a:p>
        </p:txBody>
      </p:sp>
      <p:sp>
        <p:nvSpPr>
          <p:cNvPr id="18" name="TextBox 17"/>
          <p:cNvSpPr txBox="1"/>
          <p:nvPr/>
        </p:nvSpPr>
        <p:spPr>
          <a:xfrm>
            <a:off x="8540496" y="3822191"/>
            <a:ext cx="3154680" cy="2377440"/>
          </a:xfrm>
          <a:prstGeom prst="rect">
            <a:avLst/>
          </a:prstGeom>
          <a:noFill/>
        </p:spPr>
        <p:txBody>
          <a:bodyPr wrap="square">
            <a:spAutoFit/>
          </a:bodyPr>
          <a:lstStyle/>
          <a:p>
            <a:pPr algn="l"/>
            <a:r>
              <a:rPr sz="1000" b="0" i="0">
                <a:solidFill>
                  <a:srgbClr val="878884"/>
                </a:solidFill>
                <a:latin typeface="Pretendard"/>
              </a:rPr>
              <a:t>Encrypted inference inside a trusted execution environment.
The model processes data in hardware-isolated compute. Cryptographically auditable by the customer.
No trust required. Verify directly.</a:t>
            </a:r>
          </a:p>
        </p:txBody>
      </p:sp>
      <p:sp>
        <p:nvSpPr>
          <p:cNvPr id="19" name="TextBox 18"/>
          <p:cNvSpPr txBox="1"/>
          <p:nvPr/>
        </p:nvSpPr>
        <p:spPr>
          <a:xfrm>
            <a:off x="8540496" y="6126480"/>
            <a:ext cx="3154680" cy="256032"/>
          </a:xfrm>
          <a:prstGeom prst="rect">
            <a:avLst/>
          </a:prstGeom>
          <a:noFill/>
        </p:spPr>
        <p:txBody>
          <a:bodyPr wrap="square">
            <a:spAutoFit/>
          </a:bodyPr>
          <a:lstStyle/>
          <a:p>
            <a:pPr algn="l"/>
            <a:r>
              <a:rPr sz="750" b="1" i="0">
                <a:solidFill>
                  <a:srgbClr val="C8C8C4"/>
                </a:solidFill>
                <a:latin typeface="Pretendard"/>
              </a:rPr>
              <a:t>PREM OWNS THIS COLUMN</a:t>
            </a:r>
          </a:p>
        </p:txBody>
      </p:sp>
      <p:sp>
        <p:nvSpPr>
          <p:cNvPr id="20" name="TextBox 19"/>
          <p:cNvSpPr txBox="1"/>
          <p:nvPr/>
        </p:nvSpPr>
        <p:spPr>
          <a:xfrm>
            <a:off x="502920" y="6492240"/>
            <a:ext cx="11155680" cy="256032"/>
          </a:xfrm>
          <a:prstGeom prst="rect">
            <a:avLst/>
          </a:prstGeom>
          <a:noFill/>
        </p:spPr>
        <p:txBody>
          <a:bodyPr wrap="square">
            <a:spAutoFit/>
          </a:bodyPr>
          <a:lstStyle/>
          <a:p>
            <a:pPr algn="l"/>
            <a:r>
              <a:rPr sz="850" b="0" i="0">
                <a:solidFill>
                  <a:srgbClr val="878884"/>
                </a:solidFill>
                <a:latin typeface="Pretendard"/>
              </a:rPr>
              <a:t>The category claim converts "private" from a feature into a market position. It is defensible because the technical architecture (confidential computing / TEE) is verifiably distinct from policy-based alternatives.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08  VOICE AND TONE  |  FOUR PRINCIPLES  (EVERY BRAND SURFACE)</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051560"/>
            <a:ext cx="5559552" cy="251460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216151"/>
            <a:ext cx="594360" cy="502920"/>
          </a:xfrm>
          <a:prstGeom prst="rect">
            <a:avLst/>
          </a:prstGeom>
          <a:noFill/>
        </p:spPr>
        <p:txBody>
          <a:bodyPr wrap="square">
            <a:spAutoFit/>
          </a:bodyPr>
          <a:lstStyle/>
          <a:p>
            <a:pPr algn="l"/>
            <a:r>
              <a:rPr sz="2600" b="1" i="0">
                <a:solidFill>
                  <a:srgbClr val="C8C8C4"/>
                </a:solidFill>
                <a:latin typeface="Pretendard"/>
              </a:rPr>
              <a:t>1</a:t>
            </a:r>
          </a:p>
        </p:txBody>
      </p:sp>
      <p:sp>
        <p:nvSpPr>
          <p:cNvPr id="7" name="TextBox 6"/>
          <p:cNvSpPr txBox="1"/>
          <p:nvPr/>
        </p:nvSpPr>
        <p:spPr>
          <a:xfrm>
            <a:off x="758952" y="1801367"/>
            <a:ext cx="5029200" cy="475488"/>
          </a:xfrm>
          <a:prstGeom prst="rect">
            <a:avLst/>
          </a:prstGeom>
          <a:noFill/>
        </p:spPr>
        <p:txBody>
          <a:bodyPr wrap="square">
            <a:spAutoFit/>
          </a:bodyPr>
          <a:lstStyle/>
          <a:p>
            <a:pPr algn="l"/>
            <a:r>
              <a:rPr sz="1700" b="1" i="0">
                <a:solidFill>
                  <a:srgbClr val="0A0A0A"/>
                </a:solidFill>
                <a:latin typeface="Pretendard"/>
              </a:rPr>
              <a:t>Precise over poetic</a:t>
            </a:r>
          </a:p>
        </p:txBody>
      </p:sp>
      <p:sp>
        <p:nvSpPr>
          <p:cNvPr id="8" name="TextBox 7"/>
          <p:cNvSpPr txBox="1"/>
          <p:nvPr/>
        </p:nvSpPr>
        <p:spPr>
          <a:xfrm>
            <a:off x="758952" y="2350008"/>
            <a:ext cx="5029200" cy="1097280"/>
          </a:xfrm>
          <a:prstGeom prst="rect">
            <a:avLst/>
          </a:prstGeom>
          <a:noFill/>
        </p:spPr>
        <p:txBody>
          <a:bodyPr wrap="square">
            <a:spAutoFit/>
          </a:bodyPr>
          <a:lstStyle/>
          <a:p>
            <a:pPr algn="l"/>
            <a:r>
              <a:rPr sz="1050" b="0" i="0">
                <a:solidFill>
                  <a:srgbClr val="585A5E"/>
                </a:solidFill>
                <a:latin typeface="Pretendard"/>
              </a:rPr>
              <a:t>"Reduces audit prep from 3 weeks to 4 days" beats "dramatically accelerates compliance." Use numbers when you have them. Name the exact thing.</a:t>
            </a:r>
          </a:p>
        </p:txBody>
      </p:sp>
      <p:sp>
        <p:nvSpPr>
          <p:cNvPr id="9" name="Rectangle 8"/>
          <p:cNvSpPr/>
          <p:nvPr/>
        </p:nvSpPr>
        <p:spPr>
          <a:xfrm>
            <a:off x="6446520" y="1051560"/>
            <a:ext cx="5559552" cy="251460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02552" y="1216151"/>
            <a:ext cx="594360" cy="502920"/>
          </a:xfrm>
          <a:prstGeom prst="rect">
            <a:avLst/>
          </a:prstGeom>
          <a:noFill/>
        </p:spPr>
        <p:txBody>
          <a:bodyPr wrap="square">
            <a:spAutoFit/>
          </a:bodyPr>
          <a:lstStyle/>
          <a:p>
            <a:pPr algn="l"/>
            <a:r>
              <a:rPr sz="2600" b="1" i="0">
                <a:solidFill>
                  <a:srgbClr val="C8C8C4"/>
                </a:solidFill>
                <a:latin typeface="Pretendard"/>
              </a:rPr>
              <a:t>2</a:t>
            </a:r>
          </a:p>
        </p:txBody>
      </p:sp>
      <p:sp>
        <p:nvSpPr>
          <p:cNvPr id="11" name="TextBox 10"/>
          <p:cNvSpPr txBox="1"/>
          <p:nvPr/>
        </p:nvSpPr>
        <p:spPr>
          <a:xfrm>
            <a:off x="6702552" y="1801367"/>
            <a:ext cx="5029200" cy="475488"/>
          </a:xfrm>
          <a:prstGeom prst="rect">
            <a:avLst/>
          </a:prstGeom>
          <a:noFill/>
        </p:spPr>
        <p:txBody>
          <a:bodyPr wrap="square">
            <a:spAutoFit/>
          </a:bodyPr>
          <a:lstStyle/>
          <a:p>
            <a:pPr algn="l"/>
            <a:r>
              <a:rPr sz="1700" b="1" i="0">
                <a:solidFill>
                  <a:srgbClr val="0A0A0A"/>
                </a:solidFill>
                <a:latin typeface="Pretendard"/>
              </a:rPr>
              <a:t>Useful over impressive</a:t>
            </a:r>
          </a:p>
        </p:txBody>
      </p:sp>
      <p:sp>
        <p:nvSpPr>
          <p:cNvPr id="12" name="TextBox 11"/>
          <p:cNvSpPr txBox="1"/>
          <p:nvPr/>
        </p:nvSpPr>
        <p:spPr>
          <a:xfrm>
            <a:off x="6702552" y="2350008"/>
            <a:ext cx="5029200" cy="1097280"/>
          </a:xfrm>
          <a:prstGeom prst="rect">
            <a:avLst/>
          </a:prstGeom>
          <a:noFill/>
        </p:spPr>
        <p:txBody>
          <a:bodyPr wrap="square">
            <a:spAutoFit/>
          </a:bodyPr>
          <a:lstStyle/>
          <a:p>
            <a:pPr algn="l"/>
            <a:r>
              <a:rPr sz="1050" b="0" i="0">
                <a:solidFill>
                  <a:srgbClr val="585A5E"/>
                </a:solidFill>
                <a:latin typeface="Pretendard"/>
              </a:rPr>
              <a:t>Every piece should leave the reader able to do something they could not do before. If it reads like a capability tour, rewrite it.</a:t>
            </a:r>
          </a:p>
        </p:txBody>
      </p:sp>
      <p:sp>
        <p:nvSpPr>
          <p:cNvPr id="13" name="Rectangle 12"/>
          <p:cNvSpPr/>
          <p:nvPr/>
        </p:nvSpPr>
        <p:spPr>
          <a:xfrm>
            <a:off x="502920" y="3776472"/>
            <a:ext cx="5559552" cy="251460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941063"/>
            <a:ext cx="594360" cy="502920"/>
          </a:xfrm>
          <a:prstGeom prst="rect">
            <a:avLst/>
          </a:prstGeom>
          <a:noFill/>
        </p:spPr>
        <p:txBody>
          <a:bodyPr wrap="square">
            <a:spAutoFit/>
          </a:bodyPr>
          <a:lstStyle/>
          <a:p>
            <a:pPr algn="l"/>
            <a:r>
              <a:rPr sz="2600" b="1" i="0">
                <a:solidFill>
                  <a:srgbClr val="C8C8C4"/>
                </a:solidFill>
                <a:latin typeface="Pretendard"/>
              </a:rPr>
              <a:t>3</a:t>
            </a:r>
          </a:p>
        </p:txBody>
      </p:sp>
      <p:sp>
        <p:nvSpPr>
          <p:cNvPr id="15" name="TextBox 14"/>
          <p:cNvSpPr txBox="1"/>
          <p:nvPr/>
        </p:nvSpPr>
        <p:spPr>
          <a:xfrm>
            <a:off x="758952" y="4526280"/>
            <a:ext cx="5029200" cy="475488"/>
          </a:xfrm>
          <a:prstGeom prst="rect">
            <a:avLst/>
          </a:prstGeom>
          <a:noFill/>
        </p:spPr>
        <p:txBody>
          <a:bodyPr wrap="square">
            <a:spAutoFit/>
          </a:bodyPr>
          <a:lstStyle/>
          <a:p>
            <a:pPr algn="l"/>
            <a:r>
              <a:rPr sz="1700" b="1" i="0">
                <a:solidFill>
                  <a:srgbClr val="0A0A0A"/>
                </a:solidFill>
                <a:latin typeface="Pretendard"/>
              </a:rPr>
              <a:t>Specific over sweeping</a:t>
            </a:r>
          </a:p>
        </p:txBody>
      </p:sp>
      <p:sp>
        <p:nvSpPr>
          <p:cNvPr id="16" name="TextBox 15"/>
          <p:cNvSpPr txBox="1"/>
          <p:nvPr/>
        </p:nvSpPr>
        <p:spPr>
          <a:xfrm>
            <a:off x="758952" y="5074920"/>
            <a:ext cx="5029200" cy="1097280"/>
          </a:xfrm>
          <a:prstGeom prst="rect">
            <a:avLst/>
          </a:prstGeom>
          <a:noFill/>
        </p:spPr>
        <p:txBody>
          <a:bodyPr wrap="square">
            <a:spAutoFit/>
          </a:bodyPr>
          <a:lstStyle/>
          <a:p>
            <a:pPr algn="l"/>
            <a:r>
              <a:rPr sz="1050" b="0" i="0">
                <a:solidFill>
                  <a:srgbClr val="585A5E"/>
                </a:solidFill>
                <a:latin typeface="Pretendard"/>
              </a:rPr>
              <a:t>No "many companies" and no "most organisations." Say who, where, how many. If you cannot source it, do not claim it.</a:t>
            </a:r>
          </a:p>
        </p:txBody>
      </p:sp>
      <p:sp>
        <p:nvSpPr>
          <p:cNvPr id="17" name="Rectangle 16"/>
          <p:cNvSpPr/>
          <p:nvPr/>
        </p:nvSpPr>
        <p:spPr>
          <a:xfrm>
            <a:off x="6446520" y="3776472"/>
            <a:ext cx="5559552" cy="251460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02552" y="3941063"/>
            <a:ext cx="594360" cy="502920"/>
          </a:xfrm>
          <a:prstGeom prst="rect">
            <a:avLst/>
          </a:prstGeom>
          <a:noFill/>
        </p:spPr>
        <p:txBody>
          <a:bodyPr wrap="square">
            <a:spAutoFit/>
          </a:bodyPr>
          <a:lstStyle/>
          <a:p>
            <a:pPr algn="l"/>
            <a:r>
              <a:rPr sz="2600" b="1" i="0">
                <a:solidFill>
                  <a:srgbClr val="C8C8C4"/>
                </a:solidFill>
                <a:latin typeface="Pretendard"/>
              </a:rPr>
              <a:t>4</a:t>
            </a:r>
          </a:p>
        </p:txBody>
      </p:sp>
      <p:sp>
        <p:nvSpPr>
          <p:cNvPr id="19" name="TextBox 18"/>
          <p:cNvSpPr txBox="1"/>
          <p:nvPr/>
        </p:nvSpPr>
        <p:spPr>
          <a:xfrm>
            <a:off x="6702552" y="4526280"/>
            <a:ext cx="5029200" cy="475488"/>
          </a:xfrm>
          <a:prstGeom prst="rect">
            <a:avLst/>
          </a:prstGeom>
          <a:noFill/>
        </p:spPr>
        <p:txBody>
          <a:bodyPr wrap="square">
            <a:spAutoFit/>
          </a:bodyPr>
          <a:lstStyle/>
          <a:p>
            <a:pPr algn="l"/>
            <a:r>
              <a:rPr sz="1700" b="1" i="0">
                <a:solidFill>
                  <a:srgbClr val="0A0A0A"/>
                </a:solidFill>
                <a:latin typeface="Pretendard"/>
              </a:rPr>
              <a:t>Honest about limits</a:t>
            </a:r>
          </a:p>
        </p:txBody>
      </p:sp>
      <p:sp>
        <p:nvSpPr>
          <p:cNvPr id="20" name="TextBox 19"/>
          <p:cNvSpPr txBox="1"/>
          <p:nvPr/>
        </p:nvSpPr>
        <p:spPr>
          <a:xfrm>
            <a:off x="6702552" y="5074920"/>
            <a:ext cx="5029200" cy="1097280"/>
          </a:xfrm>
          <a:prstGeom prst="rect">
            <a:avLst/>
          </a:prstGeom>
          <a:noFill/>
        </p:spPr>
        <p:txBody>
          <a:bodyPr wrap="square">
            <a:spAutoFit/>
          </a:bodyPr>
          <a:lstStyle/>
          <a:p>
            <a:pPr algn="l"/>
            <a:r>
              <a:rPr sz="1050" b="0" i="0">
                <a:solidFill>
                  <a:srgbClr val="585A5E"/>
                </a:solidFill>
                <a:latin typeface="Pretendard"/>
              </a:rPr>
              <a:t>State what the product does not do. Admit what the data does not show. The brands that acknowledge constraints earn more trust than the ones that don't.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08  VOICE AND TONE  |  THE BANNED LIST</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1155680" cy="320040"/>
          </a:xfrm>
          <a:prstGeom prst="rect">
            <a:avLst/>
          </a:prstGeom>
          <a:noFill/>
        </p:spPr>
        <p:txBody>
          <a:bodyPr wrap="square">
            <a:spAutoFit/>
          </a:bodyPr>
          <a:lstStyle/>
          <a:p>
            <a:pPr algn="l"/>
            <a:r>
              <a:rPr sz="1100" b="0" i="0">
                <a:solidFill>
                  <a:srgbClr val="585A5E"/>
                </a:solidFill>
                <a:latin typeface="Pretendard"/>
              </a:rPr>
              <a:t>Prohibited on every Prem and Fluso surface. No exceptions, no discretion.</a:t>
            </a:r>
          </a:p>
        </p:txBody>
      </p:sp>
      <p:sp>
        <p:nvSpPr>
          <p:cNvPr id="6" name="Rectangle 5"/>
          <p:cNvSpPr/>
          <p:nvPr/>
        </p:nvSpPr>
        <p:spPr>
          <a:xfrm>
            <a:off x="502920" y="1298448"/>
            <a:ext cx="3611880" cy="521208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98448"/>
            <a:ext cx="3611880" cy="36576"/>
          </a:xfrm>
          <a:prstGeom prst="rect">
            <a:avLst/>
          </a:prstGeom>
          <a:solidFill>
            <a:srgbClr val="AF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426464"/>
            <a:ext cx="3200400" cy="292608"/>
          </a:xfrm>
          <a:prstGeom prst="rect">
            <a:avLst/>
          </a:prstGeom>
          <a:noFill/>
        </p:spPr>
        <p:txBody>
          <a:bodyPr wrap="square">
            <a:spAutoFit/>
          </a:bodyPr>
          <a:lstStyle/>
          <a:p>
            <a:pPr algn="l"/>
            <a:r>
              <a:rPr sz="900" b="1" i="0">
                <a:solidFill>
                  <a:srgbClr val="AF3232"/>
                </a:solidFill>
                <a:latin typeface="Pretendard"/>
              </a:rPr>
              <a:t>BANNED WORDS</a:t>
            </a:r>
          </a:p>
        </p:txBody>
      </p:sp>
      <p:sp>
        <p:nvSpPr>
          <p:cNvPr id="9" name="TextBox 8"/>
          <p:cNvSpPr txBox="1"/>
          <p:nvPr/>
        </p:nvSpPr>
        <p:spPr>
          <a:xfrm>
            <a:off x="704088" y="188366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10" name="TextBox 9"/>
          <p:cNvSpPr txBox="1"/>
          <p:nvPr/>
        </p:nvSpPr>
        <p:spPr>
          <a:xfrm>
            <a:off x="1005840" y="1883664"/>
            <a:ext cx="2880360" cy="713232"/>
          </a:xfrm>
          <a:prstGeom prst="rect">
            <a:avLst/>
          </a:prstGeom>
          <a:noFill/>
        </p:spPr>
        <p:txBody>
          <a:bodyPr wrap="square">
            <a:spAutoFit/>
          </a:bodyPr>
          <a:lstStyle/>
          <a:p>
            <a:pPr algn="l"/>
            <a:r>
              <a:rPr sz="950" b="0" i="0">
                <a:solidFill>
                  <a:srgbClr val="0A0A0A"/>
                </a:solidFill>
                <a:latin typeface="Pretendard"/>
              </a:rPr>
              <a:t>Revolutionary, game-changing, effortless</a:t>
            </a:r>
          </a:p>
        </p:txBody>
      </p:sp>
      <p:sp>
        <p:nvSpPr>
          <p:cNvPr id="11" name="TextBox 10"/>
          <p:cNvSpPr txBox="1"/>
          <p:nvPr/>
        </p:nvSpPr>
        <p:spPr>
          <a:xfrm>
            <a:off x="704088" y="266090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12" name="TextBox 11"/>
          <p:cNvSpPr txBox="1"/>
          <p:nvPr/>
        </p:nvSpPr>
        <p:spPr>
          <a:xfrm>
            <a:off x="1005840" y="2660904"/>
            <a:ext cx="2880360" cy="713232"/>
          </a:xfrm>
          <a:prstGeom prst="rect">
            <a:avLst/>
          </a:prstGeom>
          <a:noFill/>
        </p:spPr>
        <p:txBody>
          <a:bodyPr wrap="square">
            <a:spAutoFit/>
          </a:bodyPr>
          <a:lstStyle/>
          <a:p>
            <a:pPr algn="l"/>
            <a:r>
              <a:rPr sz="950" b="0" i="0">
                <a:solidFill>
                  <a:srgbClr val="0A0A0A"/>
                </a:solidFill>
                <a:latin typeface="Pretendard"/>
              </a:rPr>
              <a:t>Unlock your potential / empower your team</a:t>
            </a:r>
          </a:p>
        </p:txBody>
      </p:sp>
      <p:sp>
        <p:nvSpPr>
          <p:cNvPr id="13" name="TextBox 12"/>
          <p:cNvSpPr txBox="1"/>
          <p:nvPr/>
        </p:nvSpPr>
        <p:spPr>
          <a:xfrm>
            <a:off x="704088" y="343814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14" name="TextBox 13"/>
          <p:cNvSpPr txBox="1"/>
          <p:nvPr/>
        </p:nvSpPr>
        <p:spPr>
          <a:xfrm>
            <a:off x="1005840" y="3438144"/>
            <a:ext cx="2880360" cy="713232"/>
          </a:xfrm>
          <a:prstGeom prst="rect">
            <a:avLst/>
          </a:prstGeom>
          <a:noFill/>
        </p:spPr>
        <p:txBody>
          <a:bodyPr wrap="square">
            <a:spAutoFit/>
          </a:bodyPr>
          <a:lstStyle/>
          <a:p>
            <a:pPr algn="l"/>
            <a:r>
              <a:rPr sz="950" b="0" i="0">
                <a:solidFill>
                  <a:srgbClr val="0A0A0A"/>
                </a:solidFill>
                <a:latin typeface="Pretendard"/>
              </a:rPr>
              <a:t>"AI-powered" (everything is)</a:t>
            </a:r>
          </a:p>
        </p:txBody>
      </p:sp>
      <p:sp>
        <p:nvSpPr>
          <p:cNvPr id="15" name="TextBox 14"/>
          <p:cNvSpPr txBox="1"/>
          <p:nvPr/>
        </p:nvSpPr>
        <p:spPr>
          <a:xfrm>
            <a:off x="704088" y="4215383"/>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16" name="TextBox 15"/>
          <p:cNvSpPr txBox="1"/>
          <p:nvPr/>
        </p:nvSpPr>
        <p:spPr>
          <a:xfrm>
            <a:off x="1005840" y="4215383"/>
            <a:ext cx="2880360" cy="713232"/>
          </a:xfrm>
          <a:prstGeom prst="rect">
            <a:avLst/>
          </a:prstGeom>
          <a:noFill/>
        </p:spPr>
        <p:txBody>
          <a:bodyPr wrap="square">
            <a:spAutoFit/>
          </a:bodyPr>
          <a:lstStyle/>
          <a:p>
            <a:pPr algn="l"/>
            <a:r>
              <a:rPr sz="950" b="0" i="0">
                <a:solidFill>
                  <a:srgbClr val="0A0A0A"/>
                </a:solidFill>
                <a:latin typeface="Pretendard"/>
              </a:rPr>
              <a:t>"The future of work"</a:t>
            </a:r>
          </a:p>
        </p:txBody>
      </p:sp>
      <p:sp>
        <p:nvSpPr>
          <p:cNvPr id="17" name="TextBox 16"/>
          <p:cNvSpPr txBox="1"/>
          <p:nvPr/>
        </p:nvSpPr>
        <p:spPr>
          <a:xfrm>
            <a:off x="704088" y="499262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18" name="TextBox 17"/>
          <p:cNvSpPr txBox="1"/>
          <p:nvPr/>
        </p:nvSpPr>
        <p:spPr>
          <a:xfrm>
            <a:off x="1005840" y="4992624"/>
            <a:ext cx="2880360" cy="713232"/>
          </a:xfrm>
          <a:prstGeom prst="rect">
            <a:avLst/>
          </a:prstGeom>
          <a:noFill/>
        </p:spPr>
        <p:txBody>
          <a:bodyPr wrap="square">
            <a:spAutoFit/>
          </a:bodyPr>
          <a:lstStyle/>
          <a:p>
            <a:pPr algn="l"/>
            <a:r>
              <a:rPr sz="950" b="0" i="0">
                <a:solidFill>
                  <a:srgbClr val="0A0A0A"/>
                </a:solidFill>
                <a:latin typeface="Pretendard"/>
              </a:rPr>
              <a:t>"We're excited to announce"</a:t>
            </a:r>
          </a:p>
        </p:txBody>
      </p:sp>
      <p:sp>
        <p:nvSpPr>
          <p:cNvPr id="19" name="TextBox 18"/>
          <p:cNvSpPr txBox="1"/>
          <p:nvPr/>
        </p:nvSpPr>
        <p:spPr>
          <a:xfrm>
            <a:off x="704088" y="576986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20" name="TextBox 19"/>
          <p:cNvSpPr txBox="1"/>
          <p:nvPr/>
        </p:nvSpPr>
        <p:spPr>
          <a:xfrm>
            <a:off x="1005840" y="5769864"/>
            <a:ext cx="2880360" cy="713232"/>
          </a:xfrm>
          <a:prstGeom prst="rect">
            <a:avLst/>
          </a:prstGeom>
          <a:noFill/>
        </p:spPr>
        <p:txBody>
          <a:bodyPr wrap="square">
            <a:spAutoFit/>
          </a:bodyPr>
          <a:lstStyle/>
          <a:p>
            <a:pPr algn="l"/>
            <a:r>
              <a:rPr sz="950" b="0" i="0">
                <a:solidFill>
                  <a:srgbClr val="0A0A0A"/>
                </a:solidFill>
                <a:latin typeface="Pretendard"/>
              </a:rPr>
              <a:t>Industry-leading, world-class (unverifiable)</a:t>
            </a:r>
          </a:p>
        </p:txBody>
      </p:sp>
      <p:sp>
        <p:nvSpPr>
          <p:cNvPr id="21" name="Rectangle 20"/>
          <p:cNvSpPr/>
          <p:nvPr/>
        </p:nvSpPr>
        <p:spPr>
          <a:xfrm>
            <a:off x="4407407" y="1298448"/>
            <a:ext cx="3611880" cy="521208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7407" y="1298448"/>
            <a:ext cx="3611880" cy="36576"/>
          </a:xfrm>
          <a:prstGeom prst="rect">
            <a:avLst/>
          </a:prstGeom>
          <a:solidFill>
            <a:srgbClr val="AF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5" y="1426464"/>
            <a:ext cx="3200400" cy="292608"/>
          </a:xfrm>
          <a:prstGeom prst="rect">
            <a:avLst/>
          </a:prstGeom>
          <a:noFill/>
        </p:spPr>
        <p:txBody>
          <a:bodyPr wrap="square">
            <a:spAutoFit/>
          </a:bodyPr>
          <a:lstStyle/>
          <a:p>
            <a:pPr algn="l"/>
            <a:r>
              <a:rPr sz="900" b="1" i="0">
                <a:solidFill>
                  <a:srgbClr val="AF3232"/>
                </a:solidFill>
                <a:latin typeface="Pretendard"/>
              </a:rPr>
              <a:t>BANNED STRUCTURES</a:t>
            </a:r>
          </a:p>
        </p:txBody>
      </p:sp>
      <p:sp>
        <p:nvSpPr>
          <p:cNvPr id="24" name="TextBox 23"/>
          <p:cNvSpPr txBox="1"/>
          <p:nvPr/>
        </p:nvSpPr>
        <p:spPr>
          <a:xfrm>
            <a:off x="4608575" y="188366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25" name="TextBox 24"/>
          <p:cNvSpPr txBox="1"/>
          <p:nvPr/>
        </p:nvSpPr>
        <p:spPr>
          <a:xfrm>
            <a:off x="4910327" y="1883664"/>
            <a:ext cx="2880360" cy="713232"/>
          </a:xfrm>
          <a:prstGeom prst="rect">
            <a:avLst/>
          </a:prstGeom>
          <a:noFill/>
        </p:spPr>
        <p:txBody>
          <a:bodyPr wrap="square">
            <a:spAutoFit/>
          </a:bodyPr>
          <a:lstStyle/>
          <a:p>
            <a:pPr algn="l"/>
            <a:r>
              <a:rPr sz="950" b="0" i="0">
                <a:solidFill>
                  <a:srgbClr val="0A0A0A"/>
                </a:solidFill>
                <a:latin typeface="Pretendard"/>
              </a:rPr>
              <a:t>Em dashes (—) anywhere in copy</a:t>
            </a:r>
          </a:p>
        </p:txBody>
      </p:sp>
      <p:sp>
        <p:nvSpPr>
          <p:cNvPr id="26" name="TextBox 25"/>
          <p:cNvSpPr txBox="1"/>
          <p:nvPr/>
        </p:nvSpPr>
        <p:spPr>
          <a:xfrm>
            <a:off x="4608575" y="266090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27" name="TextBox 26"/>
          <p:cNvSpPr txBox="1"/>
          <p:nvPr/>
        </p:nvSpPr>
        <p:spPr>
          <a:xfrm>
            <a:off x="4910327" y="2660904"/>
            <a:ext cx="2880360" cy="713232"/>
          </a:xfrm>
          <a:prstGeom prst="rect">
            <a:avLst/>
          </a:prstGeom>
          <a:noFill/>
        </p:spPr>
        <p:txBody>
          <a:bodyPr wrap="square">
            <a:spAutoFit/>
          </a:bodyPr>
          <a:lstStyle/>
          <a:p>
            <a:pPr algn="l"/>
            <a:r>
              <a:rPr sz="950" b="0" i="0">
                <a:solidFill>
                  <a:srgbClr val="0A0A0A"/>
                </a:solidFill>
                <a:latin typeface="Pretendard"/>
              </a:rPr>
              <a:t>Rhetorical hooks: "What if your AI could..."</a:t>
            </a:r>
          </a:p>
        </p:txBody>
      </p:sp>
      <p:sp>
        <p:nvSpPr>
          <p:cNvPr id="28" name="TextBox 27"/>
          <p:cNvSpPr txBox="1"/>
          <p:nvPr/>
        </p:nvSpPr>
        <p:spPr>
          <a:xfrm>
            <a:off x="4608575" y="343814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29" name="TextBox 28"/>
          <p:cNvSpPr txBox="1"/>
          <p:nvPr/>
        </p:nvSpPr>
        <p:spPr>
          <a:xfrm>
            <a:off x="4910327" y="3438144"/>
            <a:ext cx="2880360" cy="713232"/>
          </a:xfrm>
          <a:prstGeom prst="rect">
            <a:avLst/>
          </a:prstGeom>
          <a:noFill/>
        </p:spPr>
        <p:txBody>
          <a:bodyPr wrap="square">
            <a:spAutoFit/>
          </a:bodyPr>
          <a:lstStyle/>
          <a:p>
            <a:pPr algn="l"/>
            <a:r>
              <a:rPr sz="950" b="0" i="0">
                <a:solidFill>
                  <a:srgbClr val="0A0A0A"/>
                </a:solidFill>
                <a:latin typeface="Pretendard"/>
              </a:rPr>
              <a:t>Fragment staccato: "Faster. Smarter. Better."</a:t>
            </a:r>
          </a:p>
        </p:txBody>
      </p:sp>
      <p:sp>
        <p:nvSpPr>
          <p:cNvPr id="30" name="TextBox 29"/>
          <p:cNvSpPr txBox="1"/>
          <p:nvPr/>
        </p:nvSpPr>
        <p:spPr>
          <a:xfrm>
            <a:off x="4608575" y="4215383"/>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31" name="TextBox 30"/>
          <p:cNvSpPr txBox="1"/>
          <p:nvPr/>
        </p:nvSpPr>
        <p:spPr>
          <a:xfrm>
            <a:off x="4910327" y="4215383"/>
            <a:ext cx="2880360" cy="713232"/>
          </a:xfrm>
          <a:prstGeom prst="rect">
            <a:avLst/>
          </a:prstGeom>
          <a:noFill/>
        </p:spPr>
        <p:txBody>
          <a:bodyPr wrap="square">
            <a:spAutoFit/>
          </a:bodyPr>
          <a:lstStyle/>
          <a:p>
            <a:pPr algn="l"/>
            <a:r>
              <a:rPr sz="950" b="0" i="0">
                <a:solidFill>
                  <a:srgbClr val="0A0A0A"/>
                </a:solidFill>
                <a:latin typeface="Pretendard"/>
              </a:rPr>
              <a:t>The "not X, but Y" construction throughout</a:t>
            </a:r>
          </a:p>
        </p:txBody>
      </p:sp>
      <p:sp>
        <p:nvSpPr>
          <p:cNvPr id="32" name="TextBox 31"/>
          <p:cNvSpPr txBox="1"/>
          <p:nvPr/>
        </p:nvSpPr>
        <p:spPr>
          <a:xfrm>
            <a:off x="4608575" y="499262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33" name="TextBox 32"/>
          <p:cNvSpPr txBox="1"/>
          <p:nvPr/>
        </p:nvSpPr>
        <p:spPr>
          <a:xfrm>
            <a:off x="4910327" y="4992624"/>
            <a:ext cx="2880360" cy="713232"/>
          </a:xfrm>
          <a:prstGeom prst="rect">
            <a:avLst/>
          </a:prstGeom>
          <a:noFill/>
        </p:spPr>
        <p:txBody>
          <a:bodyPr wrap="square">
            <a:spAutoFit/>
          </a:bodyPr>
          <a:lstStyle/>
          <a:p>
            <a:pPr algn="l"/>
            <a:r>
              <a:rPr sz="950" b="0" i="0">
                <a:solidFill>
                  <a:srgbClr val="0A0A0A"/>
                </a:solidFill>
                <a:latin typeface="Pretendard"/>
              </a:rPr>
              <a:t>Aphoristic closers: "That's the future we're building."</a:t>
            </a:r>
          </a:p>
        </p:txBody>
      </p:sp>
      <p:sp>
        <p:nvSpPr>
          <p:cNvPr id="34" name="TextBox 33"/>
          <p:cNvSpPr txBox="1"/>
          <p:nvPr/>
        </p:nvSpPr>
        <p:spPr>
          <a:xfrm>
            <a:off x="4608575" y="576986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35" name="TextBox 34"/>
          <p:cNvSpPr txBox="1"/>
          <p:nvPr/>
        </p:nvSpPr>
        <p:spPr>
          <a:xfrm>
            <a:off x="4910327" y="5769864"/>
            <a:ext cx="2880360" cy="713232"/>
          </a:xfrm>
          <a:prstGeom prst="rect">
            <a:avLst/>
          </a:prstGeom>
          <a:noFill/>
        </p:spPr>
        <p:txBody>
          <a:bodyPr wrap="square">
            <a:spAutoFit/>
          </a:bodyPr>
          <a:lstStyle/>
          <a:p>
            <a:pPr algn="l"/>
            <a:r>
              <a:rPr sz="950" b="0" i="0">
                <a:solidFill>
                  <a:srgbClr val="0A0A0A"/>
                </a:solidFill>
                <a:latin typeface="Pretendard"/>
              </a:rPr>
              <a:t>Ending any post with "What do you think?"</a:t>
            </a:r>
          </a:p>
        </p:txBody>
      </p:sp>
      <p:sp>
        <p:nvSpPr>
          <p:cNvPr id="36" name="Rectangle 35"/>
          <p:cNvSpPr/>
          <p:nvPr/>
        </p:nvSpPr>
        <p:spPr>
          <a:xfrm>
            <a:off x="8311896" y="1298448"/>
            <a:ext cx="3611880" cy="521208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11896" y="1298448"/>
            <a:ext cx="3611880" cy="36576"/>
          </a:xfrm>
          <a:prstGeom prst="rect">
            <a:avLst/>
          </a:prstGeom>
          <a:solidFill>
            <a:srgbClr val="AF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13064" y="1426464"/>
            <a:ext cx="3200400" cy="292608"/>
          </a:xfrm>
          <a:prstGeom prst="rect">
            <a:avLst/>
          </a:prstGeom>
          <a:noFill/>
        </p:spPr>
        <p:txBody>
          <a:bodyPr wrap="square">
            <a:spAutoFit/>
          </a:bodyPr>
          <a:lstStyle/>
          <a:p>
            <a:pPr algn="l"/>
            <a:r>
              <a:rPr sz="900" b="1" i="0">
                <a:solidFill>
                  <a:srgbClr val="AF3232"/>
                </a:solidFill>
                <a:latin typeface="Pretendard"/>
              </a:rPr>
              <a:t>BANNED CLAIMS</a:t>
            </a:r>
          </a:p>
        </p:txBody>
      </p:sp>
      <p:sp>
        <p:nvSpPr>
          <p:cNvPr id="39" name="TextBox 38"/>
          <p:cNvSpPr txBox="1"/>
          <p:nvPr/>
        </p:nvSpPr>
        <p:spPr>
          <a:xfrm>
            <a:off x="8513064" y="188366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40" name="TextBox 39"/>
          <p:cNvSpPr txBox="1"/>
          <p:nvPr/>
        </p:nvSpPr>
        <p:spPr>
          <a:xfrm>
            <a:off x="8814816" y="1883664"/>
            <a:ext cx="2880360" cy="713232"/>
          </a:xfrm>
          <a:prstGeom prst="rect">
            <a:avLst/>
          </a:prstGeom>
          <a:noFill/>
        </p:spPr>
        <p:txBody>
          <a:bodyPr wrap="square">
            <a:spAutoFit/>
          </a:bodyPr>
          <a:lstStyle/>
          <a:p>
            <a:pPr algn="l"/>
            <a:r>
              <a:rPr sz="950" b="0" i="0">
                <a:solidFill>
                  <a:srgbClr val="0A0A0A"/>
                </a:solidFill>
                <a:latin typeface="Pretendard"/>
              </a:rPr>
              <a:t>"Swiss jurisdiction" for customer-VPC deployments</a:t>
            </a:r>
          </a:p>
        </p:txBody>
      </p:sp>
      <p:sp>
        <p:nvSpPr>
          <p:cNvPr id="41" name="TextBox 40"/>
          <p:cNvSpPr txBox="1"/>
          <p:nvPr/>
        </p:nvSpPr>
        <p:spPr>
          <a:xfrm>
            <a:off x="8513064" y="266090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42" name="TextBox 41"/>
          <p:cNvSpPr txBox="1"/>
          <p:nvPr/>
        </p:nvSpPr>
        <p:spPr>
          <a:xfrm>
            <a:off x="8814816" y="2660904"/>
            <a:ext cx="2880360" cy="713232"/>
          </a:xfrm>
          <a:prstGeom prst="rect">
            <a:avLst/>
          </a:prstGeom>
          <a:noFill/>
        </p:spPr>
        <p:txBody>
          <a:bodyPr wrap="square">
            <a:spAutoFit/>
          </a:bodyPr>
          <a:lstStyle/>
          <a:p>
            <a:pPr algn="l"/>
            <a:r>
              <a:rPr sz="950" b="0" i="0">
                <a:solidFill>
                  <a:srgbClr val="0A0A0A"/>
                </a:solidFill>
                <a:latin typeface="Pretendard"/>
              </a:rPr>
              <a:t>"Privacy-first" as the primary positioning claim</a:t>
            </a:r>
          </a:p>
        </p:txBody>
      </p:sp>
      <p:sp>
        <p:nvSpPr>
          <p:cNvPr id="43" name="TextBox 42"/>
          <p:cNvSpPr txBox="1"/>
          <p:nvPr/>
        </p:nvSpPr>
        <p:spPr>
          <a:xfrm>
            <a:off x="8513064" y="343814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44" name="TextBox 43"/>
          <p:cNvSpPr txBox="1"/>
          <p:nvPr/>
        </p:nvSpPr>
        <p:spPr>
          <a:xfrm>
            <a:off x="8814816" y="3438144"/>
            <a:ext cx="2880360" cy="713232"/>
          </a:xfrm>
          <a:prstGeom prst="rect">
            <a:avLst/>
          </a:prstGeom>
          <a:noFill/>
        </p:spPr>
        <p:txBody>
          <a:bodyPr wrap="square">
            <a:spAutoFit/>
          </a:bodyPr>
          <a:lstStyle/>
          <a:p>
            <a:pPr algn="l"/>
            <a:r>
              <a:rPr sz="950" b="0" i="0">
                <a:solidFill>
                  <a:srgbClr val="0A0A0A"/>
                </a:solidFill>
                <a:latin typeface="Pretendard"/>
              </a:rPr>
              <a:t>Any accuracy figure without a cited source</a:t>
            </a:r>
          </a:p>
        </p:txBody>
      </p:sp>
      <p:sp>
        <p:nvSpPr>
          <p:cNvPr id="45" name="TextBox 44"/>
          <p:cNvSpPr txBox="1"/>
          <p:nvPr/>
        </p:nvSpPr>
        <p:spPr>
          <a:xfrm>
            <a:off x="8513064" y="4215383"/>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46" name="TextBox 45"/>
          <p:cNvSpPr txBox="1"/>
          <p:nvPr/>
        </p:nvSpPr>
        <p:spPr>
          <a:xfrm>
            <a:off x="8814816" y="4215383"/>
            <a:ext cx="2880360" cy="713232"/>
          </a:xfrm>
          <a:prstGeom prst="rect">
            <a:avLst/>
          </a:prstGeom>
          <a:noFill/>
        </p:spPr>
        <p:txBody>
          <a:bodyPr wrap="square">
            <a:spAutoFit/>
          </a:bodyPr>
          <a:lstStyle/>
          <a:p>
            <a:pPr algn="l"/>
            <a:r>
              <a:rPr sz="950" b="0" i="0">
                <a:solidFill>
                  <a:srgbClr val="0A0A0A"/>
                </a:solidFill>
                <a:latin typeface="Pretendard"/>
              </a:rPr>
              <a:t>Implying competitors are dishonest — show data</a:t>
            </a:r>
          </a:p>
        </p:txBody>
      </p:sp>
      <p:sp>
        <p:nvSpPr>
          <p:cNvPr id="47" name="TextBox 46"/>
          <p:cNvSpPr txBox="1"/>
          <p:nvPr/>
        </p:nvSpPr>
        <p:spPr>
          <a:xfrm>
            <a:off x="8513064" y="499262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48" name="TextBox 47"/>
          <p:cNvSpPr txBox="1"/>
          <p:nvPr/>
        </p:nvSpPr>
        <p:spPr>
          <a:xfrm>
            <a:off x="8814816" y="4992624"/>
            <a:ext cx="2880360" cy="713232"/>
          </a:xfrm>
          <a:prstGeom prst="rect">
            <a:avLst/>
          </a:prstGeom>
          <a:noFill/>
        </p:spPr>
        <p:txBody>
          <a:bodyPr wrap="square">
            <a:spAutoFit/>
          </a:bodyPr>
          <a:lstStyle/>
          <a:p>
            <a:pPr algn="l"/>
            <a:r>
              <a:rPr sz="950" b="0" i="0">
                <a:solidFill>
                  <a:srgbClr val="0A0A0A"/>
                </a:solidFill>
                <a:latin typeface="Pretendard"/>
              </a:rPr>
              <a:t>Any certification the company does not currently hold</a:t>
            </a:r>
          </a:p>
        </p:txBody>
      </p:sp>
      <p:sp>
        <p:nvSpPr>
          <p:cNvPr id="49" name="TextBox 48"/>
          <p:cNvSpPr txBox="1"/>
          <p:nvPr/>
        </p:nvSpPr>
        <p:spPr>
          <a:xfrm>
            <a:off x="8513064" y="5769864"/>
            <a:ext cx="256032" cy="347472"/>
          </a:xfrm>
          <a:prstGeom prst="rect">
            <a:avLst/>
          </a:prstGeom>
          <a:noFill/>
        </p:spPr>
        <p:txBody>
          <a:bodyPr wrap="square">
            <a:spAutoFit/>
          </a:bodyPr>
          <a:lstStyle/>
          <a:p>
            <a:pPr algn="l"/>
            <a:r>
              <a:rPr sz="1300" b="1" i="0">
                <a:solidFill>
                  <a:srgbClr val="AF3232"/>
                </a:solidFill>
                <a:latin typeface="Pretendard"/>
              </a:rPr>
              <a:t>×</a:t>
            </a:r>
          </a:p>
        </p:txBody>
      </p:sp>
      <p:sp>
        <p:nvSpPr>
          <p:cNvPr id="50" name="TextBox 49"/>
          <p:cNvSpPr txBox="1"/>
          <p:nvPr/>
        </p:nvSpPr>
        <p:spPr>
          <a:xfrm>
            <a:off x="8814816" y="5769864"/>
            <a:ext cx="2880360" cy="713232"/>
          </a:xfrm>
          <a:prstGeom prst="rect">
            <a:avLst/>
          </a:prstGeom>
          <a:noFill/>
        </p:spPr>
        <p:txBody>
          <a:bodyPr wrap="square">
            <a:spAutoFit/>
          </a:bodyPr>
          <a:lstStyle/>
          <a:p>
            <a:pPr algn="l"/>
            <a:r>
              <a:rPr sz="950" b="0" i="0">
                <a:solidFill>
                  <a:srgbClr val="0A0A0A"/>
                </a:solidFill>
                <a:latin typeface="Pretendard"/>
              </a:rPr>
              <a:t>Statements about our own site no one has reviewed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08  VOICE AND TONE  |  IN PRACTICE</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024128"/>
            <a:ext cx="11155680" cy="256032"/>
          </a:xfrm>
          <a:prstGeom prst="rect">
            <a:avLst/>
          </a:prstGeom>
          <a:noFill/>
        </p:spPr>
        <p:txBody>
          <a:bodyPr wrap="square">
            <a:spAutoFit/>
          </a:bodyPr>
          <a:lstStyle/>
          <a:p>
            <a:pPr algn="l"/>
            <a:r>
              <a:rPr sz="800" b="1" i="0">
                <a:solidFill>
                  <a:srgbClr val="878884"/>
                </a:solidFill>
                <a:latin typeface="Pretendard"/>
              </a:rPr>
              <a:t>LINKEDIN — PREM PRODUCT INTRO</a:t>
            </a:r>
          </a:p>
        </p:txBody>
      </p:sp>
      <p:sp>
        <p:nvSpPr>
          <p:cNvPr id="6" name="Rectangle 5"/>
          <p:cNvSpPr/>
          <p:nvPr/>
        </p:nvSpPr>
        <p:spPr>
          <a:xfrm>
            <a:off x="502920" y="1316736"/>
            <a:ext cx="5440680" cy="1463040"/>
          </a:xfrm>
          <a:prstGeom prst="rect">
            <a:avLst/>
          </a:prstGeom>
          <a:solidFill>
            <a:srgbClr val="FCEA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16736"/>
            <a:ext cx="5440680" cy="36576"/>
          </a:xfrm>
          <a:prstGeom prst="rect">
            <a:avLst/>
          </a:prstGeom>
          <a:solidFill>
            <a:srgbClr val="AF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08176"/>
            <a:ext cx="914400" cy="219456"/>
          </a:xfrm>
          <a:prstGeom prst="rect">
            <a:avLst/>
          </a:prstGeom>
          <a:noFill/>
        </p:spPr>
        <p:txBody>
          <a:bodyPr wrap="square">
            <a:spAutoFit/>
          </a:bodyPr>
          <a:lstStyle/>
          <a:p>
            <a:pPr algn="l"/>
            <a:r>
              <a:rPr sz="750" b="1" i="0">
                <a:solidFill>
                  <a:srgbClr val="AF3232"/>
                </a:solidFill>
                <a:latin typeface="Pretendard"/>
              </a:rPr>
              <a:t>DON'T</a:t>
            </a:r>
          </a:p>
        </p:txBody>
      </p:sp>
      <p:sp>
        <p:nvSpPr>
          <p:cNvPr id="9" name="TextBox 8"/>
          <p:cNvSpPr txBox="1"/>
          <p:nvPr/>
        </p:nvSpPr>
        <p:spPr>
          <a:xfrm>
            <a:off x="713232" y="1645920"/>
            <a:ext cx="5029200" cy="1005840"/>
          </a:xfrm>
          <a:prstGeom prst="rect">
            <a:avLst/>
          </a:prstGeom>
          <a:noFill/>
        </p:spPr>
        <p:txBody>
          <a:bodyPr wrap="square">
            <a:spAutoFit/>
          </a:bodyPr>
          <a:lstStyle/>
          <a:p>
            <a:pPr algn="l"/>
            <a:r>
              <a:rPr sz="950" b="0" i="0">
                <a:solidFill>
                  <a:srgbClr val="0A0A0A"/>
                </a:solidFill>
                <a:latin typeface="Pretendard"/>
              </a:rPr>
              <a:t>Introducing Prem — the revolutionary AI platform that empowers your team to unlock new levels of productivity while keeping data safe.</a:t>
            </a:r>
          </a:p>
        </p:txBody>
      </p:sp>
      <p:sp>
        <p:nvSpPr>
          <p:cNvPr id="10" name="Rectangle 9"/>
          <p:cNvSpPr/>
          <p:nvPr/>
        </p:nvSpPr>
        <p:spPr>
          <a:xfrm>
            <a:off x="6199632" y="1316736"/>
            <a:ext cx="5440680" cy="1463040"/>
          </a:xfrm>
          <a:prstGeom prst="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9632" y="1316736"/>
            <a:ext cx="5440680" cy="36576"/>
          </a:xfrm>
          <a:prstGeom prst="rect">
            <a:avLst/>
          </a:prstGeom>
          <a:solidFill>
            <a:srgbClr val="286E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408176"/>
            <a:ext cx="914400" cy="219456"/>
          </a:xfrm>
          <a:prstGeom prst="rect">
            <a:avLst/>
          </a:prstGeom>
          <a:noFill/>
        </p:spPr>
        <p:txBody>
          <a:bodyPr wrap="square">
            <a:spAutoFit/>
          </a:bodyPr>
          <a:lstStyle/>
          <a:p>
            <a:pPr algn="l"/>
            <a:r>
              <a:rPr sz="750" b="1" i="0">
                <a:solidFill>
                  <a:srgbClr val="286E46"/>
                </a:solidFill>
                <a:latin typeface="Pretendard"/>
              </a:rPr>
              <a:t>DO</a:t>
            </a:r>
          </a:p>
        </p:txBody>
      </p:sp>
      <p:sp>
        <p:nvSpPr>
          <p:cNvPr id="13" name="TextBox 12"/>
          <p:cNvSpPr txBox="1"/>
          <p:nvPr/>
        </p:nvSpPr>
        <p:spPr>
          <a:xfrm>
            <a:off x="6400800" y="1645920"/>
            <a:ext cx="5029200" cy="1005840"/>
          </a:xfrm>
          <a:prstGeom prst="rect">
            <a:avLst/>
          </a:prstGeom>
          <a:noFill/>
        </p:spPr>
        <p:txBody>
          <a:bodyPr wrap="square">
            <a:spAutoFit/>
          </a:bodyPr>
          <a:lstStyle/>
          <a:p>
            <a:pPr algn="l"/>
            <a:r>
              <a:rPr sz="950" b="0" i="0">
                <a:solidFill>
                  <a:srgbClr val="0A0A0A"/>
                </a:solidFill>
                <a:latin typeface="Pretendard"/>
              </a:rPr>
              <a:t>Prem runs on your infrastructure. The Confidential API processes inference inside a trusted execution environment. Your compliance team can audit what ran, on which model, and when.</a:t>
            </a:r>
          </a:p>
        </p:txBody>
      </p:sp>
      <p:sp>
        <p:nvSpPr>
          <p:cNvPr id="14" name="TextBox 13"/>
          <p:cNvSpPr txBox="1"/>
          <p:nvPr/>
        </p:nvSpPr>
        <p:spPr>
          <a:xfrm>
            <a:off x="502920" y="2907792"/>
            <a:ext cx="11155680" cy="256032"/>
          </a:xfrm>
          <a:prstGeom prst="rect">
            <a:avLst/>
          </a:prstGeom>
          <a:noFill/>
        </p:spPr>
        <p:txBody>
          <a:bodyPr wrap="square">
            <a:spAutoFit/>
          </a:bodyPr>
          <a:lstStyle/>
          <a:p>
            <a:pPr algn="l"/>
            <a:r>
              <a:rPr sz="800" b="1" i="0">
                <a:solidFill>
                  <a:srgbClr val="878884"/>
                </a:solidFill>
                <a:latin typeface="Pretendard"/>
              </a:rPr>
              <a:t>X / FLUSO — PRODUCT POST</a:t>
            </a:r>
          </a:p>
        </p:txBody>
      </p:sp>
      <p:sp>
        <p:nvSpPr>
          <p:cNvPr id="15" name="Rectangle 14"/>
          <p:cNvSpPr/>
          <p:nvPr/>
        </p:nvSpPr>
        <p:spPr>
          <a:xfrm>
            <a:off x="502920" y="3200400"/>
            <a:ext cx="5440680" cy="1463040"/>
          </a:xfrm>
          <a:prstGeom prst="rect">
            <a:avLst/>
          </a:prstGeom>
          <a:solidFill>
            <a:srgbClr val="FCEA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200400"/>
            <a:ext cx="5440680" cy="36576"/>
          </a:xfrm>
          <a:prstGeom prst="rect">
            <a:avLst/>
          </a:prstGeom>
          <a:solidFill>
            <a:srgbClr val="AF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291840"/>
            <a:ext cx="914400" cy="219456"/>
          </a:xfrm>
          <a:prstGeom prst="rect">
            <a:avLst/>
          </a:prstGeom>
          <a:noFill/>
        </p:spPr>
        <p:txBody>
          <a:bodyPr wrap="square">
            <a:spAutoFit/>
          </a:bodyPr>
          <a:lstStyle/>
          <a:p>
            <a:pPr algn="l"/>
            <a:r>
              <a:rPr sz="750" b="1" i="0">
                <a:solidFill>
                  <a:srgbClr val="AF3232"/>
                </a:solidFill>
                <a:latin typeface="Pretendard"/>
              </a:rPr>
              <a:t>DON'T</a:t>
            </a:r>
          </a:p>
        </p:txBody>
      </p:sp>
      <p:sp>
        <p:nvSpPr>
          <p:cNvPr id="18" name="TextBox 17"/>
          <p:cNvSpPr txBox="1"/>
          <p:nvPr/>
        </p:nvSpPr>
        <p:spPr>
          <a:xfrm>
            <a:off x="713232" y="3529584"/>
            <a:ext cx="5029200" cy="1005840"/>
          </a:xfrm>
          <a:prstGeom prst="rect">
            <a:avLst/>
          </a:prstGeom>
          <a:noFill/>
        </p:spPr>
        <p:txBody>
          <a:bodyPr wrap="square">
            <a:spAutoFit/>
          </a:bodyPr>
          <a:lstStyle/>
          <a:p>
            <a:pPr algn="l"/>
            <a:r>
              <a:rPr sz="950" b="0" i="0">
                <a:solidFill>
                  <a:srgbClr val="0A0A0A"/>
                </a:solidFill>
                <a:latin typeface="Pretendard"/>
              </a:rPr>
              <a:t>What if your AI could actually prove it's private? That's not a dream. That's Fluso.</a:t>
            </a:r>
          </a:p>
        </p:txBody>
      </p:sp>
      <p:sp>
        <p:nvSpPr>
          <p:cNvPr id="19" name="Rectangle 18"/>
          <p:cNvSpPr/>
          <p:nvPr/>
        </p:nvSpPr>
        <p:spPr>
          <a:xfrm>
            <a:off x="6199632" y="3200400"/>
            <a:ext cx="5440680" cy="1463040"/>
          </a:xfrm>
          <a:prstGeom prst="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3200400"/>
            <a:ext cx="5440680" cy="36576"/>
          </a:xfrm>
          <a:prstGeom prst="rect">
            <a:avLst/>
          </a:prstGeom>
          <a:solidFill>
            <a:srgbClr val="286E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291840"/>
            <a:ext cx="914400" cy="219456"/>
          </a:xfrm>
          <a:prstGeom prst="rect">
            <a:avLst/>
          </a:prstGeom>
          <a:noFill/>
        </p:spPr>
        <p:txBody>
          <a:bodyPr wrap="square">
            <a:spAutoFit/>
          </a:bodyPr>
          <a:lstStyle/>
          <a:p>
            <a:pPr algn="l"/>
            <a:r>
              <a:rPr sz="750" b="1" i="0">
                <a:solidFill>
                  <a:srgbClr val="286E46"/>
                </a:solidFill>
                <a:latin typeface="Pretendard"/>
              </a:rPr>
              <a:t>DO</a:t>
            </a:r>
          </a:p>
        </p:txBody>
      </p:sp>
      <p:sp>
        <p:nvSpPr>
          <p:cNvPr id="22" name="TextBox 21"/>
          <p:cNvSpPr txBox="1"/>
          <p:nvPr/>
        </p:nvSpPr>
        <p:spPr>
          <a:xfrm>
            <a:off x="6400800" y="3529584"/>
            <a:ext cx="5029200" cy="1005840"/>
          </a:xfrm>
          <a:prstGeom prst="rect">
            <a:avLst/>
          </a:prstGeom>
          <a:noFill/>
        </p:spPr>
        <p:txBody>
          <a:bodyPr wrap="square">
            <a:spAutoFit/>
          </a:bodyPr>
          <a:lstStyle/>
          <a:p>
            <a:pPr algn="l"/>
            <a:r>
              <a:rPr sz="950" b="0" i="0">
                <a:solidFill>
                  <a:srgbClr val="0A0A0A"/>
                </a:solidFill>
                <a:latin typeface="Pretendard"/>
              </a:rPr>
              <a:t>Fluso produced a full session audit trail for every task in our legal workflow. Our CISO asked how that was possible. I showed them the architecture.</a:t>
            </a:r>
          </a:p>
        </p:txBody>
      </p:sp>
      <p:sp>
        <p:nvSpPr>
          <p:cNvPr id="23" name="TextBox 22"/>
          <p:cNvSpPr txBox="1"/>
          <p:nvPr/>
        </p:nvSpPr>
        <p:spPr>
          <a:xfrm>
            <a:off x="502920" y="4791456"/>
            <a:ext cx="11155680" cy="256032"/>
          </a:xfrm>
          <a:prstGeom prst="rect">
            <a:avLst/>
          </a:prstGeom>
          <a:noFill/>
        </p:spPr>
        <p:txBody>
          <a:bodyPr wrap="square">
            <a:spAutoFit/>
          </a:bodyPr>
          <a:lstStyle/>
          <a:p>
            <a:pPr algn="l"/>
            <a:r>
              <a:rPr sz="800" b="1" i="0">
                <a:solidFill>
                  <a:srgbClr val="878884"/>
                </a:solidFill>
                <a:latin typeface="Pretendard"/>
              </a:rPr>
              <a:t>PARTNERSHIP ANNOUNCEMENT — LINKEDIN</a:t>
            </a:r>
          </a:p>
        </p:txBody>
      </p:sp>
      <p:sp>
        <p:nvSpPr>
          <p:cNvPr id="24" name="Rectangle 23"/>
          <p:cNvSpPr/>
          <p:nvPr/>
        </p:nvSpPr>
        <p:spPr>
          <a:xfrm>
            <a:off x="502920" y="5084064"/>
            <a:ext cx="5440680" cy="1463040"/>
          </a:xfrm>
          <a:prstGeom prst="rect">
            <a:avLst/>
          </a:prstGeom>
          <a:solidFill>
            <a:srgbClr val="FCEA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5084064"/>
            <a:ext cx="5440680" cy="36576"/>
          </a:xfrm>
          <a:prstGeom prst="rect">
            <a:avLst/>
          </a:prstGeom>
          <a:solidFill>
            <a:srgbClr val="AF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5175504"/>
            <a:ext cx="914400" cy="219456"/>
          </a:xfrm>
          <a:prstGeom prst="rect">
            <a:avLst/>
          </a:prstGeom>
          <a:noFill/>
        </p:spPr>
        <p:txBody>
          <a:bodyPr wrap="square">
            <a:spAutoFit/>
          </a:bodyPr>
          <a:lstStyle/>
          <a:p>
            <a:pPr algn="l"/>
            <a:r>
              <a:rPr sz="750" b="1" i="0">
                <a:solidFill>
                  <a:srgbClr val="AF3232"/>
                </a:solidFill>
                <a:latin typeface="Pretendard"/>
              </a:rPr>
              <a:t>DON'T</a:t>
            </a:r>
          </a:p>
        </p:txBody>
      </p:sp>
      <p:sp>
        <p:nvSpPr>
          <p:cNvPr id="27" name="TextBox 26"/>
          <p:cNvSpPr txBox="1"/>
          <p:nvPr/>
        </p:nvSpPr>
        <p:spPr>
          <a:xfrm>
            <a:off x="713232" y="5413248"/>
            <a:ext cx="5029200" cy="1005840"/>
          </a:xfrm>
          <a:prstGeom prst="rect">
            <a:avLst/>
          </a:prstGeom>
          <a:noFill/>
        </p:spPr>
        <p:txBody>
          <a:bodyPr wrap="square">
            <a:spAutoFit/>
          </a:bodyPr>
          <a:lstStyle/>
          <a:p>
            <a:pPr algn="l"/>
            <a:r>
              <a:rPr sz="950" b="0" i="0">
                <a:solidFill>
                  <a:srgbClr val="0A0A0A"/>
                </a:solidFill>
                <a:latin typeface="Pretendard"/>
              </a:rPr>
              <a:t>We're excited to announce our partnership with [Partner]. Together we're shaping the future of enterprise AI.</a:t>
            </a:r>
          </a:p>
        </p:txBody>
      </p:sp>
      <p:sp>
        <p:nvSpPr>
          <p:cNvPr id="28" name="Rectangle 27"/>
          <p:cNvSpPr/>
          <p:nvPr/>
        </p:nvSpPr>
        <p:spPr>
          <a:xfrm>
            <a:off x="6199632" y="5084064"/>
            <a:ext cx="5440680" cy="1463040"/>
          </a:xfrm>
          <a:prstGeom prst="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9632" y="5084064"/>
            <a:ext cx="5440680" cy="36576"/>
          </a:xfrm>
          <a:prstGeom prst="rect">
            <a:avLst/>
          </a:prstGeom>
          <a:solidFill>
            <a:srgbClr val="286E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5175504"/>
            <a:ext cx="914400" cy="219456"/>
          </a:xfrm>
          <a:prstGeom prst="rect">
            <a:avLst/>
          </a:prstGeom>
          <a:noFill/>
        </p:spPr>
        <p:txBody>
          <a:bodyPr wrap="square">
            <a:spAutoFit/>
          </a:bodyPr>
          <a:lstStyle/>
          <a:p>
            <a:pPr algn="l"/>
            <a:r>
              <a:rPr sz="750" b="1" i="0">
                <a:solidFill>
                  <a:srgbClr val="286E46"/>
                </a:solidFill>
                <a:latin typeface="Pretendard"/>
              </a:rPr>
              <a:t>DO</a:t>
            </a:r>
          </a:p>
        </p:txBody>
      </p:sp>
      <p:sp>
        <p:nvSpPr>
          <p:cNvPr id="31" name="TextBox 30"/>
          <p:cNvSpPr txBox="1"/>
          <p:nvPr/>
        </p:nvSpPr>
        <p:spPr>
          <a:xfrm>
            <a:off x="6400800" y="5413248"/>
            <a:ext cx="5029200" cy="1005840"/>
          </a:xfrm>
          <a:prstGeom prst="rect">
            <a:avLst/>
          </a:prstGeom>
          <a:noFill/>
        </p:spPr>
        <p:txBody>
          <a:bodyPr wrap="square">
            <a:spAutoFit/>
          </a:bodyPr>
          <a:lstStyle/>
          <a:p>
            <a:pPr algn="l"/>
            <a:r>
              <a:rPr sz="950" b="0" i="0">
                <a:solidFill>
                  <a:srgbClr val="0A0A0A"/>
                </a:solidFill>
                <a:latin typeface="Pretendard"/>
              </a:rPr>
              <a:t>[Partner] is deploying Prem Enclave across 400 compliance workflows — the first regulated-industry deployment at this scale with encrypted inference. Implementation notes are on the blog.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09  COLOR  |  MONOCHROME, LIKE THE MARK</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0972800" cy="411480"/>
          </a:xfrm>
          <a:prstGeom prst="rect">
            <a:avLst/>
          </a:prstGeom>
          <a:noFill/>
        </p:spPr>
        <p:txBody>
          <a:bodyPr wrap="square">
            <a:spAutoFit/>
          </a:bodyPr>
          <a:lstStyle/>
          <a:p>
            <a:pPr algn="l"/>
            <a:r>
              <a:rPr sz="1600" b="1" i="0">
                <a:solidFill>
                  <a:srgbClr val="0A0A0A"/>
                </a:solidFill>
                <a:latin typeface="Pretendard"/>
              </a:rPr>
              <a:t>The logo is black dots on white. The brand follows.</a:t>
            </a:r>
          </a:p>
        </p:txBody>
      </p:sp>
      <p:sp>
        <p:nvSpPr>
          <p:cNvPr id="6" name="TextBox 5"/>
          <p:cNvSpPr txBox="1"/>
          <p:nvPr/>
        </p:nvSpPr>
        <p:spPr>
          <a:xfrm>
            <a:off x="502920" y="1280160"/>
            <a:ext cx="10972800" cy="292608"/>
          </a:xfrm>
          <a:prstGeom prst="rect">
            <a:avLst/>
          </a:prstGeom>
          <a:noFill/>
        </p:spPr>
        <p:txBody>
          <a:bodyPr wrap="square">
            <a:spAutoFit/>
          </a:bodyPr>
          <a:lstStyle/>
          <a:p>
            <a:pPr algn="l"/>
            <a:r>
              <a:rPr sz="1050" b="0" i="0">
                <a:solidFill>
                  <a:srgbClr val="585A5E"/>
                </a:solidFill>
                <a:latin typeface="Pretendard"/>
              </a:rPr>
              <a:t>Color enters through photography (the Alps, the Lugano lake, real product screens). The identity itself stays monochrome.</a:t>
            </a:r>
          </a:p>
        </p:txBody>
      </p:sp>
      <p:sp>
        <p:nvSpPr>
          <p:cNvPr id="7" name="Rectangle 6"/>
          <p:cNvSpPr/>
          <p:nvPr/>
        </p:nvSpPr>
        <p:spPr>
          <a:xfrm>
            <a:off x="502920" y="1828800"/>
            <a:ext cx="2103120" cy="224028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4187952"/>
            <a:ext cx="2103120" cy="292608"/>
          </a:xfrm>
          <a:prstGeom prst="rect">
            <a:avLst/>
          </a:prstGeom>
          <a:noFill/>
        </p:spPr>
        <p:txBody>
          <a:bodyPr wrap="square">
            <a:spAutoFit/>
          </a:bodyPr>
          <a:lstStyle/>
          <a:p>
            <a:pPr algn="l"/>
            <a:r>
              <a:rPr sz="1200" b="1" i="0">
                <a:solidFill>
                  <a:srgbClr val="0A0A0A"/>
                </a:solidFill>
                <a:latin typeface="Pretendard"/>
              </a:rPr>
              <a:t>Ink</a:t>
            </a:r>
          </a:p>
        </p:txBody>
      </p:sp>
      <p:sp>
        <p:nvSpPr>
          <p:cNvPr id="9" name="TextBox 8"/>
          <p:cNvSpPr txBox="1"/>
          <p:nvPr/>
        </p:nvSpPr>
        <p:spPr>
          <a:xfrm>
            <a:off x="502920" y="4517136"/>
            <a:ext cx="2103120" cy="256032"/>
          </a:xfrm>
          <a:prstGeom prst="rect">
            <a:avLst/>
          </a:prstGeom>
          <a:noFill/>
        </p:spPr>
        <p:txBody>
          <a:bodyPr wrap="square">
            <a:spAutoFit/>
          </a:bodyPr>
          <a:lstStyle/>
          <a:p>
            <a:pPr algn="l"/>
            <a:r>
              <a:rPr sz="900" b="0" i="0">
                <a:solidFill>
                  <a:srgbClr val="585A5E"/>
                </a:solidFill>
                <a:latin typeface="Pretendard"/>
              </a:rPr>
              <a:t>#0A0A0A</a:t>
            </a:r>
          </a:p>
        </p:txBody>
      </p:sp>
      <p:sp>
        <p:nvSpPr>
          <p:cNvPr id="10" name="TextBox 9"/>
          <p:cNvSpPr txBox="1"/>
          <p:nvPr/>
        </p:nvSpPr>
        <p:spPr>
          <a:xfrm>
            <a:off x="502920" y="4828032"/>
            <a:ext cx="2103120" cy="777240"/>
          </a:xfrm>
          <a:prstGeom prst="rect">
            <a:avLst/>
          </a:prstGeom>
          <a:noFill/>
        </p:spPr>
        <p:txBody>
          <a:bodyPr wrap="square">
            <a:spAutoFit/>
          </a:bodyPr>
          <a:lstStyle/>
          <a:p>
            <a:pPr algn="l"/>
            <a:r>
              <a:rPr sz="850" b="0" i="0">
                <a:solidFill>
                  <a:srgbClr val="585A5E"/>
                </a:solidFill>
                <a:latin typeface="Pretendard"/>
              </a:rPr>
              <a:t>The logo color.
All marks and headlines.</a:t>
            </a:r>
          </a:p>
        </p:txBody>
      </p:sp>
      <p:sp>
        <p:nvSpPr>
          <p:cNvPr id="11" name="Rectangle 10"/>
          <p:cNvSpPr/>
          <p:nvPr/>
        </p:nvSpPr>
        <p:spPr>
          <a:xfrm>
            <a:off x="2807208" y="1828800"/>
            <a:ext cx="2103120" cy="2240280"/>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7208" y="4187952"/>
            <a:ext cx="2103120" cy="292608"/>
          </a:xfrm>
          <a:prstGeom prst="rect">
            <a:avLst/>
          </a:prstGeom>
          <a:noFill/>
        </p:spPr>
        <p:txBody>
          <a:bodyPr wrap="square">
            <a:spAutoFit/>
          </a:bodyPr>
          <a:lstStyle/>
          <a:p>
            <a:pPr algn="l"/>
            <a:r>
              <a:rPr sz="1200" b="1" i="0">
                <a:solidFill>
                  <a:srgbClr val="0A0A0A"/>
                </a:solidFill>
                <a:latin typeface="Pretendard"/>
              </a:rPr>
              <a:t>Dark</a:t>
            </a:r>
          </a:p>
        </p:txBody>
      </p:sp>
      <p:sp>
        <p:nvSpPr>
          <p:cNvPr id="13" name="TextBox 12"/>
          <p:cNvSpPr txBox="1"/>
          <p:nvPr/>
        </p:nvSpPr>
        <p:spPr>
          <a:xfrm>
            <a:off x="2807208" y="4517136"/>
            <a:ext cx="2103120" cy="256032"/>
          </a:xfrm>
          <a:prstGeom prst="rect">
            <a:avLst/>
          </a:prstGeom>
          <a:noFill/>
        </p:spPr>
        <p:txBody>
          <a:bodyPr wrap="square">
            <a:spAutoFit/>
          </a:bodyPr>
          <a:lstStyle/>
          <a:p>
            <a:pPr algn="l"/>
            <a:r>
              <a:rPr sz="900" b="0" i="0">
                <a:solidFill>
                  <a:srgbClr val="585A5E"/>
                </a:solidFill>
                <a:latin typeface="Pretendard"/>
              </a:rPr>
              <a:t>#16161A</a:t>
            </a:r>
          </a:p>
        </p:txBody>
      </p:sp>
      <p:sp>
        <p:nvSpPr>
          <p:cNvPr id="14" name="TextBox 13"/>
          <p:cNvSpPr txBox="1"/>
          <p:nvPr/>
        </p:nvSpPr>
        <p:spPr>
          <a:xfrm>
            <a:off x="2807208" y="4828032"/>
            <a:ext cx="2103120" cy="777240"/>
          </a:xfrm>
          <a:prstGeom prst="rect">
            <a:avLst/>
          </a:prstGeom>
          <a:noFill/>
        </p:spPr>
        <p:txBody>
          <a:bodyPr wrap="square">
            <a:spAutoFit/>
          </a:bodyPr>
          <a:lstStyle/>
          <a:p>
            <a:pPr algn="l"/>
            <a:r>
              <a:rPr sz="850" b="0" i="0">
                <a:solidFill>
                  <a:srgbClr val="585A5E"/>
                </a:solidFill>
                <a:latin typeface="Pretendard"/>
              </a:rPr>
              <a:t>Dark surfaces,
hero blocks, quote cards.</a:t>
            </a:r>
          </a:p>
        </p:txBody>
      </p:sp>
      <p:sp>
        <p:nvSpPr>
          <p:cNvPr id="15" name="Rectangle 14"/>
          <p:cNvSpPr/>
          <p:nvPr/>
        </p:nvSpPr>
        <p:spPr>
          <a:xfrm>
            <a:off x="5111496" y="1828800"/>
            <a:ext cx="2103120" cy="2240280"/>
          </a:xfrm>
          <a:prstGeom prst="rect">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496" y="4187952"/>
            <a:ext cx="2103120" cy="292608"/>
          </a:xfrm>
          <a:prstGeom prst="rect">
            <a:avLst/>
          </a:prstGeom>
          <a:noFill/>
        </p:spPr>
        <p:txBody>
          <a:bodyPr wrap="square">
            <a:spAutoFit/>
          </a:bodyPr>
          <a:lstStyle/>
          <a:p>
            <a:pPr algn="l"/>
            <a:r>
              <a:rPr sz="1200" b="1" i="0">
                <a:solidFill>
                  <a:srgbClr val="0A0A0A"/>
                </a:solidFill>
                <a:latin typeface="Pretendard"/>
              </a:rPr>
              <a:t>Gray</a:t>
            </a:r>
          </a:p>
        </p:txBody>
      </p:sp>
      <p:sp>
        <p:nvSpPr>
          <p:cNvPr id="17" name="TextBox 16"/>
          <p:cNvSpPr txBox="1"/>
          <p:nvPr/>
        </p:nvSpPr>
        <p:spPr>
          <a:xfrm>
            <a:off x="5111496" y="4517136"/>
            <a:ext cx="2103120" cy="256032"/>
          </a:xfrm>
          <a:prstGeom prst="rect">
            <a:avLst/>
          </a:prstGeom>
          <a:noFill/>
        </p:spPr>
        <p:txBody>
          <a:bodyPr wrap="square">
            <a:spAutoFit/>
          </a:bodyPr>
          <a:lstStyle/>
          <a:p>
            <a:pPr algn="l"/>
            <a:r>
              <a:rPr sz="900" b="0" i="0">
                <a:solidFill>
                  <a:srgbClr val="585A5E"/>
                </a:solidFill>
                <a:latin typeface="Pretendard"/>
              </a:rPr>
              <a:t>#585A5E</a:t>
            </a:r>
          </a:p>
        </p:txBody>
      </p:sp>
      <p:sp>
        <p:nvSpPr>
          <p:cNvPr id="18" name="TextBox 17"/>
          <p:cNvSpPr txBox="1"/>
          <p:nvPr/>
        </p:nvSpPr>
        <p:spPr>
          <a:xfrm>
            <a:off x="5111496" y="4828032"/>
            <a:ext cx="2103120" cy="777240"/>
          </a:xfrm>
          <a:prstGeom prst="rect">
            <a:avLst/>
          </a:prstGeom>
          <a:noFill/>
        </p:spPr>
        <p:txBody>
          <a:bodyPr wrap="square">
            <a:spAutoFit/>
          </a:bodyPr>
          <a:lstStyle/>
          <a:p>
            <a:pPr algn="l"/>
            <a:r>
              <a:rPr sz="850" b="0" i="0">
                <a:solidFill>
                  <a:srgbClr val="585A5E"/>
                </a:solidFill>
                <a:latin typeface="Pretendard"/>
              </a:rPr>
              <a:t>Body secondary text,
all captions and labels.</a:t>
            </a:r>
          </a:p>
        </p:txBody>
      </p:sp>
      <p:sp>
        <p:nvSpPr>
          <p:cNvPr id="19" name="Rectangle 18"/>
          <p:cNvSpPr/>
          <p:nvPr/>
        </p:nvSpPr>
        <p:spPr>
          <a:xfrm>
            <a:off x="7415784" y="1828800"/>
            <a:ext cx="2103120" cy="2240280"/>
          </a:xfrm>
          <a:prstGeom prst="rect">
            <a:avLst/>
          </a:prstGeom>
          <a:solidFill>
            <a:srgbClr val="878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4" y="4187952"/>
            <a:ext cx="2103120" cy="292608"/>
          </a:xfrm>
          <a:prstGeom prst="rect">
            <a:avLst/>
          </a:prstGeom>
          <a:noFill/>
        </p:spPr>
        <p:txBody>
          <a:bodyPr wrap="square">
            <a:spAutoFit/>
          </a:bodyPr>
          <a:lstStyle/>
          <a:p>
            <a:pPr algn="l"/>
            <a:r>
              <a:rPr sz="1200" b="1" i="0">
                <a:solidFill>
                  <a:srgbClr val="0A0A0A"/>
                </a:solidFill>
                <a:latin typeface="Pretendard"/>
              </a:rPr>
              <a:t>Mid</a:t>
            </a:r>
          </a:p>
        </p:txBody>
      </p:sp>
      <p:sp>
        <p:nvSpPr>
          <p:cNvPr id="21" name="TextBox 20"/>
          <p:cNvSpPr txBox="1"/>
          <p:nvPr/>
        </p:nvSpPr>
        <p:spPr>
          <a:xfrm>
            <a:off x="7415784" y="4517136"/>
            <a:ext cx="2103120" cy="256032"/>
          </a:xfrm>
          <a:prstGeom prst="rect">
            <a:avLst/>
          </a:prstGeom>
          <a:noFill/>
        </p:spPr>
        <p:txBody>
          <a:bodyPr wrap="square">
            <a:spAutoFit/>
          </a:bodyPr>
          <a:lstStyle/>
          <a:p>
            <a:pPr algn="l"/>
            <a:r>
              <a:rPr sz="900" b="0" i="0">
                <a:solidFill>
                  <a:srgbClr val="585A5E"/>
                </a:solidFill>
                <a:latin typeface="Pretendard"/>
              </a:rPr>
              <a:t>#878882</a:t>
            </a:r>
          </a:p>
        </p:txBody>
      </p:sp>
      <p:sp>
        <p:nvSpPr>
          <p:cNvPr id="22" name="TextBox 21"/>
          <p:cNvSpPr txBox="1"/>
          <p:nvPr/>
        </p:nvSpPr>
        <p:spPr>
          <a:xfrm>
            <a:off x="7415784" y="4828032"/>
            <a:ext cx="2103120" cy="777240"/>
          </a:xfrm>
          <a:prstGeom prst="rect">
            <a:avLst/>
          </a:prstGeom>
          <a:noFill/>
        </p:spPr>
        <p:txBody>
          <a:bodyPr wrap="square">
            <a:spAutoFit/>
          </a:bodyPr>
          <a:lstStyle/>
          <a:p>
            <a:pPr algn="l"/>
            <a:r>
              <a:rPr sz="850" b="0" i="0">
                <a:solidFill>
                  <a:srgbClr val="585A5E"/>
                </a:solidFill>
                <a:latin typeface="Pretendard"/>
              </a:rPr>
              <a:t>Rules, footnotes,
halftone usage.</a:t>
            </a:r>
          </a:p>
        </p:txBody>
      </p:sp>
      <p:sp>
        <p:nvSpPr>
          <p:cNvPr id="23" name="Rectangle 22"/>
          <p:cNvSpPr/>
          <p:nvPr/>
        </p:nvSpPr>
        <p:spPr>
          <a:xfrm>
            <a:off x="9720072" y="1828800"/>
            <a:ext cx="2103120" cy="2240280"/>
          </a:xfrm>
          <a:prstGeom prst="rect">
            <a:avLst/>
          </a:prstGeom>
          <a:solidFill>
            <a:srgbClr val="FCFCFA"/>
          </a:solidFill>
          <a:ln w="1016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20072" y="4187952"/>
            <a:ext cx="2103120" cy="292608"/>
          </a:xfrm>
          <a:prstGeom prst="rect">
            <a:avLst/>
          </a:prstGeom>
          <a:noFill/>
        </p:spPr>
        <p:txBody>
          <a:bodyPr wrap="square">
            <a:spAutoFit/>
          </a:bodyPr>
          <a:lstStyle/>
          <a:p>
            <a:pPr algn="l"/>
            <a:r>
              <a:rPr sz="1200" b="1" i="0">
                <a:solidFill>
                  <a:srgbClr val="0A0A0A"/>
                </a:solidFill>
                <a:latin typeface="Pretendard"/>
              </a:rPr>
              <a:t>Paper</a:t>
            </a:r>
          </a:p>
        </p:txBody>
      </p:sp>
      <p:sp>
        <p:nvSpPr>
          <p:cNvPr id="25" name="TextBox 24"/>
          <p:cNvSpPr txBox="1"/>
          <p:nvPr/>
        </p:nvSpPr>
        <p:spPr>
          <a:xfrm>
            <a:off x="9720072" y="4517136"/>
            <a:ext cx="2103120" cy="256032"/>
          </a:xfrm>
          <a:prstGeom prst="rect">
            <a:avLst/>
          </a:prstGeom>
          <a:noFill/>
        </p:spPr>
        <p:txBody>
          <a:bodyPr wrap="square">
            <a:spAutoFit/>
          </a:bodyPr>
          <a:lstStyle/>
          <a:p>
            <a:pPr algn="l"/>
            <a:r>
              <a:rPr sz="900" b="0" i="0">
                <a:solidFill>
                  <a:srgbClr val="585A5E"/>
                </a:solidFill>
                <a:latin typeface="Pretendard"/>
              </a:rPr>
              <a:t>#FCFCFA</a:t>
            </a:r>
          </a:p>
        </p:txBody>
      </p:sp>
      <p:sp>
        <p:nvSpPr>
          <p:cNvPr id="26" name="TextBox 25"/>
          <p:cNvSpPr txBox="1"/>
          <p:nvPr/>
        </p:nvSpPr>
        <p:spPr>
          <a:xfrm>
            <a:off x="9720072" y="4828032"/>
            <a:ext cx="2103120" cy="777240"/>
          </a:xfrm>
          <a:prstGeom prst="rect">
            <a:avLst/>
          </a:prstGeom>
          <a:noFill/>
        </p:spPr>
        <p:txBody>
          <a:bodyPr wrap="square">
            <a:spAutoFit/>
          </a:bodyPr>
          <a:lstStyle/>
          <a:p>
            <a:pPr algn="l"/>
            <a:r>
              <a:rPr sz="850" b="0" i="0">
                <a:solidFill>
                  <a:srgbClr val="585A5E"/>
                </a:solidFill>
                <a:latin typeface="Pretendard"/>
              </a:rPr>
              <a:t>Default background.
The Swiss white space.</a:t>
            </a:r>
          </a:p>
        </p:txBody>
      </p:sp>
      <p:sp>
        <p:nvSpPr>
          <p:cNvPr id="27" name="Rectangle 26"/>
          <p:cNvSpPr/>
          <p:nvPr/>
        </p:nvSpPr>
        <p:spPr>
          <a:xfrm>
            <a:off x="502920" y="5760720"/>
            <a:ext cx="11192256" cy="804672"/>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5897880"/>
            <a:ext cx="2286000" cy="256032"/>
          </a:xfrm>
          <a:prstGeom prst="rect">
            <a:avLst/>
          </a:prstGeom>
          <a:noFill/>
        </p:spPr>
        <p:txBody>
          <a:bodyPr wrap="square">
            <a:spAutoFit/>
          </a:bodyPr>
          <a:lstStyle/>
          <a:p>
            <a:pPr algn="l"/>
            <a:r>
              <a:rPr sz="800" b="1" i="0">
                <a:solidFill>
                  <a:srgbClr val="878884"/>
                </a:solidFill>
                <a:latin typeface="Pretendard"/>
              </a:rPr>
              <a:t>TWO RULES</a:t>
            </a:r>
          </a:p>
        </p:txBody>
      </p:sp>
      <p:sp>
        <p:nvSpPr>
          <p:cNvPr id="29" name="TextBox 28"/>
          <p:cNvSpPr txBox="1"/>
          <p:nvPr/>
        </p:nvSpPr>
        <p:spPr>
          <a:xfrm>
            <a:off x="713232" y="6144768"/>
            <a:ext cx="10698480" cy="347472"/>
          </a:xfrm>
          <a:prstGeom prst="rect">
            <a:avLst/>
          </a:prstGeom>
          <a:noFill/>
        </p:spPr>
        <p:txBody>
          <a:bodyPr wrap="square">
            <a:spAutoFit/>
          </a:bodyPr>
          <a:lstStyle/>
          <a:p>
            <a:pPr algn="l"/>
            <a:r>
              <a:rPr sz="950" b="0" i="0">
                <a:solidFill>
                  <a:srgbClr val="0A0A0A"/>
                </a:solidFill>
                <a:latin typeface="Pretendard"/>
              </a:rPr>
              <a:t>1.  Color comes from photography and product UI, never from the identity system.   2.  Any Fluso accent colors must be taken directly from the Fluso logo file. Do not approximate, tint, or invent them. If the file has not been checked, Fluso runs monochrome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10  TYPOGRAPHY  |  THE PREM WORDMARK TYPEFACE</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6858000" cy="457200"/>
          </a:xfrm>
          <a:prstGeom prst="rect">
            <a:avLst/>
          </a:prstGeom>
          <a:noFill/>
        </p:spPr>
        <p:txBody>
          <a:bodyPr wrap="square">
            <a:spAutoFit/>
          </a:bodyPr>
          <a:lstStyle/>
          <a:p>
            <a:pPr algn="l"/>
            <a:r>
              <a:rPr sz="1800" b="1" i="0">
                <a:solidFill>
                  <a:srgbClr val="0A0A0A"/>
                </a:solidFill>
                <a:latin typeface="Pretendard"/>
              </a:rPr>
              <a:t>The wordmark uses a geometric grotesque sans-serif.</a:t>
            </a:r>
          </a:p>
        </p:txBody>
      </p:sp>
      <p:sp>
        <p:nvSpPr>
          <p:cNvPr id="6" name="TextBox 5"/>
          <p:cNvSpPr txBox="1"/>
          <p:nvPr/>
        </p:nvSpPr>
        <p:spPr>
          <a:xfrm>
            <a:off x="502920" y="1353312"/>
            <a:ext cx="6583680" cy="548640"/>
          </a:xfrm>
          <a:prstGeom prst="rect">
            <a:avLst/>
          </a:prstGeom>
          <a:noFill/>
        </p:spPr>
        <p:txBody>
          <a:bodyPr wrap="square">
            <a:spAutoFit/>
          </a:bodyPr>
          <a:lstStyle/>
          <a:p>
            <a:pPr algn="l"/>
            <a:r>
              <a:rPr sz="1050" b="0" i="0">
                <a:solidFill>
                  <a:srgbClr val="585A5E"/>
                </a:solidFill>
                <a:latin typeface="Pretendard"/>
              </a:rPr>
              <a:t>For all presentations, social and digital content, use Pretendard — the closest verified match. Prem self-hosts Pretendard Regular, SemiBold and Bold at static.premai.io/fonts.</a:t>
            </a:r>
          </a:p>
        </p:txBody>
      </p:sp>
      <p:sp>
        <p:nvSpPr>
          <p:cNvPr id="7" name="TextBox 6"/>
          <p:cNvSpPr txBox="1"/>
          <p:nvPr/>
        </p:nvSpPr>
        <p:spPr>
          <a:xfrm>
            <a:off x="502920" y="2057400"/>
            <a:ext cx="2011680" cy="475488"/>
          </a:xfrm>
          <a:prstGeom prst="rect">
            <a:avLst/>
          </a:prstGeom>
          <a:noFill/>
        </p:spPr>
        <p:txBody>
          <a:bodyPr wrap="square">
            <a:spAutoFit/>
          </a:bodyPr>
          <a:lstStyle/>
          <a:p>
            <a:pPr algn="l"/>
            <a:r>
              <a:rPr sz="1000" b="1" i="0">
                <a:solidFill>
                  <a:srgbClr val="0A0A0A"/>
                </a:solidFill>
                <a:latin typeface="Pretendard"/>
              </a:rPr>
              <a:t>Display / H1</a:t>
            </a:r>
          </a:p>
        </p:txBody>
      </p:sp>
      <p:sp>
        <p:nvSpPr>
          <p:cNvPr id="8" name="TextBox 7"/>
          <p:cNvSpPr txBox="1"/>
          <p:nvPr/>
        </p:nvSpPr>
        <p:spPr>
          <a:xfrm>
            <a:off x="2606040" y="2057400"/>
            <a:ext cx="4114800" cy="475488"/>
          </a:xfrm>
          <a:prstGeom prst="rect">
            <a:avLst/>
          </a:prstGeom>
          <a:noFill/>
        </p:spPr>
        <p:txBody>
          <a:bodyPr wrap="square">
            <a:spAutoFit/>
          </a:bodyPr>
          <a:lstStyle/>
          <a:p>
            <a:pPr algn="l"/>
            <a:r>
              <a:rPr sz="950" b="0" i="0">
                <a:solidFill>
                  <a:srgbClr val="585A5E"/>
                </a:solidFill>
                <a:latin typeface="Pretendard"/>
              </a:rPr>
              <a:t>Pretendard Bold  ·  36 to 48pt  ·  leading 1.2x</a:t>
            </a:r>
          </a:p>
        </p:txBody>
      </p:sp>
      <p:sp>
        <p:nvSpPr>
          <p:cNvPr id="9" name="TextBox 8"/>
          <p:cNvSpPr txBox="1"/>
          <p:nvPr/>
        </p:nvSpPr>
        <p:spPr>
          <a:xfrm>
            <a:off x="502920" y="2660904"/>
            <a:ext cx="2011680" cy="475488"/>
          </a:xfrm>
          <a:prstGeom prst="rect">
            <a:avLst/>
          </a:prstGeom>
          <a:noFill/>
        </p:spPr>
        <p:txBody>
          <a:bodyPr wrap="square">
            <a:spAutoFit/>
          </a:bodyPr>
          <a:lstStyle/>
          <a:p>
            <a:pPr algn="l"/>
            <a:r>
              <a:rPr sz="1000" b="1" i="0">
                <a:solidFill>
                  <a:srgbClr val="0A0A0A"/>
                </a:solidFill>
                <a:latin typeface="Pretendard"/>
              </a:rPr>
              <a:t>Section head</a:t>
            </a:r>
          </a:p>
        </p:txBody>
      </p:sp>
      <p:sp>
        <p:nvSpPr>
          <p:cNvPr id="10" name="TextBox 9"/>
          <p:cNvSpPr txBox="1"/>
          <p:nvPr/>
        </p:nvSpPr>
        <p:spPr>
          <a:xfrm>
            <a:off x="2606040" y="2660904"/>
            <a:ext cx="4114800" cy="475488"/>
          </a:xfrm>
          <a:prstGeom prst="rect">
            <a:avLst/>
          </a:prstGeom>
          <a:noFill/>
        </p:spPr>
        <p:txBody>
          <a:bodyPr wrap="square">
            <a:spAutoFit/>
          </a:bodyPr>
          <a:lstStyle/>
          <a:p>
            <a:pPr algn="l"/>
            <a:r>
              <a:rPr sz="950" b="0" i="0">
                <a:solidFill>
                  <a:srgbClr val="585A5E"/>
                </a:solidFill>
                <a:latin typeface="Pretendard"/>
              </a:rPr>
              <a:t>Pretendard SemiBold  ·  20 to 28pt</a:t>
            </a:r>
          </a:p>
        </p:txBody>
      </p:sp>
      <p:sp>
        <p:nvSpPr>
          <p:cNvPr id="11" name="TextBox 10"/>
          <p:cNvSpPr txBox="1"/>
          <p:nvPr/>
        </p:nvSpPr>
        <p:spPr>
          <a:xfrm>
            <a:off x="502920" y="3264408"/>
            <a:ext cx="2011680" cy="475488"/>
          </a:xfrm>
          <a:prstGeom prst="rect">
            <a:avLst/>
          </a:prstGeom>
          <a:noFill/>
        </p:spPr>
        <p:txBody>
          <a:bodyPr wrap="square">
            <a:spAutoFit/>
          </a:bodyPr>
          <a:lstStyle/>
          <a:p>
            <a:pPr algn="l"/>
            <a:r>
              <a:rPr sz="1000" b="1" i="0">
                <a:solidFill>
                  <a:srgbClr val="0A0A0A"/>
                </a:solidFill>
                <a:latin typeface="Pretendard"/>
              </a:rPr>
              <a:t>Body copy</a:t>
            </a:r>
          </a:p>
        </p:txBody>
      </p:sp>
      <p:sp>
        <p:nvSpPr>
          <p:cNvPr id="12" name="TextBox 11"/>
          <p:cNvSpPr txBox="1"/>
          <p:nvPr/>
        </p:nvSpPr>
        <p:spPr>
          <a:xfrm>
            <a:off x="2606040" y="3264408"/>
            <a:ext cx="4114800" cy="475488"/>
          </a:xfrm>
          <a:prstGeom prst="rect">
            <a:avLst/>
          </a:prstGeom>
          <a:noFill/>
        </p:spPr>
        <p:txBody>
          <a:bodyPr wrap="square">
            <a:spAutoFit/>
          </a:bodyPr>
          <a:lstStyle/>
          <a:p>
            <a:pPr algn="l"/>
            <a:r>
              <a:rPr sz="950" b="0" i="0">
                <a:solidFill>
                  <a:srgbClr val="585A5E"/>
                </a:solidFill>
                <a:latin typeface="Pretendard"/>
              </a:rPr>
              <a:t>Pretendard Regular  ·  10 to 12pt  ·  leading 1.6x</a:t>
            </a:r>
          </a:p>
        </p:txBody>
      </p:sp>
      <p:sp>
        <p:nvSpPr>
          <p:cNvPr id="13" name="TextBox 12"/>
          <p:cNvSpPr txBox="1"/>
          <p:nvPr/>
        </p:nvSpPr>
        <p:spPr>
          <a:xfrm>
            <a:off x="502920" y="3867912"/>
            <a:ext cx="2011680" cy="475488"/>
          </a:xfrm>
          <a:prstGeom prst="rect">
            <a:avLst/>
          </a:prstGeom>
          <a:noFill/>
        </p:spPr>
        <p:txBody>
          <a:bodyPr wrap="square">
            <a:spAutoFit/>
          </a:bodyPr>
          <a:lstStyle/>
          <a:p>
            <a:pPr algn="l"/>
            <a:r>
              <a:rPr sz="1000" b="1" i="0">
                <a:solidFill>
                  <a:srgbClr val="0A0A0A"/>
                </a:solidFill>
                <a:latin typeface="Pretendard"/>
              </a:rPr>
              <a:t>Labels / caps</a:t>
            </a:r>
          </a:p>
        </p:txBody>
      </p:sp>
      <p:sp>
        <p:nvSpPr>
          <p:cNvPr id="14" name="TextBox 13"/>
          <p:cNvSpPr txBox="1"/>
          <p:nvPr/>
        </p:nvSpPr>
        <p:spPr>
          <a:xfrm>
            <a:off x="2606040" y="3867912"/>
            <a:ext cx="4114800" cy="475488"/>
          </a:xfrm>
          <a:prstGeom prst="rect">
            <a:avLst/>
          </a:prstGeom>
          <a:noFill/>
        </p:spPr>
        <p:txBody>
          <a:bodyPr wrap="square">
            <a:spAutoFit/>
          </a:bodyPr>
          <a:lstStyle/>
          <a:p>
            <a:pPr algn="l"/>
            <a:r>
              <a:rPr sz="950" b="0" i="0">
                <a:solidFill>
                  <a:srgbClr val="585A5E"/>
                </a:solidFill>
                <a:latin typeface="Pretendard"/>
              </a:rPr>
              <a:t>Pretendard SemiBold  ·  8 to 9pt  ·  all caps  ·  letterspaced +5%</a:t>
            </a:r>
          </a:p>
        </p:txBody>
      </p:sp>
      <p:sp>
        <p:nvSpPr>
          <p:cNvPr id="15" name="TextBox 14"/>
          <p:cNvSpPr txBox="1"/>
          <p:nvPr/>
        </p:nvSpPr>
        <p:spPr>
          <a:xfrm>
            <a:off x="502920" y="4471416"/>
            <a:ext cx="2011680" cy="475488"/>
          </a:xfrm>
          <a:prstGeom prst="rect">
            <a:avLst/>
          </a:prstGeom>
          <a:noFill/>
        </p:spPr>
        <p:txBody>
          <a:bodyPr wrap="square">
            <a:spAutoFit/>
          </a:bodyPr>
          <a:lstStyle/>
          <a:p>
            <a:pPr algn="l"/>
            <a:r>
              <a:rPr sz="1000" b="1" i="0">
                <a:solidFill>
                  <a:srgbClr val="0A0A0A"/>
                </a:solidFill>
                <a:latin typeface="Pretendard"/>
              </a:rPr>
              <a:t>Data callout</a:t>
            </a:r>
          </a:p>
        </p:txBody>
      </p:sp>
      <p:sp>
        <p:nvSpPr>
          <p:cNvPr id="16" name="TextBox 15"/>
          <p:cNvSpPr txBox="1"/>
          <p:nvPr/>
        </p:nvSpPr>
        <p:spPr>
          <a:xfrm>
            <a:off x="2606040" y="4471416"/>
            <a:ext cx="4114800" cy="475488"/>
          </a:xfrm>
          <a:prstGeom prst="rect">
            <a:avLst/>
          </a:prstGeom>
          <a:noFill/>
        </p:spPr>
        <p:txBody>
          <a:bodyPr wrap="square">
            <a:spAutoFit/>
          </a:bodyPr>
          <a:lstStyle/>
          <a:p>
            <a:pPr algn="l"/>
            <a:r>
              <a:rPr sz="950" b="0" i="0">
                <a:solidFill>
                  <a:srgbClr val="585A5E"/>
                </a:solidFill>
                <a:latin typeface="Pretendard"/>
              </a:rPr>
              <a:t>Pretendard Bold at display scale  ·  ink on paper</a:t>
            </a:r>
          </a:p>
        </p:txBody>
      </p:sp>
      <p:sp>
        <p:nvSpPr>
          <p:cNvPr id="17" name="TextBox 16"/>
          <p:cNvSpPr txBox="1"/>
          <p:nvPr/>
        </p:nvSpPr>
        <p:spPr>
          <a:xfrm>
            <a:off x="502920" y="5074920"/>
            <a:ext cx="2011680" cy="475488"/>
          </a:xfrm>
          <a:prstGeom prst="rect">
            <a:avLst/>
          </a:prstGeom>
          <a:noFill/>
        </p:spPr>
        <p:txBody>
          <a:bodyPr wrap="square">
            <a:spAutoFit/>
          </a:bodyPr>
          <a:lstStyle/>
          <a:p>
            <a:pPr algn="l"/>
            <a:r>
              <a:rPr sz="1000" b="1" i="0">
                <a:solidFill>
                  <a:srgbClr val="0A0A0A"/>
                </a:solidFill>
                <a:latin typeface="Pretendard"/>
              </a:rPr>
              <a:t>Code / terminal</a:t>
            </a:r>
          </a:p>
        </p:txBody>
      </p:sp>
      <p:sp>
        <p:nvSpPr>
          <p:cNvPr id="18" name="TextBox 17"/>
          <p:cNvSpPr txBox="1"/>
          <p:nvPr/>
        </p:nvSpPr>
        <p:spPr>
          <a:xfrm>
            <a:off x="2606040" y="5074920"/>
            <a:ext cx="4114800" cy="475488"/>
          </a:xfrm>
          <a:prstGeom prst="rect">
            <a:avLst/>
          </a:prstGeom>
          <a:noFill/>
        </p:spPr>
        <p:txBody>
          <a:bodyPr wrap="square">
            <a:spAutoFit/>
          </a:bodyPr>
          <a:lstStyle/>
          <a:p>
            <a:pPr algn="l"/>
            <a:r>
              <a:rPr sz="950" b="0" i="0">
                <a:solidFill>
                  <a:srgbClr val="585A5E"/>
                </a:solidFill>
                <a:latin typeface="Pretendard"/>
              </a:rPr>
              <a:t>JetBrains Mono  ·  for product UI and developer content only</a:t>
            </a:r>
          </a:p>
        </p:txBody>
      </p:sp>
      <p:sp>
        <p:nvSpPr>
          <p:cNvPr id="19" name="Rectangle 18"/>
          <p:cNvSpPr/>
          <p:nvPr/>
        </p:nvSpPr>
        <p:spPr>
          <a:xfrm>
            <a:off x="7178040" y="822960"/>
            <a:ext cx="4572000" cy="507492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1005840"/>
            <a:ext cx="4023360" cy="1508760"/>
          </a:xfrm>
          <a:prstGeom prst="rect">
            <a:avLst/>
          </a:prstGeom>
          <a:noFill/>
        </p:spPr>
        <p:txBody>
          <a:bodyPr wrap="square">
            <a:spAutoFit/>
          </a:bodyPr>
          <a:lstStyle/>
          <a:p>
            <a:pPr algn="l"/>
            <a:r>
              <a:rPr sz="8400" b="1" i="0">
                <a:solidFill>
                  <a:srgbClr val="0A0A0A"/>
                </a:solidFill>
                <a:latin typeface="Pretendard"/>
              </a:rPr>
              <a:t>Aa</a:t>
            </a:r>
          </a:p>
        </p:txBody>
      </p:sp>
      <p:sp>
        <p:nvSpPr>
          <p:cNvPr id="21" name="TextBox 20"/>
          <p:cNvSpPr txBox="1"/>
          <p:nvPr/>
        </p:nvSpPr>
        <p:spPr>
          <a:xfrm>
            <a:off x="7452360" y="2697480"/>
            <a:ext cx="3840480" cy="329184"/>
          </a:xfrm>
          <a:prstGeom prst="rect">
            <a:avLst/>
          </a:prstGeom>
          <a:noFill/>
        </p:spPr>
        <p:txBody>
          <a:bodyPr wrap="square">
            <a:spAutoFit/>
          </a:bodyPr>
          <a:lstStyle/>
          <a:p>
            <a:pPr algn="l"/>
            <a:r>
              <a:rPr sz="1200" b="1" i="0">
                <a:solidFill>
                  <a:srgbClr val="0A0A0A"/>
                </a:solidFill>
                <a:latin typeface="Pretendard"/>
              </a:rPr>
              <a:t>Pretendard Bold</a:t>
            </a:r>
          </a:p>
        </p:txBody>
      </p:sp>
      <p:sp>
        <p:nvSpPr>
          <p:cNvPr id="22" name="TextBox 21"/>
          <p:cNvSpPr txBox="1"/>
          <p:nvPr/>
        </p:nvSpPr>
        <p:spPr>
          <a:xfrm>
            <a:off x="7452360" y="3090672"/>
            <a:ext cx="3840480" cy="1188720"/>
          </a:xfrm>
          <a:prstGeom prst="rect">
            <a:avLst/>
          </a:prstGeom>
          <a:noFill/>
        </p:spPr>
        <p:txBody>
          <a:bodyPr wrap="square">
            <a:spAutoFit/>
          </a:bodyPr>
          <a:lstStyle/>
          <a:p>
            <a:pPr algn="l"/>
            <a:r>
              <a:rPr sz="1400" b="0" i="0">
                <a:solidFill>
                  <a:srgbClr val="585A5E"/>
                </a:solidFill>
                <a:latin typeface="Pretendard"/>
              </a:rPr>
              <a:t>ABCDEFGHIJKLM
abcdefghijklm
0123456789 !?</a:t>
            </a:r>
          </a:p>
        </p:txBody>
      </p:sp>
      <p:sp>
        <p:nvSpPr>
          <p:cNvPr id="23" name="TextBox 22"/>
          <p:cNvSpPr txBox="1"/>
          <p:nvPr/>
        </p:nvSpPr>
        <p:spPr>
          <a:xfrm>
            <a:off x="7452360" y="4617720"/>
            <a:ext cx="3840480" cy="1024128"/>
          </a:xfrm>
          <a:prstGeom prst="rect">
            <a:avLst/>
          </a:prstGeom>
          <a:noFill/>
        </p:spPr>
        <p:txBody>
          <a:bodyPr wrap="square">
            <a:spAutoFit/>
          </a:bodyPr>
          <a:lstStyle/>
          <a:p>
            <a:pPr algn="l"/>
            <a:r>
              <a:rPr sz="850" b="0" i="0">
                <a:solidFill>
                  <a:srgbClr val="C8C8C4"/>
                </a:solidFill>
                <a:latin typeface="Pretendard"/>
              </a:rPr>
              <a:t>Geometric grotesque sans — same family as the wordmark.
Files: -Regular  -SemiBold  -Bold  .woff2</a:t>
            </a:r>
          </a:p>
        </p:txBody>
      </p:sp>
      <p:sp>
        <p:nvSpPr>
          <p:cNvPr id="24" name="Rectangle 23"/>
          <p:cNvSpPr/>
          <p:nvPr/>
        </p:nvSpPr>
        <p:spPr>
          <a:xfrm>
            <a:off x="502920" y="5833872"/>
            <a:ext cx="6446520" cy="713232"/>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6016752"/>
            <a:ext cx="6035040" cy="457200"/>
          </a:xfrm>
          <a:prstGeom prst="rect">
            <a:avLst/>
          </a:prstGeom>
          <a:noFill/>
        </p:spPr>
        <p:txBody>
          <a:bodyPr wrap="square">
            <a:spAutoFit/>
          </a:bodyPr>
          <a:lstStyle/>
          <a:p>
            <a:pPr algn="l"/>
            <a:r>
              <a:rPr sz="900" b="0" i="0">
                <a:solidFill>
                  <a:srgbClr val="0A0A0A"/>
                </a:solidFill>
                <a:latin typeface="Pretendard"/>
              </a:rPr>
              <a:t>RULES  ·  Bold for emphasis, never italics. Minimum 10pt digital. Max 70 characters per body line. Sentence case in product and social. All-caps labels only at 8–9pt with +5% letter-spacing.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11  THE SWISS VISUAL WORLD</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1155680" cy="502920"/>
          </a:xfrm>
          <a:prstGeom prst="rect">
            <a:avLst/>
          </a:prstGeom>
          <a:noFill/>
        </p:spPr>
        <p:txBody>
          <a:bodyPr wrap="square">
            <a:spAutoFit/>
          </a:bodyPr>
          <a:lstStyle/>
          <a:p>
            <a:pPr algn="l"/>
            <a:r>
              <a:rPr sz="2000" b="1" i="0">
                <a:solidFill>
                  <a:srgbClr val="0A0A0A"/>
                </a:solidFill>
                <a:latin typeface="Pretendard"/>
              </a:rPr>
              <a:t>The site already lives here. Social extends it.</a:t>
            </a:r>
          </a:p>
        </p:txBody>
      </p:sp>
      <p:sp>
        <p:nvSpPr>
          <p:cNvPr id="6" name="Rectangle 5"/>
          <p:cNvSpPr/>
          <p:nvPr/>
        </p:nvSpPr>
        <p:spPr>
          <a:xfrm>
            <a:off x="502920" y="1572768"/>
            <a:ext cx="5559552" cy="17373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572768"/>
            <a:ext cx="45720" cy="173736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00784"/>
            <a:ext cx="5120640" cy="384048"/>
          </a:xfrm>
          <a:prstGeom prst="rect">
            <a:avLst/>
          </a:prstGeom>
          <a:noFill/>
        </p:spPr>
        <p:txBody>
          <a:bodyPr wrap="square">
            <a:spAutoFit/>
          </a:bodyPr>
          <a:lstStyle/>
          <a:p>
            <a:pPr algn="l"/>
            <a:r>
              <a:rPr sz="1400" b="1" i="0">
                <a:solidFill>
                  <a:srgbClr val="0A0A0A"/>
                </a:solidFill>
                <a:latin typeface="Pretendard"/>
              </a:rPr>
              <a:t>Dark Alpine peaks</a:t>
            </a:r>
          </a:p>
        </p:txBody>
      </p:sp>
      <p:sp>
        <p:nvSpPr>
          <p:cNvPr id="9" name="TextBox 8"/>
          <p:cNvSpPr txBox="1"/>
          <p:nvPr/>
        </p:nvSpPr>
        <p:spPr>
          <a:xfrm>
            <a:off x="731520" y="2139696"/>
            <a:ext cx="5074920" cy="1051560"/>
          </a:xfrm>
          <a:prstGeom prst="rect">
            <a:avLst/>
          </a:prstGeom>
          <a:noFill/>
        </p:spPr>
        <p:txBody>
          <a:bodyPr wrap="square">
            <a:spAutoFit/>
          </a:bodyPr>
          <a:lstStyle/>
          <a:p>
            <a:pPr algn="l"/>
            <a:r>
              <a:rPr sz="950" b="0" i="0">
                <a:solidFill>
                  <a:srgbClr val="585A5E"/>
                </a:solidFill>
                <a:latin typeface="Pretendard"/>
              </a:rPr>
              <a:t>The hero image on premai.io: monumental mountains, mist, pre-dawn light. This is the power register. Used for: product launch covers, category-claim posts, enterprise authority content.</a:t>
            </a:r>
          </a:p>
        </p:txBody>
      </p:sp>
      <p:sp>
        <p:nvSpPr>
          <p:cNvPr id="10" name="Rectangle 9"/>
          <p:cNvSpPr/>
          <p:nvPr/>
        </p:nvSpPr>
        <p:spPr>
          <a:xfrm>
            <a:off x="6446520" y="1572768"/>
            <a:ext cx="5559552" cy="17373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46520" y="1572768"/>
            <a:ext cx="45720" cy="173736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700784"/>
            <a:ext cx="5120640" cy="384048"/>
          </a:xfrm>
          <a:prstGeom prst="rect">
            <a:avLst/>
          </a:prstGeom>
          <a:noFill/>
        </p:spPr>
        <p:txBody>
          <a:bodyPr wrap="square">
            <a:spAutoFit/>
          </a:bodyPr>
          <a:lstStyle/>
          <a:p>
            <a:pPr algn="l"/>
            <a:r>
              <a:rPr sz="1400" b="1" i="0">
                <a:solidFill>
                  <a:srgbClr val="0A0A0A"/>
                </a:solidFill>
                <a:latin typeface="Pretendard"/>
              </a:rPr>
              <a:t>Lugano lake view</a:t>
            </a:r>
          </a:p>
        </p:txBody>
      </p:sp>
      <p:sp>
        <p:nvSpPr>
          <p:cNvPr id="13" name="TextBox 12"/>
          <p:cNvSpPr txBox="1"/>
          <p:nvPr/>
        </p:nvSpPr>
        <p:spPr>
          <a:xfrm>
            <a:off x="6675120" y="2139696"/>
            <a:ext cx="5074920" cy="1051560"/>
          </a:xfrm>
          <a:prstGeom prst="rect">
            <a:avLst/>
          </a:prstGeom>
          <a:noFill/>
        </p:spPr>
        <p:txBody>
          <a:bodyPr wrap="square">
            <a:spAutoFit/>
          </a:bodyPr>
          <a:lstStyle/>
          <a:p>
            <a:pPr algn="l"/>
            <a:r>
              <a:rPr sz="950" b="0" i="0">
                <a:solidFill>
                  <a:srgbClr val="585A5E"/>
                </a:solidFill>
                <a:latin typeface="Pretendard"/>
              </a:rPr>
              <a:t>"Designed &amp; powered in Switzerland" uses the daytime city-and-lake aerial. Soft blue, hazy, warm. Used for: company story, team content, the Swiss identity, and Instagram background frames.</a:t>
            </a:r>
          </a:p>
        </p:txBody>
      </p:sp>
      <p:sp>
        <p:nvSpPr>
          <p:cNvPr id="14" name="Rectangle 13"/>
          <p:cNvSpPr/>
          <p:nvPr/>
        </p:nvSpPr>
        <p:spPr>
          <a:xfrm>
            <a:off x="502920" y="3447287"/>
            <a:ext cx="5559552" cy="17373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447287"/>
            <a:ext cx="45720" cy="173736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75303"/>
            <a:ext cx="5120640" cy="384048"/>
          </a:xfrm>
          <a:prstGeom prst="rect">
            <a:avLst/>
          </a:prstGeom>
          <a:noFill/>
        </p:spPr>
        <p:txBody>
          <a:bodyPr wrap="square">
            <a:spAutoFit/>
          </a:bodyPr>
          <a:lstStyle/>
          <a:p>
            <a:pPr algn="l"/>
            <a:r>
              <a:rPr sz="1400" b="1" i="0">
                <a:solidFill>
                  <a:srgbClr val="0A0A0A"/>
                </a:solidFill>
                <a:latin typeface="Pretendard"/>
              </a:rPr>
              <a:t>The dot map</a:t>
            </a:r>
          </a:p>
        </p:txBody>
      </p:sp>
      <p:sp>
        <p:nvSpPr>
          <p:cNvPr id="17" name="TextBox 16"/>
          <p:cNvSpPr txBox="1"/>
          <p:nvPr/>
        </p:nvSpPr>
        <p:spPr>
          <a:xfrm>
            <a:off x="731520" y="4014215"/>
            <a:ext cx="5074920" cy="1051560"/>
          </a:xfrm>
          <a:prstGeom prst="rect">
            <a:avLst/>
          </a:prstGeom>
          <a:noFill/>
        </p:spPr>
        <p:txBody>
          <a:bodyPr wrap="square">
            <a:spAutoFit/>
          </a:bodyPr>
          <a:lstStyle/>
          <a:p>
            <a:pPr algn="l"/>
            <a:r>
              <a:rPr sz="950" b="0" i="0">
                <a:solidFill>
                  <a:srgbClr val="585A5E"/>
                </a:solidFill>
                <a:latin typeface="Pretendard"/>
              </a:rPr>
              <a:t>Switzerland drawn in the logo's own dot language. Our most ownable graphic: the country and the mark in a single image. Use as watermark on carousels, as a full-bleed frame on every 9th Instagram post.</a:t>
            </a:r>
          </a:p>
        </p:txBody>
      </p:sp>
      <p:sp>
        <p:nvSpPr>
          <p:cNvPr id="18" name="Rectangle 17"/>
          <p:cNvSpPr/>
          <p:nvPr/>
        </p:nvSpPr>
        <p:spPr>
          <a:xfrm>
            <a:off x="6446520" y="3447287"/>
            <a:ext cx="5559552" cy="173736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46520" y="3447287"/>
            <a:ext cx="45720" cy="173736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3575303"/>
            <a:ext cx="5120640" cy="384048"/>
          </a:xfrm>
          <a:prstGeom prst="rect">
            <a:avLst/>
          </a:prstGeom>
          <a:noFill/>
        </p:spPr>
        <p:txBody>
          <a:bodyPr wrap="square">
            <a:spAutoFit/>
          </a:bodyPr>
          <a:lstStyle/>
          <a:p>
            <a:pPr algn="l"/>
            <a:r>
              <a:rPr sz="1400" b="1" i="0">
                <a:solidFill>
                  <a:srgbClr val="0A0A0A"/>
                </a:solidFill>
                <a:latin typeface="Pretendard"/>
              </a:rPr>
              <a:t>The Swiss grid</a:t>
            </a:r>
          </a:p>
        </p:txBody>
      </p:sp>
      <p:sp>
        <p:nvSpPr>
          <p:cNvPr id="21" name="TextBox 20"/>
          <p:cNvSpPr txBox="1"/>
          <p:nvPr/>
        </p:nvSpPr>
        <p:spPr>
          <a:xfrm>
            <a:off x="6675120" y="4014215"/>
            <a:ext cx="5074920" cy="1051560"/>
          </a:xfrm>
          <a:prstGeom prst="rect">
            <a:avLst/>
          </a:prstGeom>
          <a:noFill/>
        </p:spPr>
        <p:txBody>
          <a:bodyPr wrap="square">
            <a:spAutoFit/>
          </a:bodyPr>
          <a:lstStyle/>
          <a:p>
            <a:pPr algn="l"/>
            <a:r>
              <a:rPr sz="950" b="0" i="0">
                <a:solidFill>
                  <a:srgbClr val="585A5E"/>
                </a:solidFill>
                <a:latin typeface="Pretendard"/>
              </a:rPr>
              <a:t>International Typographic Style is literally Swiss: strict grid, flush-left type, maximum white space. Prem inherits it by birthright. The design decision is almost always: add more white space.</a:t>
            </a:r>
          </a:p>
        </p:txBody>
      </p:sp>
      <p:sp>
        <p:nvSpPr>
          <p:cNvPr id="22" name="Rectangle 21"/>
          <p:cNvSpPr/>
          <p:nvPr/>
        </p:nvSpPr>
        <p:spPr>
          <a:xfrm>
            <a:off x="502920" y="5376672"/>
            <a:ext cx="11192256" cy="1170432"/>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04688"/>
            <a:ext cx="1828800" cy="256032"/>
          </a:xfrm>
          <a:prstGeom prst="rect">
            <a:avLst/>
          </a:prstGeom>
          <a:noFill/>
        </p:spPr>
        <p:txBody>
          <a:bodyPr wrap="square">
            <a:spAutoFit/>
          </a:bodyPr>
          <a:lstStyle/>
          <a:p>
            <a:pPr algn="l"/>
            <a:r>
              <a:rPr sz="800" b="1" i="0">
                <a:solidFill>
                  <a:srgbClr val="C8C8C4"/>
                </a:solidFill>
                <a:latin typeface="Pretendard"/>
              </a:rPr>
              <a:t>RULES</a:t>
            </a:r>
          </a:p>
        </p:txBody>
      </p:sp>
      <p:sp>
        <p:nvSpPr>
          <p:cNvPr id="24" name="TextBox 23"/>
          <p:cNvSpPr txBox="1"/>
          <p:nvPr/>
        </p:nvSpPr>
        <p:spPr>
          <a:xfrm>
            <a:off x="731520" y="5779008"/>
            <a:ext cx="10698480" cy="658368"/>
          </a:xfrm>
          <a:prstGeom prst="rect">
            <a:avLst/>
          </a:prstGeom>
          <a:noFill/>
        </p:spPr>
        <p:txBody>
          <a:bodyPr wrap="square">
            <a:spAutoFit/>
          </a:bodyPr>
          <a:lstStyle/>
          <a:p>
            <a:pPr algn="l"/>
            <a:r>
              <a:rPr sz="1000" b="0" i="0">
                <a:solidFill>
                  <a:srgbClr val="878884"/>
                </a:solidFill>
                <a:latin typeface="Pretendard"/>
              </a:rPr>
              <a:t>Never use the Swiss flag or cross: protected mark and a cliche.  One motif per asset — they support the message, never carry it.  Color enters through photography only.  Every asset passes the calm test: if it shouts, it ships nowhere.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12  VISUAL APPLICATION  |  SOCIAL TEMPLATES</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70432"/>
            <a:ext cx="2395728" cy="4261104"/>
          </a:xfrm>
          <a:prstGeom prst="rect">
            <a:avLst/>
          </a:prstGeom>
          <a:solidFill>
            <a:srgbClr val="FCFCFA"/>
          </a:solidFill>
          <a:ln w="1016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999232"/>
            <a:ext cx="2395728" cy="2432304"/>
          </a:xfrm>
          <a:prstGeom prst="rect">
            <a:avLst/>
          </a:prstGeom>
          <a:solidFill>
            <a:srgbClr val="DADA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777240" y="3877056"/>
            <a:ext cx="2395728" cy="2980944"/>
          </a:xfrm>
          <a:custGeom>
            <a:avLst/>
            <a:gdLst/>
            <a:ahLst/>
            <a:cxnLst/>
            <a:rect l="l" t="t" r="r" b="b"/>
            <a:pathLst>
              <a:path w="2395728" h="2980944">
                <a:moveTo>
                  <a:pt x="0" y="2980944"/>
                </a:moveTo>
                <a:lnTo>
                  <a:pt x="0" y="548640"/>
                </a:lnTo>
                <a:lnTo>
                  <a:pt x="731520" y="0"/>
                </a:lnTo>
                <a:lnTo>
                  <a:pt x="1463040" y="502920"/>
                </a:lnTo>
                <a:lnTo>
                  <a:pt x="2395728" y="137160"/>
                </a:lnTo>
                <a:lnTo>
                  <a:pt x="2395728" y="2980944"/>
                </a:lnTo>
                <a:close/>
              </a:path>
            </a:pathLst>
          </a:custGeom>
          <a:solidFill>
            <a:srgbClr val="ACAD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777240" y="4425696"/>
            <a:ext cx="2395728" cy="2432304"/>
          </a:xfrm>
          <a:custGeom>
            <a:avLst/>
            <a:gdLst/>
            <a:ahLst/>
            <a:cxnLst/>
            <a:rect l="l" t="t" r="r" b="b"/>
            <a:pathLst>
              <a:path w="2395728" h="2432304">
                <a:moveTo>
                  <a:pt x="0" y="2432304"/>
                </a:moveTo>
                <a:lnTo>
                  <a:pt x="0" y="365760"/>
                </a:lnTo>
                <a:lnTo>
                  <a:pt x="914400" y="0"/>
                </a:lnTo>
                <a:lnTo>
                  <a:pt x="1828800" y="228600"/>
                </a:lnTo>
                <a:lnTo>
                  <a:pt x="2395728" y="0"/>
                </a:lnTo>
                <a:lnTo>
                  <a:pt x="2395728" y="2432304"/>
                </a:lnTo>
                <a:close/>
              </a:path>
            </a:pathLst>
          </a:custGeom>
          <a:solidFill>
            <a:srgbClr val="C3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8952" y="5431536"/>
            <a:ext cx="2432304" cy="13716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554480"/>
            <a:ext cx="2011680" cy="566928"/>
          </a:xfrm>
          <a:prstGeom prst="rect">
            <a:avLst/>
          </a:prstGeom>
          <a:noFill/>
        </p:spPr>
        <p:txBody>
          <a:bodyPr wrap="square">
            <a:spAutoFit/>
          </a:bodyPr>
          <a:lstStyle/>
          <a:p>
            <a:pPr algn="l"/>
            <a:r>
              <a:rPr sz="2800" b="1" i="0">
                <a:solidFill>
                  <a:srgbClr val="0A0A0A"/>
                </a:solidFill>
                <a:latin typeface="Pretendard"/>
              </a:rPr>
              <a:t>23 MIN</a:t>
            </a:r>
          </a:p>
        </p:txBody>
      </p:sp>
      <p:sp>
        <p:nvSpPr>
          <p:cNvPr id="11" name="TextBox 10"/>
          <p:cNvSpPr txBox="1"/>
          <p:nvPr/>
        </p:nvSpPr>
        <p:spPr>
          <a:xfrm>
            <a:off x="960120" y="2194560"/>
            <a:ext cx="2011680" cy="621792"/>
          </a:xfrm>
          <a:prstGeom prst="rect">
            <a:avLst/>
          </a:prstGeom>
          <a:noFill/>
        </p:spPr>
        <p:txBody>
          <a:bodyPr wrap="square">
            <a:spAutoFit/>
          </a:bodyPr>
          <a:lstStyle/>
          <a:p>
            <a:pPr algn="l"/>
            <a:r>
              <a:rPr sz="1000" b="0" i="0">
                <a:solidFill>
                  <a:srgbClr val="585A5E"/>
                </a:solidFill>
                <a:latin typeface="Pretendard"/>
              </a:rPr>
              <a:t>contract review,
every clause sourced</a:t>
            </a:r>
          </a:p>
        </p:txBody>
      </p:sp>
      <p:sp>
        <p:nvSpPr>
          <p:cNvPr id="12" name="Oval 11"/>
          <p:cNvSpPr/>
          <p:nvPr/>
        </p:nvSpPr>
        <p:spPr>
          <a:xfrm>
            <a:off x="1005839" y="5056632"/>
            <a:ext cx="91440" cy="91440"/>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3175" y="5073091"/>
            <a:ext cx="58521" cy="585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313078" y="5062118"/>
            <a:ext cx="80467" cy="8046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78584" y="5076748"/>
            <a:ext cx="51206" cy="5120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20316" y="5067604"/>
            <a:ext cx="69494" cy="6949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541264"/>
            <a:ext cx="2395728" cy="256032"/>
          </a:xfrm>
          <a:prstGeom prst="rect">
            <a:avLst/>
          </a:prstGeom>
          <a:noFill/>
        </p:spPr>
        <p:txBody>
          <a:bodyPr wrap="square">
            <a:spAutoFit/>
          </a:bodyPr>
          <a:lstStyle/>
          <a:p>
            <a:pPr algn="l"/>
            <a:r>
              <a:rPr sz="800" b="1" i="0">
                <a:solidFill>
                  <a:srgbClr val="585A5E"/>
                </a:solidFill>
                <a:latin typeface="Pretendard"/>
              </a:rPr>
              <a:t>REEL COVER  9:16</a:t>
            </a:r>
          </a:p>
        </p:txBody>
      </p:sp>
      <p:sp>
        <p:nvSpPr>
          <p:cNvPr id="18" name="TextBox 17"/>
          <p:cNvSpPr txBox="1"/>
          <p:nvPr/>
        </p:nvSpPr>
        <p:spPr>
          <a:xfrm>
            <a:off x="777240" y="5815584"/>
            <a:ext cx="2395728" cy="438912"/>
          </a:xfrm>
          <a:prstGeom prst="rect">
            <a:avLst/>
          </a:prstGeom>
          <a:noFill/>
        </p:spPr>
        <p:txBody>
          <a:bodyPr wrap="square">
            <a:spAutoFit/>
          </a:bodyPr>
          <a:lstStyle/>
          <a:p>
            <a:pPr algn="l"/>
            <a:r>
              <a:rPr sz="850" b="0" i="0">
                <a:solidFill>
                  <a:srgbClr val="C8C8C4"/>
                </a:solidFill>
                <a:latin typeface="Pretendard"/>
              </a:rPr>
              <a:t>Big number. One claim.
Ridge footer. Dot signature.</a:t>
            </a:r>
          </a:p>
        </p:txBody>
      </p:sp>
      <p:sp>
        <p:nvSpPr>
          <p:cNvPr id="19" name="Rectangle 18"/>
          <p:cNvSpPr/>
          <p:nvPr/>
        </p:nvSpPr>
        <p:spPr>
          <a:xfrm>
            <a:off x="4160520" y="1170432"/>
            <a:ext cx="3310128" cy="3310128"/>
          </a:xfrm>
          <a:prstGeom prst="rect">
            <a:avLst/>
          </a:prstGeom>
          <a:solidFill>
            <a:srgbClr val="FFFFFF"/>
          </a:solidFill>
          <a:ln w="1016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21500" y="3101644"/>
            <a:ext cx="36576" cy="36576"/>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96481" y="3101644"/>
            <a:ext cx="36576" cy="36576"/>
          </a:xfrm>
          <a:prstGeom prst="ellipse">
            <a:avLst/>
          </a:prstGeom>
          <a:solidFill>
            <a:srgbClr val="9595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1462" y="3101644"/>
            <a:ext cx="36576" cy="36576"/>
          </a:xfrm>
          <a:prstGeom prst="ellipse">
            <a:avLst/>
          </a:prstGeom>
          <a:solidFill>
            <a:srgbClr val="9393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746443" y="3101644"/>
            <a:ext cx="36576" cy="36576"/>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821424" y="3101644"/>
            <a:ext cx="36576" cy="36576"/>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296558" y="3176625"/>
            <a:ext cx="36576" cy="36576"/>
          </a:xfrm>
          <a:prstGeom prst="ellipse">
            <a:avLst/>
          </a:prstGeom>
          <a:solidFill>
            <a:srgbClr val="9A9A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71539" y="3176625"/>
            <a:ext cx="36576" cy="36576"/>
          </a:xfrm>
          <a:prstGeom prst="ellipse">
            <a:avLst/>
          </a:prstGeom>
          <a:solidFill>
            <a:srgbClr val="989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6520" y="3176625"/>
            <a:ext cx="36576" cy="36576"/>
          </a:xfrm>
          <a:prstGeom prst="ellipse">
            <a:avLst/>
          </a:prstGeom>
          <a:solidFill>
            <a:srgbClr val="96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21500" y="3176625"/>
            <a:ext cx="36576" cy="36576"/>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96481" y="3176625"/>
            <a:ext cx="36576" cy="36576"/>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1462" y="3176625"/>
            <a:ext cx="36576" cy="36576"/>
          </a:xfrm>
          <a:prstGeom prst="ellipse">
            <a:avLst/>
          </a:prstGeom>
          <a:solidFill>
            <a:srgbClr val="9090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746443" y="3176625"/>
            <a:ext cx="36576" cy="36576"/>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21424" y="3176625"/>
            <a:ext cx="36576" cy="36576"/>
          </a:xfrm>
          <a:prstGeom prst="ellipse">
            <a:avLst/>
          </a:prstGeom>
          <a:solidFill>
            <a:srgbClr val="8D8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96404" y="3176625"/>
            <a:ext cx="36576" cy="36576"/>
          </a:xfrm>
          <a:prstGeom prst="ellipse">
            <a:avLst/>
          </a:prstGeom>
          <a:solidFill>
            <a:srgbClr val="8B8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971385" y="3176625"/>
            <a:ext cx="36576" cy="36576"/>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46596" y="3251606"/>
            <a:ext cx="36576" cy="36576"/>
          </a:xfrm>
          <a:prstGeom prst="ellipse">
            <a:avLst/>
          </a:prstGeom>
          <a:solidFill>
            <a:srgbClr val="9C9C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221577" y="3251606"/>
            <a:ext cx="36576" cy="36576"/>
          </a:xfrm>
          <a:prstGeom prst="ellipse">
            <a:avLst/>
          </a:prstGeom>
          <a:solidFill>
            <a:srgbClr val="9A9A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296558" y="3251606"/>
            <a:ext cx="36576" cy="36576"/>
          </a:xfrm>
          <a:prstGeom prst="ellipse">
            <a:avLst/>
          </a:prstGeom>
          <a:solidFill>
            <a:srgbClr val="989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371539" y="3251606"/>
            <a:ext cx="36576" cy="36576"/>
          </a:xfrm>
          <a:prstGeom prst="ellipse">
            <a:avLst/>
          </a:prstGeom>
          <a:solidFill>
            <a:srgbClr val="96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446520" y="3251606"/>
            <a:ext cx="36576" cy="36576"/>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521500" y="3251606"/>
            <a:ext cx="36576" cy="36576"/>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6481" y="3251606"/>
            <a:ext cx="36576" cy="36576"/>
          </a:xfrm>
          <a:prstGeom prst="ellipse">
            <a:avLst/>
          </a:prstGeom>
          <a:solidFill>
            <a:srgbClr val="9090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671462" y="3251606"/>
            <a:ext cx="36576" cy="36576"/>
          </a:xfrm>
          <a:prstGeom prst="ellipse">
            <a:avLst/>
          </a:prstGeom>
          <a:solidFill>
            <a:srgbClr val="8E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746443" y="3251606"/>
            <a:ext cx="36576" cy="36576"/>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21424" y="3251606"/>
            <a:ext cx="36576" cy="36576"/>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96404" y="3251606"/>
            <a:ext cx="36576" cy="36576"/>
          </a:xfrm>
          <a:prstGeom prst="ellipse">
            <a:avLst/>
          </a:prstGeom>
          <a:solidFill>
            <a:srgbClr val="8888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971385" y="3251606"/>
            <a:ext cx="36576" cy="36576"/>
          </a:xfrm>
          <a:prstGeom prst="ellipse">
            <a:avLst/>
          </a:prstGeom>
          <a:solidFill>
            <a:srgbClr val="86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071616" y="3326587"/>
            <a:ext cx="36576" cy="36576"/>
          </a:xfrm>
          <a:prstGeom prst="ellipse">
            <a:avLst/>
          </a:prstGeom>
          <a:solidFill>
            <a:srgbClr val="9B9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146596" y="3326587"/>
            <a:ext cx="36576" cy="36576"/>
          </a:xfrm>
          <a:prstGeom prst="ellipse">
            <a:avLst/>
          </a:prstGeom>
          <a:solidFill>
            <a:srgbClr val="9999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221577" y="3326587"/>
            <a:ext cx="36576" cy="36576"/>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96558" y="3326587"/>
            <a:ext cx="36576" cy="36576"/>
          </a:xfrm>
          <a:prstGeom prst="ellipse">
            <a:avLst/>
          </a:prstGeom>
          <a:solidFill>
            <a:srgbClr val="9595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371539" y="3326587"/>
            <a:ext cx="36576" cy="36576"/>
          </a:xfrm>
          <a:prstGeom prst="ellipse">
            <a:avLst/>
          </a:prstGeom>
          <a:solidFill>
            <a:srgbClr val="9393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446520" y="3326587"/>
            <a:ext cx="36576" cy="36576"/>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521500" y="3326587"/>
            <a:ext cx="36576" cy="36576"/>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596481" y="3326587"/>
            <a:ext cx="36576" cy="36576"/>
          </a:xfrm>
          <a:prstGeom prst="ellipse">
            <a:avLst/>
          </a:prstGeom>
          <a:solidFill>
            <a:srgbClr val="8D8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671462" y="3326587"/>
            <a:ext cx="36576" cy="36576"/>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746443" y="3326587"/>
            <a:ext cx="36576" cy="36576"/>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821424" y="3326587"/>
            <a:ext cx="36576" cy="36576"/>
          </a:xfrm>
          <a:prstGeom prst="ellipse">
            <a:avLst/>
          </a:prstGeom>
          <a:solidFill>
            <a:srgbClr val="8888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896404" y="3326587"/>
            <a:ext cx="36576" cy="36576"/>
          </a:xfrm>
          <a:prstGeom prst="ellipse">
            <a:avLst/>
          </a:prstGeom>
          <a:solidFill>
            <a:srgbClr val="86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971385" y="3326587"/>
            <a:ext cx="36576" cy="36576"/>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5996635" y="3401568"/>
            <a:ext cx="36576" cy="36576"/>
          </a:xfrm>
          <a:prstGeom prst="ellipse">
            <a:avLst/>
          </a:prstGeom>
          <a:solidFill>
            <a:srgbClr val="9A9A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071616" y="3401568"/>
            <a:ext cx="36576" cy="36576"/>
          </a:xfrm>
          <a:prstGeom prst="ellipse">
            <a:avLst/>
          </a:prstGeom>
          <a:solidFill>
            <a:srgbClr val="9999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6146596" y="3401568"/>
            <a:ext cx="36576" cy="36576"/>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221577" y="3401568"/>
            <a:ext cx="36576" cy="36576"/>
          </a:xfrm>
          <a:prstGeom prst="ellipse">
            <a:avLst/>
          </a:prstGeom>
          <a:solidFill>
            <a:srgbClr val="9595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296558" y="3401568"/>
            <a:ext cx="36576" cy="36576"/>
          </a:xfrm>
          <a:prstGeom prst="ellipse">
            <a:avLst/>
          </a:prstGeom>
          <a:solidFill>
            <a:srgbClr val="9393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371539" y="3401568"/>
            <a:ext cx="36576" cy="36576"/>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446520" y="3401568"/>
            <a:ext cx="36576" cy="36576"/>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6521500" y="3401568"/>
            <a:ext cx="36576" cy="36576"/>
          </a:xfrm>
          <a:prstGeom prst="ellipse">
            <a:avLst/>
          </a:prstGeom>
          <a:solidFill>
            <a:srgbClr val="8D8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6596481" y="3401568"/>
            <a:ext cx="36576" cy="36576"/>
          </a:xfrm>
          <a:prstGeom prst="ellipse">
            <a:avLst/>
          </a:prstGeom>
          <a:solidFill>
            <a:srgbClr val="8B8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671462" y="3401568"/>
            <a:ext cx="36576" cy="36576"/>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746443" y="3401568"/>
            <a:ext cx="36576" cy="36576"/>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6821424" y="3401568"/>
            <a:ext cx="36576" cy="36576"/>
          </a:xfrm>
          <a:prstGeom prst="ellipse">
            <a:avLst/>
          </a:prstGeom>
          <a:solidFill>
            <a:srgbClr val="8585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6896404" y="3401568"/>
            <a:ext cx="36576" cy="36576"/>
          </a:xfrm>
          <a:prstGeom prst="ellipse">
            <a:avLst/>
          </a:prstGeom>
          <a:solidFill>
            <a:srgbClr val="838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6971385" y="3401568"/>
            <a:ext cx="36576" cy="36576"/>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921654" y="3476548"/>
            <a:ext cx="36576" cy="36576"/>
          </a:xfrm>
          <a:prstGeom prst="ellipse">
            <a:avLst/>
          </a:prstGeom>
          <a:solidFill>
            <a:srgbClr val="9A9A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96635" y="3476548"/>
            <a:ext cx="36576" cy="36576"/>
          </a:xfrm>
          <a:prstGeom prst="ellipse">
            <a:avLst/>
          </a:prstGeom>
          <a:solidFill>
            <a:srgbClr val="9898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071616" y="3476548"/>
            <a:ext cx="36576" cy="36576"/>
          </a:xfrm>
          <a:prstGeom prst="ellipse">
            <a:avLst/>
          </a:prstGeom>
          <a:solidFill>
            <a:srgbClr val="96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146596" y="3476548"/>
            <a:ext cx="36576" cy="36576"/>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221577" y="3476548"/>
            <a:ext cx="36576" cy="36576"/>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296558" y="3476548"/>
            <a:ext cx="36576" cy="36576"/>
          </a:xfrm>
          <a:prstGeom prst="ellipse">
            <a:avLst/>
          </a:prstGeom>
          <a:solidFill>
            <a:srgbClr val="9090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371539" y="3476548"/>
            <a:ext cx="36576" cy="36576"/>
          </a:xfrm>
          <a:prstGeom prst="ellipse">
            <a:avLst/>
          </a:prstGeom>
          <a:solidFill>
            <a:srgbClr val="8E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446520" y="3476548"/>
            <a:ext cx="36576" cy="36576"/>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521500" y="3476548"/>
            <a:ext cx="36576" cy="36576"/>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596481" y="3476548"/>
            <a:ext cx="36576" cy="36576"/>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671462" y="3476548"/>
            <a:ext cx="36576" cy="36576"/>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746443" y="3476548"/>
            <a:ext cx="36576" cy="36576"/>
          </a:xfrm>
          <a:prstGeom prst="ellipse">
            <a:avLst/>
          </a:prstGeom>
          <a:solidFill>
            <a:srgbClr val="8585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821424" y="3476548"/>
            <a:ext cx="36576" cy="36576"/>
          </a:xfrm>
          <a:prstGeom prst="ellipse">
            <a:avLst/>
          </a:prstGeom>
          <a:solidFill>
            <a:srgbClr val="838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896404" y="3476548"/>
            <a:ext cx="36576" cy="36576"/>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971385" y="3476548"/>
            <a:ext cx="36576" cy="36576"/>
          </a:xfrm>
          <a:prstGeom prst="ellipse">
            <a:avLst/>
          </a:prstGeom>
          <a:solidFill>
            <a:srgbClr val="7F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7046366" y="3476548"/>
            <a:ext cx="36576" cy="36576"/>
          </a:xfrm>
          <a:prstGeom prst="ellipse">
            <a:avLst/>
          </a:prstGeom>
          <a:solidFill>
            <a:srgbClr val="7D7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7121347" y="3476548"/>
            <a:ext cx="36576" cy="36576"/>
          </a:xfrm>
          <a:prstGeom prst="ellipse">
            <a:avLst/>
          </a:prstGeom>
          <a:solidFill>
            <a:srgbClr val="7B7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5921654" y="3551529"/>
            <a:ext cx="36576" cy="36576"/>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5996635" y="3551529"/>
            <a:ext cx="36576" cy="36576"/>
          </a:xfrm>
          <a:prstGeom prst="ellipse">
            <a:avLst/>
          </a:prstGeom>
          <a:solidFill>
            <a:srgbClr val="96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6071616" y="3551529"/>
            <a:ext cx="36576" cy="36576"/>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6146596" y="3551529"/>
            <a:ext cx="36576" cy="36576"/>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221577" y="3551529"/>
            <a:ext cx="36576" cy="36576"/>
          </a:xfrm>
          <a:prstGeom prst="ellipse">
            <a:avLst/>
          </a:prstGeom>
          <a:solidFill>
            <a:srgbClr val="9090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6296558" y="3551529"/>
            <a:ext cx="36576" cy="36576"/>
          </a:xfrm>
          <a:prstGeom prst="ellipse">
            <a:avLst/>
          </a:prstGeom>
          <a:solidFill>
            <a:srgbClr val="8E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6371539" y="3551529"/>
            <a:ext cx="36576" cy="36576"/>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6446520" y="3551529"/>
            <a:ext cx="36576" cy="36576"/>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6521500" y="3551529"/>
            <a:ext cx="36576" cy="36576"/>
          </a:xfrm>
          <a:prstGeom prst="ellipse">
            <a:avLst/>
          </a:prstGeom>
          <a:solidFill>
            <a:srgbClr val="8888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596481" y="3551529"/>
            <a:ext cx="36576" cy="36576"/>
          </a:xfrm>
          <a:prstGeom prst="ellipse">
            <a:avLst/>
          </a:prstGeom>
          <a:solidFill>
            <a:srgbClr val="86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671462" y="3551529"/>
            <a:ext cx="36576" cy="36576"/>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6746443" y="3551529"/>
            <a:ext cx="36576" cy="36576"/>
          </a:xfrm>
          <a:prstGeom prst="ellipse">
            <a:avLst/>
          </a:prstGeom>
          <a:solidFill>
            <a:srgbClr val="8282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6821424" y="3551529"/>
            <a:ext cx="36576" cy="36576"/>
          </a:xfrm>
          <a:prstGeom prst="ellipse">
            <a:avLst/>
          </a:prstGeom>
          <a:solidFill>
            <a:srgbClr val="8080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6896404" y="3551529"/>
            <a:ext cx="36576" cy="36576"/>
          </a:xfrm>
          <a:prstGeom prst="ellipse">
            <a:avLst/>
          </a:prstGeom>
          <a:solidFill>
            <a:srgbClr val="7E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6971385" y="3551529"/>
            <a:ext cx="36576" cy="36576"/>
          </a:xfrm>
          <a:prstGeom prst="ellipse">
            <a:avLst/>
          </a:prstGeom>
          <a:solidFill>
            <a:srgbClr val="7C7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7046366" y="3551529"/>
            <a:ext cx="36576" cy="36576"/>
          </a:xfrm>
          <a:prstGeom prst="ellipse">
            <a:avLst/>
          </a:prstGeom>
          <a:solidFill>
            <a:srgbClr val="7A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121347" y="3551529"/>
            <a:ext cx="36576" cy="36576"/>
          </a:xfrm>
          <a:prstGeom prst="ellipse">
            <a:avLst/>
          </a:prstGeom>
          <a:solidFill>
            <a:srgbClr val="7979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7196328" y="3551529"/>
            <a:ext cx="36576" cy="36576"/>
          </a:xfrm>
          <a:prstGeom prst="ellipse">
            <a:avLst/>
          </a:prstGeom>
          <a:solidFill>
            <a:srgbClr val="7777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7271308" y="3551529"/>
            <a:ext cx="36576" cy="36576"/>
          </a:xfrm>
          <a:prstGeom prst="ellipse">
            <a:avLst/>
          </a:prstGeom>
          <a:solidFill>
            <a:srgbClr val="757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5846673" y="3626510"/>
            <a:ext cx="36576" cy="36576"/>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5921654" y="3626510"/>
            <a:ext cx="36576" cy="36576"/>
          </a:xfrm>
          <a:prstGeom prst="ellipse">
            <a:avLst/>
          </a:prstGeom>
          <a:solidFill>
            <a:srgbClr val="9595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5996635" y="3626510"/>
            <a:ext cx="36576" cy="36576"/>
          </a:xfrm>
          <a:prstGeom prst="ellipse">
            <a:avLst/>
          </a:prstGeom>
          <a:solidFill>
            <a:srgbClr val="9393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6071616" y="3626510"/>
            <a:ext cx="36576" cy="36576"/>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6146596" y="3626510"/>
            <a:ext cx="36576" cy="36576"/>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6221577" y="3626510"/>
            <a:ext cx="36576" cy="36576"/>
          </a:xfrm>
          <a:prstGeom prst="ellipse">
            <a:avLst/>
          </a:prstGeom>
          <a:solidFill>
            <a:srgbClr val="8D8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6296558" y="3626510"/>
            <a:ext cx="36576" cy="36576"/>
          </a:xfrm>
          <a:prstGeom prst="ellipse">
            <a:avLst/>
          </a:prstGeom>
          <a:solidFill>
            <a:srgbClr val="8B8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71539" y="3626510"/>
            <a:ext cx="36576" cy="36576"/>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6446520" y="3626510"/>
            <a:ext cx="36576" cy="36576"/>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6521500" y="3626510"/>
            <a:ext cx="36576" cy="36576"/>
          </a:xfrm>
          <a:prstGeom prst="ellipse">
            <a:avLst/>
          </a:prstGeom>
          <a:solidFill>
            <a:srgbClr val="86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596481" y="3626510"/>
            <a:ext cx="36576" cy="36576"/>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6671462" y="3626510"/>
            <a:ext cx="36576" cy="36576"/>
          </a:xfrm>
          <a:prstGeom prst="ellipse">
            <a:avLst/>
          </a:prstGeom>
          <a:solidFill>
            <a:srgbClr val="8282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6746443" y="3626510"/>
            <a:ext cx="36576" cy="36576"/>
          </a:xfrm>
          <a:prstGeom prst="ellipse">
            <a:avLst/>
          </a:prstGeom>
          <a:solidFill>
            <a:srgbClr val="8080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6821424" y="3626510"/>
            <a:ext cx="36576" cy="36576"/>
          </a:xfrm>
          <a:prstGeom prst="ellipse">
            <a:avLst/>
          </a:prstGeom>
          <a:solidFill>
            <a:srgbClr val="7E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896404" y="3626510"/>
            <a:ext cx="36576" cy="36576"/>
          </a:xfrm>
          <a:prstGeom prst="ellipse">
            <a:avLst/>
          </a:prstGeom>
          <a:solidFill>
            <a:srgbClr val="7C7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971385" y="3626510"/>
            <a:ext cx="36576" cy="36576"/>
          </a:xfrm>
          <a:prstGeom prst="ellipse">
            <a:avLst/>
          </a:prstGeom>
          <a:solidFill>
            <a:srgbClr val="7A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7046366" y="3626510"/>
            <a:ext cx="36576" cy="36576"/>
          </a:xfrm>
          <a:prstGeom prst="ellipse">
            <a:avLst/>
          </a:prstGeom>
          <a:solidFill>
            <a:srgbClr val="7878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7121347" y="3626510"/>
            <a:ext cx="36576" cy="36576"/>
          </a:xfrm>
          <a:prstGeom prst="ellipse">
            <a:avLst/>
          </a:prstGeom>
          <a:solidFill>
            <a:srgbClr val="7676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7196328" y="3626510"/>
            <a:ext cx="36576" cy="36576"/>
          </a:xfrm>
          <a:prstGeom prst="ellipse">
            <a:avLst/>
          </a:prstGeom>
          <a:solidFill>
            <a:srgbClr val="747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5771692" y="3701491"/>
            <a:ext cx="36576" cy="36576"/>
          </a:xfrm>
          <a:prstGeom prst="ellipse">
            <a:avLst/>
          </a:prstGeom>
          <a:solidFill>
            <a:srgbClr val="96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5846673" y="3701491"/>
            <a:ext cx="36576" cy="36576"/>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5921654" y="3701491"/>
            <a:ext cx="36576" cy="36576"/>
          </a:xfrm>
          <a:prstGeom prst="ellipse">
            <a:avLst/>
          </a:prstGeom>
          <a:solidFill>
            <a:srgbClr val="9393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5996635" y="3701491"/>
            <a:ext cx="36576" cy="36576"/>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6071616" y="3701491"/>
            <a:ext cx="36576" cy="36576"/>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6146596" y="3701491"/>
            <a:ext cx="36576" cy="36576"/>
          </a:xfrm>
          <a:prstGeom prst="ellipse">
            <a:avLst/>
          </a:prstGeom>
          <a:solidFill>
            <a:srgbClr val="8D8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6221577" y="3701491"/>
            <a:ext cx="36576" cy="36576"/>
          </a:xfrm>
          <a:prstGeom prst="ellipse">
            <a:avLst/>
          </a:prstGeom>
          <a:solidFill>
            <a:srgbClr val="8B8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6296558" y="3701491"/>
            <a:ext cx="36576" cy="36576"/>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6371539" y="3701491"/>
            <a:ext cx="36576" cy="36576"/>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6446520" y="3701491"/>
            <a:ext cx="36576" cy="36576"/>
          </a:xfrm>
          <a:prstGeom prst="ellipse">
            <a:avLst/>
          </a:prstGeom>
          <a:solidFill>
            <a:srgbClr val="8585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6521500" y="3701491"/>
            <a:ext cx="36576" cy="36576"/>
          </a:xfrm>
          <a:prstGeom prst="ellipse">
            <a:avLst/>
          </a:prstGeom>
          <a:solidFill>
            <a:srgbClr val="838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6596481" y="3701491"/>
            <a:ext cx="36576" cy="36576"/>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6671462" y="3701491"/>
            <a:ext cx="36576" cy="36576"/>
          </a:xfrm>
          <a:prstGeom prst="ellipse">
            <a:avLst/>
          </a:prstGeom>
          <a:solidFill>
            <a:srgbClr val="7F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6746443" y="3701491"/>
            <a:ext cx="36576" cy="36576"/>
          </a:xfrm>
          <a:prstGeom prst="ellipse">
            <a:avLst/>
          </a:prstGeom>
          <a:solidFill>
            <a:srgbClr val="7D7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6821424" y="3701491"/>
            <a:ext cx="36576" cy="36576"/>
          </a:xfrm>
          <a:prstGeom prst="ellipse">
            <a:avLst/>
          </a:prstGeom>
          <a:solidFill>
            <a:srgbClr val="7B7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6896404" y="3701491"/>
            <a:ext cx="36576" cy="36576"/>
          </a:xfrm>
          <a:prstGeom prst="ellipse">
            <a:avLst/>
          </a:prstGeom>
          <a:solidFill>
            <a:srgbClr val="7979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6971385" y="3701491"/>
            <a:ext cx="36576" cy="36576"/>
          </a:xfrm>
          <a:prstGeom prst="ellipse">
            <a:avLst/>
          </a:prstGeom>
          <a:solidFill>
            <a:srgbClr val="7777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7046366" y="3701491"/>
            <a:ext cx="36576" cy="36576"/>
          </a:xfrm>
          <a:prstGeom prst="ellipse">
            <a:avLst/>
          </a:prstGeom>
          <a:solidFill>
            <a:srgbClr val="7676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7121347" y="3701491"/>
            <a:ext cx="36576" cy="36576"/>
          </a:xfrm>
          <a:prstGeom prst="ellipse">
            <a:avLst/>
          </a:prstGeom>
          <a:solidFill>
            <a:srgbClr val="747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7196328" y="3701491"/>
            <a:ext cx="36576" cy="36576"/>
          </a:xfrm>
          <a:prstGeom prst="ellipse">
            <a:avLst/>
          </a:prstGeom>
          <a:solidFill>
            <a:srgbClr val="7272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5771692" y="3776472"/>
            <a:ext cx="36576" cy="36576"/>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5996635" y="3776472"/>
            <a:ext cx="36576" cy="36576"/>
          </a:xfrm>
          <a:prstGeom prst="ellipse">
            <a:avLst/>
          </a:prstGeom>
          <a:solidFill>
            <a:srgbClr val="8E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6071616" y="3776472"/>
            <a:ext cx="36576" cy="36576"/>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Oval 151"/>
          <p:cNvSpPr/>
          <p:nvPr/>
        </p:nvSpPr>
        <p:spPr>
          <a:xfrm>
            <a:off x="6146596" y="3776472"/>
            <a:ext cx="36576" cy="36576"/>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6221577" y="3776472"/>
            <a:ext cx="36576" cy="36576"/>
          </a:xfrm>
          <a:prstGeom prst="ellipse">
            <a:avLst/>
          </a:prstGeom>
          <a:solidFill>
            <a:srgbClr val="8888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6296558" y="3776472"/>
            <a:ext cx="36576" cy="36576"/>
          </a:xfrm>
          <a:prstGeom prst="ellipse">
            <a:avLst/>
          </a:prstGeom>
          <a:solidFill>
            <a:srgbClr val="86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6371539" y="3776472"/>
            <a:ext cx="36576" cy="36576"/>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6446520" y="3776472"/>
            <a:ext cx="36576" cy="36576"/>
          </a:xfrm>
          <a:prstGeom prst="ellipse">
            <a:avLst/>
          </a:prstGeom>
          <a:solidFill>
            <a:srgbClr val="838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6521500" y="3776472"/>
            <a:ext cx="36576" cy="36576"/>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Oval 157"/>
          <p:cNvSpPr/>
          <p:nvPr/>
        </p:nvSpPr>
        <p:spPr>
          <a:xfrm>
            <a:off x="6596481" y="3776472"/>
            <a:ext cx="36576" cy="36576"/>
          </a:xfrm>
          <a:prstGeom prst="ellipse">
            <a:avLst/>
          </a:prstGeom>
          <a:solidFill>
            <a:srgbClr val="7F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6671462" y="3776472"/>
            <a:ext cx="36576" cy="36576"/>
          </a:xfrm>
          <a:prstGeom prst="ellipse">
            <a:avLst/>
          </a:prstGeom>
          <a:solidFill>
            <a:srgbClr val="7D7D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6746443" y="3776472"/>
            <a:ext cx="36576" cy="36576"/>
          </a:xfrm>
          <a:prstGeom prst="ellipse">
            <a:avLst/>
          </a:prstGeom>
          <a:solidFill>
            <a:srgbClr val="7B7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6821424" y="3776472"/>
            <a:ext cx="36576" cy="36576"/>
          </a:xfrm>
          <a:prstGeom prst="ellipse">
            <a:avLst/>
          </a:prstGeom>
          <a:solidFill>
            <a:srgbClr val="7979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6896404" y="3776472"/>
            <a:ext cx="36576" cy="36576"/>
          </a:xfrm>
          <a:prstGeom prst="ellipse">
            <a:avLst/>
          </a:prstGeom>
          <a:solidFill>
            <a:srgbClr val="7777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6971385" y="3776472"/>
            <a:ext cx="36576" cy="36576"/>
          </a:xfrm>
          <a:prstGeom prst="ellipse">
            <a:avLst/>
          </a:prstGeom>
          <a:solidFill>
            <a:srgbClr val="757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7046366" y="3776472"/>
            <a:ext cx="36576" cy="36576"/>
          </a:xfrm>
          <a:prstGeom prst="ellipse">
            <a:avLst/>
          </a:prstGeom>
          <a:solidFill>
            <a:srgbClr val="7373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7121347" y="3776472"/>
            <a:ext cx="36576" cy="36576"/>
          </a:xfrm>
          <a:prstGeom prst="ellipse">
            <a:avLst/>
          </a:prstGeom>
          <a:solidFill>
            <a:srgbClr val="7171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5771692" y="3851452"/>
            <a:ext cx="36576" cy="36576"/>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5996635" y="3851452"/>
            <a:ext cx="36576" cy="36576"/>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6071616" y="3851452"/>
            <a:ext cx="36576" cy="36576"/>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6146596" y="3851452"/>
            <a:ext cx="36576" cy="36576"/>
          </a:xfrm>
          <a:prstGeom prst="ellipse">
            <a:avLst/>
          </a:prstGeom>
          <a:solidFill>
            <a:srgbClr val="8888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6221577" y="3851452"/>
            <a:ext cx="36576" cy="36576"/>
          </a:xfrm>
          <a:prstGeom prst="ellipse">
            <a:avLst/>
          </a:prstGeom>
          <a:solidFill>
            <a:srgbClr val="86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6296558" y="3851452"/>
            <a:ext cx="36576" cy="36576"/>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6371539" y="3851452"/>
            <a:ext cx="36576" cy="36576"/>
          </a:xfrm>
          <a:prstGeom prst="ellipse">
            <a:avLst/>
          </a:prstGeom>
          <a:solidFill>
            <a:srgbClr val="8282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6446520" y="3851452"/>
            <a:ext cx="36576" cy="36576"/>
          </a:xfrm>
          <a:prstGeom prst="ellipse">
            <a:avLst/>
          </a:prstGeom>
          <a:solidFill>
            <a:srgbClr val="8080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Oval 173"/>
          <p:cNvSpPr/>
          <p:nvPr/>
        </p:nvSpPr>
        <p:spPr>
          <a:xfrm>
            <a:off x="6521500" y="3851452"/>
            <a:ext cx="36576" cy="36576"/>
          </a:xfrm>
          <a:prstGeom prst="ellipse">
            <a:avLst/>
          </a:prstGeom>
          <a:solidFill>
            <a:srgbClr val="7E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6671462" y="3851452"/>
            <a:ext cx="36576" cy="36576"/>
          </a:xfrm>
          <a:prstGeom prst="ellipse">
            <a:avLst/>
          </a:prstGeom>
          <a:solidFill>
            <a:srgbClr val="7A7A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6746443" y="3851452"/>
            <a:ext cx="36576" cy="36576"/>
          </a:xfrm>
          <a:prstGeom prst="ellipse">
            <a:avLst/>
          </a:prstGeom>
          <a:solidFill>
            <a:srgbClr val="7878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6821424" y="3851452"/>
            <a:ext cx="36576" cy="36576"/>
          </a:xfrm>
          <a:prstGeom prst="ellipse">
            <a:avLst/>
          </a:prstGeom>
          <a:solidFill>
            <a:srgbClr val="7676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6071616" y="3926433"/>
            <a:ext cx="36576" cy="36576"/>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6146596" y="3926433"/>
            <a:ext cx="36576" cy="36576"/>
          </a:xfrm>
          <a:prstGeom prst="ellipse">
            <a:avLst/>
          </a:prstGeom>
          <a:solidFill>
            <a:srgbClr val="8585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6221577" y="3926433"/>
            <a:ext cx="36576" cy="36576"/>
          </a:xfrm>
          <a:prstGeom prst="ellipse">
            <a:avLst/>
          </a:prstGeom>
          <a:solidFill>
            <a:srgbClr val="838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6296558" y="3926433"/>
            <a:ext cx="36576" cy="36576"/>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6371539" y="3926433"/>
            <a:ext cx="36576" cy="36576"/>
          </a:xfrm>
          <a:prstGeom prst="ellipse">
            <a:avLst/>
          </a:prstGeom>
          <a:solidFill>
            <a:srgbClr val="8080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6446520" y="3926433"/>
            <a:ext cx="36576" cy="36576"/>
          </a:xfrm>
          <a:prstGeom prst="ellipse">
            <a:avLst/>
          </a:prstGeom>
          <a:solidFill>
            <a:srgbClr val="7E7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Oval 183"/>
          <p:cNvSpPr/>
          <p:nvPr/>
        </p:nvSpPr>
        <p:spPr>
          <a:xfrm>
            <a:off x="6671462" y="3926433"/>
            <a:ext cx="36576" cy="36576"/>
          </a:xfrm>
          <a:prstGeom prst="ellipse">
            <a:avLst/>
          </a:prstGeom>
          <a:solidFill>
            <a:srgbClr val="7878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6746443" y="3926433"/>
            <a:ext cx="36576" cy="36576"/>
          </a:xfrm>
          <a:prstGeom prst="ellipse">
            <a:avLst/>
          </a:prstGeom>
          <a:solidFill>
            <a:srgbClr val="7676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6821424" y="3926433"/>
            <a:ext cx="36576" cy="36576"/>
          </a:xfrm>
          <a:prstGeom prst="ellipse">
            <a:avLst/>
          </a:prstGeom>
          <a:solidFill>
            <a:srgbClr val="747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6146596" y="4001414"/>
            <a:ext cx="36576" cy="36576"/>
          </a:xfrm>
          <a:prstGeom prst="ellipse">
            <a:avLst/>
          </a:prstGeom>
          <a:solidFill>
            <a:srgbClr val="838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6221577" y="4001414"/>
            <a:ext cx="36576" cy="36576"/>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Oval 188"/>
          <p:cNvSpPr/>
          <p:nvPr/>
        </p:nvSpPr>
        <p:spPr>
          <a:xfrm>
            <a:off x="6296558" y="4001414"/>
            <a:ext cx="36576" cy="36576"/>
          </a:xfrm>
          <a:prstGeom prst="ellipse">
            <a:avLst/>
          </a:prstGeom>
          <a:solidFill>
            <a:srgbClr val="7F7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6746443" y="4001414"/>
            <a:ext cx="36576" cy="36576"/>
          </a:xfrm>
          <a:prstGeom prst="ellipse">
            <a:avLst/>
          </a:prstGeom>
          <a:solidFill>
            <a:srgbClr val="7373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389120" y="1426464"/>
            <a:ext cx="2834640" cy="896112"/>
          </a:xfrm>
          <a:prstGeom prst="rect">
            <a:avLst/>
          </a:prstGeom>
          <a:noFill/>
        </p:spPr>
        <p:txBody>
          <a:bodyPr wrap="square">
            <a:spAutoFit/>
          </a:bodyPr>
          <a:lstStyle/>
          <a:p>
            <a:pPr algn="l"/>
            <a:r>
              <a:rPr sz="1800" b="1" i="0">
                <a:solidFill>
                  <a:srgbClr val="0A0A0A"/>
                </a:solidFill>
                <a:latin typeface="Pretendard"/>
              </a:rPr>
              <a:t>The 20-minute
agent test</a:t>
            </a:r>
          </a:p>
        </p:txBody>
      </p:sp>
      <p:sp>
        <p:nvSpPr>
          <p:cNvPr id="192" name="TextBox 191"/>
          <p:cNvSpPr txBox="1"/>
          <p:nvPr/>
        </p:nvSpPr>
        <p:spPr>
          <a:xfrm>
            <a:off x="4389120" y="2404872"/>
            <a:ext cx="2834640" cy="548640"/>
          </a:xfrm>
          <a:prstGeom prst="rect">
            <a:avLst/>
          </a:prstGeom>
          <a:noFill/>
        </p:spPr>
        <p:txBody>
          <a:bodyPr wrap="square">
            <a:spAutoFit/>
          </a:bodyPr>
          <a:lstStyle/>
          <a:p>
            <a:pPr algn="l"/>
            <a:r>
              <a:rPr sz="1000" b="0" i="0">
                <a:solidFill>
                  <a:srgbClr val="585A5E"/>
                </a:solidFill>
                <a:latin typeface="Pretendard"/>
              </a:rPr>
              <a:t>One task. One timer.
Receipts inside.</a:t>
            </a:r>
          </a:p>
        </p:txBody>
      </p:sp>
      <p:sp>
        <p:nvSpPr>
          <p:cNvPr id="193" name="Oval 192"/>
          <p:cNvSpPr/>
          <p:nvPr/>
        </p:nvSpPr>
        <p:spPr>
          <a:xfrm>
            <a:off x="4343400" y="4050792"/>
            <a:ext cx="91440" cy="91440"/>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4510735" y="4067251"/>
            <a:ext cx="58521" cy="585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4650638" y="4056278"/>
            <a:ext cx="80467" cy="8046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4816144" y="4070908"/>
            <a:ext cx="51206" cy="5120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4957876" y="4061764"/>
            <a:ext cx="69494" cy="6949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4160520" y="4590288"/>
            <a:ext cx="3310128" cy="256032"/>
          </a:xfrm>
          <a:prstGeom prst="rect">
            <a:avLst/>
          </a:prstGeom>
          <a:noFill/>
        </p:spPr>
        <p:txBody>
          <a:bodyPr wrap="square">
            <a:spAutoFit/>
          </a:bodyPr>
          <a:lstStyle/>
          <a:p>
            <a:pPr algn="l"/>
            <a:r>
              <a:rPr sz="800" b="1" i="0">
                <a:solidFill>
                  <a:srgbClr val="585A5E"/>
                </a:solidFill>
                <a:latin typeface="Pretendard"/>
              </a:rPr>
              <a:t>CAROUSEL  1:1</a:t>
            </a:r>
          </a:p>
        </p:txBody>
      </p:sp>
      <p:sp>
        <p:nvSpPr>
          <p:cNvPr id="199" name="TextBox 198"/>
          <p:cNvSpPr txBox="1"/>
          <p:nvPr/>
        </p:nvSpPr>
        <p:spPr>
          <a:xfrm>
            <a:off x="4160520" y="4864608"/>
            <a:ext cx="3310128" cy="457200"/>
          </a:xfrm>
          <a:prstGeom prst="rect">
            <a:avLst/>
          </a:prstGeom>
          <a:noFill/>
        </p:spPr>
        <p:txBody>
          <a:bodyPr wrap="square">
            <a:spAutoFit/>
          </a:bodyPr>
          <a:lstStyle/>
          <a:p>
            <a:pPr algn="l"/>
            <a:r>
              <a:rPr sz="850" b="0" i="0">
                <a:solidFill>
                  <a:srgbClr val="C8C8C4"/>
                </a:solidFill>
                <a:latin typeface="Pretendard"/>
              </a:rPr>
              <a:t>Standalone slide 1. Dot map watermark.
Summary close — never a CTA slide.</a:t>
            </a:r>
          </a:p>
        </p:txBody>
      </p:sp>
      <p:sp>
        <p:nvSpPr>
          <p:cNvPr id="200" name="Rectangle 199"/>
          <p:cNvSpPr/>
          <p:nvPr/>
        </p:nvSpPr>
        <p:spPr>
          <a:xfrm>
            <a:off x="8183879" y="1170432"/>
            <a:ext cx="3493008" cy="1965960"/>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8412480" y="1426464"/>
            <a:ext cx="3017520" cy="749808"/>
          </a:xfrm>
          <a:prstGeom prst="rect">
            <a:avLst/>
          </a:prstGeom>
          <a:noFill/>
        </p:spPr>
        <p:txBody>
          <a:bodyPr wrap="square">
            <a:spAutoFit/>
          </a:bodyPr>
          <a:lstStyle/>
          <a:p>
            <a:pPr algn="l"/>
            <a:r>
              <a:rPr sz="1250" b="1" i="0">
                <a:solidFill>
                  <a:srgbClr val="FFFFFF"/>
                </a:solidFill>
                <a:latin typeface="Pretendard"/>
              </a:rPr>
              <a:t>"Audit what ran,
on which model, when."</a:t>
            </a:r>
          </a:p>
        </p:txBody>
      </p:sp>
      <p:sp>
        <p:nvSpPr>
          <p:cNvPr id="202" name="TextBox 201"/>
          <p:cNvSpPr txBox="1"/>
          <p:nvPr/>
        </p:nvSpPr>
        <p:spPr>
          <a:xfrm>
            <a:off x="8412480" y="2560320"/>
            <a:ext cx="3017520" cy="274320"/>
          </a:xfrm>
          <a:prstGeom prst="rect">
            <a:avLst/>
          </a:prstGeom>
          <a:noFill/>
        </p:spPr>
        <p:txBody>
          <a:bodyPr wrap="square">
            <a:spAutoFit/>
          </a:bodyPr>
          <a:lstStyle/>
          <a:p>
            <a:pPr algn="l"/>
            <a:r>
              <a:rPr sz="850" b="0" i="0">
                <a:solidFill>
                  <a:srgbClr val="878884"/>
                </a:solidFill>
                <a:latin typeface="Pretendard"/>
              </a:rPr>
              <a:t>Confidential API — session audit trail</a:t>
            </a:r>
          </a:p>
        </p:txBody>
      </p:sp>
      <p:sp>
        <p:nvSpPr>
          <p:cNvPr id="203" name="Oval 202"/>
          <p:cNvSpPr/>
          <p:nvPr/>
        </p:nvSpPr>
        <p:spPr>
          <a:xfrm>
            <a:off x="8485632" y="2761488"/>
            <a:ext cx="91440" cy="914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Oval 203"/>
          <p:cNvSpPr/>
          <p:nvPr/>
        </p:nvSpPr>
        <p:spPr>
          <a:xfrm>
            <a:off x="8652967" y="2777947"/>
            <a:ext cx="58521" cy="58521"/>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8792870" y="2766974"/>
            <a:ext cx="80467" cy="80467"/>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8958376" y="2781604"/>
            <a:ext cx="51206" cy="51206"/>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Oval 206"/>
          <p:cNvSpPr/>
          <p:nvPr/>
        </p:nvSpPr>
        <p:spPr>
          <a:xfrm>
            <a:off x="9100108" y="2772460"/>
            <a:ext cx="69494" cy="6949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TextBox 207"/>
          <p:cNvSpPr txBox="1"/>
          <p:nvPr/>
        </p:nvSpPr>
        <p:spPr>
          <a:xfrm>
            <a:off x="8183879" y="3246120"/>
            <a:ext cx="3493008" cy="256032"/>
          </a:xfrm>
          <a:prstGeom prst="rect">
            <a:avLst/>
          </a:prstGeom>
          <a:noFill/>
        </p:spPr>
        <p:txBody>
          <a:bodyPr wrap="square">
            <a:spAutoFit/>
          </a:bodyPr>
          <a:lstStyle/>
          <a:p>
            <a:pPr algn="l"/>
            <a:r>
              <a:rPr sz="800" b="1" i="0">
                <a:solidFill>
                  <a:srgbClr val="585A5E"/>
                </a:solidFill>
                <a:latin typeface="Pretendard"/>
              </a:rPr>
              <a:t>QUOTE CARD  16:9</a:t>
            </a:r>
          </a:p>
        </p:txBody>
      </p:sp>
      <p:sp>
        <p:nvSpPr>
          <p:cNvPr id="209" name="TextBox 208"/>
          <p:cNvSpPr txBox="1"/>
          <p:nvPr/>
        </p:nvSpPr>
        <p:spPr>
          <a:xfrm>
            <a:off x="8183879" y="3520439"/>
            <a:ext cx="3493008" cy="438912"/>
          </a:xfrm>
          <a:prstGeom prst="rect">
            <a:avLst/>
          </a:prstGeom>
          <a:noFill/>
        </p:spPr>
        <p:txBody>
          <a:bodyPr wrap="square">
            <a:spAutoFit/>
          </a:bodyPr>
          <a:lstStyle/>
          <a:p>
            <a:pPr algn="l"/>
            <a:r>
              <a:rPr sz="850" b="0" i="0">
                <a:solidFill>
                  <a:srgbClr val="C8C8C4"/>
                </a:solidFill>
                <a:latin typeface="Pretendard"/>
              </a:rPr>
              <a:t>Dark ground. White type.
Dot signature.</a:t>
            </a:r>
          </a:p>
        </p:txBody>
      </p:sp>
      <p:sp>
        <p:nvSpPr>
          <p:cNvPr id="210" name="Rectangle 209"/>
          <p:cNvSpPr/>
          <p:nvPr/>
        </p:nvSpPr>
        <p:spPr>
          <a:xfrm>
            <a:off x="8183879" y="3657600"/>
            <a:ext cx="3493008" cy="1965960"/>
          </a:xfrm>
          <a:prstGeom prst="rect">
            <a:avLst/>
          </a:prstGeom>
          <a:solidFill>
            <a:srgbClr val="AABC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83879" y="4206240"/>
            <a:ext cx="3493008" cy="1417319"/>
          </a:xfrm>
          <a:prstGeom prst="rect">
            <a:avLst/>
          </a:prstGeom>
          <a:solidFill>
            <a:srgbClr val="BEC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8183879" y="4572000"/>
            <a:ext cx="3493008" cy="1051560"/>
          </a:xfrm>
          <a:prstGeom prst="rect">
            <a:avLst/>
          </a:prstGeom>
          <a:solidFill>
            <a:srgbClr val="D7E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Freeform 212"/>
          <p:cNvSpPr/>
          <p:nvPr/>
        </p:nvSpPr>
        <p:spPr>
          <a:xfrm>
            <a:off x="8183879" y="4343400"/>
            <a:ext cx="3493009" cy="2514600"/>
          </a:xfrm>
          <a:custGeom>
            <a:avLst/>
            <a:gdLst/>
            <a:ahLst/>
            <a:cxnLst/>
            <a:rect l="l" t="t" r="r" b="b"/>
            <a:pathLst>
              <a:path w="3493009" h="2514600">
                <a:moveTo>
                  <a:pt x="0" y="2514600"/>
                </a:moveTo>
                <a:lnTo>
                  <a:pt x="0" y="457200"/>
                </a:lnTo>
                <a:lnTo>
                  <a:pt x="914401" y="0"/>
                </a:lnTo>
                <a:lnTo>
                  <a:pt x="1828801" y="411480"/>
                </a:lnTo>
                <a:lnTo>
                  <a:pt x="3493009" y="91440"/>
                </a:lnTo>
                <a:lnTo>
                  <a:pt x="3493009" y="2514600"/>
                </a:lnTo>
                <a:close/>
              </a:path>
            </a:pathLst>
          </a:custGeom>
          <a:solidFill>
            <a:srgbClr val="ACAD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Freeform 213"/>
          <p:cNvSpPr/>
          <p:nvPr/>
        </p:nvSpPr>
        <p:spPr>
          <a:xfrm>
            <a:off x="8183879" y="4846320"/>
            <a:ext cx="3493009" cy="2011680"/>
          </a:xfrm>
          <a:custGeom>
            <a:avLst/>
            <a:gdLst/>
            <a:ahLst/>
            <a:cxnLst/>
            <a:rect l="l" t="t" r="r" b="b"/>
            <a:pathLst>
              <a:path w="3493009" h="2011680">
                <a:moveTo>
                  <a:pt x="0" y="2011680"/>
                </a:moveTo>
                <a:lnTo>
                  <a:pt x="0" y="274320"/>
                </a:lnTo>
                <a:lnTo>
                  <a:pt x="1097280" y="0"/>
                </a:lnTo>
                <a:lnTo>
                  <a:pt x="2194561" y="228600"/>
                </a:lnTo>
                <a:lnTo>
                  <a:pt x="3493009" y="45720"/>
                </a:lnTo>
                <a:lnTo>
                  <a:pt x="3493009" y="2011680"/>
                </a:lnTo>
                <a:close/>
              </a:path>
            </a:pathLst>
          </a:custGeom>
          <a:solidFill>
            <a:srgbClr val="C3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8412480" y="3931920"/>
            <a:ext cx="3017520" cy="713232"/>
          </a:xfrm>
          <a:prstGeom prst="rect">
            <a:avLst/>
          </a:prstGeom>
          <a:noFill/>
        </p:spPr>
        <p:txBody>
          <a:bodyPr wrap="square">
            <a:spAutoFit/>
          </a:bodyPr>
          <a:lstStyle/>
          <a:p>
            <a:pPr algn="l"/>
            <a:r>
              <a:rPr sz="1300" b="1" i="0">
                <a:solidFill>
                  <a:srgbClr val="0A0A0A"/>
                </a:solidFill>
                <a:latin typeface="Pretendard"/>
              </a:rPr>
              <a:t>Designed &amp;
powered in Switzerland</a:t>
            </a:r>
          </a:p>
        </p:txBody>
      </p:sp>
      <p:sp>
        <p:nvSpPr>
          <p:cNvPr id="216" name="Oval 215"/>
          <p:cNvSpPr/>
          <p:nvPr/>
        </p:nvSpPr>
        <p:spPr>
          <a:xfrm>
            <a:off x="8394191" y="5230368"/>
            <a:ext cx="91440" cy="91440"/>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8561527" y="5246827"/>
            <a:ext cx="58521" cy="585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8701430" y="5235854"/>
            <a:ext cx="80467" cy="8046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8866936" y="5250484"/>
            <a:ext cx="51206" cy="5120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9008668" y="5241340"/>
            <a:ext cx="69494" cy="6949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8183879" y="5733288"/>
            <a:ext cx="3493008" cy="256032"/>
          </a:xfrm>
          <a:prstGeom prst="rect">
            <a:avLst/>
          </a:prstGeom>
          <a:noFill/>
        </p:spPr>
        <p:txBody>
          <a:bodyPr wrap="square">
            <a:spAutoFit/>
          </a:bodyPr>
          <a:lstStyle/>
          <a:p>
            <a:pPr algn="l"/>
            <a:r>
              <a:rPr sz="800" b="1" i="0">
                <a:solidFill>
                  <a:srgbClr val="585A5E"/>
                </a:solidFill>
                <a:latin typeface="Pretendard"/>
              </a:rPr>
              <a:t>LUGANO LAKE FRAME  16:9</a:t>
            </a:r>
          </a:p>
        </p:txBody>
      </p:sp>
      <p:sp>
        <p:nvSpPr>
          <p:cNvPr id="222" name="TextBox 221"/>
          <p:cNvSpPr txBox="1"/>
          <p:nvPr/>
        </p:nvSpPr>
        <p:spPr>
          <a:xfrm>
            <a:off x="8183879" y="6007608"/>
            <a:ext cx="3493008" cy="457200"/>
          </a:xfrm>
          <a:prstGeom prst="rect">
            <a:avLst/>
          </a:prstGeom>
          <a:noFill/>
        </p:spPr>
        <p:txBody>
          <a:bodyPr wrap="square">
            <a:spAutoFit/>
          </a:bodyPr>
          <a:lstStyle/>
          <a:p>
            <a:pPr algn="l"/>
            <a:r>
              <a:rPr sz="850" b="0" i="0">
                <a:solidFill>
                  <a:srgbClr val="C8C8C4"/>
                </a:solidFill>
                <a:latin typeface="Pretendard"/>
              </a:rPr>
              <a:t>Company story, Swiss identity,
warmth and aspiration register.</a:t>
            </a:r>
          </a:p>
        </p:txBody>
      </p:sp>
      <p:sp>
        <p:nvSpPr>
          <p:cNvPr id="223" name="Rectangle 222"/>
          <p:cNvSpPr/>
          <p:nvPr/>
        </p:nvSpPr>
        <p:spPr>
          <a:xfrm>
            <a:off x="502920" y="6291072"/>
            <a:ext cx="11192256" cy="47548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713232" y="6419088"/>
            <a:ext cx="10698480" cy="292608"/>
          </a:xfrm>
          <a:prstGeom prst="rect">
            <a:avLst/>
          </a:prstGeom>
          <a:noFill/>
        </p:spPr>
        <p:txBody>
          <a:bodyPr wrap="square">
            <a:spAutoFit/>
          </a:bodyPr>
          <a:lstStyle/>
          <a:p>
            <a:pPr algn="l"/>
            <a:r>
              <a:rPr sz="900" b="0" i="0">
                <a:solidFill>
                  <a:srgbClr val="0A0A0A"/>
                </a:solidFill>
                <a:latin typeface="Pretendard"/>
              </a:rPr>
              <a:t>SYSTEM RULE   Paper or dark grounds only. One motif per asset. Type does the talking. The dot signature row appears on every template — it is the family mark.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13  PLATFORM: LINKEDIN  (PREM-LED · ENTERPRISE AUTHORITY)</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32688"/>
            <a:ext cx="3639312" cy="55961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051560"/>
            <a:ext cx="3200400" cy="256032"/>
          </a:xfrm>
          <a:prstGeom prst="rect">
            <a:avLst/>
          </a:prstGeom>
          <a:noFill/>
        </p:spPr>
        <p:txBody>
          <a:bodyPr wrap="square">
            <a:spAutoFit/>
          </a:bodyPr>
          <a:lstStyle/>
          <a:p>
            <a:pPr algn="l"/>
            <a:r>
              <a:rPr sz="800" b="1" i="0">
                <a:solidFill>
                  <a:srgbClr val="878884"/>
                </a:solidFill>
                <a:latin typeface="Pretendard"/>
              </a:rPr>
              <a:t>STRATEGY</a:t>
            </a:r>
          </a:p>
        </p:txBody>
      </p:sp>
      <p:sp>
        <p:nvSpPr>
          <p:cNvPr id="7" name="TextBox 6"/>
          <p:cNvSpPr txBox="1"/>
          <p:nvPr/>
        </p:nvSpPr>
        <p:spPr>
          <a:xfrm>
            <a:off x="713232" y="1463040"/>
            <a:ext cx="3200400" cy="237744"/>
          </a:xfrm>
          <a:prstGeom prst="rect">
            <a:avLst/>
          </a:prstGeom>
          <a:noFill/>
        </p:spPr>
        <p:txBody>
          <a:bodyPr wrap="square">
            <a:spAutoFit/>
          </a:bodyPr>
          <a:lstStyle/>
          <a:p>
            <a:pPr algn="l"/>
            <a:r>
              <a:rPr sz="750" b="1" i="0">
                <a:solidFill>
                  <a:srgbClr val="878884"/>
                </a:solidFill>
                <a:latin typeface="Pretendard"/>
              </a:rPr>
              <a:t>AUDIENCE</a:t>
            </a:r>
          </a:p>
        </p:txBody>
      </p:sp>
      <p:sp>
        <p:nvSpPr>
          <p:cNvPr id="8" name="TextBox 7"/>
          <p:cNvSpPr txBox="1"/>
          <p:nvPr/>
        </p:nvSpPr>
        <p:spPr>
          <a:xfrm>
            <a:off x="713232" y="1719072"/>
            <a:ext cx="3291840" cy="713232"/>
          </a:xfrm>
          <a:prstGeom prst="rect">
            <a:avLst/>
          </a:prstGeom>
          <a:noFill/>
        </p:spPr>
        <p:txBody>
          <a:bodyPr wrap="square">
            <a:spAutoFit/>
          </a:bodyPr>
          <a:lstStyle/>
          <a:p>
            <a:pPr algn="l"/>
            <a:r>
              <a:rPr sz="900" b="0" i="0">
                <a:solidFill>
                  <a:srgbClr val="0A0A0A"/>
                </a:solidFill>
                <a:latin typeface="Pretendard"/>
              </a:rPr>
              <a:t>CISOs, CTOs, compliance officers, legal ops heads, investors and procurement</a:t>
            </a:r>
          </a:p>
        </p:txBody>
      </p:sp>
      <p:sp>
        <p:nvSpPr>
          <p:cNvPr id="9" name="TextBox 8"/>
          <p:cNvSpPr txBox="1"/>
          <p:nvPr/>
        </p:nvSpPr>
        <p:spPr>
          <a:xfrm>
            <a:off x="713232" y="2450592"/>
            <a:ext cx="3200400" cy="237744"/>
          </a:xfrm>
          <a:prstGeom prst="rect">
            <a:avLst/>
          </a:prstGeom>
          <a:noFill/>
        </p:spPr>
        <p:txBody>
          <a:bodyPr wrap="square">
            <a:spAutoFit/>
          </a:bodyPr>
          <a:lstStyle/>
          <a:p>
            <a:pPr algn="l"/>
            <a:r>
              <a:rPr sz="750" b="1" i="0">
                <a:solidFill>
                  <a:srgbClr val="878884"/>
                </a:solidFill>
                <a:latin typeface="Pretendard"/>
              </a:rPr>
              <a:t>GOAL</a:t>
            </a:r>
          </a:p>
        </p:txBody>
      </p:sp>
      <p:sp>
        <p:nvSpPr>
          <p:cNvPr id="10" name="TextBox 9"/>
          <p:cNvSpPr txBox="1"/>
          <p:nvPr/>
        </p:nvSpPr>
        <p:spPr>
          <a:xfrm>
            <a:off x="713232" y="2706624"/>
            <a:ext cx="3291840" cy="713232"/>
          </a:xfrm>
          <a:prstGeom prst="rect">
            <a:avLst/>
          </a:prstGeom>
          <a:noFill/>
        </p:spPr>
        <p:txBody>
          <a:bodyPr wrap="square">
            <a:spAutoFit/>
          </a:bodyPr>
          <a:lstStyle/>
          <a:p>
            <a:pPr algn="l"/>
            <a:r>
              <a:rPr sz="900" b="0" i="0">
                <a:solidFill>
                  <a:srgbClr val="0A0A0A"/>
                </a:solidFill>
                <a:latin typeface="Pretendard"/>
              </a:rPr>
              <a:t>Own the answer to "which enterprise AI survives a regulator's question?"</a:t>
            </a:r>
          </a:p>
        </p:txBody>
      </p:sp>
      <p:sp>
        <p:nvSpPr>
          <p:cNvPr id="11" name="TextBox 10"/>
          <p:cNvSpPr txBox="1"/>
          <p:nvPr/>
        </p:nvSpPr>
        <p:spPr>
          <a:xfrm>
            <a:off x="713232" y="3438144"/>
            <a:ext cx="3200400" cy="237744"/>
          </a:xfrm>
          <a:prstGeom prst="rect">
            <a:avLst/>
          </a:prstGeom>
          <a:noFill/>
        </p:spPr>
        <p:txBody>
          <a:bodyPr wrap="square">
            <a:spAutoFit/>
          </a:bodyPr>
          <a:lstStyle/>
          <a:p>
            <a:pPr algn="l"/>
            <a:r>
              <a:rPr sz="750" b="1" i="0">
                <a:solidFill>
                  <a:srgbClr val="878884"/>
                </a:solidFill>
                <a:latin typeface="Pretendard"/>
              </a:rPr>
              <a:t>VOICE</a:t>
            </a:r>
          </a:p>
        </p:txBody>
      </p:sp>
      <p:sp>
        <p:nvSpPr>
          <p:cNvPr id="12" name="TextBox 11"/>
          <p:cNvSpPr txBox="1"/>
          <p:nvPr/>
        </p:nvSpPr>
        <p:spPr>
          <a:xfrm>
            <a:off x="713232" y="3694176"/>
            <a:ext cx="3291840" cy="713232"/>
          </a:xfrm>
          <a:prstGeom prst="rect">
            <a:avLst/>
          </a:prstGeom>
          <a:noFill/>
        </p:spPr>
        <p:txBody>
          <a:bodyPr wrap="square">
            <a:spAutoFit/>
          </a:bodyPr>
          <a:lstStyle/>
          <a:p>
            <a:pPr algn="l"/>
            <a:r>
              <a:rPr sz="900" b="0" i="0">
                <a:solidFill>
                  <a:srgbClr val="0A0A0A"/>
                </a:solidFill>
                <a:latin typeface="Pretendard"/>
              </a:rPr>
              <a:t>Prem the company and its products — not Fluso exclusively. Fluso appears as evidence, not as the program.</a:t>
            </a:r>
          </a:p>
        </p:txBody>
      </p:sp>
      <p:sp>
        <p:nvSpPr>
          <p:cNvPr id="13" name="TextBox 12"/>
          <p:cNvSpPr txBox="1"/>
          <p:nvPr/>
        </p:nvSpPr>
        <p:spPr>
          <a:xfrm>
            <a:off x="713232" y="4425696"/>
            <a:ext cx="3200400" cy="237744"/>
          </a:xfrm>
          <a:prstGeom prst="rect">
            <a:avLst/>
          </a:prstGeom>
          <a:noFill/>
        </p:spPr>
        <p:txBody>
          <a:bodyPr wrap="square">
            <a:spAutoFit/>
          </a:bodyPr>
          <a:lstStyle/>
          <a:p>
            <a:pPr algn="l"/>
            <a:r>
              <a:rPr sz="750" b="1" i="0">
                <a:solidFill>
                  <a:srgbClr val="878884"/>
                </a:solidFill>
                <a:latin typeface="Pretendard"/>
              </a:rPr>
              <a:t>CADENCE</a:t>
            </a:r>
          </a:p>
        </p:txBody>
      </p:sp>
      <p:sp>
        <p:nvSpPr>
          <p:cNvPr id="14" name="TextBox 13"/>
          <p:cNvSpPr txBox="1"/>
          <p:nvPr/>
        </p:nvSpPr>
        <p:spPr>
          <a:xfrm>
            <a:off x="713232" y="4681728"/>
            <a:ext cx="3291840" cy="713232"/>
          </a:xfrm>
          <a:prstGeom prst="rect">
            <a:avLst/>
          </a:prstGeom>
          <a:noFill/>
        </p:spPr>
        <p:txBody>
          <a:bodyPr wrap="square">
            <a:spAutoFit/>
          </a:bodyPr>
          <a:lstStyle/>
          <a:p>
            <a:pPr algn="l"/>
            <a:r>
              <a:rPr sz="900" b="0" i="0">
                <a:solidFill>
                  <a:srgbClr val="0A0A0A"/>
                </a:solidFill>
                <a:latin typeface="Pretendard"/>
              </a:rPr>
              <a:t>3 to 4 posts per week. Reply to every comment on the first day.</a:t>
            </a:r>
          </a:p>
        </p:txBody>
      </p:sp>
      <p:sp>
        <p:nvSpPr>
          <p:cNvPr id="15" name="TextBox 14"/>
          <p:cNvSpPr txBox="1"/>
          <p:nvPr/>
        </p:nvSpPr>
        <p:spPr>
          <a:xfrm>
            <a:off x="713232" y="5413248"/>
            <a:ext cx="3200400" cy="237744"/>
          </a:xfrm>
          <a:prstGeom prst="rect">
            <a:avLst/>
          </a:prstGeom>
          <a:noFill/>
        </p:spPr>
        <p:txBody>
          <a:bodyPr wrap="square">
            <a:spAutoFit/>
          </a:bodyPr>
          <a:lstStyle/>
          <a:p>
            <a:pPr algn="l"/>
            <a:r>
              <a:rPr sz="750" b="1" i="0">
                <a:solidFill>
                  <a:srgbClr val="878884"/>
                </a:solidFill>
                <a:latin typeface="Pretendard"/>
              </a:rPr>
              <a:t>KPI</a:t>
            </a:r>
          </a:p>
        </p:txBody>
      </p:sp>
      <p:sp>
        <p:nvSpPr>
          <p:cNvPr id="16" name="TextBox 15"/>
          <p:cNvSpPr txBox="1"/>
          <p:nvPr/>
        </p:nvSpPr>
        <p:spPr>
          <a:xfrm>
            <a:off x="713232" y="5669280"/>
            <a:ext cx="3291840" cy="713232"/>
          </a:xfrm>
          <a:prstGeom prst="rect">
            <a:avLst/>
          </a:prstGeom>
          <a:noFill/>
        </p:spPr>
        <p:txBody>
          <a:bodyPr wrap="square">
            <a:spAutoFit/>
          </a:bodyPr>
          <a:lstStyle/>
          <a:p>
            <a:pPr algn="l"/>
            <a:r>
              <a:rPr sz="900" b="0" i="0">
                <a:solidFill>
                  <a:srgbClr val="0A0A0A"/>
                </a:solidFill>
                <a:latin typeface="Pretendard"/>
              </a:rPr>
              <a:t>Branded search growth, qualified inbound mentions, SQL conversion. Never followers or likes.</a:t>
            </a:r>
          </a:p>
        </p:txBody>
      </p:sp>
      <p:sp>
        <p:nvSpPr>
          <p:cNvPr id="17" name="Rectangle 16"/>
          <p:cNvSpPr/>
          <p:nvPr/>
        </p:nvSpPr>
        <p:spPr>
          <a:xfrm>
            <a:off x="4370832" y="932688"/>
            <a:ext cx="7296912" cy="55961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53712" y="1051560"/>
            <a:ext cx="6766560" cy="256032"/>
          </a:xfrm>
          <a:prstGeom prst="rect">
            <a:avLst/>
          </a:prstGeom>
          <a:noFill/>
        </p:spPr>
        <p:txBody>
          <a:bodyPr wrap="square">
            <a:spAutoFit/>
          </a:bodyPr>
          <a:lstStyle/>
          <a:p>
            <a:pPr algn="l"/>
            <a:r>
              <a:rPr sz="800" b="1" i="0">
                <a:solidFill>
                  <a:srgbClr val="878884"/>
                </a:solidFill>
                <a:latin typeface="Pretendard"/>
              </a:rPr>
              <a:t>FIVE ARCHETYPES  (rotate — never repeat two of the same in a row)</a:t>
            </a:r>
          </a:p>
        </p:txBody>
      </p:sp>
      <p:sp>
        <p:nvSpPr>
          <p:cNvPr id="19" name="TextBox 18"/>
          <p:cNvSpPr txBox="1"/>
          <p:nvPr/>
        </p:nvSpPr>
        <p:spPr>
          <a:xfrm>
            <a:off x="4553712" y="1463040"/>
            <a:ext cx="2468880" cy="841248"/>
          </a:xfrm>
          <a:prstGeom prst="rect">
            <a:avLst/>
          </a:prstGeom>
          <a:noFill/>
        </p:spPr>
        <p:txBody>
          <a:bodyPr wrap="square">
            <a:spAutoFit/>
          </a:bodyPr>
          <a:lstStyle/>
          <a:p>
            <a:pPr algn="l"/>
            <a:r>
              <a:rPr sz="1000" b="1" i="0">
                <a:solidFill>
                  <a:srgbClr val="0A0A0A"/>
                </a:solidFill>
                <a:latin typeface="Pretendard"/>
              </a:rPr>
              <a:t>1  Regulation, decoded</a:t>
            </a:r>
          </a:p>
        </p:txBody>
      </p:sp>
      <p:sp>
        <p:nvSpPr>
          <p:cNvPr id="20" name="TextBox 19"/>
          <p:cNvSpPr txBox="1"/>
          <p:nvPr/>
        </p:nvSpPr>
        <p:spPr>
          <a:xfrm>
            <a:off x="6967728" y="1463040"/>
            <a:ext cx="2834640" cy="914400"/>
          </a:xfrm>
          <a:prstGeom prst="rect">
            <a:avLst/>
          </a:prstGeom>
          <a:noFill/>
        </p:spPr>
        <p:txBody>
          <a:bodyPr wrap="square">
            <a:spAutoFit/>
          </a:bodyPr>
          <a:lstStyle/>
          <a:p>
            <a:pPr algn="l"/>
            <a:r>
              <a:rPr sz="800" b="0" i="0">
                <a:solidFill>
                  <a:srgbClr val="585A5E"/>
                </a:solidFill>
                <a:latin typeface="Pretendard"/>
              </a:rPr>
              <a:t>Quote the clause. Plain-English requirement. The gap most deployers miss. One action step.</a:t>
            </a:r>
          </a:p>
        </p:txBody>
      </p:sp>
      <p:sp>
        <p:nvSpPr>
          <p:cNvPr id="21" name="TextBox 20"/>
          <p:cNvSpPr txBox="1"/>
          <p:nvPr/>
        </p:nvSpPr>
        <p:spPr>
          <a:xfrm>
            <a:off x="9738360" y="1463040"/>
            <a:ext cx="1737360" cy="914400"/>
          </a:xfrm>
          <a:prstGeom prst="rect">
            <a:avLst/>
          </a:prstGeom>
          <a:noFill/>
        </p:spPr>
        <p:txBody>
          <a:bodyPr wrap="square">
            <a:spAutoFit/>
          </a:bodyPr>
          <a:lstStyle/>
          <a:p>
            <a:pPr algn="l"/>
            <a:r>
              <a:rPr sz="800" b="0" i="1">
                <a:solidFill>
                  <a:srgbClr val="878884"/>
                </a:solidFill>
                <a:latin typeface="Pretendard"/>
              </a:rPr>
              <a:t>"Article 26 of the EU AI Act contains one sentence most deployers have not read."</a:t>
            </a:r>
          </a:p>
        </p:txBody>
      </p:sp>
      <p:sp>
        <p:nvSpPr>
          <p:cNvPr id="22" name="TextBox 21"/>
          <p:cNvSpPr txBox="1"/>
          <p:nvPr/>
        </p:nvSpPr>
        <p:spPr>
          <a:xfrm>
            <a:off x="4553712" y="2450592"/>
            <a:ext cx="2468880" cy="841248"/>
          </a:xfrm>
          <a:prstGeom prst="rect">
            <a:avLst/>
          </a:prstGeom>
          <a:noFill/>
        </p:spPr>
        <p:txBody>
          <a:bodyPr wrap="square">
            <a:spAutoFit/>
          </a:bodyPr>
          <a:lstStyle/>
          <a:p>
            <a:pPr algn="l"/>
            <a:r>
              <a:rPr sz="1000" b="1" i="0">
                <a:solidFill>
                  <a:srgbClr val="0A0A0A"/>
                </a:solidFill>
                <a:latin typeface="Pretendard"/>
              </a:rPr>
              <a:t>2  Architecture teardown</a:t>
            </a:r>
          </a:p>
        </p:txBody>
      </p:sp>
      <p:sp>
        <p:nvSpPr>
          <p:cNvPr id="23" name="TextBox 22"/>
          <p:cNvSpPr txBox="1"/>
          <p:nvPr/>
        </p:nvSpPr>
        <p:spPr>
          <a:xfrm>
            <a:off x="6967728" y="2450592"/>
            <a:ext cx="2834640" cy="914400"/>
          </a:xfrm>
          <a:prstGeom prst="rect">
            <a:avLst/>
          </a:prstGeom>
          <a:noFill/>
        </p:spPr>
        <p:txBody>
          <a:bodyPr wrap="square">
            <a:spAutoFit/>
          </a:bodyPr>
          <a:lstStyle/>
          <a:p>
            <a:pPr algn="l"/>
            <a:r>
              <a:rPr sz="800" b="0" i="0">
                <a:solidFill>
                  <a:srgbClr val="585A5E"/>
                </a:solidFill>
                <a:latin typeface="Pretendard"/>
              </a:rPr>
              <a:t>Real problem, how encrypted inference solves it in four steps, what to ask any vendor.</a:t>
            </a:r>
          </a:p>
        </p:txBody>
      </p:sp>
      <p:sp>
        <p:nvSpPr>
          <p:cNvPr id="24" name="TextBox 23"/>
          <p:cNvSpPr txBox="1"/>
          <p:nvPr/>
        </p:nvSpPr>
        <p:spPr>
          <a:xfrm>
            <a:off x="9738360" y="2450592"/>
            <a:ext cx="1737360" cy="914400"/>
          </a:xfrm>
          <a:prstGeom prst="rect">
            <a:avLst/>
          </a:prstGeom>
          <a:noFill/>
        </p:spPr>
        <p:txBody>
          <a:bodyPr wrap="square">
            <a:spAutoFit/>
          </a:bodyPr>
          <a:lstStyle/>
          <a:p>
            <a:pPr algn="l"/>
            <a:r>
              <a:rPr sz="800" b="0" i="1">
                <a:solidFill>
                  <a:srgbClr val="878884"/>
                </a:solidFill>
                <a:latin typeface="Pretendard"/>
              </a:rPr>
              <a:t>"Here is what happens in the 300 milliseconds after you hit enter on a Confidential API call."</a:t>
            </a:r>
          </a:p>
        </p:txBody>
      </p:sp>
      <p:sp>
        <p:nvSpPr>
          <p:cNvPr id="25" name="TextBox 24"/>
          <p:cNvSpPr txBox="1"/>
          <p:nvPr/>
        </p:nvSpPr>
        <p:spPr>
          <a:xfrm>
            <a:off x="4553712" y="3438144"/>
            <a:ext cx="2468880" cy="841248"/>
          </a:xfrm>
          <a:prstGeom prst="rect">
            <a:avLst/>
          </a:prstGeom>
          <a:noFill/>
        </p:spPr>
        <p:txBody>
          <a:bodyPr wrap="square">
            <a:spAutoFit/>
          </a:bodyPr>
          <a:lstStyle/>
          <a:p>
            <a:pPr algn="l"/>
            <a:r>
              <a:rPr sz="1000" b="1" i="0">
                <a:solidFill>
                  <a:srgbClr val="0A0A0A"/>
                </a:solidFill>
                <a:latin typeface="Pretendard"/>
              </a:rPr>
              <a:t>3  Named evidence</a:t>
            </a:r>
          </a:p>
        </p:txBody>
      </p:sp>
      <p:sp>
        <p:nvSpPr>
          <p:cNvPr id="26" name="TextBox 25"/>
          <p:cNvSpPr txBox="1"/>
          <p:nvPr/>
        </p:nvSpPr>
        <p:spPr>
          <a:xfrm>
            <a:off x="6967728" y="3438144"/>
            <a:ext cx="2834640" cy="914400"/>
          </a:xfrm>
          <a:prstGeom prst="rect">
            <a:avLst/>
          </a:prstGeom>
          <a:noFill/>
        </p:spPr>
        <p:txBody>
          <a:bodyPr wrap="square">
            <a:spAutoFit/>
          </a:bodyPr>
          <a:lstStyle/>
          <a:p>
            <a:pPr algn="l"/>
            <a:r>
              <a:rPr sz="800" b="0" i="0">
                <a:solidFill>
                  <a:srgbClr val="585A5E"/>
                </a:solidFill>
                <a:latin typeface="Pretendard"/>
              </a:rPr>
              <a:t>Named customer, quantified workload, before-and-after numbers, quote with name and title.</a:t>
            </a:r>
          </a:p>
        </p:txBody>
      </p:sp>
      <p:sp>
        <p:nvSpPr>
          <p:cNvPr id="27" name="TextBox 26"/>
          <p:cNvSpPr txBox="1"/>
          <p:nvPr/>
        </p:nvSpPr>
        <p:spPr>
          <a:xfrm>
            <a:off x="9738360" y="3438144"/>
            <a:ext cx="1737360" cy="914400"/>
          </a:xfrm>
          <a:prstGeom prst="rect">
            <a:avLst/>
          </a:prstGeom>
          <a:noFill/>
        </p:spPr>
        <p:txBody>
          <a:bodyPr wrap="square">
            <a:spAutoFit/>
          </a:bodyPr>
          <a:lstStyle/>
          <a:p>
            <a:pPr algn="l"/>
            <a:r>
              <a:rPr sz="800" b="0" i="1">
                <a:solidFill>
                  <a:srgbClr val="878884"/>
                </a:solidFill>
                <a:latin typeface="Pretendard"/>
              </a:rPr>
              <a:t>"400 compliance workflows, measured."</a:t>
            </a:r>
          </a:p>
        </p:txBody>
      </p:sp>
      <p:sp>
        <p:nvSpPr>
          <p:cNvPr id="28" name="TextBox 27"/>
          <p:cNvSpPr txBox="1"/>
          <p:nvPr/>
        </p:nvSpPr>
        <p:spPr>
          <a:xfrm>
            <a:off x="4553712" y="4425696"/>
            <a:ext cx="2468880" cy="841248"/>
          </a:xfrm>
          <a:prstGeom prst="rect">
            <a:avLst/>
          </a:prstGeom>
          <a:noFill/>
        </p:spPr>
        <p:txBody>
          <a:bodyPr wrap="square">
            <a:spAutoFit/>
          </a:bodyPr>
          <a:lstStyle/>
          <a:p>
            <a:pPr algn="l"/>
            <a:r>
              <a:rPr sz="1000" b="1" i="0">
                <a:solidFill>
                  <a:srgbClr val="0A0A0A"/>
                </a:solidFill>
                <a:latin typeface="Pretendard"/>
              </a:rPr>
              <a:t>4  The data take</a:t>
            </a:r>
          </a:p>
        </p:txBody>
      </p:sp>
      <p:sp>
        <p:nvSpPr>
          <p:cNvPr id="29" name="TextBox 28"/>
          <p:cNvSpPr txBox="1"/>
          <p:nvPr/>
        </p:nvSpPr>
        <p:spPr>
          <a:xfrm>
            <a:off x="6967728" y="4425696"/>
            <a:ext cx="2834640" cy="914400"/>
          </a:xfrm>
          <a:prstGeom prst="rect">
            <a:avLst/>
          </a:prstGeom>
          <a:noFill/>
        </p:spPr>
        <p:txBody>
          <a:bodyPr wrap="square">
            <a:spAutoFit/>
          </a:bodyPr>
          <a:lstStyle/>
          <a:p>
            <a:pPr algn="l"/>
            <a:r>
              <a:rPr sz="800" b="0" i="0">
                <a:solidFill>
                  <a:srgbClr val="585A5E"/>
                </a:solidFill>
                <a:latin typeface="Pretendard"/>
              </a:rPr>
              <a:t>A common belief, the dataset that contradicts it, what it changes for enterprise buyers.</a:t>
            </a:r>
          </a:p>
        </p:txBody>
      </p:sp>
      <p:sp>
        <p:nvSpPr>
          <p:cNvPr id="30" name="TextBox 29"/>
          <p:cNvSpPr txBox="1"/>
          <p:nvPr/>
        </p:nvSpPr>
        <p:spPr>
          <a:xfrm>
            <a:off x="9738360" y="4425696"/>
            <a:ext cx="1737360" cy="914400"/>
          </a:xfrm>
          <a:prstGeom prst="rect">
            <a:avLst/>
          </a:prstGeom>
          <a:noFill/>
        </p:spPr>
        <p:txBody>
          <a:bodyPr wrap="square">
            <a:spAutoFit/>
          </a:bodyPr>
          <a:lstStyle/>
          <a:p>
            <a:pPr algn="l"/>
            <a:r>
              <a:rPr sz="800" b="0" i="1">
                <a:solidFill>
                  <a:srgbClr val="878884"/>
                </a:solidFill>
                <a:latin typeface="Pretendard"/>
              </a:rPr>
              <a:t>"42% of companies abandoned most AI projects in 2025. The cause is not model quality."</a:t>
            </a:r>
          </a:p>
        </p:txBody>
      </p:sp>
      <p:sp>
        <p:nvSpPr>
          <p:cNvPr id="31" name="TextBox 30"/>
          <p:cNvSpPr txBox="1"/>
          <p:nvPr/>
        </p:nvSpPr>
        <p:spPr>
          <a:xfrm>
            <a:off x="4553712" y="5413248"/>
            <a:ext cx="2468880" cy="841248"/>
          </a:xfrm>
          <a:prstGeom prst="rect">
            <a:avLst/>
          </a:prstGeom>
          <a:noFill/>
        </p:spPr>
        <p:txBody>
          <a:bodyPr wrap="square">
            <a:spAutoFit/>
          </a:bodyPr>
          <a:lstStyle/>
          <a:p>
            <a:pPr algn="l"/>
            <a:r>
              <a:rPr sz="1000" b="1" i="0">
                <a:solidFill>
                  <a:srgbClr val="0A0A0A"/>
                </a:solidFill>
                <a:latin typeface="Pretendard"/>
              </a:rPr>
              <a:t>5  Operator memo</a:t>
            </a:r>
          </a:p>
        </p:txBody>
      </p:sp>
      <p:sp>
        <p:nvSpPr>
          <p:cNvPr id="32" name="TextBox 31"/>
          <p:cNvSpPr txBox="1"/>
          <p:nvPr/>
        </p:nvSpPr>
        <p:spPr>
          <a:xfrm>
            <a:off x="6967728" y="5413248"/>
            <a:ext cx="2834640" cy="914400"/>
          </a:xfrm>
          <a:prstGeom prst="rect">
            <a:avLst/>
          </a:prstGeom>
          <a:noFill/>
        </p:spPr>
        <p:txBody>
          <a:bodyPr wrap="square">
            <a:spAutoFit/>
          </a:bodyPr>
          <a:lstStyle/>
          <a:p>
            <a:pPr algn="l"/>
            <a:r>
              <a:rPr sz="800" b="0" i="0">
                <a:solidFill>
                  <a:srgbClr val="585A5E"/>
                </a:solidFill>
                <a:latin typeface="Pretendard"/>
              </a:rPr>
              <a:t>A decision we faced, the options, what we chose, what it cost. No other ad format builds this trust.</a:t>
            </a:r>
          </a:p>
        </p:txBody>
      </p:sp>
      <p:sp>
        <p:nvSpPr>
          <p:cNvPr id="33" name="TextBox 32"/>
          <p:cNvSpPr txBox="1"/>
          <p:nvPr/>
        </p:nvSpPr>
        <p:spPr>
          <a:xfrm>
            <a:off x="9738360" y="5413248"/>
            <a:ext cx="1737360" cy="914400"/>
          </a:xfrm>
          <a:prstGeom prst="rect">
            <a:avLst/>
          </a:prstGeom>
          <a:noFill/>
        </p:spPr>
        <p:txBody>
          <a:bodyPr wrap="square">
            <a:spAutoFit/>
          </a:bodyPr>
          <a:lstStyle/>
          <a:p>
            <a:pPr algn="l"/>
            <a:r>
              <a:rPr sz="800" b="0" i="1">
                <a:solidFill>
                  <a:srgbClr val="878884"/>
                </a:solidFill>
                <a:latin typeface="Pretendard"/>
              </a:rPr>
              <a:t>"We turned down a seven-figure deal. The reason should be public."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14  PLATFORM: X  (FLUSO-LED · BUILDER CREDIBILITY)</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32688"/>
            <a:ext cx="3639312" cy="55961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051560"/>
            <a:ext cx="3200400" cy="256032"/>
          </a:xfrm>
          <a:prstGeom prst="rect">
            <a:avLst/>
          </a:prstGeom>
          <a:noFill/>
        </p:spPr>
        <p:txBody>
          <a:bodyPr wrap="square">
            <a:spAutoFit/>
          </a:bodyPr>
          <a:lstStyle/>
          <a:p>
            <a:pPr algn="l"/>
            <a:r>
              <a:rPr sz="800" b="1" i="0">
                <a:solidFill>
                  <a:srgbClr val="878884"/>
                </a:solidFill>
                <a:latin typeface="Pretendard"/>
              </a:rPr>
              <a:t>STRATEGY</a:t>
            </a:r>
          </a:p>
        </p:txBody>
      </p:sp>
      <p:sp>
        <p:nvSpPr>
          <p:cNvPr id="7" name="TextBox 6"/>
          <p:cNvSpPr txBox="1"/>
          <p:nvPr/>
        </p:nvSpPr>
        <p:spPr>
          <a:xfrm>
            <a:off x="713232" y="1463040"/>
            <a:ext cx="3200400" cy="237744"/>
          </a:xfrm>
          <a:prstGeom prst="rect">
            <a:avLst/>
          </a:prstGeom>
          <a:noFill/>
        </p:spPr>
        <p:txBody>
          <a:bodyPr wrap="square">
            <a:spAutoFit/>
          </a:bodyPr>
          <a:lstStyle/>
          <a:p>
            <a:pPr algn="l"/>
            <a:r>
              <a:rPr sz="750" b="1" i="0">
                <a:solidFill>
                  <a:srgbClr val="878884"/>
                </a:solidFill>
                <a:latin typeface="Pretendard"/>
              </a:rPr>
              <a:t>AUDIENCE</a:t>
            </a:r>
          </a:p>
        </p:txBody>
      </p:sp>
      <p:sp>
        <p:nvSpPr>
          <p:cNvPr id="8" name="TextBox 7"/>
          <p:cNvSpPr txBox="1"/>
          <p:nvPr/>
        </p:nvSpPr>
        <p:spPr>
          <a:xfrm>
            <a:off x="713232" y="1719072"/>
            <a:ext cx="3291840" cy="713232"/>
          </a:xfrm>
          <a:prstGeom prst="rect">
            <a:avLst/>
          </a:prstGeom>
          <a:noFill/>
        </p:spPr>
        <p:txBody>
          <a:bodyPr wrap="square">
            <a:spAutoFit/>
          </a:bodyPr>
          <a:lstStyle/>
          <a:p>
            <a:pPr algn="l"/>
            <a:r>
              <a:rPr sz="900" b="0" i="0">
                <a:solidFill>
                  <a:srgbClr val="0A0A0A"/>
                </a:solidFill>
                <a:latin typeface="Pretendard"/>
              </a:rPr>
              <a:t>Builders, developers, AI researchers, power users already debating open-source models and privacy</a:t>
            </a:r>
          </a:p>
        </p:txBody>
      </p:sp>
      <p:sp>
        <p:nvSpPr>
          <p:cNvPr id="9" name="TextBox 8"/>
          <p:cNvSpPr txBox="1"/>
          <p:nvPr/>
        </p:nvSpPr>
        <p:spPr>
          <a:xfrm>
            <a:off x="713232" y="2450592"/>
            <a:ext cx="3200400" cy="237744"/>
          </a:xfrm>
          <a:prstGeom prst="rect">
            <a:avLst/>
          </a:prstGeom>
          <a:noFill/>
        </p:spPr>
        <p:txBody>
          <a:bodyPr wrap="square">
            <a:spAutoFit/>
          </a:bodyPr>
          <a:lstStyle/>
          <a:p>
            <a:pPr algn="l"/>
            <a:r>
              <a:rPr sz="750" b="1" i="0">
                <a:solidFill>
                  <a:srgbClr val="878884"/>
                </a:solidFill>
                <a:latin typeface="Pretendard"/>
              </a:rPr>
              <a:t>GOAL</a:t>
            </a:r>
          </a:p>
        </p:txBody>
      </p:sp>
      <p:sp>
        <p:nvSpPr>
          <p:cNvPr id="10" name="TextBox 9"/>
          <p:cNvSpPr txBox="1"/>
          <p:nvPr/>
        </p:nvSpPr>
        <p:spPr>
          <a:xfrm>
            <a:off x="713232" y="2706624"/>
            <a:ext cx="3291840" cy="713232"/>
          </a:xfrm>
          <a:prstGeom prst="rect">
            <a:avLst/>
          </a:prstGeom>
          <a:noFill/>
        </p:spPr>
        <p:txBody>
          <a:bodyPr wrap="square">
            <a:spAutoFit/>
          </a:bodyPr>
          <a:lstStyle/>
          <a:p>
            <a:pPr algn="l"/>
            <a:r>
              <a:rPr sz="900" b="0" i="0">
                <a:solidFill>
                  <a:srgbClr val="0A0A0A"/>
                </a:solidFill>
                <a:latin typeface="Pretendard"/>
              </a:rPr>
              <a:t>Be the product builders recommend to each other. Credibility earned, not purchased.</a:t>
            </a:r>
          </a:p>
        </p:txBody>
      </p:sp>
      <p:sp>
        <p:nvSpPr>
          <p:cNvPr id="11" name="TextBox 10"/>
          <p:cNvSpPr txBox="1"/>
          <p:nvPr/>
        </p:nvSpPr>
        <p:spPr>
          <a:xfrm>
            <a:off x="713232" y="3438144"/>
            <a:ext cx="3200400" cy="237744"/>
          </a:xfrm>
          <a:prstGeom prst="rect">
            <a:avLst/>
          </a:prstGeom>
          <a:noFill/>
        </p:spPr>
        <p:txBody>
          <a:bodyPr wrap="square">
            <a:spAutoFit/>
          </a:bodyPr>
          <a:lstStyle/>
          <a:p>
            <a:pPr algn="l"/>
            <a:r>
              <a:rPr sz="750" b="1" i="0">
                <a:solidFill>
                  <a:srgbClr val="878884"/>
                </a:solidFill>
                <a:latin typeface="Pretendard"/>
              </a:rPr>
              <a:t>VOICE</a:t>
            </a:r>
          </a:p>
        </p:txBody>
      </p:sp>
      <p:sp>
        <p:nvSpPr>
          <p:cNvPr id="12" name="TextBox 11"/>
          <p:cNvSpPr txBox="1"/>
          <p:nvPr/>
        </p:nvSpPr>
        <p:spPr>
          <a:xfrm>
            <a:off x="713232" y="3694176"/>
            <a:ext cx="3291840" cy="713232"/>
          </a:xfrm>
          <a:prstGeom prst="rect">
            <a:avLst/>
          </a:prstGeom>
          <a:noFill/>
        </p:spPr>
        <p:txBody>
          <a:bodyPr wrap="square">
            <a:spAutoFit/>
          </a:bodyPr>
          <a:lstStyle/>
          <a:p>
            <a:pPr algn="l"/>
            <a:r>
              <a:rPr sz="900" b="0" i="0">
                <a:solidFill>
                  <a:srgbClr val="0A0A0A"/>
                </a:solidFill>
                <a:latin typeface="Pretendard"/>
              </a:rPr>
              <a:t>A person who uses Fluso daily. Never a brand-account voice. Never promotional tone.</a:t>
            </a:r>
          </a:p>
        </p:txBody>
      </p:sp>
      <p:sp>
        <p:nvSpPr>
          <p:cNvPr id="13" name="TextBox 12"/>
          <p:cNvSpPr txBox="1"/>
          <p:nvPr/>
        </p:nvSpPr>
        <p:spPr>
          <a:xfrm>
            <a:off x="713232" y="4425696"/>
            <a:ext cx="3200400" cy="237744"/>
          </a:xfrm>
          <a:prstGeom prst="rect">
            <a:avLst/>
          </a:prstGeom>
          <a:noFill/>
        </p:spPr>
        <p:txBody>
          <a:bodyPr wrap="square">
            <a:spAutoFit/>
          </a:bodyPr>
          <a:lstStyle/>
          <a:p>
            <a:pPr algn="l"/>
            <a:r>
              <a:rPr sz="750" b="1" i="0">
                <a:solidFill>
                  <a:srgbClr val="878884"/>
                </a:solidFill>
                <a:latin typeface="Pretendard"/>
              </a:rPr>
              <a:t>CADENCE</a:t>
            </a:r>
          </a:p>
        </p:txBody>
      </p:sp>
      <p:sp>
        <p:nvSpPr>
          <p:cNvPr id="14" name="TextBox 13"/>
          <p:cNvSpPr txBox="1"/>
          <p:nvPr/>
        </p:nvSpPr>
        <p:spPr>
          <a:xfrm>
            <a:off x="713232" y="4681728"/>
            <a:ext cx="3291840" cy="713232"/>
          </a:xfrm>
          <a:prstGeom prst="rect">
            <a:avLst/>
          </a:prstGeom>
          <a:noFill/>
        </p:spPr>
        <p:txBody>
          <a:bodyPr wrap="square">
            <a:spAutoFit/>
          </a:bodyPr>
          <a:lstStyle/>
          <a:p>
            <a:pPr algn="l"/>
            <a:r>
              <a:rPr sz="900" b="0" i="0">
                <a:solidFill>
                  <a:srgbClr val="0A0A0A"/>
                </a:solidFill>
                <a:latin typeface="Pretendard"/>
              </a:rPr>
              <a:t>1 to 2 posts per day maximum. Replies outperform posts — spend half the time in others' threads.</a:t>
            </a:r>
          </a:p>
        </p:txBody>
      </p:sp>
      <p:sp>
        <p:nvSpPr>
          <p:cNvPr id="15" name="TextBox 14"/>
          <p:cNvSpPr txBox="1"/>
          <p:nvPr/>
        </p:nvSpPr>
        <p:spPr>
          <a:xfrm>
            <a:off x="713232" y="5413248"/>
            <a:ext cx="3200400" cy="237744"/>
          </a:xfrm>
          <a:prstGeom prst="rect">
            <a:avLst/>
          </a:prstGeom>
          <a:noFill/>
        </p:spPr>
        <p:txBody>
          <a:bodyPr wrap="square">
            <a:spAutoFit/>
          </a:bodyPr>
          <a:lstStyle/>
          <a:p>
            <a:pPr algn="l"/>
            <a:r>
              <a:rPr sz="750" b="1" i="0">
                <a:solidFill>
                  <a:srgbClr val="878884"/>
                </a:solidFill>
                <a:latin typeface="Pretendard"/>
              </a:rPr>
              <a:t>KPI</a:t>
            </a:r>
          </a:p>
        </p:txBody>
      </p:sp>
      <p:sp>
        <p:nvSpPr>
          <p:cNvPr id="16" name="TextBox 15"/>
          <p:cNvSpPr txBox="1"/>
          <p:nvPr/>
        </p:nvSpPr>
        <p:spPr>
          <a:xfrm>
            <a:off x="713232" y="5669280"/>
            <a:ext cx="3291840" cy="713232"/>
          </a:xfrm>
          <a:prstGeom prst="rect">
            <a:avLst/>
          </a:prstGeom>
          <a:noFill/>
        </p:spPr>
        <p:txBody>
          <a:bodyPr wrap="square">
            <a:spAutoFit/>
          </a:bodyPr>
          <a:lstStyle/>
          <a:p>
            <a:pPr algn="l"/>
            <a:r>
              <a:rPr sz="900" b="0" i="0">
                <a:solidFill>
                  <a:srgbClr val="0A0A0A"/>
                </a:solidFill>
                <a:latin typeface="Pretendard"/>
              </a:rPr>
              <a:t>Qualified signups and waitlist conversions from profile clicks. Not impressions.</a:t>
            </a:r>
          </a:p>
        </p:txBody>
      </p:sp>
      <p:sp>
        <p:nvSpPr>
          <p:cNvPr id="17" name="Rectangle 16"/>
          <p:cNvSpPr/>
          <p:nvPr/>
        </p:nvSpPr>
        <p:spPr>
          <a:xfrm>
            <a:off x="4370832" y="932688"/>
            <a:ext cx="7296912" cy="55961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53712" y="1051560"/>
            <a:ext cx="6766560" cy="256032"/>
          </a:xfrm>
          <a:prstGeom prst="rect">
            <a:avLst/>
          </a:prstGeom>
          <a:noFill/>
        </p:spPr>
        <p:txBody>
          <a:bodyPr wrap="square">
            <a:spAutoFit/>
          </a:bodyPr>
          <a:lstStyle/>
          <a:p>
            <a:pPr algn="l"/>
            <a:r>
              <a:rPr sz="800" b="1" i="0">
                <a:solidFill>
                  <a:srgbClr val="878884"/>
                </a:solidFill>
                <a:latin typeface="Pretendard"/>
              </a:rPr>
              <a:t>FIVE ARCHETYPES</a:t>
            </a:r>
          </a:p>
        </p:txBody>
      </p:sp>
      <p:sp>
        <p:nvSpPr>
          <p:cNvPr id="19" name="TextBox 18"/>
          <p:cNvSpPr txBox="1"/>
          <p:nvPr/>
        </p:nvSpPr>
        <p:spPr>
          <a:xfrm>
            <a:off x="4553712" y="1463040"/>
            <a:ext cx="2468880" cy="841248"/>
          </a:xfrm>
          <a:prstGeom prst="rect">
            <a:avLst/>
          </a:prstGeom>
          <a:noFill/>
        </p:spPr>
        <p:txBody>
          <a:bodyPr wrap="square">
            <a:spAutoFit/>
          </a:bodyPr>
          <a:lstStyle/>
          <a:p>
            <a:pPr algn="l"/>
            <a:r>
              <a:rPr sz="1000" b="1" i="0">
                <a:solidFill>
                  <a:srgbClr val="0A0A0A"/>
                </a:solidFill>
                <a:latin typeface="Pretendard"/>
              </a:rPr>
              <a:t>1  Build log</a:t>
            </a:r>
          </a:p>
        </p:txBody>
      </p:sp>
      <p:sp>
        <p:nvSpPr>
          <p:cNvPr id="20" name="TextBox 19"/>
          <p:cNvSpPr txBox="1"/>
          <p:nvPr/>
        </p:nvSpPr>
        <p:spPr>
          <a:xfrm>
            <a:off x="6967728" y="1463040"/>
            <a:ext cx="2834640" cy="914400"/>
          </a:xfrm>
          <a:prstGeom prst="rect">
            <a:avLst/>
          </a:prstGeom>
          <a:noFill/>
        </p:spPr>
        <p:txBody>
          <a:bodyPr wrap="square">
            <a:spAutoFit/>
          </a:bodyPr>
          <a:lstStyle/>
          <a:p>
            <a:pPr algn="l"/>
            <a:r>
              <a:rPr sz="800" b="0" i="0">
                <a:solidFill>
                  <a:srgbClr val="585A5E"/>
                </a:solidFill>
                <a:latin typeface="Pretendard"/>
              </a:rPr>
              <a:t>What shipped, one screenshot, one number. No adjectives whatsoever.</a:t>
            </a:r>
          </a:p>
        </p:txBody>
      </p:sp>
      <p:sp>
        <p:nvSpPr>
          <p:cNvPr id="21" name="TextBox 20"/>
          <p:cNvSpPr txBox="1"/>
          <p:nvPr/>
        </p:nvSpPr>
        <p:spPr>
          <a:xfrm>
            <a:off x="9738360" y="1463040"/>
            <a:ext cx="1737360" cy="914400"/>
          </a:xfrm>
          <a:prstGeom prst="rect">
            <a:avLst/>
          </a:prstGeom>
          <a:noFill/>
        </p:spPr>
        <p:txBody>
          <a:bodyPr wrap="square">
            <a:spAutoFit/>
          </a:bodyPr>
          <a:lstStyle/>
          <a:p>
            <a:pPr algn="l"/>
            <a:r>
              <a:rPr sz="800" b="0" i="1">
                <a:solidFill>
                  <a:srgbClr val="878884"/>
                </a:solidFill>
                <a:latin typeface="Pretendard"/>
              </a:rPr>
              <a:t>"Session export shipped. 14 seconds from audit request to PDF."</a:t>
            </a:r>
          </a:p>
        </p:txBody>
      </p:sp>
      <p:sp>
        <p:nvSpPr>
          <p:cNvPr id="22" name="TextBox 21"/>
          <p:cNvSpPr txBox="1"/>
          <p:nvPr/>
        </p:nvSpPr>
        <p:spPr>
          <a:xfrm>
            <a:off x="4553712" y="2450592"/>
            <a:ext cx="2468880" cy="841248"/>
          </a:xfrm>
          <a:prstGeom prst="rect">
            <a:avLst/>
          </a:prstGeom>
          <a:noFill/>
        </p:spPr>
        <p:txBody>
          <a:bodyPr wrap="square">
            <a:spAutoFit/>
          </a:bodyPr>
          <a:lstStyle/>
          <a:p>
            <a:pPr algn="l"/>
            <a:r>
              <a:rPr sz="1000" b="1" i="0">
                <a:solidFill>
                  <a:srgbClr val="0A0A0A"/>
                </a:solidFill>
                <a:latin typeface="Pretendard"/>
              </a:rPr>
              <a:t>2  Workflow receipt</a:t>
            </a:r>
          </a:p>
        </p:txBody>
      </p:sp>
      <p:sp>
        <p:nvSpPr>
          <p:cNvPr id="23" name="TextBox 22"/>
          <p:cNvSpPr txBox="1"/>
          <p:nvPr/>
        </p:nvSpPr>
        <p:spPr>
          <a:xfrm>
            <a:off x="6967728" y="2450592"/>
            <a:ext cx="2834640" cy="914400"/>
          </a:xfrm>
          <a:prstGeom prst="rect">
            <a:avLst/>
          </a:prstGeom>
          <a:noFill/>
        </p:spPr>
        <p:txBody>
          <a:bodyPr wrap="square">
            <a:spAutoFit/>
          </a:bodyPr>
          <a:lstStyle/>
          <a:p>
            <a:pPr algn="l"/>
            <a:r>
              <a:rPr sz="800" b="0" i="0">
                <a:solidFill>
                  <a:srgbClr val="585A5E"/>
                </a:solidFill>
                <a:latin typeface="Pretendard"/>
              </a:rPr>
              <a:t>Task, time, model, result. The receipt is the post. Nothing else needed.</a:t>
            </a:r>
          </a:p>
        </p:txBody>
      </p:sp>
      <p:sp>
        <p:nvSpPr>
          <p:cNvPr id="24" name="TextBox 23"/>
          <p:cNvSpPr txBox="1"/>
          <p:nvPr/>
        </p:nvSpPr>
        <p:spPr>
          <a:xfrm>
            <a:off x="9738360" y="2450592"/>
            <a:ext cx="1737360" cy="914400"/>
          </a:xfrm>
          <a:prstGeom prst="rect">
            <a:avLst/>
          </a:prstGeom>
          <a:noFill/>
        </p:spPr>
        <p:txBody>
          <a:bodyPr wrap="square">
            <a:spAutoFit/>
          </a:bodyPr>
          <a:lstStyle/>
          <a:p>
            <a:pPr algn="l"/>
            <a:r>
              <a:rPr sz="800" b="0" i="1">
                <a:solidFill>
                  <a:srgbClr val="878884"/>
                </a:solidFill>
                <a:latin typeface="Pretendard"/>
              </a:rPr>
              <a:t>"Contract review. 23 minutes. Every clause sourced."</a:t>
            </a:r>
          </a:p>
        </p:txBody>
      </p:sp>
      <p:sp>
        <p:nvSpPr>
          <p:cNvPr id="25" name="TextBox 24"/>
          <p:cNvSpPr txBox="1"/>
          <p:nvPr/>
        </p:nvSpPr>
        <p:spPr>
          <a:xfrm>
            <a:off x="4553712" y="3438144"/>
            <a:ext cx="2468880" cy="841248"/>
          </a:xfrm>
          <a:prstGeom prst="rect">
            <a:avLst/>
          </a:prstGeom>
          <a:noFill/>
        </p:spPr>
        <p:txBody>
          <a:bodyPr wrap="square">
            <a:spAutoFit/>
          </a:bodyPr>
          <a:lstStyle/>
          <a:p>
            <a:pPr algn="l"/>
            <a:r>
              <a:rPr sz="1000" b="1" i="0">
                <a:solidFill>
                  <a:srgbClr val="0A0A0A"/>
                </a:solidFill>
                <a:latin typeface="Pretendard"/>
              </a:rPr>
              <a:t>3  Honest limit</a:t>
            </a:r>
          </a:p>
        </p:txBody>
      </p:sp>
      <p:sp>
        <p:nvSpPr>
          <p:cNvPr id="26" name="TextBox 25"/>
          <p:cNvSpPr txBox="1"/>
          <p:nvPr/>
        </p:nvSpPr>
        <p:spPr>
          <a:xfrm>
            <a:off x="6967728" y="3438144"/>
            <a:ext cx="2834640" cy="914400"/>
          </a:xfrm>
          <a:prstGeom prst="rect">
            <a:avLst/>
          </a:prstGeom>
          <a:noFill/>
        </p:spPr>
        <p:txBody>
          <a:bodyPr wrap="square">
            <a:spAutoFit/>
          </a:bodyPr>
          <a:lstStyle/>
          <a:p>
            <a:pPr algn="l"/>
            <a:r>
              <a:rPr sz="800" b="0" i="0">
                <a:solidFill>
                  <a:srgbClr val="585A5E"/>
                </a:solidFill>
                <a:latin typeface="Pretendard"/>
              </a:rPr>
              <a:t>What Fluso cannot do yet, with the current workaround. Outperforms launch posts every time.</a:t>
            </a:r>
          </a:p>
        </p:txBody>
      </p:sp>
      <p:sp>
        <p:nvSpPr>
          <p:cNvPr id="27" name="TextBox 26"/>
          <p:cNvSpPr txBox="1"/>
          <p:nvPr/>
        </p:nvSpPr>
        <p:spPr>
          <a:xfrm>
            <a:off x="9738360" y="3438144"/>
            <a:ext cx="1737360" cy="914400"/>
          </a:xfrm>
          <a:prstGeom prst="rect">
            <a:avLst/>
          </a:prstGeom>
          <a:noFill/>
        </p:spPr>
        <p:txBody>
          <a:bodyPr wrap="square">
            <a:spAutoFit/>
          </a:bodyPr>
          <a:lstStyle/>
          <a:p>
            <a:pPr algn="l"/>
            <a:r>
              <a:rPr sz="800" b="0" i="1">
                <a:solidFill>
                  <a:srgbClr val="878884"/>
                </a:solidFill>
                <a:latin typeface="Pretendard"/>
              </a:rPr>
              <a:t>"Fluso still struggles with scanned tables. Here is what we do instead."</a:t>
            </a:r>
          </a:p>
        </p:txBody>
      </p:sp>
      <p:sp>
        <p:nvSpPr>
          <p:cNvPr id="28" name="TextBox 27"/>
          <p:cNvSpPr txBox="1"/>
          <p:nvPr/>
        </p:nvSpPr>
        <p:spPr>
          <a:xfrm>
            <a:off x="4553712" y="4425696"/>
            <a:ext cx="2468880" cy="841248"/>
          </a:xfrm>
          <a:prstGeom prst="rect">
            <a:avLst/>
          </a:prstGeom>
          <a:noFill/>
        </p:spPr>
        <p:txBody>
          <a:bodyPr wrap="square">
            <a:spAutoFit/>
          </a:bodyPr>
          <a:lstStyle/>
          <a:p>
            <a:pPr algn="l"/>
            <a:r>
              <a:rPr sz="1000" b="1" i="0">
                <a:solidFill>
                  <a:srgbClr val="0A0A0A"/>
                </a:solidFill>
                <a:latin typeface="Pretendard"/>
              </a:rPr>
              <a:t>4  Model take</a:t>
            </a:r>
          </a:p>
        </p:txBody>
      </p:sp>
      <p:sp>
        <p:nvSpPr>
          <p:cNvPr id="29" name="TextBox 28"/>
          <p:cNvSpPr txBox="1"/>
          <p:nvPr/>
        </p:nvSpPr>
        <p:spPr>
          <a:xfrm>
            <a:off x="6967728" y="4425696"/>
            <a:ext cx="2834640" cy="914400"/>
          </a:xfrm>
          <a:prstGeom prst="rect">
            <a:avLst/>
          </a:prstGeom>
          <a:noFill/>
        </p:spPr>
        <p:txBody>
          <a:bodyPr wrap="square">
            <a:spAutoFit/>
          </a:bodyPr>
          <a:lstStyle/>
          <a:p>
            <a:pPr algn="l"/>
            <a:r>
              <a:rPr sz="800" b="0" i="0">
                <a:solidFill>
                  <a:srgbClr val="585A5E"/>
                </a:solidFill>
                <a:latin typeface="Pretendard"/>
              </a:rPr>
              <a:t>Opinionated open-model comparison from our own runs. Data attached. No winner hype.</a:t>
            </a:r>
          </a:p>
        </p:txBody>
      </p:sp>
      <p:sp>
        <p:nvSpPr>
          <p:cNvPr id="30" name="TextBox 29"/>
          <p:cNvSpPr txBox="1"/>
          <p:nvPr/>
        </p:nvSpPr>
        <p:spPr>
          <a:xfrm>
            <a:off x="9738360" y="4425696"/>
            <a:ext cx="1737360" cy="914400"/>
          </a:xfrm>
          <a:prstGeom prst="rect">
            <a:avLst/>
          </a:prstGeom>
          <a:noFill/>
        </p:spPr>
        <p:txBody>
          <a:bodyPr wrap="square">
            <a:spAutoFit/>
          </a:bodyPr>
          <a:lstStyle/>
          <a:p>
            <a:pPr algn="l"/>
            <a:r>
              <a:rPr sz="800" b="0" i="1">
                <a:solidFill>
                  <a:srgbClr val="878884"/>
                </a:solidFill>
                <a:latin typeface="Pretendard"/>
              </a:rPr>
              <a:t>"We ran the same brief through four open models. The spread surprised us."</a:t>
            </a:r>
          </a:p>
        </p:txBody>
      </p:sp>
      <p:sp>
        <p:nvSpPr>
          <p:cNvPr id="31" name="TextBox 30"/>
          <p:cNvSpPr txBox="1"/>
          <p:nvPr/>
        </p:nvSpPr>
        <p:spPr>
          <a:xfrm>
            <a:off x="4553712" y="5413248"/>
            <a:ext cx="2468880" cy="841248"/>
          </a:xfrm>
          <a:prstGeom prst="rect">
            <a:avLst/>
          </a:prstGeom>
          <a:noFill/>
        </p:spPr>
        <p:txBody>
          <a:bodyPr wrap="square">
            <a:spAutoFit/>
          </a:bodyPr>
          <a:lstStyle/>
          <a:p>
            <a:pPr algn="l"/>
            <a:r>
              <a:rPr sz="1000" b="1" i="0">
                <a:solidFill>
                  <a:srgbClr val="0A0A0A"/>
                </a:solidFill>
                <a:latin typeface="Pretendard"/>
              </a:rPr>
              <a:t>5  Community ask</a:t>
            </a:r>
          </a:p>
        </p:txBody>
      </p:sp>
      <p:sp>
        <p:nvSpPr>
          <p:cNvPr id="32" name="TextBox 31"/>
          <p:cNvSpPr txBox="1"/>
          <p:nvPr/>
        </p:nvSpPr>
        <p:spPr>
          <a:xfrm>
            <a:off x="6967728" y="5413248"/>
            <a:ext cx="2834640" cy="914400"/>
          </a:xfrm>
          <a:prstGeom prst="rect">
            <a:avLst/>
          </a:prstGeom>
          <a:noFill/>
        </p:spPr>
        <p:txBody>
          <a:bodyPr wrap="square">
            <a:spAutoFit/>
          </a:bodyPr>
          <a:lstStyle/>
          <a:p>
            <a:pPr algn="l"/>
            <a:r>
              <a:rPr sz="800" b="0" i="0">
                <a:solidFill>
                  <a:srgbClr val="585A5E"/>
                </a:solidFill>
                <a:latin typeface="Pretendard"/>
              </a:rPr>
              <a:t>A real open question we have not solved internally. Respond to every single reply.</a:t>
            </a:r>
          </a:p>
        </p:txBody>
      </p:sp>
      <p:sp>
        <p:nvSpPr>
          <p:cNvPr id="33" name="TextBox 32"/>
          <p:cNvSpPr txBox="1"/>
          <p:nvPr/>
        </p:nvSpPr>
        <p:spPr>
          <a:xfrm>
            <a:off x="9738360" y="5413248"/>
            <a:ext cx="1737360" cy="914400"/>
          </a:xfrm>
          <a:prstGeom prst="rect">
            <a:avLst/>
          </a:prstGeom>
          <a:noFill/>
        </p:spPr>
        <p:txBody>
          <a:bodyPr wrap="square">
            <a:spAutoFit/>
          </a:bodyPr>
          <a:lstStyle/>
          <a:p>
            <a:pPr algn="l"/>
            <a:r>
              <a:rPr sz="800" b="0" i="1">
                <a:solidFill>
                  <a:srgbClr val="878884"/>
                </a:solidFill>
                <a:latin typeface="Pretendard"/>
              </a:rPr>
              <a:t>"How do you handle citation checking in 30-minute research sessions? Genuinely asking."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15  PLATFORM: INSTAGRAM + FACEBOOK</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1155680" cy="411480"/>
          </a:xfrm>
          <a:prstGeom prst="rect">
            <a:avLst/>
          </a:prstGeom>
          <a:noFill/>
        </p:spPr>
        <p:txBody>
          <a:bodyPr wrap="square">
            <a:spAutoFit/>
          </a:bodyPr>
          <a:lstStyle/>
          <a:p>
            <a:pPr algn="l"/>
            <a:r>
              <a:rPr sz="1600" b="1" i="0">
                <a:solidFill>
                  <a:srgbClr val="0A0A0A"/>
                </a:solidFill>
                <a:latin typeface="Pretendard"/>
              </a:rPr>
              <a:t>Instagram: Show the work.   Facebook: warm the pipe.</a:t>
            </a:r>
          </a:p>
        </p:txBody>
      </p:sp>
      <p:sp>
        <p:nvSpPr>
          <p:cNvPr id="6" name="Rectangle 5"/>
          <p:cNvSpPr/>
          <p:nvPr/>
        </p:nvSpPr>
        <p:spPr>
          <a:xfrm>
            <a:off x="502920" y="1417320"/>
            <a:ext cx="5440680" cy="51389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36192"/>
            <a:ext cx="5029200" cy="274320"/>
          </a:xfrm>
          <a:prstGeom prst="rect">
            <a:avLst/>
          </a:prstGeom>
          <a:noFill/>
        </p:spPr>
        <p:txBody>
          <a:bodyPr wrap="square">
            <a:spAutoFit/>
          </a:bodyPr>
          <a:lstStyle/>
          <a:p>
            <a:pPr algn="l"/>
            <a:r>
              <a:rPr sz="900" b="1" i="0">
                <a:solidFill>
                  <a:srgbClr val="878884"/>
                </a:solidFill>
                <a:latin typeface="Pretendard"/>
              </a:rPr>
              <a:t>INSTAGRAM  (Fluso-weighted)</a:t>
            </a:r>
          </a:p>
        </p:txBody>
      </p:sp>
      <p:sp>
        <p:nvSpPr>
          <p:cNvPr id="8" name="TextBox 7"/>
          <p:cNvSpPr txBox="1"/>
          <p:nvPr/>
        </p:nvSpPr>
        <p:spPr>
          <a:xfrm>
            <a:off x="713232" y="1965960"/>
            <a:ext cx="5029200" cy="274320"/>
          </a:xfrm>
          <a:prstGeom prst="rect">
            <a:avLst/>
          </a:prstGeom>
          <a:noFill/>
        </p:spPr>
        <p:txBody>
          <a:bodyPr wrap="square">
            <a:spAutoFit/>
          </a:bodyPr>
          <a:lstStyle/>
          <a:p>
            <a:pPr algn="l"/>
            <a:r>
              <a:rPr sz="1000" b="1" i="0">
                <a:solidFill>
                  <a:srgbClr val="0A0A0A"/>
                </a:solidFill>
                <a:latin typeface="Pretendard"/>
              </a:rPr>
              <a:t>Reels (8 of 15)</a:t>
            </a:r>
          </a:p>
        </p:txBody>
      </p:sp>
      <p:sp>
        <p:nvSpPr>
          <p:cNvPr id="9" name="TextBox 8"/>
          <p:cNvSpPr txBox="1"/>
          <p:nvPr/>
        </p:nvSpPr>
        <p:spPr>
          <a:xfrm>
            <a:off x="713232" y="2258568"/>
            <a:ext cx="5074920" cy="566928"/>
          </a:xfrm>
          <a:prstGeom prst="rect">
            <a:avLst/>
          </a:prstGeom>
          <a:noFill/>
        </p:spPr>
        <p:txBody>
          <a:bodyPr wrap="square">
            <a:spAutoFit/>
          </a:bodyPr>
          <a:lstStyle/>
          <a:p>
            <a:pPr algn="l"/>
            <a:r>
              <a:rPr sz="850" b="0" i="0">
                <a:solidFill>
                  <a:srgbClr val="585A5E"/>
                </a:solidFill>
                <a:latin typeface="Pretendard"/>
              </a:rPr>
              <a:t>15 to 30 seconds. Screen capture of a real task. Text overlay only. Cover frame from the template system (slide 12). First 3 seconds decide 60% of the completion rate.</a:t>
            </a:r>
          </a:p>
        </p:txBody>
      </p:sp>
      <p:sp>
        <p:nvSpPr>
          <p:cNvPr id="10" name="TextBox 9"/>
          <p:cNvSpPr txBox="1"/>
          <p:nvPr/>
        </p:nvSpPr>
        <p:spPr>
          <a:xfrm>
            <a:off x="713232" y="2880360"/>
            <a:ext cx="5029200" cy="274320"/>
          </a:xfrm>
          <a:prstGeom prst="rect">
            <a:avLst/>
          </a:prstGeom>
          <a:noFill/>
        </p:spPr>
        <p:txBody>
          <a:bodyPr wrap="square">
            <a:spAutoFit/>
          </a:bodyPr>
          <a:lstStyle/>
          <a:p>
            <a:pPr algn="l"/>
            <a:r>
              <a:rPr sz="1000" b="1" i="0">
                <a:solidFill>
                  <a:srgbClr val="0A0A0A"/>
                </a:solidFill>
                <a:latin typeface="Pretendard"/>
              </a:rPr>
              <a:t>Carousels (7 of 15)</a:t>
            </a:r>
          </a:p>
        </p:txBody>
      </p:sp>
      <p:sp>
        <p:nvSpPr>
          <p:cNvPr id="11" name="TextBox 10"/>
          <p:cNvSpPr txBox="1"/>
          <p:nvPr/>
        </p:nvSpPr>
        <p:spPr>
          <a:xfrm>
            <a:off x="713232" y="3172968"/>
            <a:ext cx="5074920" cy="566928"/>
          </a:xfrm>
          <a:prstGeom prst="rect">
            <a:avLst/>
          </a:prstGeom>
          <a:noFill/>
        </p:spPr>
        <p:txBody>
          <a:bodyPr wrap="square">
            <a:spAutoFit/>
          </a:bodyPr>
          <a:lstStyle/>
          <a:p>
            <a:pPr algn="l"/>
            <a:r>
              <a:rPr sz="850" b="0" i="0">
                <a:solidFill>
                  <a:srgbClr val="585A5E"/>
                </a:solidFill>
                <a:latin typeface="Pretendard"/>
              </a:rPr>
              <a:t>Slide 1 must carry a standalone claim. Dot-map watermark bottom-right. Close on a summary slide, never a CTA slide.</a:t>
            </a:r>
          </a:p>
        </p:txBody>
      </p:sp>
      <p:sp>
        <p:nvSpPr>
          <p:cNvPr id="12" name="TextBox 11"/>
          <p:cNvSpPr txBox="1"/>
          <p:nvPr/>
        </p:nvSpPr>
        <p:spPr>
          <a:xfrm>
            <a:off x="713232" y="3794760"/>
            <a:ext cx="5029200" cy="274320"/>
          </a:xfrm>
          <a:prstGeom prst="rect">
            <a:avLst/>
          </a:prstGeom>
          <a:noFill/>
        </p:spPr>
        <p:txBody>
          <a:bodyPr wrap="square">
            <a:spAutoFit/>
          </a:bodyPr>
          <a:lstStyle/>
          <a:p>
            <a:pPr algn="l"/>
            <a:r>
              <a:rPr sz="1000" b="1" i="0">
                <a:solidFill>
                  <a:srgbClr val="0A0A0A"/>
                </a:solidFill>
                <a:latin typeface="Pretendard"/>
              </a:rPr>
              <a:t>Grid rhythm</a:t>
            </a:r>
          </a:p>
        </p:txBody>
      </p:sp>
      <p:sp>
        <p:nvSpPr>
          <p:cNvPr id="13" name="TextBox 12"/>
          <p:cNvSpPr txBox="1"/>
          <p:nvPr/>
        </p:nvSpPr>
        <p:spPr>
          <a:xfrm>
            <a:off x="713232" y="4087368"/>
            <a:ext cx="5074920" cy="566928"/>
          </a:xfrm>
          <a:prstGeom prst="rect">
            <a:avLst/>
          </a:prstGeom>
          <a:noFill/>
        </p:spPr>
        <p:txBody>
          <a:bodyPr wrap="square">
            <a:spAutoFit/>
          </a:bodyPr>
          <a:lstStyle/>
          <a:p>
            <a:pPr algn="l"/>
            <a:r>
              <a:rPr sz="850" b="0" i="0">
                <a:solidFill>
                  <a:srgbClr val="585A5E"/>
                </a:solidFill>
                <a:latin typeface="Pretendard"/>
              </a:rPr>
              <a:t>Alternate paper-ground and dark-ground cards. Every 9th post: the dot map or the Lugano lake frame, full bleed.</a:t>
            </a:r>
          </a:p>
        </p:txBody>
      </p:sp>
      <p:sp>
        <p:nvSpPr>
          <p:cNvPr id="14" name="TextBox 13"/>
          <p:cNvSpPr txBox="1"/>
          <p:nvPr/>
        </p:nvSpPr>
        <p:spPr>
          <a:xfrm>
            <a:off x="713232" y="4709160"/>
            <a:ext cx="5029200" cy="274320"/>
          </a:xfrm>
          <a:prstGeom prst="rect">
            <a:avLst/>
          </a:prstGeom>
          <a:noFill/>
        </p:spPr>
        <p:txBody>
          <a:bodyPr wrap="square">
            <a:spAutoFit/>
          </a:bodyPr>
          <a:lstStyle/>
          <a:p>
            <a:pPr algn="l"/>
            <a:r>
              <a:rPr sz="1000" b="1" i="0">
                <a:solidFill>
                  <a:srgbClr val="0A0A0A"/>
                </a:solidFill>
                <a:latin typeface="Pretendard"/>
              </a:rPr>
              <a:t>Name field</a:t>
            </a:r>
          </a:p>
        </p:txBody>
      </p:sp>
      <p:sp>
        <p:nvSpPr>
          <p:cNvPr id="15" name="TextBox 14"/>
          <p:cNvSpPr txBox="1"/>
          <p:nvPr/>
        </p:nvSpPr>
        <p:spPr>
          <a:xfrm>
            <a:off x="713232" y="5001768"/>
            <a:ext cx="5074920" cy="566928"/>
          </a:xfrm>
          <a:prstGeom prst="rect">
            <a:avLst/>
          </a:prstGeom>
          <a:noFill/>
        </p:spPr>
        <p:txBody>
          <a:bodyPr wrap="square">
            <a:spAutoFit/>
          </a:bodyPr>
          <a:lstStyle/>
          <a:p>
            <a:pPr algn="l"/>
            <a:r>
              <a:rPr sz="850" b="0" i="0">
                <a:solidFill>
                  <a:srgbClr val="585A5E"/>
                </a:solidFill>
                <a:latin typeface="Pretendard"/>
              </a:rPr>
              <a:t>"Fluso | deep work AI" — search-indexed. Keywords live here, not in hashtags.</a:t>
            </a:r>
          </a:p>
        </p:txBody>
      </p:sp>
      <p:sp>
        <p:nvSpPr>
          <p:cNvPr id="16" name="TextBox 15"/>
          <p:cNvSpPr txBox="1"/>
          <p:nvPr/>
        </p:nvSpPr>
        <p:spPr>
          <a:xfrm>
            <a:off x="713232" y="5623560"/>
            <a:ext cx="5029200" cy="274320"/>
          </a:xfrm>
          <a:prstGeom prst="rect">
            <a:avLst/>
          </a:prstGeom>
          <a:noFill/>
        </p:spPr>
        <p:txBody>
          <a:bodyPr wrap="square">
            <a:spAutoFit/>
          </a:bodyPr>
          <a:lstStyle/>
          <a:p>
            <a:pPr algn="l"/>
            <a:r>
              <a:rPr sz="1000" b="1" i="0">
                <a:solidFill>
                  <a:srgbClr val="0A0A0A"/>
                </a:solidFill>
                <a:latin typeface="Pretendard"/>
              </a:rPr>
              <a:t>Captions</a:t>
            </a:r>
          </a:p>
        </p:txBody>
      </p:sp>
      <p:sp>
        <p:nvSpPr>
          <p:cNvPr id="17" name="TextBox 16"/>
          <p:cNvSpPr txBox="1"/>
          <p:nvPr/>
        </p:nvSpPr>
        <p:spPr>
          <a:xfrm>
            <a:off x="713232" y="5916168"/>
            <a:ext cx="5074920" cy="566928"/>
          </a:xfrm>
          <a:prstGeom prst="rect">
            <a:avLst/>
          </a:prstGeom>
          <a:noFill/>
        </p:spPr>
        <p:txBody>
          <a:bodyPr wrap="square">
            <a:spAutoFit/>
          </a:bodyPr>
          <a:lstStyle/>
          <a:p>
            <a:pPr algn="l"/>
            <a:r>
              <a:rPr sz="850" b="0" i="0">
                <a:solidFill>
                  <a:srgbClr val="585A5E"/>
                </a:solidFill>
                <a:latin typeface="Pretendard"/>
              </a:rPr>
              <a:t>Specific hook on line 1. 3 to 5 hashtags in the first comment, never in the caption. The Dec 2024 algorithm deweighted hashtags; keyword relevance and Reels completion now drive reach.</a:t>
            </a:r>
          </a:p>
        </p:txBody>
      </p:sp>
      <p:sp>
        <p:nvSpPr>
          <p:cNvPr id="18" name="Rectangle 17"/>
          <p:cNvSpPr/>
          <p:nvPr/>
        </p:nvSpPr>
        <p:spPr>
          <a:xfrm>
            <a:off x="6217920" y="1417320"/>
            <a:ext cx="5468112" cy="513892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536192"/>
            <a:ext cx="5029200" cy="274320"/>
          </a:xfrm>
          <a:prstGeom prst="rect">
            <a:avLst/>
          </a:prstGeom>
          <a:noFill/>
        </p:spPr>
        <p:txBody>
          <a:bodyPr wrap="square">
            <a:spAutoFit/>
          </a:bodyPr>
          <a:lstStyle/>
          <a:p>
            <a:pPr algn="l"/>
            <a:r>
              <a:rPr sz="900" b="1" i="0">
                <a:solidFill>
                  <a:srgbClr val="878884"/>
                </a:solidFill>
                <a:latin typeface="Pretendard"/>
              </a:rPr>
              <a:t>FACEBOOK  (both brands)</a:t>
            </a:r>
          </a:p>
        </p:txBody>
      </p:sp>
      <p:sp>
        <p:nvSpPr>
          <p:cNvPr id="20" name="TextBox 19"/>
          <p:cNvSpPr txBox="1"/>
          <p:nvPr/>
        </p:nvSpPr>
        <p:spPr>
          <a:xfrm>
            <a:off x="6419088" y="1965960"/>
            <a:ext cx="5120640" cy="274320"/>
          </a:xfrm>
          <a:prstGeom prst="rect">
            <a:avLst/>
          </a:prstGeom>
          <a:noFill/>
        </p:spPr>
        <p:txBody>
          <a:bodyPr wrap="square">
            <a:spAutoFit/>
          </a:bodyPr>
          <a:lstStyle/>
          <a:p>
            <a:pPr algn="l"/>
            <a:r>
              <a:rPr sz="1000" b="1" i="0">
                <a:solidFill>
                  <a:srgbClr val="0A0A0A"/>
                </a:solidFill>
                <a:latin typeface="Pretendard"/>
              </a:rPr>
              <a:t>Role</a:t>
            </a:r>
          </a:p>
        </p:txBody>
      </p:sp>
      <p:sp>
        <p:nvSpPr>
          <p:cNvPr id="21" name="TextBox 20"/>
          <p:cNvSpPr txBox="1"/>
          <p:nvPr/>
        </p:nvSpPr>
        <p:spPr>
          <a:xfrm>
            <a:off x="6419088" y="2258568"/>
            <a:ext cx="5166360" cy="566928"/>
          </a:xfrm>
          <a:prstGeom prst="rect">
            <a:avLst/>
          </a:prstGeom>
          <a:noFill/>
        </p:spPr>
        <p:txBody>
          <a:bodyPr wrap="square">
            <a:spAutoFit/>
          </a:bodyPr>
          <a:lstStyle/>
          <a:p>
            <a:pPr algn="l"/>
            <a:r>
              <a:rPr sz="850" b="0" i="0">
                <a:solidFill>
                  <a:srgbClr val="585A5E"/>
                </a:solidFill>
                <a:latin typeface="Pretendard"/>
              </a:rPr>
              <a:t>Warm remarketing and community. Organic reach for pages is near zero. Do not build for it.</a:t>
            </a:r>
          </a:p>
        </p:txBody>
      </p:sp>
      <p:sp>
        <p:nvSpPr>
          <p:cNvPr id="22" name="TextBox 21"/>
          <p:cNvSpPr txBox="1"/>
          <p:nvPr/>
        </p:nvSpPr>
        <p:spPr>
          <a:xfrm>
            <a:off x="6419088" y="2880360"/>
            <a:ext cx="5120640" cy="274320"/>
          </a:xfrm>
          <a:prstGeom prst="rect">
            <a:avLst/>
          </a:prstGeom>
          <a:noFill/>
        </p:spPr>
        <p:txBody>
          <a:bodyPr wrap="square">
            <a:spAutoFit/>
          </a:bodyPr>
          <a:lstStyle/>
          <a:p>
            <a:pPr algn="l"/>
            <a:r>
              <a:rPr sz="1000" b="1" i="0">
                <a:solidFill>
                  <a:srgbClr val="0A0A0A"/>
                </a:solidFill>
                <a:latin typeface="Pretendard"/>
              </a:rPr>
              <a:t>Content</a:t>
            </a:r>
          </a:p>
        </p:txBody>
      </p:sp>
      <p:sp>
        <p:nvSpPr>
          <p:cNvPr id="23" name="TextBox 22"/>
          <p:cNvSpPr txBox="1"/>
          <p:nvPr/>
        </p:nvSpPr>
        <p:spPr>
          <a:xfrm>
            <a:off x="6419088" y="3172968"/>
            <a:ext cx="5166360" cy="566928"/>
          </a:xfrm>
          <a:prstGeom prst="rect">
            <a:avLst/>
          </a:prstGeom>
          <a:noFill/>
        </p:spPr>
        <p:txBody>
          <a:bodyPr wrap="square">
            <a:spAutoFit/>
          </a:bodyPr>
          <a:lstStyle/>
          <a:p>
            <a:pPr algn="l"/>
            <a:r>
              <a:rPr sz="850" b="0" i="0">
                <a:solidFill>
                  <a:srgbClr val="585A5E"/>
                </a:solidFill>
                <a:latin typeface="Pretendard"/>
              </a:rPr>
              <a:t>Repurpose top LinkedIn posts 24 to 48 hours later with a Facebook-specific first sentence.</a:t>
            </a:r>
          </a:p>
        </p:txBody>
      </p:sp>
      <p:sp>
        <p:nvSpPr>
          <p:cNvPr id="24" name="TextBox 23"/>
          <p:cNvSpPr txBox="1"/>
          <p:nvPr/>
        </p:nvSpPr>
        <p:spPr>
          <a:xfrm>
            <a:off x="6419088" y="3794760"/>
            <a:ext cx="5120640" cy="274320"/>
          </a:xfrm>
          <a:prstGeom prst="rect">
            <a:avLst/>
          </a:prstGeom>
          <a:noFill/>
        </p:spPr>
        <p:txBody>
          <a:bodyPr wrap="square">
            <a:spAutoFit/>
          </a:bodyPr>
          <a:lstStyle/>
          <a:p>
            <a:pPr algn="l"/>
            <a:r>
              <a:rPr sz="1000" b="1" i="0">
                <a:solidFill>
                  <a:srgbClr val="0A0A0A"/>
                </a:solidFill>
                <a:latin typeface="Pretendard"/>
              </a:rPr>
              <a:t>About section</a:t>
            </a:r>
          </a:p>
        </p:txBody>
      </p:sp>
      <p:sp>
        <p:nvSpPr>
          <p:cNvPr id="25" name="TextBox 24"/>
          <p:cNvSpPr txBox="1"/>
          <p:nvPr/>
        </p:nvSpPr>
        <p:spPr>
          <a:xfrm>
            <a:off x="6419088" y="4087368"/>
            <a:ext cx="5166360" cy="566928"/>
          </a:xfrm>
          <a:prstGeom prst="rect">
            <a:avLst/>
          </a:prstGeom>
          <a:noFill/>
        </p:spPr>
        <p:txBody>
          <a:bodyPr wrap="square">
            <a:spAutoFit/>
          </a:bodyPr>
          <a:lstStyle/>
          <a:p>
            <a:pPr algn="l"/>
            <a:r>
              <a:rPr sz="850" b="0" i="0">
                <a:solidFill>
                  <a:srgbClr val="585A5E"/>
                </a:solidFill>
                <a:latin typeface="Pretendard"/>
              </a:rPr>
              <a:t>The Facebook About section is keyword-indexed for search. Write it as one dense, accurate paragraph covering all products and the company mission.</a:t>
            </a:r>
          </a:p>
        </p:txBody>
      </p:sp>
      <p:sp>
        <p:nvSpPr>
          <p:cNvPr id="26" name="TextBox 25"/>
          <p:cNvSpPr txBox="1"/>
          <p:nvPr/>
        </p:nvSpPr>
        <p:spPr>
          <a:xfrm>
            <a:off x="6419088" y="4709160"/>
            <a:ext cx="5120640" cy="274320"/>
          </a:xfrm>
          <a:prstGeom prst="rect">
            <a:avLst/>
          </a:prstGeom>
          <a:noFill/>
        </p:spPr>
        <p:txBody>
          <a:bodyPr wrap="square">
            <a:spAutoFit/>
          </a:bodyPr>
          <a:lstStyle/>
          <a:p>
            <a:pPr algn="l"/>
            <a:r>
              <a:rPr sz="1000" b="1" i="0">
                <a:solidFill>
                  <a:srgbClr val="0A0A0A"/>
                </a:solidFill>
                <a:latin typeface="Pretendard"/>
              </a:rPr>
              <a:t>Retargeting</a:t>
            </a:r>
          </a:p>
        </p:txBody>
      </p:sp>
      <p:sp>
        <p:nvSpPr>
          <p:cNvPr id="27" name="TextBox 26"/>
          <p:cNvSpPr txBox="1"/>
          <p:nvPr/>
        </p:nvSpPr>
        <p:spPr>
          <a:xfrm>
            <a:off x="6419088" y="5001768"/>
            <a:ext cx="5166360" cy="566928"/>
          </a:xfrm>
          <a:prstGeom prst="rect">
            <a:avLst/>
          </a:prstGeom>
          <a:noFill/>
        </p:spPr>
        <p:txBody>
          <a:bodyPr wrap="square">
            <a:spAutoFit/>
          </a:bodyPr>
          <a:lstStyle/>
          <a:p>
            <a:pPr algn="l"/>
            <a:r>
              <a:rPr sz="850" b="0" i="0">
                <a:solidFill>
                  <a:srgbClr val="585A5E"/>
                </a:solidFill>
                <a:latin typeface="Pretendard"/>
              </a:rPr>
              <a:t>Warm: site visitors and email list. For cold outreach, use LinkedIn. Facebook ads perform on warm audiences.</a:t>
            </a:r>
          </a:p>
        </p:txBody>
      </p:sp>
      <p:sp>
        <p:nvSpPr>
          <p:cNvPr id="28" name="TextBox 27"/>
          <p:cNvSpPr txBox="1"/>
          <p:nvPr/>
        </p:nvSpPr>
        <p:spPr>
          <a:xfrm>
            <a:off x="6419088" y="5623560"/>
            <a:ext cx="5120640" cy="274320"/>
          </a:xfrm>
          <a:prstGeom prst="rect">
            <a:avLst/>
          </a:prstGeom>
          <a:noFill/>
        </p:spPr>
        <p:txBody>
          <a:bodyPr wrap="square">
            <a:spAutoFit/>
          </a:bodyPr>
          <a:lstStyle/>
          <a:p>
            <a:pPr algn="l"/>
            <a:r>
              <a:rPr sz="1000" b="1" i="0">
                <a:solidFill>
                  <a:srgbClr val="0A0A0A"/>
                </a:solidFill>
                <a:latin typeface="Pretendard"/>
              </a:rPr>
              <a:t>Channel matrix</a:t>
            </a:r>
          </a:p>
        </p:txBody>
      </p:sp>
      <p:sp>
        <p:nvSpPr>
          <p:cNvPr id="29" name="TextBox 28"/>
          <p:cNvSpPr txBox="1"/>
          <p:nvPr/>
        </p:nvSpPr>
        <p:spPr>
          <a:xfrm>
            <a:off x="6419088" y="5916168"/>
            <a:ext cx="5166360" cy="566928"/>
          </a:xfrm>
          <a:prstGeom prst="rect">
            <a:avLst/>
          </a:prstGeom>
          <a:noFill/>
        </p:spPr>
        <p:txBody>
          <a:bodyPr wrap="square">
            <a:spAutoFit/>
          </a:bodyPr>
          <a:lstStyle/>
          <a:p>
            <a:pPr algn="l"/>
            <a:r>
              <a:rPr sz="850" b="0" i="0">
                <a:solidFill>
                  <a:srgbClr val="585A5E"/>
                </a:solidFill>
                <a:latin typeface="Pretendard"/>
              </a:rPr>
              <a:t>LinkedIn: enterprise authority · X: builder credibility · Instagram: process visibility · Facebook: warm remarketing and community</a:t>
            </a:r>
          </a:p>
        </p:txBody>
      </p:sp>
      <p:sp>
        <p:nvSpPr>
          <p:cNvPr id="30" name="TextBox 29"/>
          <p:cNvSpPr txBox="1"/>
          <p:nvPr/>
        </p:nvSpPr>
        <p:spPr>
          <a:xfrm>
            <a:off x="502920" y="6492240"/>
            <a:ext cx="11155680" cy="256032"/>
          </a:xfrm>
          <a:prstGeom prst="rect">
            <a:avLst/>
          </a:prstGeom>
          <a:noFill/>
        </p:spPr>
        <p:txBody>
          <a:bodyPr wrap="square">
            <a:spAutoFit/>
          </a:bodyPr>
          <a:lstStyle/>
          <a:p>
            <a:pPr algn="l"/>
            <a:r>
              <a:rPr sz="850" b="0" i="0">
                <a:solidFill>
                  <a:srgbClr val="878884"/>
                </a:solidFill>
                <a:latin typeface="Pretendard"/>
              </a:rPr>
              <a:t>Website guidance is deliberately absent from this document. No recommendations without a page-by-page review of the live site.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16  CONTENT PILLARS  |  WHAT EACH FOCUS BUCKET PUBLISHES</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1155680" cy="320040"/>
          </a:xfrm>
          <a:prstGeom prst="rect">
            <a:avLst/>
          </a:prstGeom>
          <a:noFill/>
        </p:spPr>
        <p:txBody>
          <a:bodyPr wrap="square">
            <a:spAutoFit/>
          </a:bodyPr>
          <a:lstStyle/>
          <a:p>
            <a:pPr algn="l"/>
            <a:r>
              <a:rPr sz="1100" b="0" i="0">
                <a:solidFill>
                  <a:srgbClr val="585A5E"/>
                </a:solidFill>
                <a:latin typeface="Pretendard"/>
              </a:rPr>
              <a:t>Every piece of content belongs to one pillar. If it fits none, it does not ship.</a:t>
            </a:r>
          </a:p>
        </p:txBody>
      </p:sp>
      <p:sp>
        <p:nvSpPr>
          <p:cNvPr id="6" name="Rectangle 5"/>
          <p:cNvSpPr/>
          <p:nvPr/>
        </p:nvSpPr>
        <p:spPr>
          <a:xfrm>
            <a:off x="502920" y="1298448"/>
            <a:ext cx="11192256" cy="1005840"/>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389888"/>
            <a:ext cx="2743200" cy="347472"/>
          </a:xfrm>
          <a:prstGeom prst="rect">
            <a:avLst/>
          </a:prstGeom>
          <a:noFill/>
        </p:spPr>
        <p:txBody>
          <a:bodyPr wrap="square">
            <a:spAutoFit/>
          </a:bodyPr>
          <a:lstStyle/>
          <a:p>
            <a:pPr algn="l"/>
            <a:r>
              <a:rPr sz="1000" b="1" i="0">
                <a:solidFill>
                  <a:srgbClr val="C8C8C4"/>
                </a:solidFill>
                <a:latin typeface="Pretendard"/>
              </a:rPr>
              <a:t>FLUSO  40%</a:t>
            </a:r>
          </a:p>
        </p:txBody>
      </p:sp>
      <p:sp>
        <p:nvSpPr>
          <p:cNvPr id="8" name="TextBox 7"/>
          <p:cNvSpPr txBox="1"/>
          <p:nvPr/>
        </p:nvSpPr>
        <p:spPr>
          <a:xfrm>
            <a:off x="3474720" y="1389888"/>
            <a:ext cx="8229600" cy="822960"/>
          </a:xfrm>
          <a:prstGeom prst="rect">
            <a:avLst/>
          </a:prstGeom>
          <a:noFill/>
        </p:spPr>
        <p:txBody>
          <a:bodyPr wrap="square">
            <a:spAutoFit/>
          </a:bodyPr>
          <a:lstStyle/>
          <a:p>
            <a:pPr algn="l"/>
            <a:r>
              <a:rPr sz="950" b="0" i="0">
                <a:solidFill>
                  <a:srgbClr val="878884"/>
                </a:solidFill>
                <a:latin typeface="Pretendard"/>
              </a:rPr>
              <a:t>Deep work and focus sessions, workflow receipts (time + task + result), product utility with honest accuracy, model transparency, "what I actually did in 20 minutes" format, waitlist-driving CTAs</a:t>
            </a:r>
          </a:p>
        </p:txBody>
      </p:sp>
      <p:sp>
        <p:nvSpPr>
          <p:cNvPr id="9" name="Rectangle 8"/>
          <p:cNvSpPr/>
          <p:nvPr/>
        </p:nvSpPr>
        <p:spPr>
          <a:xfrm>
            <a:off x="502920" y="2395728"/>
            <a:ext cx="11192256" cy="100584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87168"/>
            <a:ext cx="2743200" cy="347472"/>
          </a:xfrm>
          <a:prstGeom prst="rect">
            <a:avLst/>
          </a:prstGeom>
          <a:noFill/>
        </p:spPr>
        <p:txBody>
          <a:bodyPr wrap="square">
            <a:spAutoFit/>
          </a:bodyPr>
          <a:lstStyle/>
          <a:p>
            <a:pPr algn="l"/>
            <a:r>
              <a:rPr sz="1000" b="1" i="0">
                <a:solidFill>
                  <a:srgbClr val="878884"/>
                </a:solidFill>
                <a:latin typeface="Pretendard"/>
              </a:rPr>
              <a:t>CONFIDENTIAL API  20%</a:t>
            </a:r>
          </a:p>
        </p:txBody>
      </p:sp>
      <p:sp>
        <p:nvSpPr>
          <p:cNvPr id="11" name="TextBox 10"/>
          <p:cNvSpPr txBox="1"/>
          <p:nvPr/>
        </p:nvSpPr>
        <p:spPr>
          <a:xfrm>
            <a:off x="3474720" y="2487168"/>
            <a:ext cx="8229600" cy="822960"/>
          </a:xfrm>
          <a:prstGeom prst="rect">
            <a:avLst/>
          </a:prstGeom>
          <a:noFill/>
        </p:spPr>
        <p:txBody>
          <a:bodyPr wrap="square">
            <a:spAutoFit/>
          </a:bodyPr>
          <a:lstStyle/>
          <a:p>
            <a:pPr algn="l"/>
            <a:r>
              <a:rPr sz="950" b="0" i="0">
                <a:solidFill>
                  <a:srgbClr val="585A5E"/>
                </a:solidFill>
                <a:latin typeface="Pretendard"/>
              </a:rPr>
              <a:t>Encrypted inference explainers, developer tutorials and integration walkthroughs, architecture teardowns, regulatory use cases for the API, technical comparison with policy-based alternatives</a:t>
            </a:r>
          </a:p>
        </p:txBody>
      </p:sp>
      <p:sp>
        <p:nvSpPr>
          <p:cNvPr id="12" name="Rectangle 11"/>
          <p:cNvSpPr/>
          <p:nvPr/>
        </p:nvSpPr>
        <p:spPr>
          <a:xfrm>
            <a:off x="502920" y="3493008"/>
            <a:ext cx="11192256" cy="100584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584448"/>
            <a:ext cx="2743200" cy="347472"/>
          </a:xfrm>
          <a:prstGeom prst="rect">
            <a:avLst/>
          </a:prstGeom>
          <a:noFill/>
        </p:spPr>
        <p:txBody>
          <a:bodyPr wrap="square">
            <a:spAutoFit/>
          </a:bodyPr>
          <a:lstStyle/>
          <a:p>
            <a:pPr algn="l"/>
            <a:r>
              <a:rPr sz="1000" b="1" i="0">
                <a:solidFill>
                  <a:srgbClr val="878884"/>
                </a:solidFill>
                <a:latin typeface="Pretendard"/>
              </a:rPr>
              <a:t>SOTTO  10%</a:t>
            </a:r>
          </a:p>
        </p:txBody>
      </p:sp>
      <p:sp>
        <p:nvSpPr>
          <p:cNvPr id="14" name="TextBox 13"/>
          <p:cNvSpPr txBox="1"/>
          <p:nvPr/>
        </p:nvSpPr>
        <p:spPr>
          <a:xfrm>
            <a:off x="3474720" y="3584448"/>
            <a:ext cx="8229600" cy="822960"/>
          </a:xfrm>
          <a:prstGeom prst="rect">
            <a:avLst/>
          </a:prstGeom>
          <a:noFill/>
        </p:spPr>
        <p:txBody>
          <a:bodyPr wrap="square">
            <a:spAutoFit/>
          </a:bodyPr>
          <a:lstStyle/>
          <a:p>
            <a:pPr algn="l"/>
            <a:r>
              <a:rPr sz="950" b="0" i="0">
                <a:solidFill>
                  <a:srgbClr val="585A5E"/>
                </a:solidFill>
                <a:latin typeface="Pretendard"/>
              </a:rPr>
              <a:t>Encrypted dictation use cases (legal, medical, executive), product updates and new-app support, workflow productivity receipts, honest comparison with non-private voice tools</a:t>
            </a:r>
          </a:p>
        </p:txBody>
      </p:sp>
      <p:sp>
        <p:nvSpPr>
          <p:cNvPr id="15" name="Rectangle 14"/>
          <p:cNvSpPr/>
          <p:nvPr/>
        </p:nvSpPr>
        <p:spPr>
          <a:xfrm>
            <a:off x="502920" y="4590288"/>
            <a:ext cx="11192256" cy="100584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681727"/>
            <a:ext cx="2743200" cy="347472"/>
          </a:xfrm>
          <a:prstGeom prst="rect">
            <a:avLst/>
          </a:prstGeom>
          <a:noFill/>
        </p:spPr>
        <p:txBody>
          <a:bodyPr wrap="square">
            <a:spAutoFit/>
          </a:bodyPr>
          <a:lstStyle/>
          <a:p>
            <a:pPr algn="l"/>
            <a:r>
              <a:rPr sz="1000" b="1" i="0">
                <a:solidFill>
                  <a:srgbClr val="878884"/>
                </a:solidFill>
                <a:latin typeface="Pretendard"/>
              </a:rPr>
              <a:t>PREM BRAND  15%</a:t>
            </a:r>
          </a:p>
        </p:txBody>
      </p:sp>
      <p:sp>
        <p:nvSpPr>
          <p:cNvPr id="17" name="TextBox 16"/>
          <p:cNvSpPr txBox="1"/>
          <p:nvPr/>
        </p:nvSpPr>
        <p:spPr>
          <a:xfrm>
            <a:off x="3474720" y="4681727"/>
            <a:ext cx="8229600" cy="822960"/>
          </a:xfrm>
          <a:prstGeom prst="rect">
            <a:avLst/>
          </a:prstGeom>
          <a:noFill/>
        </p:spPr>
        <p:txBody>
          <a:bodyPr wrap="square">
            <a:spAutoFit/>
          </a:bodyPr>
          <a:lstStyle/>
          <a:p>
            <a:pPr algn="l"/>
            <a:r>
              <a:rPr sz="950" b="0" i="0">
                <a:solidFill>
                  <a:srgbClr val="585A5E"/>
                </a:solidFill>
                <a:latin typeface="Pretendard"/>
              </a:rPr>
              <a:t>Private Super Intelligence positioning, company story and Lugano identity, trust and security content (premai.io/security), trusted-by proof and partner announcements, founder thought leadership</a:t>
            </a:r>
          </a:p>
        </p:txBody>
      </p:sp>
      <p:sp>
        <p:nvSpPr>
          <p:cNvPr id="18" name="Rectangle 17"/>
          <p:cNvSpPr/>
          <p:nvPr/>
        </p:nvSpPr>
        <p:spPr>
          <a:xfrm>
            <a:off x="502920" y="5687568"/>
            <a:ext cx="11192256" cy="1005840"/>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5779007"/>
            <a:ext cx="2743200" cy="347472"/>
          </a:xfrm>
          <a:prstGeom prst="rect">
            <a:avLst/>
          </a:prstGeom>
          <a:noFill/>
        </p:spPr>
        <p:txBody>
          <a:bodyPr wrap="square">
            <a:spAutoFit/>
          </a:bodyPr>
          <a:lstStyle/>
          <a:p>
            <a:pPr algn="l"/>
            <a:r>
              <a:rPr sz="1000" b="1" i="0">
                <a:solidFill>
                  <a:srgbClr val="878884"/>
                </a:solidFill>
                <a:latin typeface="Pretendard"/>
              </a:rPr>
              <a:t>ENCLAVE, CONCIERGE, STUDIO  15%</a:t>
            </a:r>
          </a:p>
        </p:txBody>
      </p:sp>
      <p:sp>
        <p:nvSpPr>
          <p:cNvPr id="20" name="TextBox 19"/>
          <p:cNvSpPr txBox="1"/>
          <p:nvPr/>
        </p:nvSpPr>
        <p:spPr>
          <a:xfrm>
            <a:off x="3474720" y="5779007"/>
            <a:ext cx="8229600" cy="822960"/>
          </a:xfrm>
          <a:prstGeom prst="rect">
            <a:avLst/>
          </a:prstGeom>
          <a:noFill/>
        </p:spPr>
        <p:txBody>
          <a:bodyPr wrap="square">
            <a:spAutoFit/>
          </a:bodyPr>
          <a:lstStyle/>
          <a:p>
            <a:pPr algn="l"/>
            <a:r>
              <a:rPr sz="950" b="0" i="0">
                <a:solidFill>
                  <a:srgbClr val="585A5E"/>
                </a:solidFill>
                <a:latin typeface="Pretendard"/>
              </a:rPr>
              <a:t>Prem Enclave: verifiable infrastructure for regulated enterprise. Prem Concierge: workflow productivity for enterprise teams. Prem Studio: model customisation for ML teams. Each appears when there is a real story.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17  AUDIENCE ARCHITECTURE  |  PERSONA TO PLATFORM</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32688"/>
            <a:ext cx="11192256" cy="420624"/>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005840"/>
            <a:ext cx="1965960" cy="292608"/>
          </a:xfrm>
          <a:prstGeom prst="rect">
            <a:avLst/>
          </a:prstGeom>
          <a:noFill/>
        </p:spPr>
        <p:txBody>
          <a:bodyPr wrap="square">
            <a:spAutoFit/>
          </a:bodyPr>
          <a:lstStyle/>
          <a:p>
            <a:pPr algn="l"/>
            <a:r>
              <a:rPr sz="750" b="1" i="0">
                <a:solidFill>
                  <a:srgbClr val="FFFFFF"/>
                </a:solidFill>
                <a:latin typeface="Pretendard"/>
              </a:rPr>
              <a:t>PERSONA</a:t>
            </a:r>
          </a:p>
        </p:txBody>
      </p:sp>
      <p:sp>
        <p:nvSpPr>
          <p:cNvPr id="7" name="TextBox 6"/>
          <p:cNvSpPr txBox="1"/>
          <p:nvPr/>
        </p:nvSpPr>
        <p:spPr>
          <a:xfrm>
            <a:off x="2697480" y="1005840"/>
            <a:ext cx="1417320" cy="292608"/>
          </a:xfrm>
          <a:prstGeom prst="rect">
            <a:avLst/>
          </a:prstGeom>
          <a:noFill/>
        </p:spPr>
        <p:txBody>
          <a:bodyPr wrap="square">
            <a:spAutoFit/>
          </a:bodyPr>
          <a:lstStyle/>
          <a:p>
            <a:pPr algn="l"/>
            <a:r>
              <a:rPr sz="750" b="1" i="0">
                <a:solidFill>
                  <a:srgbClr val="FFFFFF"/>
                </a:solidFill>
                <a:latin typeface="Pretendard"/>
              </a:rPr>
              <a:t>LEAD PRODUCT</a:t>
            </a:r>
          </a:p>
        </p:txBody>
      </p:sp>
      <p:sp>
        <p:nvSpPr>
          <p:cNvPr id="8" name="TextBox 7"/>
          <p:cNvSpPr txBox="1"/>
          <p:nvPr/>
        </p:nvSpPr>
        <p:spPr>
          <a:xfrm>
            <a:off x="4160520" y="1005840"/>
            <a:ext cx="1508760" cy="292608"/>
          </a:xfrm>
          <a:prstGeom prst="rect">
            <a:avLst/>
          </a:prstGeom>
          <a:noFill/>
        </p:spPr>
        <p:txBody>
          <a:bodyPr wrap="square">
            <a:spAutoFit/>
          </a:bodyPr>
          <a:lstStyle/>
          <a:p>
            <a:pPr algn="l"/>
            <a:r>
              <a:rPr sz="750" b="1" i="0">
                <a:solidFill>
                  <a:srgbClr val="FFFFFF"/>
                </a:solidFill>
                <a:latin typeface="Pretendard"/>
              </a:rPr>
              <a:t>CHANNEL</a:t>
            </a:r>
          </a:p>
        </p:txBody>
      </p:sp>
      <p:sp>
        <p:nvSpPr>
          <p:cNvPr id="9" name="TextBox 8"/>
          <p:cNvSpPr txBox="1"/>
          <p:nvPr/>
        </p:nvSpPr>
        <p:spPr>
          <a:xfrm>
            <a:off x="5715000" y="1005840"/>
            <a:ext cx="2788920" cy="292608"/>
          </a:xfrm>
          <a:prstGeom prst="rect">
            <a:avLst/>
          </a:prstGeom>
          <a:noFill/>
        </p:spPr>
        <p:txBody>
          <a:bodyPr wrap="square">
            <a:spAutoFit/>
          </a:bodyPr>
          <a:lstStyle/>
          <a:p>
            <a:pPr algn="l"/>
            <a:r>
              <a:rPr sz="750" b="1" i="0">
                <a:solidFill>
                  <a:srgbClr val="FFFFFF"/>
                </a:solidFill>
                <a:latin typeface="Pretendard"/>
              </a:rPr>
              <a:t>CONTENT TYPE</a:t>
            </a:r>
          </a:p>
        </p:txBody>
      </p:sp>
      <p:sp>
        <p:nvSpPr>
          <p:cNvPr id="10" name="TextBox 9"/>
          <p:cNvSpPr txBox="1"/>
          <p:nvPr/>
        </p:nvSpPr>
        <p:spPr>
          <a:xfrm>
            <a:off x="8549640" y="1005840"/>
            <a:ext cx="3291840" cy="292608"/>
          </a:xfrm>
          <a:prstGeom prst="rect">
            <a:avLst/>
          </a:prstGeom>
          <a:noFill/>
        </p:spPr>
        <p:txBody>
          <a:bodyPr wrap="square">
            <a:spAutoFit/>
          </a:bodyPr>
          <a:lstStyle/>
          <a:p>
            <a:pPr algn="l"/>
            <a:r>
              <a:rPr sz="750" b="1" i="0">
                <a:solidFill>
                  <a:srgbClr val="FFFFFF"/>
                </a:solidFill>
                <a:latin typeface="Pretendard"/>
              </a:rPr>
              <a:t>JOB TO BE DONE</a:t>
            </a:r>
          </a:p>
        </p:txBody>
      </p:sp>
      <p:sp>
        <p:nvSpPr>
          <p:cNvPr id="11" name="Rectangle 10"/>
          <p:cNvSpPr/>
          <p:nvPr/>
        </p:nvSpPr>
        <p:spPr>
          <a:xfrm>
            <a:off x="502920" y="1353312"/>
            <a:ext cx="11192256"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426464"/>
            <a:ext cx="1965960" cy="676656"/>
          </a:xfrm>
          <a:prstGeom prst="rect">
            <a:avLst/>
          </a:prstGeom>
          <a:noFill/>
        </p:spPr>
        <p:txBody>
          <a:bodyPr wrap="square">
            <a:spAutoFit/>
          </a:bodyPr>
          <a:lstStyle/>
          <a:p>
            <a:pPr algn="l"/>
            <a:r>
              <a:rPr sz="850" b="1" i="0">
                <a:solidFill>
                  <a:srgbClr val="0A0A0A"/>
                </a:solidFill>
                <a:latin typeface="Pretendard"/>
              </a:rPr>
              <a:t>Compliance owner (CISO)</a:t>
            </a:r>
          </a:p>
        </p:txBody>
      </p:sp>
      <p:sp>
        <p:nvSpPr>
          <p:cNvPr id="13" name="TextBox 12"/>
          <p:cNvSpPr txBox="1"/>
          <p:nvPr/>
        </p:nvSpPr>
        <p:spPr>
          <a:xfrm>
            <a:off x="2697480" y="1426464"/>
            <a:ext cx="1417320" cy="676656"/>
          </a:xfrm>
          <a:prstGeom prst="rect">
            <a:avLst/>
          </a:prstGeom>
          <a:noFill/>
        </p:spPr>
        <p:txBody>
          <a:bodyPr wrap="square">
            <a:spAutoFit/>
          </a:bodyPr>
          <a:lstStyle/>
          <a:p>
            <a:pPr algn="l"/>
            <a:r>
              <a:rPr sz="850" b="0" i="0">
                <a:solidFill>
                  <a:srgbClr val="0A0A0A"/>
                </a:solidFill>
                <a:latin typeface="Pretendard"/>
              </a:rPr>
              <a:t>Prem / Enclave</a:t>
            </a:r>
          </a:p>
        </p:txBody>
      </p:sp>
      <p:sp>
        <p:nvSpPr>
          <p:cNvPr id="14" name="TextBox 13"/>
          <p:cNvSpPr txBox="1"/>
          <p:nvPr/>
        </p:nvSpPr>
        <p:spPr>
          <a:xfrm>
            <a:off x="4160520" y="1426464"/>
            <a:ext cx="1508760" cy="676656"/>
          </a:xfrm>
          <a:prstGeom prst="rect">
            <a:avLst/>
          </a:prstGeom>
          <a:noFill/>
        </p:spPr>
        <p:txBody>
          <a:bodyPr wrap="square">
            <a:spAutoFit/>
          </a:bodyPr>
          <a:lstStyle/>
          <a:p>
            <a:pPr algn="l"/>
            <a:r>
              <a:rPr sz="850" b="0" i="0">
                <a:solidFill>
                  <a:srgbClr val="0A0A0A"/>
                </a:solidFill>
                <a:latin typeface="Pretendard"/>
              </a:rPr>
              <a:t>LinkedIn, direct</a:t>
            </a:r>
          </a:p>
        </p:txBody>
      </p:sp>
      <p:sp>
        <p:nvSpPr>
          <p:cNvPr id="15" name="TextBox 14"/>
          <p:cNvSpPr txBox="1"/>
          <p:nvPr/>
        </p:nvSpPr>
        <p:spPr>
          <a:xfrm>
            <a:off x="5715000" y="1426464"/>
            <a:ext cx="2788920" cy="676656"/>
          </a:xfrm>
          <a:prstGeom prst="rect">
            <a:avLst/>
          </a:prstGeom>
          <a:noFill/>
        </p:spPr>
        <p:txBody>
          <a:bodyPr wrap="square">
            <a:spAutoFit/>
          </a:bodyPr>
          <a:lstStyle/>
          <a:p>
            <a:pPr algn="l"/>
            <a:r>
              <a:rPr sz="850" b="0" i="0">
                <a:solidFill>
                  <a:srgbClr val="0A0A0A"/>
                </a:solidFill>
                <a:latin typeface="Pretendard"/>
              </a:rPr>
              <a:t>EU AI Act breakdowns, encrypted inference architecture, audit frameworks</a:t>
            </a:r>
          </a:p>
        </p:txBody>
      </p:sp>
      <p:sp>
        <p:nvSpPr>
          <p:cNvPr id="16" name="TextBox 15"/>
          <p:cNvSpPr txBox="1"/>
          <p:nvPr/>
        </p:nvSpPr>
        <p:spPr>
          <a:xfrm>
            <a:off x="8549640" y="1426464"/>
            <a:ext cx="3291840" cy="676656"/>
          </a:xfrm>
          <a:prstGeom prst="rect">
            <a:avLst/>
          </a:prstGeom>
          <a:noFill/>
        </p:spPr>
        <p:txBody>
          <a:bodyPr wrap="square">
            <a:spAutoFit/>
          </a:bodyPr>
          <a:lstStyle/>
          <a:p>
            <a:pPr algn="l"/>
            <a:r>
              <a:rPr sz="850" b="0" i="0">
                <a:solidFill>
                  <a:srgbClr val="0A0A0A"/>
                </a:solidFill>
                <a:latin typeface="Pretendard"/>
              </a:rPr>
              <a:t>"Help me not get fired when the regulator asks how we deploy AI."</a:t>
            </a:r>
          </a:p>
        </p:txBody>
      </p:sp>
      <p:sp>
        <p:nvSpPr>
          <p:cNvPr id="17" name="Rectangle 16"/>
          <p:cNvSpPr/>
          <p:nvPr/>
        </p:nvSpPr>
        <p:spPr>
          <a:xfrm>
            <a:off x="502920" y="2139696"/>
            <a:ext cx="11192256" cy="786384"/>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2212848"/>
            <a:ext cx="1965960" cy="676656"/>
          </a:xfrm>
          <a:prstGeom prst="rect">
            <a:avLst/>
          </a:prstGeom>
          <a:noFill/>
        </p:spPr>
        <p:txBody>
          <a:bodyPr wrap="square">
            <a:spAutoFit/>
          </a:bodyPr>
          <a:lstStyle/>
          <a:p>
            <a:pPr algn="l"/>
            <a:r>
              <a:rPr sz="850" b="1" i="0">
                <a:solidFill>
                  <a:srgbClr val="0A0A0A"/>
                </a:solidFill>
                <a:latin typeface="Pretendard"/>
              </a:rPr>
              <a:t>Champion (CTO, VP Eng)</a:t>
            </a:r>
          </a:p>
        </p:txBody>
      </p:sp>
      <p:sp>
        <p:nvSpPr>
          <p:cNvPr id="19" name="TextBox 18"/>
          <p:cNvSpPr txBox="1"/>
          <p:nvPr/>
        </p:nvSpPr>
        <p:spPr>
          <a:xfrm>
            <a:off x="2697480" y="2212848"/>
            <a:ext cx="1417320" cy="676656"/>
          </a:xfrm>
          <a:prstGeom prst="rect">
            <a:avLst/>
          </a:prstGeom>
          <a:noFill/>
        </p:spPr>
        <p:txBody>
          <a:bodyPr wrap="square">
            <a:spAutoFit/>
          </a:bodyPr>
          <a:lstStyle/>
          <a:p>
            <a:pPr algn="l"/>
            <a:r>
              <a:rPr sz="850" b="0" i="0">
                <a:solidFill>
                  <a:srgbClr val="0A0A0A"/>
                </a:solidFill>
                <a:latin typeface="Pretendard"/>
              </a:rPr>
              <a:t>Confidential API</a:t>
            </a:r>
          </a:p>
        </p:txBody>
      </p:sp>
      <p:sp>
        <p:nvSpPr>
          <p:cNvPr id="20" name="TextBox 19"/>
          <p:cNvSpPr txBox="1"/>
          <p:nvPr/>
        </p:nvSpPr>
        <p:spPr>
          <a:xfrm>
            <a:off x="4160520" y="2212848"/>
            <a:ext cx="1508760" cy="676656"/>
          </a:xfrm>
          <a:prstGeom prst="rect">
            <a:avLst/>
          </a:prstGeom>
          <a:noFill/>
        </p:spPr>
        <p:txBody>
          <a:bodyPr wrap="square">
            <a:spAutoFit/>
          </a:bodyPr>
          <a:lstStyle/>
          <a:p>
            <a:pPr algn="l"/>
            <a:r>
              <a:rPr sz="850" b="0" i="0">
                <a:solidFill>
                  <a:srgbClr val="0A0A0A"/>
                </a:solidFill>
                <a:latin typeface="Pretendard"/>
              </a:rPr>
              <a:t>LinkedIn, GitHub</a:t>
            </a:r>
          </a:p>
        </p:txBody>
      </p:sp>
      <p:sp>
        <p:nvSpPr>
          <p:cNvPr id="21" name="TextBox 20"/>
          <p:cNvSpPr txBox="1"/>
          <p:nvPr/>
        </p:nvSpPr>
        <p:spPr>
          <a:xfrm>
            <a:off x="5715000" y="2212848"/>
            <a:ext cx="2788920" cy="676656"/>
          </a:xfrm>
          <a:prstGeom prst="rect">
            <a:avLst/>
          </a:prstGeom>
          <a:noFill/>
        </p:spPr>
        <p:txBody>
          <a:bodyPr wrap="square">
            <a:spAutoFit/>
          </a:bodyPr>
          <a:lstStyle/>
          <a:p>
            <a:pPr algn="l"/>
            <a:r>
              <a:rPr sz="850" b="0" i="0">
                <a:solidFill>
                  <a:srgbClr val="0A0A0A"/>
                </a:solidFill>
                <a:latin typeface="Pretendard"/>
              </a:rPr>
              <a:t>Architecture teardowns, API integration guides, private inference proof</a:t>
            </a:r>
          </a:p>
        </p:txBody>
      </p:sp>
      <p:sp>
        <p:nvSpPr>
          <p:cNvPr id="22" name="TextBox 21"/>
          <p:cNvSpPr txBox="1"/>
          <p:nvPr/>
        </p:nvSpPr>
        <p:spPr>
          <a:xfrm>
            <a:off x="8549640" y="2212848"/>
            <a:ext cx="3291840" cy="676656"/>
          </a:xfrm>
          <a:prstGeom prst="rect">
            <a:avLst/>
          </a:prstGeom>
          <a:noFill/>
        </p:spPr>
        <p:txBody>
          <a:bodyPr wrap="square">
            <a:spAutoFit/>
          </a:bodyPr>
          <a:lstStyle/>
          <a:p>
            <a:pPr algn="l"/>
            <a:r>
              <a:rPr sz="850" b="0" i="0">
                <a:solidFill>
                  <a:srgbClr val="0A0A0A"/>
                </a:solidFill>
                <a:latin typeface="Pretendard"/>
              </a:rPr>
              <a:t>"Give me technical evidence I can put in front of the board."</a:t>
            </a:r>
          </a:p>
        </p:txBody>
      </p:sp>
      <p:sp>
        <p:nvSpPr>
          <p:cNvPr id="23" name="Rectangle 22"/>
          <p:cNvSpPr/>
          <p:nvPr/>
        </p:nvSpPr>
        <p:spPr>
          <a:xfrm>
            <a:off x="502920" y="2926080"/>
            <a:ext cx="11192256"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2999232"/>
            <a:ext cx="1965960" cy="676656"/>
          </a:xfrm>
          <a:prstGeom prst="rect">
            <a:avLst/>
          </a:prstGeom>
          <a:noFill/>
        </p:spPr>
        <p:txBody>
          <a:bodyPr wrap="square">
            <a:spAutoFit/>
          </a:bodyPr>
          <a:lstStyle/>
          <a:p>
            <a:pPr algn="l"/>
            <a:r>
              <a:rPr sz="850" b="1" i="0">
                <a:solidFill>
                  <a:srgbClr val="0A0A0A"/>
                </a:solidFill>
                <a:latin typeface="Pretendard"/>
              </a:rPr>
              <a:t>Validator (sec engineer)</a:t>
            </a:r>
          </a:p>
        </p:txBody>
      </p:sp>
      <p:sp>
        <p:nvSpPr>
          <p:cNvPr id="25" name="TextBox 24"/>
          <p:cNvSpPr txBox="1"/>
          <p:nvPr/>
        </p:nvSpPr>
        <p:spPr>
          <a:xfrm>
            <a:off x="2697480" y="2999232"/>
            <a:ext cx="1417320" cy="676656"/>
          </a:xfrm>
          <a:prstGeom prst="rect">
            <a:avLst/>
          </a:prstGeom>
          <a:noFill/>
        </p:spPr>
        <p:txBody>
          <a:bodyPr wrap="square">
            <a:spAutoFit/>
          </a:bodyPr>
          <a:lstStyle/>
          <a:p>
            <a:pPr algn="l"/>
            <a:r>
              <a:rPr sz="850" b="0" i="0">
                <a:solidFill>
                  <a:srgbClr val="0A0A0A"/>
                </a:solidFill>
                <a:latin typeface="Pretendard"/>
              </a:rPr>
              <a:t>Prem Enclave</a:t>
            </a:r>
          </a:p>
        </p:txBody>
      </p:sp>
      <p:sp>
        <p:nvSpPr>
          <p:cNvPr id="26" name="TextBox 25"/>
          <p:cNvSpPr txBox="1"/>
          <p:nvPr/>
        </p:nvSpPr>
        <p:spPr>
          <a:xfrm>
            <a:off x="4160520" y="2999232"/>
            <a:ext cx="1508760" cy="676656"/>
          </a:xfrm>
          <a:prstGeom prst="rect">
            <a:avLst/>
          </a:prstGeom>
          <a:noFill/>
        </p:spPr>
        <p:txBody>
          <a:bodyPr wrap="square">
            <a:spAutoFit/>
          </a:bodyPr>
          <a:lstStyle/>
          <a:p>
            <a:pPr algn="l"/>
            <a:r>
              <a:rPr sz="850" b="0" i="0">
                <a:solidFill>
                  <a:srgbClr val="0A0A0A"/>
                </a:solidFill>
                <a:latin typeface="Pretendard"/>
              </a:rPr>
              <a:t>GitHub, X</a:t>
            </a:r>
          </a:p>
        </p:txBody>
      </p:sp>
      <p:sp>
        <p:nvSpPr>
          <p:cNvPr id="27" name="TextBox 26"/>
          <p:cNvSpPr txBox="1"/>
          <p:nvPr/>
        </p:nvSpPr>
        <p:spPr>
          <a:xfrm>
            <a:off x="5715000" y="2999232"/>
            <a:ext cx="2788920" cy="676656"/>
          </a:xfrm>
          <a:prstGeom prst="rect">
            <a:avLst/>
          </a:prstGeom>
          <a:noFill/>
        </p:spPr>
        <p:txBody>
          <a:bodyPr wrap="square">
            <a:spAutoFit/>
          </a:bodyPr>
          <a:lstStyle/>
          <a:p>
            <a:pPr algn="l"/>
            <a:r>
              <a:rPr sz="850" b="0" i="0">
                <a:solidFill>
                  <a:srgbClr val="0A0A0A"/>
                </a:solidFill>
                <a:latin typeface="Pretendard"/>
              </a:rPr>
              <a:t>TEE explainers, benchmarks, verifiable infrastructure walkthroughs</a:t>
            </a:r>
          </a:p>
        </p:txBody>
      </p:sp>
      <p:sp>
        <p:nvSpPr>
          <p:cNvPr id="28" name="TextBox 27"/>
          <p:cNvSpPr txBox="1"/>
          <p:nvPr/>
        </p:nvSpPr>
        <p:spPr>
          <a:xfrm>
            <a:off x="8549640" y="2999232"/>
            <a:ext cx="3291840" cy="676656"/>
          </a:xfrm>
          <a:prstGeom prst="rect">
            <a:avLst/>
          </a:prstGeom>
          <a:noFill/>
        </p:spPr>
        <p:txBody>
          <a:bodyPr wrap="square">
            <a:spAutoFit/>
          </a:bodyPr>
          <a:lstStyle/>
          <a:p>
            <a:pPr algn="l"/>
            <a:r>
              <a:rPr sz="850" b="0" i="0">
                <a:solidFill>
                  <a:srgbClr val="0A0A0A"/>
                </a:solidFill>
                <a:latin typeface="Pretendard"/>
              </a:rPr>
              <a:t>"Show me the architecture, not the marketing page."</a:t>
            </a:r>
          </a:p>
        </p:txBody>
      </p:sp>
      <p:sp>
        <p:nvSpPr>
          <p:cNvPr id="29" name="Rectangle 28"/>
          <p:cNvSpPr/>
          <p:nvPr/>
        </p:nvSpPr>
        <p:spPr>
          <a:xfrm>
            <a:off x="502920" y="3712464"/>
            <a:ext cx="11192256" cy="786384"/>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3785616"/>
            <a:ext cx="1965960" cy="676656"/>
          </a:xfrm>
          <a:prstGeom prst="rect">
            <a:avLst/>
          </a:prstGeom>
          <a:noFill/>
        </p:spPr>
        <p:txBody>
          <a:bodyPr wrap="square">
            <a:spAutoFit/>
          </a:bodyPr>
          <a:lstStyle/>
          <a:p>
            <a:pPr algn="l"/>
            <a:r>
              <a:rPr sz="850" b="1" i="0">
                <a:solidFill>
                  <a:srgbClr val="0A0A0A"/>
                </a:solidFill>
                <a:latin typeface="Pretendard"/>
              </a:rPr>
              <a:t>Vertical buyer (legal ops)</a:t>
            </a:r>
          </a:p>
        </p:txBody>
      </p:sp>
      <p:sp>
        <p:nvSpPr>
          <p:cNvPr id="31" name="TextBox 30"/>
          <p:cNvSpPr txBox="1"/>
          <p:nvPr/>
        </p:nvSpPr>
        <p:spPr>
          <a:xfrm>
            <a:off x="2697480" y="3785616"/>
            <a:ext cx="1417320" cy="676656"/>
          </a:xfrm>
          <a:prstGeom prst="rect">
            <a:avLst/>
          </a:prstGeom>
          <a:noFill/>
        </p:spPr>
        <p:txBody>
          <a:bodyPr wrap="square">
            <a:spAutoFit/>
          </a:bodyPr>
          <a:lstStyle/>
          <a:p>
            <a:pPr algn="l"/>
            <a:r>
              <a:rPr sz="850" b="0" i="0">
                <a:solidFill>
                  <a:srgbClr val="0A0A0A"/>
                </a:solidFill>
                <a:latin typeface="Pretendard"/>
              </a:rPr>
              <a:t>Fluso</a:t>
            </a:r>
          </a:p>
        </p:txBody>
      </p:sp>
      <p:sp>
        <p:nvSpPr>
          <p:cNvPr id="32" name="TextBox 31"/>
          <p:cNvSpPr txBox="1"/>
          <p:nvPr/>
        </p:nvSpPr>
        <p:spPr>
          <a:xfrm>
            <a:off x="4160520" y="3785616"/>
            <a:ext cx="1508760" cy="676656"/>
          </a:xfrm>
          <a:prstGeom prst="rect">
            <a:avLst/>
          </a:prstGeom>
          <a:noFill/>
        </p:spPr>
        <p:txBody>
          <a:bodyPr wrap="square">
            <a:spAutoFit/>
          </a:bodyPr>
          <a:lstStyle/>
          <a:p>
            <a:pPr algn="l"/>
            <a:r>
              <a:rPr sz="850" b="0" i="0">
                <a:solidFill>
                  <a:srgbClr val="0A0A0A"/>
                </a:solidFill>
                <a:latin typeface="Pretendard"/>
              </a:rPr>
              <a:t>LinkedIn, events</a:t>
            </a:r>
          </a:p>
        </p:txBody>
      </p:sp>
      <p:sp>
        <p:nvSpPr>
          <p:cNvPr id="33" name="TextBox 32"/>
          <p:cNvSpPr txBox="1"/>
          <p:nvPr/>
        </p:nvSpPr>
        <p:spPr>
          <a:xfrm>
            <a:off x="5715000" y="3785616"/>
            <a:ext cx="2788920" cy="676656"/>
          </a:xfrm>
          <a:prstGeom prst="rect">
            <a:avLst/>
          </a:prstGeom>
          <a:noFill/>
        </p:spPr>
        <p:txBody>
          <a:bodyPr wrap="square">
            <a:spAutoFit/>
          </a:bodyPr>
          <a:lstStyle/>
          <a:p>
            <a:pPr algn="l"/>
            <a:r>
              <a:rPr sz="850" b="0" i="0">
                <a:solidFill>
                  <a:srgbClr val="0A0A0A"/>
                </a:solidFill>
                <a:latin typeface="Pretendard"/>
              </a:rPr>
              <a:t>Cost and accuracy vs legal AI incumbents, ROI evidence, case studies</a:t>
            </a:r>
          </a:p>
        </p:txBody>
      </p:sp>
      <p:sp>
        <p:nvSpPr>
          <p:cNvPr id="34" name="TextBox 33"/>
          <p:cNvSpPr txBox="1"/>
          <p:nvPr/>
        </p:nvSpPr>
        <p:spPr>
          <a:xfrm>
            <a:off x="8549640" y="3785616"/>
            <a:ext cx="3291840" cy="676656"/>
          </a:xfrm>
          <a:prstGeom prst="rect">
            <a:avLst/>
          </a:prstGeom>
          <a:noFill/>
        </p:spPr>
        <p:txBody>
          <a:bodyPr wrap="square">
            <a:spAutoFit/>
          </a:bodyPr>
          <a:lstStyle/>
          <a:p>
            <a:pPr algn="l"/>
            <a:r>
              <a:rPr sz="850" b="0" i="0">
                <a:solidFill>
                  <a:srgbClr val="0A0A0A"/>
                </a:solidFill>
                <a:latin typeface="Pretendard"/>
              </a:rPr>
              <a:t>"Match the incumbents on accuracy. Beat them on price and compliance."</a:t>
            </a:r>
          </a:p>
        </p:txBody>
      </p:sp>
      <p:sp>
        <p:nvSpPr>
          <p:cNvPr id="35" name="Rectangle 34"/>
          <p:cNvSpPr/>
          <p:nvPr/>
        </p:nvSpPr>
        <p:spPr>
          <a:xfrm>
            <a:off x="502920" y="4498848"/>
            <a:ext cx="11192256"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4572000"/>
            <a:ext cx="1965960" cy="676656"/>
          </a:xfrm>
          <a:prstGeom prst="rect">
            <a:avLst/>
          </a:prstGeom>
          <a:noFill/>
        </p:spPr>
        <p:txBody>
          <a:bodyPr wrap="square">
            <a:spAutoFit/>
          </a:bodyPr>
          <a:lstStyle/>
          <a:p>
            <a:pPr algn="l"/>
            <a:r>
              <a:rPr sz="850" b="1" i="0">
                <a:solidFill>
                  <a:srgbClr val="0A0A0A"/>
                </a:solidFill>
                <a:latin typeface="Pretendard"/>
              </a:rPr>
              <a:t>Developer / builder</a:t>
            </a:r>
          </a:p>
        </p:txBody>
      </p:sp>
      <p:sp>
        <p:nvSpPr>
          <p:cNvPr id="37" name="TextBox 36"/>
          <p:cNvSpPr txBox="1"/>
          <p:nvPr/>
        </p:nvSpPr>
        <p:spPr>
          <a:xfrm>
            <a:off x="2697480" y="4572000"/>
            <a:ext cx="1417320" cy="676656"/>
          </a:xfrm>
          <a:prstGeom prst="rect">
            <a:avLst/>
          </a:prstGeom>
          <a:noFill/>
        </p:spPr>
        <p:txBody>
          <a:bodyPr wrap="square">
            <a:spAutoFit/>
          </a:bodyPr>
          <a:lstStyle/>
          <a:p>
            <a:pPr algn="l"/>
            <a:r>
              <a:rPr sz="850" b="0" i="0">
                <a:solidFill>
                  <a:srgbClr val="0A0A0A"/>
                </a:solidFill>
                <a:latin typeface="Pretendard"/>
              </a:rPr>
              <a:t>Confidential API + Studio</a:t>
            </a:r>
          </a:p>
        </p:txBody>
      </p:sp>
      <p:sp>
        <p:nvSpPr>
          <p:cNvPr id="38" name="TextBox 37"/>
          <p:cNvSpPr txBox="1"/>
          <p:nvPr/>
        </p:nvSpPr>
        <p:spPr>
          <a:xfrm>
            <a:off x="4160520" y="4572000"/>
            <a:ext cx="1508760" cy="676656"/>
          </a:xfrm>
          <a:prstGeom prst="rect">
            <a:avLst/>
          </a:prstGeom>
          <a:noFill/>
        </p:spPr>
        <p:txBody>
          <a:bodyPr wrap="square">
            <a:spAutoFit/>
          </a:bodyPr>
          <a:lstStyle/>
          <a:p>
            <a:pPr algn="l"/>
            <a:r>
              <a:rPr sz="850" b="0" i="0">
                <a:solidFill>
                  <a:srgbClr val="0A0A0A"/>
                </a:solidFill>
                <a:latin typeface="Pretendard"/>
              </a:rPr>
              <a:t>X, GitHub, Docs</a:t>
            </a:r>
          </a:p>
        </p:txBody>
      </p:sp>
      <p:sp>
        <p:nvSpPr>
          <p:cNvPr id="39" name="TextBox 38"/>
          <p:cNvSpPr txBox="1"/>
          <p:nvPr/>
        </p:nvSpPr>
        <p:spPr>
          <a:xfrm>
            <a:off x="5715000" y="4572000"/>
            <a:ext cx="2788920" cy="676656"/>
          </a:xfrm>
          <a:prstGeom prst="rect">
            <a:avLst/>
          </a:prstGeom>
          <a:noFill/>
        </p:spPr>
        <p:txBody>
          <a:bodyPr wrap="square">
            <a:spAutoFit/>
          </a:bodyPr>
          <a:lstStyle/>
          <a:p>
            <a:pPr algn="l"/>
            <a:r>
              <a:rPr sz="850" b="0" i="0">
                <a:solidFill>
                  <a:srgbClr val="0A0A0A"/>
                </a:solidFill>
                <a:latin typeface="Pretendard"/>
              </a:rPr>
              <a:t>API docs, model customisation guides, encrypted inference tutorials</a:t>
            </a:r>
          </a:p>
        </p:txBody>
      </p:sp>
      <p:sp>
        <p:nvSpPr>
          <p:cNvPr id="40" name="TextBox 39"/>
          <p:cNvSpPr txBox="1"/>
          <p:nvPr/>
        </p:nvSpPr>
        <p:spPr>
          <a:xfrm>
            <a:off x="8549640" y="4572000"/>
            <a:ext cx="3291840" cy="676656"/>
          </a:xfrm>
          <a:prstGeom prst="rect">
            <a:avLst/>
          </a:prstGeom>
          <a:noFill/>
        </p:spPr>
        <p:txBody>
          <a:bodyPr wrap="square">
            <a:spAutoFit/>
          </a:bodyPr>
          <a:lstStyle/>
          <a:p>
            <a:pPr algn="l"/>
            <a:r>
              <a:rPr sz="850" b="0" i="0">
                <a:solidFill>
                  <a:srgbClr val="0A0A0A"/>
                </a:solidFill>
                <a:latin typeface="Pretendard"/>
              </a:rPr>
              <a:t>"Let me evaluate it in under an hour without talking to sales."</a:t>
            </a:r>
          </a:p>
        </p:txBody>
      </p:sp>
      <p:sp>
        <p:nvSpPr>
          <p:cNvPr id="41" name="Rectangle 40"/>
          <p:cNvSpPr/>
          <p:nvPr/>
        </p:nvSpPr>
        <p:spPr>
          <a:xfrm>
            <a:off x="502920" y="5285231"/>
            <a:ext cx="11192256" cy="786384"/>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5358383"/>
            <a:ext cx="1965960" cy="676656"/>
          </a:xfrm>
          <a:prstGeom prst="rect">
            <a:avLst/>
          </a:prstGeom>
          <a:noFill/>
        </p:spPr>
        <p:txBody>
          <a:bodyPr wrap="square">
            <a:spAutoFit/>
          </a:bodyPr>
          <a:lstStyle/>
          <a:p>
            <a:pPr algn="l"/>
            <a:r>
              <a:rPr sz="850" b="1" i="0">
                <a:solidFill>
                  <a:srgbClr val="0A0A0A"/>
                </a:solidFill>
                <a:latin typeface="Pretendard"/>
              </a:rPr>
              <a:t>Prosumer / power user</a:t>
            </a:r>
          </a:p>
        </p:txBody>
      </p:sp>
      <p:sp>
        <p:nvSpPr>
          <p:cNvPr id="43" name="TextBox 42"/>
          <p:cNvSpPr txBox="1"/>
          <p:nvPr/>
        </p:nvSpPr>
        <p:spPr>
          <a:xfrm>
            <a:off x="2697480" y="5358383"/>
            <a:ext cx="1417320" cy="676656"/>
          </a:xfrm>
          <a:prstGeom prst="rect">
            <a:avLst/>
          </a:prstGeom>
          <a:noFill/>
        </p:spPr>
        <p:txBody>
          <a:bodyPr wrap="square">
            <a:spAutoFit/>
          </a:bodyPr>
          <a:lstStyle/>
          <a:p>
            <a:pPr algn="l"/>
            <a:r>
              <a:rPr sz="850" b="0" i="0">
                <a:solidFill>
                  <a:srgbClr val="0A0A0A"/>
                </a:solidFill>
                <a:latin typeface="Pretendard"/>
              </a:rPr>
              <a:t>Fluso</a:t>
            </a:r>
          </a:p>
        </p:txBody>
      </p:sp>
      <p:sp>
        <p:nvSpPr>
          <p:cNvPr id="44" name="TextBox 43"/>
          <p:cNvSpPr txBox="1"/>
          <p:nvPr/>
        </p:nvSpPr>
        <p:spPr>
          <a:xfrm>
            <a:off x="4160520" y="5358383"/>
            <a:ext cx="1508760" cy="676656"/>
          </a:xfrm>
          <a:prstGeom prst="rect">
            <a:avLst/>
          </a:prstGeom>
          <a:noFill/>
        </p:spPr>
        <p:txBody>
          <a:bodyPr wrap="square">
            <a:spAutoFit/>
          </a:bodyPr>
          <a:lstStyle/>
          <a:p>
            <a:pPr algn="l"/>
            <a:r>
              <a:rPr sz="850" b="0" i="0">
                <a:solidFill>
                  <a:srgbClr val="0A0A0A"/>
                </a:solidFill>
                <a:latin typeface="Pretendard"/>
              </a:rPr>
              <a:t>Instagram, X</a:t>
            </a:r>
          </a:p>
        </p:txBody>
      </p:sp>
      <p:sp>
        <p:nvSpPr>
          <p:cNvPr id="45" name="TextBox 44"/>
          <p:cNvSpPr txBox="1"/>
          <p:nvPr/>
        </p:nvSpPr>
        <p:spPr>
          <a:xfrm>
            <a:off x="5715000" y="5358383"/>
            <a:ext cx="2788920" cy="676656"/>
          </a:xfrm>
          <a:prstGeom prst="rect">
            <a:avLst/>
          </a:prstGeom>
          <a:noFill/>
        </p:spPr>
        <p:txBody>
          <a:bodyPr wrap="square">
            <a:spAutoFit/>
          </a:bodyPr>
          <a:lstStyle/>
          <a:p>
            <a:pPr algn="l"/>
            <a:r>
              <a:rPr sz="850" b="0" i="0">
                <a:solidFill>
                  <a:srgbClr val="0A0A0A"/>
                </a:solidFill>
                <a:latin typeface="Pretendard"/>
              </a:rPr>
              <a:t>Deep-work content, 20-minute workflows, session audit trail demos</a:t>
            </a:r>
          </a:p>
        </p:txBody>
      </p:sp>
      <p:sp>
        <p:nvSpPr>
          <p:cNvPr id="46" name="TextBox 45"/>
          <p:cNvSpPr txBox="1"/>
          <p:nvPr/>
        </p:nvSpPr>
        <p:spPr>
          <a:xfrm>
            <a:off x="8549640" y="5358383"/>
            <a:ext cx="3291840" cy="676656"/>
          </a:xfrm>
          <a:prstGeom prst="rect">
            <a:avLst/>
          </a:prstGeom>
          <a:noFill/>
        </p:spPr>
        <p:txBody>
          <a:bodyPr wrap="square">
            <a:spAutoFit/>
          </a:bodyPr>
          <a:lstStyle/>
          <a:p>
            <a:pPr algn="l"/>
            <a:r>
              <a:rPr sz="850" b="0" i="0">
                <a:solidFill>
                  <a:srgbClr val="0A0A0A"/>
                </a:solidFill>
                <a:latin typeface="Pretendard"/>
              </a:rPr>
              <a:t>"Help me do 3 hours of thinking in 45 minutes."</a:t>
            </a:r>
          </a:p>
        </p:txBody>
      </p:sp>
      <p:sp>
        <p:nvSpPr>
          <p:cNvPr id="47" name="Rectangle 46"/>
          <p:cNvSpPr/>
          <p:nvPr/>
        </p:nvSpPr>
        <p:spPr>
          <a:xfrm>
            <a:off x="502920" y="6071616"/>
            <a:ext cx="11192256"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144768"/>
            <a:ext cx="1965960" cy="676656"/>
          </a:xfrm>
          <a:prstGeom prst="rect">
            <a:avLst/>
          </a:prstGeom>
          <a:noFill/>
        </p:spPr>
        <p:txBody>
          <a:bodyPr wrap="square">
            <a:spAutoFit/>
          </a:bodyPr>
          <a:lstStyle/>
          <a:p>
            <a:pPr algn="l"/>
            <a:r>
              <a:rPr sz="850" b="1" i="0">
                <a:solidFill>
                  <a:srgbClr val="0A0A0A"/>
                </a:solidFill>
                <a:latin typeface="Pretendard"/>
              </a:rPr>
              <a:t>Executive (voice-heavy)</a:t>
            </a:r>
          </a:p>
        </p:txBody>
      </p:sp>
      <p:sp>
        <p:nvSpPr>
          <p:cNvPr id="49" name="TextBox 48"/>
          <p:cNvSpPr txBox="1"/>
          <p:nvPr/>
        </p:nvSpPr>
        <p:spPr>
          <a:xfrm>
            <a:off x="2697480" y="6144768"/>
            <a:ext cx="1417320" cy="676656"/>
          </a:xfrm>
          <a:prstGeom prst="rect">
            <a:avLst/>
          </a:prstGeom>
          <a:noFill/>
        </p:spPr>
        <p:txBody>
          <a:bodyPr wrap="square">
            <a:spAutoFit/>
          </a:bodyPr>
          <a:lstStyle/>
          <a:p>
            <a:pPr algn="l"/>
            <a:r>
              <a:rPr sz="850" b="0" i="0">
                <a:solidFill>
                  <a:srgbClr val="0A0A0A"/>
                </a:solidFill>
                <a:latin typeface="Pretendard"/>
              </a:rPr>
              <a:t>Sotto</a:t>
            </a:r>
          </a:p>
        </p:txBody>
      </p:sp>
      <p:sp>
        <p:nvSpPr>
          <p:cNvPr id="50" name="TextBox 49"/>
          <p:cNvSpPr txBox="1"/>
          <p:nvPr/>
        </p:nvSpPr>
        <p:spPr>
          <a:xfrm>
            <a:off x="4160520" y="6144768"/>
            <a:ext cx="1508760" cy="676656"/>
          </a:xfrm>
          <a:prstGeom prst="rect">
            <a:avLst/>
          </a:prstGeom>
          <a:noFill/>
        </p:spPr>
        <p:txBody>
          <a:bodyPr wrap="square">
            <a:spAutoFit/>
          </a:bodyPr>
          <a:lstStyle/>
          <a:p>
            <a:pPr algn="l"/>
            <a:r>
              <a:rPr sz="850" b="0" i="0">
                <a:solidFill>
                  <a:srgbClr val="0A0A0A"/>
                </a:solidFill>
                <a:latin typeface="Pretendard"/>
              </a:rPr>
              <a:t>LinkedIn, events</a:t>
            </a:r>
          </a:p>
        </p:txBody>
      </p:sp>
      <p:sp>
        <p:nvSpPr>
          <p:cNvPr id="51" name="TextBox 50"/>
          <p:cNvSpPr txBox="1"/>
          <p:nvPr/>
        </p:nvSpPr>
        <p:spPr>
          <a:xfrm>
            <a:off x="5715000" y="6144768"/>
            <a:ext cx="2788920" cy="676656"/>
          </a:xfrm>
          <a:prstGeom prst="rect">
            <a:avLst/>
          </a:prstGeom>
          <a:noFill/>
        </p:spPr>
        <p:txBody>
          <a:bodyPr wrap="square">
            <a:spAutoFit/>
          </a:bodyPr>
          <a:lstStyle/>
          <a:p>
            <a:pPr algn="l"/>
            <a:r>
              <a:rPr sz="850" b="0" i="0">
                <a:solidFill>
                  <a:srgbClr val="0A0A0A"/>
                </a:solidFill>
                <a:latin typeface="Pretendard"/>
              </a:rPr>
              <a:t>Encrypted dictation use cases, productivity ROI, app compatibility</a:t>
            </a:r>
          </a:p>
        </p:txBody>
      </p:sp>
      <p:sp>
        <p:nvSpPr>
          <p:cNvPr id="52" name="TextBox 51"/>
          <p:cNvSpPr txBox="1"/>
          <p:nvPr/>
        </p:nvSpPr>
        <p:spPr>
          <a:xfrm>
            <a:off x="8549640" y="6144768"/>
            <a:ext cx="3291840" cy="676656"/>
          </a:xfrm>
          <a:prstGeom prst="rect">
            <a:avLst/>
          </a:prstGeom>
          <a:noFill/>
        </p:spPr>
        <p:txBody>
          <a:bodyPr wrap="square">
            <a:spAutoFit/>
          </a:bodyPr>
          <a:lstStyle/>
          <a:p>
            <a:pPr algn="l"/>
            <a:r>
              <a:rPr sz="850" b="0" i="0">
                <a:solidFill>
                  <a:srgbClr val="0A0A0A"/>
                </a:solidFill>
                <a:latin typeface="Pretendard"/>
              </a:rPr>
              <a:t>"I dictate into everything. I need it to stay private."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18  VOCABULARY  |  WORDS WE OWN · WORDS WE NEVER USE</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60120"/>
            <a:ext cx="3611880" cy="555040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960120"/>
            <a:ext cx="3611880" cy="36576"/>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078992"/>
            <a:ext cx="3200400" cy="274320"/>
          </a:xfrm>
          <a:prstGeom prst="rect">
            <a:avLst/>
          </a:prstGeom>
          <a:noFill/>
        </p:spPr>
        <p:txBody>
          <a:bodyPr wrap="square">
            <a:spAutoFit/>
          </a:bodyPr>
          <a:lstStyle/>
          <a:p>
            <a:pPr algn="l"/>
            <a:r>
              <a:rPr sz="850" b="1" i="0">
                <a:solidFill>
                  <a:srgbClr val="0A0A0A"/>
                </a:solidFill>
                <a:latin typeface="Pretendard"/>
              </a:rPr>
              <a:t>PREM + PRODUCTS OWN</a:t>
            </a:r>
          </a:p>
        </p:txBody>
      </p:sp>
      <p:sp>
        <p:nvSpPr>
          <p:cNvPr id="8" name="TextBox 7"/>
          <p:cNvSpPr txBox="1"/>
          <p:nvPr/>
        </p:nvSpPr>
        <p:spPr>
          <a:xfrm>
            <a:off x="704088" y="1481328"/>
            <a:ext cx="3246120" cy="365760"/>
          </a:xfrm>
          <a:prstGeom prst="rect">
            <a:avLst/>
          </a:prstGeom>
          <a:noFill/>
        </p:spPr>
        <p:txBody>
          <a:bodyPr wrap="square">
            <a:spAutoFit/>
          </a:bodyPr>
          <a:lstStyle/>
          <a:p>
            <a:pPr algn="l"/>
            <a:r>
              <a:rPr sz="950" b="0" i="0">
                <a:solidFill>
                  <a:srgbClr val="0A0A0A"/>
                </a:solidFill>
                <a:latin typeface="Pretendard"/>
              </a:rPr>
              <a:t>Private Super Intelligence</a:t>
            </a:r>
          </a:p>
        </p:txBody>
      </p:sp>
      <p:sp>
        <p:nvSpPr>
          <p:cNvPr id="9" name="TextBox 8"/>
          <p:cNvSpPr txBox="1"/>
          <p:nvPr/>
        </p:nvSpPr>
        <p:spPr>
          <a:xfrm>
            <a:off x="704088" y="1892808"/>
            <a:ext cx="3246120" cy="365760"/>
          </a:xfrm>
          <a:prstGeom prst="rect">
            <a:avLst/>
          </a:prstGeom>
          <a:noFill/>
        </p:spPr>
        <p:txBody>
          <a:bodyPr wrap="square">
            <a:spAutoFit/>
          </a:bodyPr>
          <a:lstStyle/>
          <a:p>
            <a:pPr algn="l"/>
            <a:r>
              <a:rPr sz="950" b="0" i="0">
                <a:solidFill>
                  <a:srgbClr val="0A0A0A"/>
                </a:solidFill>
                <a:latin typeface="Pretendard"/>
              </a:rPr>
              <a:t>Intelligence in Service</a:t>
            </a:r>
          </a:p>
        </p:txBody>
      </p:sp>
      <p:sp>
        <p:nvSpPr>
          <p:cNvPr id="10" name="TextBox 9"/>
          <p:cNvSpPr txBox="1"/>
          <p:nvPr/>
        </p:nvSpPr>
        <p:spPr>
          <a:xfrm>
            <a:off x="704088" y="2304288"/>
            <a:ext cx="3246120" cy="365760"/>
          </a:xfrm>
          <a:prstGeom prst="rect">
            <a:avLst/>
          </a:prstGeom>
          <a:noFill/>
        </p:spPr>
        <p:txBody>
          <a:bodyPr wrap="square">
            <a:spAutoFit/>
          </a:bodyPr>
          <a:lstStyle/>
          <a:p>
            <a:pPr algn="l"/>
            <a:r>
              <a:rPr sz="950" b="0" i="0">
                <a:solidFill>
                  <a:srgbClr val="0A0A0A"/>
                </a:solidFill>
                <a:latin typeface="Pretendard"/>
              </a:rPr>
              <a:t>Verifiable</a:t>
            </a:r>
          </a:p>
        </p:txBody>
      </p:sp>
      <p:sp>
        <p:nvSpPr>
          <p:cNvPr id="11" name="TextBox 10"/>
          <p:cNvSpPr txBox="1"/>
          <p:nvPr/>
        </p:nvSpPr>
        <p:spPr>
          <a:xfrm>
            <a:off x="704088" y="2715768"/>
            <a:ext cx="3246120" cy="365760"/>
          </a:xfrm>
          <a:prstGeom prst="rect">
            <a:avLst/>
          </a:prstGeom>
          <a:noFill/>
        </p:spPr>
        <p:txBody>
          <a:bodyPr wrap="square">
            <a:spAutoFit/>
          </a:bodyPr>
          <a:lstStyle/>
          <a:p>
            <a:pPr algn="l"/>
            <a:r>
              <a:rPr sz="950" b="0" i="0">
                <a:solidFill>
                  <a:srgbClr val="0A0A0A"/>
                </a:solidFill>
                <a:latin typeface="Pretendard"/>
              </a:rPr>
              <a:t>Encrypted inference</a:t>
            </a:r>
          </a:p>
        </p:txBody>
      </p:sp>
      <p:sp>
        <p:nvSpPr>
          <p:cNvPr id="12" name="TextBox 11"/>
          <p:cNvSpPr txBox="1"/>
          <p:nvPr/>
        </p:nvSpPr>
        <p:spPr>
          <a:xfrm>
            <a:off x="704088" y="3127248"/>
            <a:ext cx="3246120" cy="365760"/>
          </a:xfrm>
          <a:prstGeom prst="rect">
            <a:avLst/>
          </a:prstGeom>
          <a:noFill/>
        </p:spPr>
        <p:txBody>
          <a:bodyPr wrap="square">
            <a:spAutoFit/>
          </a:bodyPr>
          <a:lstStyle/>
          <a:p>
            <a:pPr algn="l"/>
            <a:r>
              <a:rPr sz="950" b="0" i="0">
                <a:solidFill>
                  <a:srgbClr val="0A0A0A"/>
                </a:solidFill>
                <a:latin typeface="Pretendard"/>
              </a:rPr>
              <a:t>On-premise / sovereign</a:t>
            </a:r>
          </a:p>
        </p:txBody>
      </p:sp>
      <p:sp>
        <p:nvSpPr>
          <p:cNvPr id="13" name="TextBox 12"/>
          <p:cNvSpPr txBox="1"/>
          <p:nvPr/>
        </p:nvSpPr>
        <p:spPr>
          <a:xfrm>
            <a:off x="704088" y="3538728"/>
            <a:ext cx="3246120" cy="365760"/>
          </a:xfrm>
          <a:prstGeom prst="rect">
            <a:avLst/>
          </a:prstGeom>
          <a:noFill/>
        </p:spPr>
        <p:txBody>
          <a:bodyPr wrap="square">
            <a:spAutoFit/>
          </a:bodyPr>
          <a:lstStyle/>
          <a:p>
            <a:pPr algn="l"/>
            <a:r>
              <a:rPr sz="950" b="0" i="0">
                <a:solidFill>
                  <a:srgbClr val="0A0A0A"/>
                </a:solidFill>
                <a:latin typeface="Pretendard"/>
              </a:rPr>
              <a:t>"At the hardware layer"</a:t>
            </a:r>
          </a:p>
        </p:txBody>
      </p:sp>
      <p:sp>
        <p:nvSpPr>
          <p:cNvPr id="14" name="TextBox 13"/>
          <p:cNvSpPr txBox="1"/>
          <p:nvPr/>
        </p:nvSpPr>
        <p:spPr>
          <a:xfrm>
            <a:off x="704088" y="3950208"/>
            <a:ext cx="3246120" cy="365760"/>
          </a:xfrm>
          <a:prstGeom prst="rect">
            <a:avLst/>
          </a:prstGeom>
          <a:noFill/>
        </p:spPr>
        <p:txBody>
          <a:bodyPr wrap="square">
            <a:spAutoFit/>
          </a:bodyPr>
          <a:lstStyle/>
          <a:p>
            <a:pPr algn="l"/>
            <a:r>
              <a:rPr sz="950" b="0" i="0">
                <a:solidFill>
                  <a:srgbClr val="0A0A0A"/>
                </a:solidFill>
                <a:latin typeface="Pretendard"/>
              </a:rPr>
              <a:t>Confidential computing</a:t>
            </a:r>
          </a:p>
        </p:txBody>
      </p:sp>
      <p:sp>
        <p:nvSpPr>
          <p:cNvPr id="15" name="TextBox 14"/>
          <p:cNvSpPr txBox="1"/>
          <p:nvPr/>
        </p:nvSpPr>
        <p:spPr>
          <a:xfrm>
            <a:off x="704088" y="4361688"/>
            <a:ext cx="3246120" cy="365760"/>
          </a:xfrm>
          <a:prstGeom prst="rect">
            <a:avLst/>
          </a:prstGeom>
          <a:noFill/>
        </p:spPr>
        <p:txBody>
          <a:bodyPr wrap="square">
            <a:spAutoFit/>
          </a:bodyPr>
          <a:lstStyle/>
          <a:p>
            <a:pPr algn="l"/>
            <a:r>
              <a:rPr sz="950" b="0" i="0">
                <a:solidFill>
                  <a:srgbClr val="0A0A0A"/>
                </a:solidFill>
                <a:latin typeface="Pretendard"/>
              </a:rPr>
              <a:t>Trusted Execution Environment</a:t>
            </a:r>
          </a:p>
        </p:txBody>
      </p:sp>
      <p:sp>
        <p:nvSpPr>
          <p:cNvPr id="16" name="TextBox 15"/>
          <p:cNvSpPr txBox="1"/>
          <p:nvPr/>
        </p:nvSpPr>
        <p:spPr>
          <a:xfrm>
            <a:off x="704088" y="4773168"/>
            <a:ext cx="3246120" cy="365760"/>
          </a:xfrm>
          <a:prstGeom prst="rect">
            <a:avLst/>
          </a:prstGeom>
          <a:noFill/>
        </p:spPr>
        <p:txBody>
          <a:bodyPr wrap="square">
            <a:spAutoFit/>
          </a:bodyPr>
          <a:lstStyle/>
          <a:p>
            <a:pPr algn="l"/>
            <a:r>
              <a:rPr sz="950" b="0" i="0">
                <a:solidFill>
                  <a:srgbClr val="0A0A0A"/>
                </a:solidFill>
                <a:latin typeface="Pretendard"/>
              </a:rPr>
              <a:t>"Your jurisdiction governs"</a:t>
            </a:r>
          </a:p>
        </p:txBody>
      </p:sp>
      <p:sp>
        <p:nvSpPr>
          <p:cNvPr id="17" name="TextBox 16"/>
          <p:cNvSpPr txBox="1"/>
          <p:nvPr/>
        </p:nvSpPr>
        <p:spPr>
          <a:xfrm>
            <a:off x="704088" y="5184648"/>
            <a:ext cx="3246120" cy="365760"/>
          </a:xfrm>
          <a:prstGeom prst="rect">
            <a:avLst/>
          </a:prstGeom>
          <a:noFill/>
        </p:spPr>
        <p:txBody>
          <a:bodyPr wrap="square">
            <a:spAutoFit/>
          </a:bodyPr>
          <a:lstStyle/>
          <a:p>
            <a:pPr algn="l"/>
            <a:r>
              <a:rPr sz="950" b="0" i="0">
                <a:solidFill>
                  <a:srgbClr val="0A0A0A"/>
                </a:solidFill>
                <a:latin typeface="Pretendard"/>
              </a:rPr>
              <a:t>Compounding memory</a:t>
            </a:r>
          </a:p>
        </p:txBody>
      </p:sp>
      <p:sp>
        <p:nvSpPr>
          <p:cNvPr id="18" name="TextBox 17"/>
          <p:cNvSpPr txBox="1"/>
          <p:nvPr/>
        </p:nvSpPr>
        <p:spPr>
          <a:xfrm>
            <a:off x="704088" y="5596128"/>
            <a:ext cx="3246120" cy="365760"/>
          </a:xfrm>
          <a:prstGeom prst="rect">
            <a:avLst/>
          </a:prstGeom>
          <a:noFill/>
        </p:spPr>
        <p:txBody>
          <a:bodyPr wrap="square">
            <a:spAutoFit/>
          </a:bodyPr>
          <a:lstStyle/>
          <a:p>
            <a:pPr algn="l"/>
            <a:r>
              <a:rPr sz="950" b="0" i="0">
                <a:solidFill>
                  <a:srgbClr val="0A0A0A"/>
                </a:solidFill>
                <a:latin typeface="Pretendard"/>
              </a:rPr>
              <a:t>Session audit trail</a:t>
            </a:r>
          </a:p>
        </p:txBody>
      </p:sp>
      <p:sp>
        <p:nvSpPr>
          <p:cNvPr id="19" name="TextBox 18"/>
          <p:cNvSpPr txBox="1"/>
          <p:nvPr/>
        </p:nvSpPr>
        <p:spPr>
          <a:xfrm>
            <a:off x="704088" y="6007608"/>
            <a:ext cx="3246120" cy="365760"/>
          </a:xfrm>
          <a:prstGeom prst="rect">
            <a:avLst/>
          </a:prstGeom>
          <a:noFill/>
        </p:spPr>
        <p:txBody>
          <a:bodyPr wrap="square">
            <a:spAutoFit/>
          </a:bodyPr>
          <a:lstStyle/>
          <a:p>
            <a:pPr algn="l"/>
            <a:r>
              <a:rPr sz="950" b="0" i="0">
                <a:solidFill>
                  <a:srgbClr val="0A0A0A"/>
                </a:solidFill>
                <a:latin typeface="Pretendard"/>
              </a:rPr>
              <a:t>"Designed &amp; powered in Switzerland"</a:t>
            </a:r>
          </a:p>
        </p:txBody>
      </p:sp>
      <p:sp>
        <p:nvSpPr>
          <p:cNvPr id="20" name="Rectangle 19"/>
          <p:cNvSpPr/>
          <p:nvPr/>
        </p:nvSpPr>
        <p:spPr>
          <a:xfrm>
            <a:off x="4407407" y="960120"/>
            <a:ext cx="3611880" cy="555040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7" y="960120"/>
            <a:ext cx="3611880" cy="36576"/>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8575" y="1078992"/>
            <a:ext cx="3200400" cy="274320"/>
          </a:xfrm>
          <a:prstGeom prst="rect">
            <a:avLst/>
          </a:prstGeom>
          <a:noFill/>
        </p:spPr>
        <p:txBody>
          <a:bodyPr wrap="square">
            <a:spAutoFit/>
          </a:bodyPr>
          <a:lstStyle/>
          <a:p>
            <a:pPr algn="l"/>
            <a:r>
              <a:rPr sz="850" b="1" i="0">
                <a:solidFill>
                  <a:srgbClr val="0A0A0A"/>
                </a:solidFill>
                <a:latin typeface="Pretendard"/>
              </a:rPr>
              <a:t>FLUSO OWNS</a:t>
            </a:r>
          </a:p>
        </p:txBody>
      </p:sp>
      <p:sp>
        <p:nvSpPr>
          <p:cNvPr id="23" name="TextBox 22"/>
          <p:cNvSpPr txBox="1"/>
          <p:nvPr/>
        </p:nvSpPr>
        <p:spPr>
          <a:xfrm>
            <a:off x="4608575" y="1481328"/>
            <a:ext cx="3246120" cy="365760"/>
          </a:xfrm>
          <a:prstGeom prst="rect">
            <a:avLst/>
          </a:prstGeom>
          <a:noFill/>
        </p:spPr>
        <p:txBody>
          <a:bodyPr wrap="square">
            <a:spAutoFit/>
          </a:bodyPr>
          <a:lstStyle/>
          <a:p>
            <a:pPr algn="l"/>
            <a:r>
              <a:rPr sz="950" b="0" i="0">
                <a:solidFill>
                  <a:srgbClr val="0A0A0A"/>
                </a:solidFill>
                <a:latin typeface="Pretendard"/>
              </a:rPr>
              <a:t>Deep work</a:t>
            </a:r>
          </a:p>
        </p:txBody>
      </p:sp>
      <p:sp>
        <p:nvSpPr>
          <p:cNvPr id="24" name="TextBox 23"/>
          <p:cNvSpPr txBox="1"/>
          <p:nvPr/>
        </p:nvSpPr>
        <p:spPr>
          <a:xfrm>
            <a:off x="4608575" y="1892808"/>
            <a:ext cx="3246120" cy="365760"/>
          </a:xfrm>
          <a:prstGeom prst="rect">
            <a:avLst/>
          </a:prstGeom>
          <a:noFill/>
        </p:spPr>
        <p:txBody>
          <a:bodyPr wrap="square">
            <a:spAutoFit/>
          </a:bodyPr>
          <a:lstStyle/>
          <a:p>
            <a:pPr algn="l"/>
            <a:r>
              <a:rPr sz="950" b="0" i="0">
                <a:solidFill>
                  <a:srgbClr val="0A0A0A"/>
                </a:solidFill>
                <a:latin typeface="Pretendard"/>
              </a:rPr>
              <a:t>Focused session</a:t>
            </a:r>
          </a:p>
        </p:txBody>
      </p:sp>
      <p:sp>
        <p:nvSpPr>
          <p:cNvPr id="25" name="TextBox 24"/>
          <p:cNvSpPr txBox="1"/>
          <p:nvPr/>
        </p:nvSpPr>
        <p:spPr>
          <a:xfrm>
            <a:off x="4608575" y="2304288"/>
            <a:ext cx="3246120" cy="365760"/>
          </a:xfrm>
          <a:prstGeom prst="rect">
            <a:avLst/>
          </a:prstGeom>
          <a:noFill/>
        </p:spPr>
        <p:txBody>
          <a:bodyPr wrap="square">
            <a:spAutoFit/>
          </a:bodyPr>
          <a:lstStyle/>
          <a:p>
            <a:pPr algn="l"/>
            <a:r>
              <a:rPr sz="950" b="0" i="0">
                <a:solidFill>
                  <a:srgbClr val="0A0A0A"/>
                </a:solidFill>
                <a:latin typeface="Pretendard"/>
              </a:rPr>
              <a:t>"20-minute session"</a:t>
            </a:r>
          </a:p>
        </p:txBody>
      </p:sp>
      <p:sp>
        <p:nvSpPr>
          <p:cNvPr id="26" name="TextBox 25"/>
          <p:cNvSpPr txBox="1"/>
          <p:nvPr/>
        </p:nvSpPr>
        <p:spPr>
          <a:xfrm>
            <a:off x="4608575" y="2715768"/>
            <a:ext cx="3246120" cy="365760"/>
          </a:xfrm>
          <a:prstGeom prst="rect">
            <a:avLst/>
          </a:prstGeom>
          <a:noFill/>
        </p:spPr>
        <p:txBody>
          <a:bodyPr wrap="square">
            <a:spAutoFit/>
          </a:bodyPr>
          <a:lstStyle/>
          <a:p>
            <a:pPr algn="l"/>
            <a:r>
              <a:rPr sz="950" b="0" i="0">
                <a:solidFill>
                  <a:srgbClr val="0A0A0A"/>
                </a:solidFill>
                <a:latin typeface="Pretendard"/>
              </a:rPr>
              <a:t>Compounding memory</a:t>
            </a:r>
          </a:p>
        </p:txBody>
      </p:sp>
      <p:sp>
        <p:nvSpPr>
          <p:cNvPr id="27" name="TextBox 26"/>
          <p:cNvSpPr txBox="1"/>
          <p:nvPr/>
        </p:nvSpPr>
        <p:spPr>
          <a:xfrm>
            <a:off x="4608575" y="3127248"/>
            <a:ext cx="3246120" cy="365760"/>
          </a:xfrm>
          <a:prstGeom prst="rect">
            <a:avLst/>
          </a:prstGeom>
          <a:noFill/>
        </p:spPr>
        <p:txBody>
          <a:bodyPr wrap="square">
            <a:spAutoFit/>
          </a:bodyPr>
          <a:lstStyle/>
          <a:p>
            <a:pPr algn="l"/>
            <a:r>
              <a:rPr sz="950" b="0" i="0">
                <a:solidFill>
                  <a:srgbClr val="0A0A0A"/>
                </a:solidFill>
                <a:latin typeface="Pretendard"/>
              </a:rPr>
              <a:t>Honest accuracy</a:t>
            </a:r>
          </a:p>
        </p:txBody>
      </p:sp>
      <p:sp>
        <p:nvSpPr>
          <p:cNvPr id="28" name="TextBox 27"/>
          <p:cNvSpPr txBox="1"/>
          <p:nvPr/>
        </p:nvSpPr>
        <p:spPr>
          <a:xfrm>
            <a:off x="4608575" y="3538728"/>
            <a:ext cx="3246120" cy="365760"/>
          </a:xfrm>
          <a:prstGeom prst="rect">
            <a:avLst/>
          </a:prstGeom>
          <a:noFill/>
        </p:spPr>
        <p:txBody>
          <a:bodyPr wrap="square">
            <a:spAutoFit/>
          </a:bodyPr>
          <a:lstStyle/>
          <a:p>
            <a:pPr algn="l"/>
            <a:r>
              <a:rPr sz="950" b="0" i="0">
                <a:solidFill>
                  <a:srgbClr val="0A0A0A"/>
                </a:solidFill>
                <a:latin typeface="Pretendard"/>
              </a:rPr>
              <a:t>Private AI workspace</a:t>
            </a:r>
          </a:p>
        </p:txBody>
      </p:sp>
      <p:sp>
        <p:nvSpPr>
          <p:cNvPr id="29" name="TextBox 28"/>
          <p:cNvSpPr txBox="1"/>
          <p:nvPr/>
        </p:nvSpPr>
        <p:spPr>
          <a:xfrm>
            <a:off x="4608575" y="3950208"/>
            <a:ext cx="3246120" cy="365760"/>
          </a:xfrm>
          <a:prstGeom prst="rect">
            <a:avLst/>
          </a:prstGeom>
          <a:noFill/>
        </p:spPr>
        <p:txBody>
          <a:bodyPr wrap="square">
            <a:spAutoFit/>
          </a:bodyPr>
          <a:lstStyle/>
          <a:p>
            <a:pPr algn="l"/>
            <a:r>
              <a:rPr sz="950" b="0" i="0">
                <a:solidFill>
                  <a:srgbClr val="0A0A0A"/>
                </a:solidFill>
                <a:latin typeface="Pretendard"/>
              </a:rPr>
              <a:t>Open model</a:t>
            </a:r>
          </a:p>
        </p:txBody>
      </p:sp>
      <p:sp>
        <p:nvSpPr>
          <p:cNvPr id="30" name="TextBox 29"/>
          <p:cNvSpPr txBox="1"/>
          <p:nvPr/>
        </p:nvSpPr>
        <p:spPr>
          <a:xfrm>
            <a:off x="4608575" y="4361688"/>
            <a:ext cx="3246120" cy="365760"/>
          </a:xfrm>
          <a:prstGeom prst="rect">
            <a:avLst/>
          </a:prstGeom>
          <a:noFill/>
        </p:spPr>
        <p:txBody>
          <a:bodyPr wrap="square">
            <a:spAutoFit/>
          </a:bodyPr>
          <a:lstStyle/>
          <a:p>
            <a:pPr algn="l"/>
            <a:r>
              <a:rPr sz="950" b="0" i="0">
                <a:solidFill>
                  <a:srgbClr val="0A0A0A"/>
                </a:solidFill>
                <a:latin typeface="Pretendard"/>
              </a:rPr>
              <a:t>"No black box"</a:t>
            </a:r>
          </a:p>
        </p:txBody>
      </p:sp>
      <p:sp>
        <p:nvSpPr>
          <p:cNvPr id="31" name="TextBox 30"/>
          <p:cNvSpPr txBox="1"/>
          <p:nvPr/>
        </p:nvSpPr>
        <p:spPr>
          <a:xfrm>
            <a:off x="4608575" y="4773168"/>
            <a:ext cx="3246120" cy="365760"/>
          </a:xfrm>
          <a:prstGeom prst="rect">
            <a:avLst/>
          </a:prstGeom>
          <a:noFill/>
        </p:spPr>
        <p:txBody>
          <a:bodyPr wrap="square">
            <a:spAutoFit/>
          </a:bodyPr>
          <a:lstStyle/>
          <a:p>
            <a:pPr algn="l"/>
            <a:r>
              <a:rPr sz="950" b="0" i="0">
                <a:solidFill>
                  <a:srgbClr val="0A0A0A"/>
                </a:solidFill>
                <a:latin typeface="Pretendard"/>
              </a:rPr>
              <a:t>Cognitive load</a:t>
            </a:r>
          </a:p>
        </p:txBody>
      </p:sp>
      <p:sp>
        <p:nvSpPr>
          <p:cNvPr id="32" name="TextBox 31"/>
          <p:cNvSpPr txBox="1"/>
          <p:nvPr/>
        </p:nvSpPr>
        <p:spPr>
          <a:xfrm>
            <a:off x="4608575" y="5184648"/>
            <a:ext cx="3246120" cy="365760"/>
          </a:xfrm>
          <a:prstGeom prst="rect">
            <a:avLst/>
          </a:prstGeom>
          <a:noFill/>
        </p:spPr>
        <p:txBody>
          <a:bodyPr wrap="square">
            <a:spAutoFit/>
          </a:bodyPr>
          <a:lstStyle/>
          <a:p>
            <a:pPr algn="l"/>
            <a:r>
              <a:rPr sz="950" b="0" i="0">
                <a:solidFill>
                  <a:srgbClr val="0A0A0A"/>
                </a:solidFill>
                <a:latin typeface="Pretendard"/>
              </a:rPr>
              <a:t>Workflow, not chat</a:t>
            </a:r>
          </a:p>
        </p:txBody>
      </p:sp>
      <p:sp>
        <p:nvSpPr>
          <p:cNvPr id="33" name="TextBox 32"/>
          <p:cNvSpPr txBox="1"/>
          <p:nvPr/>
        </p:nvSpPr>
        <p:spPr>
          <a:xfrm>
            <a:off x="4608575" y="5596128"/>
            <a:ext cx="3246120" cy="365760"/>
          </a:xfrm>
          <a:prstGeom prst="rect">
            <a:avLst/>
          </a:prstGeom>
          <a:noFill/>
        </p:spPr>
        <p:txBody>
          <a:bodyPr wrap="square">
            <a:spAutoFit/>
          </a:bodyPr>
          <a:lstStyle/>
          <a:p>
            <a:pPr algn="l"/>
            <a:r>
              <a:rPr sz="950" b="0" i="0">
                <a:solidFill>
                  <a:srgbClr val="0A0A0A"/>
                </a:solidFill>
                <a:latin typeface="Pretendard"/>
              </a:rPr>
              <a:t>"Work that needs thinking"</a:t>
            </a:r>
          </a:p>
        </p:txBody>
      </p:sp>
      <p:sp>
        <p:nvSpPr>
          <p:cNvPr id="34" name="TextBox 33"/>
          <p:cNvSpPr txBox="1"/>
          <p:nvPr/>
        </p:nvSpPr>
        <p:spPr>
          <a:xfrm>
            <a:off x="4608575" y="6007608"/>
            <a:ext cx="3246120" cy="365760"/>
          </a:xfrm>
          <a:prstGeom prst="rect">
            <a:avLst/>
          </a:prstGeom>
          <a:noFill/>
        </p:spPr>
        <p:txBody>
          <a:bodyPr wrap="square">
            <a:spAutoFit/>
          </a:bodyPr>
          <a:lstStyle/>
          <a:p>
            <a:pPr algn="l"/>
            <a:r>
              <a:rPr sz="950" b="0" i="0">
                <a:solidFill>
                  <a:srgbClr val="0A0A0A"/>
                </a:solidFill>
                <a:latin typeface="Pretendard"/>
              </a:rPr>
              <a:t>Waitlist, then early access</a:t>
            </a:r>
          </a:p>
        </p:txBody>
      </p:sp>
      <p:sp>
        <p:nvSpPr>
          <p:cNvPr id="35" name="Rectangle 34"/>
          <p:cNvSpPr/>
          <p:nvPr/>
        </p:nvSpPr>
        <p:spPr>
          <a:xfrm>
            <a:off x="8311896" y="960120"/>
            <a:ext cx="3611880" cy="5550408"/>
          </a:xfrm>
          <a:prstGeom prst="rect">
            <a:avLst/>
          </a:prstGeom>
          <a:solidFill>
            <a:srgbClr val="FFFFFF"/>
          </a:solidFill>
          <a:ln w="6350">
            <a:solidFill>
              <a:srgbClr val="F2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311896" y="960120"/>
            <a:ext cx="3611880" cy="36576"/>
          </a:xfrm>
          <a:prstGeom prst="rect">
            <a:avLst/>
          </a:prstGeom>
          <a:solidFill>
            <a:srgbClr val="AF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13064" y="1078992"/>
            <a:ext cx="3200400" cy="274320"/>
          </a:xfrm>
          <a:prstGeom prst="rect">
            <a:avLst/>
          </a:prstGeom>
          <a:noFill/>
        </p:spPr>
        <p:txBody>
          <a:bodyPr wrap="square">
            <a:spAutoFit/>
          </a:bodyPr>
          <a:lstStyle/>
          <a:p>
            <a:pPr algn="l"/>
            <a:r>
              <a:rPr sz="850" b="1" i="0">
                <a:solidFill>
                  <a:srgbClr val="AF3232"/>
                </a:solidFill>
                <a:latin typeface="Pretendard"/>
              </a:rPr>
              <a:t>NEITHER USES</a:t>
            </a:r>
          </a:p>
        </p:txBody>
      </p:sp>
      <p:sp>
        <p:nvSpPr>
          <p:cNvPr id="38" name="TextBox 37"/>
          <p:cNvSpPr txBox="1"/>
          <p:nvPr/>
        </p:nvSpPr>
        <p:spPr>
          <a:xfrm>
            <a:off x="8513064" y="1481328"/>
            <a:ext cx="3246120" cy="365760"/>
          </a:xfrm>
          <a:prstGeom prst="rect">
            <a:avLst/>
          </a:prstGeom>
          <a:noFill/>
        </p:spPr>
        <p:txBody>
          <a:bodyPr wrap="square">
            <a:spAutoFit/>
          </a:bodyPr>
          <a:lstStyle/>
          <a:p>
            <a:pPr algn="l"/>
            <a:r>
              <a:rPr sz="950" b="0" i="0">
                <a:solidFill>
                  <a:srgbClr val="AF3232"/>
                </a:solidFill>
                <a:latin typeface="Pretendard"/>
              </a:rPr>
              <a:t>×  Revolutionary, game-changing</a:t>
            </a:r>
          </a:p>
        </p:txBody>
      </p:sp>
      <p:sp>
        <p:nvSpPr>
          <p:cNvPr id="39" name="TextBox 38"/>
          <p:cNvSpPr txBox="1"/>
          <p:nvPr/>
        </p:nvSpPr>
        <p:spPr>
          <a:xfrm>
            <a:off x="8513064" y="1892808"/>
            <a:ext cx="3246120" cy="365760"/>
          </a:xfrm>
          <a:prstGeom prst="rect">
            <a:avLst/>
          </a:prstGeom>
          <a:noFill/>
        </p:spPr>
        <p:txBody>
          <a:bodyPr wrap="square">
            <a:spAutoFit/>
          </a:bodyPr>
          <a:lstStyle/>
          <a:p>
            <a:pPr algn="l"/>
            <a:r>
              <a:rPr sz="950" b="0" i="0">
                <a:solidFill>
                  <a:srgbClr val="AF3232"/>
                </a:solidFill>
                <a:latin typeface="Pretendard"/>
              </a:rPr>
              <a:t>×  Effortless, seamless</a:t>
            </a:r>
          </a:p>
        </p:txBody>
      </p:sp>
      <p:sp>
        <p:nvSpPr>
          <p:cNvPr id="40" name="TextBox 39"/>
          <p:cNvSpPr txBox="1"/>
          <p:nvPr/>
        </p:nvSpPr>
        <p:spPr>
          <a:xfrm>
            <a:off x="8513064" y="2304288"/>
            <a:ext cx="3246120" cy="365760"/>
          </a:xfrm>
          <a:prstGeom prst="rect">
            <a:avLst/>
          </a:prstGeom>
          <a:noFill/>
        </p:spPr>
        <p:txBody>
          <a:bodyPr wrap="square">
            <a:spAutoFit/>
          </a:bodyPr>
          <a:lstStyle/>
          <a:p>
            <a:pPr algn="l"/>
            <a:r>
              <a:rPr sz="950" b="0" i="0">
                <a:solidFill>
                  <a:srgbClr val="AF3232"/>
                </a:solidFill>
                <a:latin typeface="Pretendard"/>
              </a:rPr>
              <a:t>×  "AI-powered" (everything is)</a:t>
            </a:r>
          </a:p>
        </p:txBody>
      </p:sp>
      <p:sp>
        <p:nvSpPr>
          <p:cNvPr id="41" name="TextBox 40"/>
          <p:cNvSpPr txBox="1"/>
          <p:nvPr/>
        </p:nvSpPr>
        <p:spPr>
          <a:xfrm>
            <a:off x="8513064" y="2715768"/>
            <a:ext cx="3246120" cy="365760"/>
          </a:xfrm>
          <a:prstGeom prst="rect">
            <a:avLst/>
          </a:prstGeom>
          <a:noFill/>
        </p:spPr>
        <p:txBody>
          <a:bodyPr wrap="square">
            <a:spAutoFit/>
          </a:bodyPr>
          <a:lstStyle/>
          <a:p>
            <a:pPr algn="l"/>
            <a:r>
              <a:rPr sz="950" b="0" i="0">
                <a:solidFill>
                  <a:srgbClr val="AF3232"/>
                </a:solidFill>
                <a:latin typeface="Pretendard"/>
              </a:rPr>
              <a:t>×  "The future of work"</a:t>
            </a:r>
          </a:p>
        </p:txBody>
      </p:sp>
      <p:sp>
        <p:nvSpPr>
          <p:cNvPr id="42" name="TextBox 41"/>
          <p:cNvSpPr txBox="1"/>
          <p:nvPr/>
        </p:nvSpPr>
        <p:spPr>
          <a:xfrm>
            <a:off x="8513064" y="3127248"/>
            <a:ext cx="3246120" cy="365760"/>
          </a:xfrm>
          <a:prstGeom prst="rect">
            <a:avLst/>
          </a:prstGeom>
          <a:noFill/>
        </p:spPr>
        <p:txBody>
          <a:bodyPr wrap="square">
            <a:spAutoFit/>
          </a:bodyPr>
          <a:lstStyle/>
          <a:p>
            <a:pPr algn="l"/>
            <a:r>
              <a:rPr sz="950" b="0" i="0">
                <a:solidFill>
                  <a:srgbClr val="AF3232"/>
                </a:solidFill>
                <a:latin typeface="Pretendard"/>
              </a:rPr>
              <a:t>×  Unlock, empower</a:t>
            </a:r>
          </a:p>
        </p:txBody>
      </p:sp>
      <p:sp>
        <p:nvSpPr>
          <p:cNvPr id="43" name="TextBox 42"/>
          <p:cNvSpPr txBox="1"/>
          <p:nvPr/>
        </p:nvSpPr>
        <p:spPr>
          <a:xfrm>
            <a:off x="8513064" y="3538728"/>
            <a:ext cx="3246120" cy="365760"/>
          </a:xfrm>
          <a:prstGeom prst="rect">
            <a:avLst/>
          </a:prstGeom>
          <a:noFill/>
        </p:spPr>
        <p:txBody>
          <a:bodyPr wrap="square">
            <a:spAutoFit/>
          </a:bodyPr>
          <a:lstStyle/>
          <a:p>
            <a:pPr algn="l"/>
            <a:r>
              <a:rPr sz="950" b="0" i="0">
                <a:solidFill>
                  <a:srgbClr val="AF3232"/>
                </a:solidFill>
                <a:latin typeface="Pretendard"/>
              </a:rPr>
              <a:t>×  "We're excited to announce"</a:t>
            </a:r>
          </a:p>
        </p:txBody>
      </p:sp>
      <p:sp>
        <p:nvSpPr>
          <p:cNvPr id="44" name="TextBox 43"/>
          <p:cNvSpPr txBox="1"/>
          <p:nvPr/>
        </p:nvSpPr>
        <p:spPr>
          <a:xfrm>
            <a:off x="8513064" y="3950208"/>
            <a:ext cx="3246120" cy="365760"/>
          </a:xfrm>
          <a:prstGeom prst="rect">
            <a:avLst/>
          </a:prstGeom>
          <a:noFill/>
        </p:spPr>
        <p:txBody>
          <a:bodyPr wrap="square">
            <a:spAutoFit/>
          </a:bodyPr>
          <a:lstStyle/>
          <a:p>
            <a:pPr algn="l"/>
            <a:r>
              <a:rPr sz="950" b="0" i="0">
                <a:solidFill>
                  <a:srgbClr val="AF3232"/>
                </a:solidFill>
                <a:latin typeface="Pretendard"/>
              </a:rPr>
              <a:t>×  "Privacy-first" as lead claim</a:t>
            </a:r>
          </a:p>
        </p:txBody>
      </p:sp>
      <p:sp>
        <p:nvSpPr>
          <p:cNvPr id="45" name="TextBox 44"/>
          <p:cNvSpPr txBox="1"/>
          <p:nvPr/>
        </p:nvSpPr>
        <p:spPr>
          <a:xfrm>
            <a:off x="8513064" y="4361688"/>
            <a:ext cx="3246120" cy="365760"/>
          </a:xfrm>
          <a:prstGeom prst="rect">
            <a:avLst/>
          </a:prstGeom>
          <a:noFill/>
        </p:spPr>
        <p:txBody>
          <a:bodyPr wrap="square">
            <a:spAutoFit/>
          </a:bodyPr>
          <a:lstStyle/>
          <a:p>
            <a:pPr algn="l"/>
            <a:r>
              <a:rPr sz="950" b="0" i="0">
                <a:solidFill>
                  <a:srgbClr val="AF3232"/>
                </a:solidFill>
                <a:latin typeface="Pretendard"/>
              </a:rPr>
              <a:t>×  Em dashes in copy</a:t>
            </a:r>
          </a:p>
        </p:txBody>
      </p:sp>
      <p:sp>
        <p:nvSpPr>
          <p:cNvPr id="46" name="TextBox 45"/>
          <p:cNvSpPr txBox="1"/>
          <p:nvPr/>
        </p:nvSpPr>
        <p:spPr>
          <a:xfrm>
            <a:off x="8513064" y="4773168"/>
            <a:ext cx="3246120" cy="365760"/>
          </a:xfrm>
          <a:prstGeom prst="rect">
            <a:avLst/>
          </a:prstGeom>
          <a:noFill/>
        </p:spPr>
        <p:txBody>
          <a:bodyPr wrap="square">
            <a:spAutoFit/>
          </a:bodyPr>
          <a:lstStyle/>
          <a:p>
            <a:pPr algn="l"/>
            <a:r>
              <a:rPr sz="950" b="0" i="0">
                <a:solidFill>
                  <a:srgbClr val="AF3232"/>
                </a:solidFill>
                <a:latin typeface="Pretendard"/>
              </a:rPr>
              <a:t>×  "Not X, but Y"</a:t>
            </a:r>
          </a:p>
        </p:txBody>
      </p:sp>
      <p:sp>
        <p:nvSpPr>
          <p:cNvPr id="47" name="TextBox 46"/>
          <p:cNvSpPr txBox="1"/>
          <p:nvPr/>
        </p:nvSpPr>
        <p:spPr>
          <a:xfrm>
            <a:off x="8513064" y="5184648"/>
            <a:ext cx="3246120" cy="365760"/>
          </a:xfrm>
          <a:prstGeom prst="rect">
            <a:avLst/>
          </a:prstGeom>
          <a:noFill/>
        </p:spPr>
        <p:txBody>
          <a:bodyPr wrap="square">
            <a:spAutoFit/>
          </a:bodyPr>
          <a:lstStyle/>
          <a:p>
            <a:pPr algn="l"/>
            <a:r>
              <a:rPr sz="950" b="0" i="0">
                <a:solidFill>
                  <a:srgbClr val="AF3232"/>
                </a:solidFill>
                <a:latin typeface="Pretendard"/>
              </a:rPr>
              <a:t>×  Rhetorical question hooks</a:t>
            </a:r>
          </a:p>
        </p:txBody>
      </p:sp>
      <p:sp>
        <p:nvSpPr>
          <p:cNvPr id="48" name="TextBox 47"/>
          <p:cNvSpPr txBox="1"/>
          <p:nvPr/>
        </p:nvSpPr>
        <p:spPr>
          <a:xfrm>
            <a:off x="8513064" y="5596128"/>
            <a:ext cx="3246120" cy="365760"/>
          </a:xfrm>
          <a:prstGeom prst="rect">
            <a:avLst/>
          </a:prstGeom>
          <a:noFill/>
        </p:spPr>
        <p:txBody>
          <a:bodyPr wrap="square">
            <a:spAutoFit/>
          </a:bodyPr>
          <a:lstStyle/>
          <a:p>
            <a:pPr algn="l"/>
            <a:r>
              <a:rPr sz="950" b="0" i="0">
                <a:solidFill>
                  <a:srgbClr val="AF3232"/>
                </a:solidFill>
                <a:latin typeface="Pretendard"/>
              </a:rPr>
              <a:t>×  Fragment staccato</a:t>
            </a:r>
          </a:p>
        </p:txBody>
      </p:sp>
      <p:sp>
        <p:nvSpPr>
          <p:cNvPr id="49" name="TextBox 48"/>
          <p:cNvSpPr txBox="1"/>
          <p:nvPr/>
        </p:nvSpPr>
        <p:spPr>
          <a:xfrm>
            <a:off x="8513064" y="6007608"/>
            <a:ext cx="3246120" cy="365760"/>
          </a:xfrm>
          <a:prstGeom prst="rect">
            <a:avLst/>
          </a:prstGeom>
          <a:noFill/>
        </p:spPr>
        <p:txBody>
          <a:bodyPr wrap="square">
            <a:spAutoFit/>
          </a:bodyPr>
          <a:lstStyle/>
          <a:p>
            <a:pPr algn="l"/>
            <a:r>
              <a:rPr sz="950" b="0" i="0">
                <a:solidFill>
                  <a:srgbClr val="AF3232"/>
                </a:solidFill>
                <a:latin typeface="Pretendard"/>
              </a:rPr>
              <a:t>×  Uncited accuracy figures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19  THE POSITIONING TEST  |  SIX QUESTIONS BEFORE EVERY CAMPAIGN</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1155680" cy="320040"/>
          </a:xfrm>
          <a:prstGeom prst="rect">
            <a:avLst/>
          </a:prstGeom>
          <a:noFill/>
        </p:spPr>
        <p:txBody>
          <a:bodyPr wrap="square">
            <a:spAutoFit/>
          </a:bodyPr>
          <a:lstStyle/>
          <a:p>
            <a:pPr algn="l"/>
            <a:r>
              <a:rPr sz="1100" b="0" i="0">
                <a:solidFill>
                  <a:srgbClr val="585A5E"/>
                </a:solidFill>
                <a:latin typeface="Pretendard"/>
              </a:rPr>
              <a:t>Run before every campaign brief, product page draft and major social push.</a:t>
            </a:r>
          </a:p>
        </p:txBody>
      </p:sp>
      <p:sp>
        <p:nvSpPr>
          <p:cNvPr id="6" name="Rectangle 5"/>
          <p:cNvSpPr/>
          <p:nvPr/>
        </p:nvSpPr>
        <p:spPr>
          <a:xfrm>
            <a:off x="502920" y="1234440"/>
            <a:ext cx="11192256"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17320"/>
            <a:ext cx="457200" cy="475488"/>
          </a:xfrm>
          <a:prstGeom prst="rect">
            <a:avLst/>
          </a:prstGeom>
          <a:noFill/>
        </p:spPr>
        <p:txBody>
          <a:bodyPr wrap="square">
            <a:spAutoFit/>
          </a:bodyPr>
          <a:lstStyle/>
          <a:p>
            <a:pPr algn="l"/>
            <a:r>
              <a:rPr sz="1700" b="1" i="0">
                <a:solidFill>
                  <a:srgbClr val="C8C8C4"/>
                </a:solidFill>
                <a:latin typeface="Pretendard"/>
              </a:rPr>
              <a:t>1</a:t>
            </a:r>
          </a:p>
        </p:txBody>
      </p:sp>
      <p:sp>
        <p:nvSpPr>
          <p:cNvPr id="8" name="TextBox 7"/>
          <p:cNvSpPr txBox="1"/>
          <p:nvPr/>
        </p:nvSpPr>
        <p:spPr>
          <a:xfrm>
            <a:off x="1298448" y="1344168"/>
            <a:ext cx="2606040" cy="658368"/>
          </a:xfrm>
          <a:prstGeom prst="rect">
            <a:avLst/>
          </a:prstGeom>
          <a:noFill/>
        </p:spPr>
        <p:txBody>
          <a:bodyPr wrap="square">
            <a:spAutoFit/>
          </a:bodyPr>
          <a:lstStyle/>
          <a:p>
            <a:pPr algn="l"/>
            <a:r>
              <a:rPr sz="1050" b="1" i="0">
                <a:solidFill>
                  <a:srgbClr val="0A0A0A"/>
                </a:solidFill>
                <a:latin typeface="Pretendard"/>
              </a:rPr>
              <a:t>Target customer</a:t>
            </a:r>
          </a:p>
        </p:txBody>
      </p:sp>
      <p:sp>
        <p:nvSpPr>
          <p:cNvPr id="9" name="TextBox 8"/>
          <p:cNvSpPr txBox="1"/>
          <p:nvPr/>
        </p:nvSpPr>
        <p:spPr>
          <a:xfrm>
            <a:off x="4041648" y="1344168"/>
            <a:ext cx="7498079" cy="685800"/>
          </a:xfrm>
          <a:prstGeom prst="rect">
            <a:avLst/>
          </a:prstGeom>
          <a:noFill/>
        </p:spPr>
        <p:txBody>
          <a:bodyPr wrap="square">
            <a:spAutoFit/>
          </a:bodyPr>
          <a:lstStyle/>
          <a:p>
            <a:pPr algn="l"/>
            <a:r>
              <a:rPr sz="950" b="0" i="0">
                <a:solidFill>
                  <a:srgbClr val="585A5E"/>
                </a:solidFill>
                <a:latin typeface="Pretendard"/>
              </a:rPr>
              <a:t>Who exactly? Not "enterprises." CISOs and legal ops leads at regulated firms managing EU AI Act compliance before the August 2025 grace period.</a:t>
            </a:r>
          </a:p>
        </p:txBody>
      </p:sp>
      <p:sp>
        <p:nvSpPr>
          <p:cNvPr id="10" name="Rectangle 9"/>
          <p:cNvSpPr/>
          <p:nvPr/>
        </p:nvSpPr>
        <p:spPr>
          <a:xfrm>
            <a:off x="502920" y="2148840"/>
            <a:ext cx="11192256" cy="850392"/>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31720"/>
            <a:ext cx="457200" cy="475488"/>
          </a:xfrm>
          <a:prstGeom prst="rect">
            <a:avLst/>
          </a:prstGeom>
          <a:noFill/>
        </p:spPr>
        <p:txBody>
          <a:bodyPr wrap="square">
            <a:spAutoFit/>
          </a:bodyPr>
          <a:lstStyle/>
          <a:p>
            <a:pPr algn="l"/>
            <a:r>
              <a:rPr sz="1700" b="1" i="0">
                <a:solidFill>
                  <a:srgbClr val="C8C8C4"/>
                </a:solidFill>
                <a:latin typeface="Pretendard"/>
              </a:rPr>
              <a:t>2</a:t>
            </a:r>
          </a:p>
        </p:txBody>
      </p:sp>
      <p:sp>
        <p:nvSpPr>
          <p:cNvPr id="12" name="TextBox 11"/>
          <p:cNvSpPr txBox="1"/>
          <p:nvPr/>
        </p:nvSpPr>
        <p:spPr>
          <a:xfrm>
            <a:off x="1298448" y="2258568"/>
            <a:ext cx="2606040" cy="658368"/>
          </a:xfrm>
          <a:prstGeom prst="rect">
            <a:avLst/>
          </a:prstGeom>
          <a:noFill/>
        </p:spPr>
        <p:txBody>
          <a:bodyPr wrap="square">
            <a:spAutoFit/>
          </a:bodyPr>
          <a:lstStyle/>
          <a:p>
            <a:pPr algn="l"/>
            <a:r>
              <a:rPr sz="1050" b="1" i="0">
                <a:solidFill>
                  <a:srgbClr val="0A0A0A"/>
                </a:solidFill>
                <a:latin typeface="Pretendard"/>
              </a:rPr>
              <a:t>Market category</a:t>
            </a:r>
          </a:p>
        </p:txBody>
      </p:sp>
      <p:sp>
        <p:nvSpPr>
          <p:cNvPr id="13" name="TextBox 12"/>
          <p:cNvSpPr txBox="1"/>
          <p:nvPr/>
        </p:nvSpPr>
        <p:spPr>
          <a:xfrm>
            <a:off x="4041648" y="2258568"/>
            <a:ext cx="7498079" cy="685800"/>
          </a:xfrm>
          <a:prstGeom prst="rect">
            <a:avLst/>
          </a:prstGeom>
          <a:noFill/>
        </p:spPr>
        <p:txBody>
          <a:bodyPr wrap="square">
            <a:spAutoFit/>
          </a:bodyPr>
          <a:lstStyle/>
          <a:p>
            <a:pPr algn="l"/>
            <a:r>
              <a:rPr sz="950" b="0" i="0">
                <a:solidFill>
                  <a:srgbClr val="585A5E"/>
                </a:solidFill>
                <a:latin typeface="Pretendard"/>
              </a:rPr>
              <a:t>Verifiable AI — not "enterprise AI assistant", not "private LLM", not "secure platform."</a:t>
            </a:r>
          </a:p>
        </p:txBody>
      </p:sp>
      <p:sp>
        <p:nvSpPr>
          <p:cNvPr id="14" name="Rectangle 13"/>
          <p:cNvSpPr/>
          <p:nvPr/>
        </p:nvSpPr>
        <p:spPr>
          <a:xfrm>
            <a:off x="502920" y="3063240"/>
            <a:ext cx="11192256"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246120"/>
            <a:ext cx="457200" cy="475488"/>
          </a:xfrm>
          <a:prstGeom prst="rect">
            <a:avLst/>
          </a:prstGeom>
          <a:noFill/>
        </p:spPr>
        <p:txBody>
          <a:bodyPr wrap="square">
            <a:spAutoFit/>
          </a:bodyPr>
          <a:lstStyle/>
          <a:p>
            <a:pPr algn="l"/>
            <a:r>
              <a:rPr sz="1700" b="1" i="0">
                <a:solidFill>
                  <a:srgbClr val="C8C8C4"/>
                </a:solidFill>
                <a:latin typeface="Pretendard"/>
              </a:rPr>
              <a:t>3</a:t>
            </a:r>
          </a:p>
        </p:txBody>
      </p:sp>
      <p:sp>
        <p:nvSpPr>
          <p:cNvPr id="16" name="TextBox 15"/>
          <p:cNvSpPr txBox="1"/>
          <p:nvPr/>
        </p:nvSpPr>
        <p:spPr>
          <a:xfrm>
            <a:off x="1298448" y="3172968"/>
            <a:ext cx="2606040" cy="658368"/>
          </a:xfrm>
          <a:prstGeom prst="rect">
            <a:avLst/>
          </a:prstGeom>
          <a:noFill/>
        </p:spPr>
        <p:txBody>
          <a:bodyPr wrap="square">
            <a:spAutoFit/>
          </a:bodyPr>
          <a:lstStyle/>
          <a:p>
            <a:pPr algn="l"/>
            <a:r>
              <a:rPr sz="1050" b="1" i="0">
                <a:solidFill>
                  <a:srgbClr val="0A0A0A"/>
                </a:solidFill>
                <a:latin typeface="Pretendard"/>
              </a:rPr>
              <a:t>Unique attributes</a:t>
            </a:r>
          </a:p>
        </p:txBody>
      </p:sp>
      <p:sp>
        <p:nvSpPr>
          <p:cNvPr id="17" name="TextBox 16"/>
          <p:cNvSpPr txBox="1"/>
          <p:nvPr/>
        </p:nvSpPr>
        <p:spPr>
          <a:xfrm>
            <a:off x="4041648" y="3172968"/>
            <a:ext cx="7498079" cy="685800"/>
          </a:xfrm>
          <a:prstGeom prst="rect">
            <a:avLst/>
          </a:prstGeom>
          <a:noFill/>
        </p:spPr>
        <p:txBody>
          <a:bodyPr wrap="square">
            <a:spAutoFit/>
          </a:bodyPr>
          <a:lstStyle/>
          <a:p>
            <a:pPr algn="l"/>
            <a:r>
              <a:rPr sz="950" b="0" i="0">
                <a:solidFill>
                  <a:srgbClr val="585A5E"/>
                </a:solidFill>
                <a:latin typeface="Pretendard"/>
              </a:rPr>
              <a:t>Encrypted inference inside a trusted execution environment. The customer's compliance team can audit inference. No competitor offers both.</a:t>
            </a:r>
          </a:p>
        </p:txBody>
      </p:sp>
      <p:sp>
        <p:nvSpPr>
          <p:cNvPr id="18" name="Rectangle 17"/>
          <p:cNvSpPr/>
          <p:nvPr/>
        </p:nvSpPr>
        <p:spPr>
          <a:xfrm>
            <a:off x="502920" y="3977639"/>
            <a:ext cx="11192256" cy="850392"/>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160520"/>
            <a:ext cx="457200" cy="475488"/>
          </a:xfrm>
          <a:prstGeom prst="rect">
            <a:avLst/>
          </a:prstGeom>
          <a:noFill/>
        </p:spPr>
        <p:txBody>
          <a:bodyPr wrap="square">
            <a:spAutoFit/>
          </a:bodyPr>
          <a:lstStyle/>
          <a:p>
            <a:pPr algn="l"/>
            <a:r>
              <a:rPr sz="1700" b="1" i="0">
                <a:solidFill>
                  <a:srgbClr val="C8C8C4"/>
                </a:solidFill>
                <a:latin typeface="Pretendard"/>
              </a:rPr>
              <a:t>4</a:t>
            </a:r>
          </a:p>
        </p:txBody>
      </p:sp>
      <p:sp>
        <p:nvSpPr>
          <p:cNvPr id="20" name="TextBox 19"/>
          <p:cNvSpPr txBox="1"/>
          <p:nvPr/>
        </p:nvSpPr>
        <p:spPr>
          <a:xfrm>
            <a:off x="1298448" y="4087368"/>
            <a:ext cx="2606040" cy="658368"/>
          </a:xfrm>
          <a:prstGeom prst="rect">
            <a:avLst/>
          </a:prstGeom>
          <a:noFill/>
        </p:spPr>
        <p:txBody>
          <a:bodyPr wrap="square">
            <a:spAutoFit/>
          </a:bodyPr>
          <a:lstStyle/>
          <a:p>
            <a:pPr algn="l"/>
            <a:r>
              <a:rPr sz="1050" b="1" i="0">
                <a:solidFill>
                  <a:srgbClr val="0A0A0A"/>
                </a:solidFill>
                <a:latin typeface="Pretendard"/>
              </a:rPr>
              <a:t>Value to the buyer</a:t>
            </a:r>
          </a:p>
        </p:txBody>
      </p:sp>
      <p:sp>
        <p:nvSpPr>
          <p:cNvPr id="21" name="TextBox 20"/>
          <p:cNvSpPr txBox="1"/>
          <p:nvPr/>
        </p:nvSpPr>
        <p:spPr>
          <a:xfrm>
            <a:off x="4041648" y="4087368"/>
            <a:ext cx="7498079" cy="685800"/>
          </a:xfrm>
          <a:prstGeom prst="rect">
            <a:avLst/>
          </a:prstGeom>
          <a:noFill/>
        </p:spPr>
        <p:txBody>
          <a:bodyPr wrap="square">
            <a:spAutoFit/>
          </a:bodyPr>
          <a:lstStyle/>
          <a:p>
            <a:pPr algn="l"/>
            <a:r>
              <a:rPr sz="950" b="0" i="0">
                <a:solidFill>
                  <a:srgbClr val="585A5E"/>
                </a:solidFill>
                <a:latin typeface="Pretendard"/>
              </a:rPr>
              <a:t>A cryptographically auditable trail answers the regulator directly. A policy promise cannot.</a:t>
            </a:r>
          </a:p>
        </p:txBody>
      </p:sp>
      <p:sp>
        <p:nvSpPr>
          <p:cNvPr id="22" name="Rectangle 21"/>
          <p:cNvSpPr/>
          <p:nvPr/>
        </p:nvSpPr>
        <p:spPr>
          <a:xfrm>
            <a:off x="502920" y="4892040"/>
            <a:ext cx="11192256"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5074920"/>
            <a:ext cx="457200" cy="475488"/>
          </a:xfrm>
          <a:prstGeom prst="rect">
            <a:avLst/>
          </a:prstGeom>
          <a:noFill/>
        </p:spPr>
        <p:txBody>
          <a:bodyPr wrap="square">
            <a:spAutoFit/>
          </a:bodyPr>
          <a:lstStyle/>
          <a:p>
            <a:pPr algn="l"/>
            <a:r>
              <a:rPr sz="1700" b="1" i="0">
                <a:solidFill>
                  <a:srgbClr val="C8C8C4"/>
                </a:solidFill>
                <a:latin typeface="Pretendard"/>
              </a:rPr>
              <a:t>5</a:t>
            </a:r>
          </a:p>
        </p:txBody>
      </p:sp>
      <p:sp>
        <p:nvSpPr>
          <p:cNvPr id="24" name="TextBox 23"/>
          <p:cNvSpPr txBox="1"/>
          <p:nvPr/>
        </p:nvSpPr>
        <p:spPr>
          <a:xfrm>
            <a:off x="1298448" y="5001768"/>
            <a:ext cx="2606040" cy="658368"/>
          </a:xfrm>
          <a:prstGeom prst="rect">
            <a:avLst/>
          </a:prstGeom>
          <a:noFill/>
        </p:spPr>
        <p:txBody>
          <a:bodyPr wrap="square">
            <a:spAutoFit/>
          </a:bodyPr>
          <a:lstStyle/>
          <a:p>
            <a:pPr algn="l"/>
            <a:r>
              <a:rPr sz="1050" b="1" i="0">
                <a:solidFill>
                  <a:srgbClr val="0A0A0A"/>
                </a:solidFill>
                <a:latin typeface="Pretendard"/>
              </a:rPr>
              <a:t>Competitive alternatives</a:t>
            </a:r>
          </a:p>
        </p:txBody>
      </p:sp>
      <p:sp>
        <p:nvSpPr>
          <p:cNvPr id="25" name="TextBox 24"/>
          <p:cNvSpPr txBox="1"/>
          <p:nvPr/>
        </p:nvSpPr>
        <p:spPr>
          <a:xfrm>
            <a:off x="4041648" y="5001768"/>
            <a:ext cx="7498079" cy="685800"/>
          </a:xfrm>
          <a:prstGeom prst="rect">
            <a:avLst/>
          </a:prstGeom>
          <a:noFill/>
        </p:spPr>
        <p:txBody>
          <a:bodyPr wrap="square">
            <a:spAutoFit/>
          </a:bodyPr>
          <a:lstStyle/>
          <a:p>
            <a:pPr algn="l"/>
            <a:r>
              <a:rPr sz="950" b="0" i="0">
                <a:solidFill>
                  <a:srgbClr val="585A5E"/>
                </a:solidFill>
                <a:latin typeface="Pretendard"/>
              </a:rPr>
              <a:t>Policy-based SaaS tools, perimeter security stacks, vertical legal AI incumbents (Harvey, Legora for legal).</a:t>
            </a:r>
          </a:p>
        </p:txBody>
      </p:sp>
      <p:sp>
        <p:nvSpPr>
          <p:cNvPr id="26" name="Rectangle 25"/>
          <p:cNvSpPr/>
          <p:nvPr/>
        </p:nvSpPr>
        <p:spPr>
          <a:xfrm>
            <a:off x="502920" y="5806440"/>
            <a:ext cx="11192256" cy="850392"/>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5989320"/>
            <a:ext cx="457200" cy="475488"/>
          </a:xfrm>
          <a:prstGeom prst="rect">
            <a:avLst/>
          </a:prstGeom>
          <a:noFill/>
        </p:spPr>
        <p:txBody>
          <a:bodyPr wrap="square">
            <a:spAutoFit/>
          </a:bodyPr>
          <a:lstStyle/>
          <a:p>
            <a:pPr algn="l"/>
            <a:r>
              <a:rPr sz="1700" b="1" i="0">
                <a:solidFill>
                  <a:srgbClr val="C8C8C4"/>
                </a:solidFill>
                <a:latin typeface="Pretendard"/>
              </a:rPr>
              <a:t>6</a:t>
            </a:r>
          </a:p>
        </p:txBody>
      </p:sp>
      <p:sp>
        <p:nvSpPr>
          <p:cNvPr id="28" name="TextBox 27"/>
          <p:cNvSpPr txBox="1"/>
          <p:nvPr/>
        </p:nvSpPr>
        <p:spPr>
          <a:xfrm>
            <a:off x="1298448" y="5916168"/>
            <a:ext cx="2606040" cy="658368"/>
          </a:xfrm>
          <a:prstGeom prst="rect">
            <a:avLst/>
          </a:prstGeom>
          <a:noFill/>
        </p:spPr>
        <p:txBody>
          <a:bodyPr wrap="square">
            <a:spAutoFit/>
          </a:bodyPr>
          <a:lstStyle/>
          <a:p>
            <a:pPr algn="l"/>
            <a:r>
              <a:rPr sz="1050" b="1" i="0">
                <a:solidFill>
                  <a:srgbClr val="0A0A0A"/>
                </a:solidFill>
                <a:latin typeface="Pretendard"/>
              </a:rPr>
              <a:t>Proof of claim</a:t>
            </a:r>
          </a:p>
        </p:txBody>
      </p:sp>
      <p:sp>
        <p:nvSpPr>
          <p:cNvPr id="29" name="TextBox 28"/>
          <p:cNvSpPr txBox="1"/>
          <p:nvPr/>
        </p:nvSpPr>
        <p:spPr>
          <a:xfrm>
            <a:off x="4041648" y="5916168"/>
            <a:ext cx="7498079" cy="685800"/>
          </a:xfrm>
          <a:prstGeom prst="rect">
            <a:avLst/>
          </a:prstGeom>
          <a:noFill/>
        </p:spPr>
        <p:txBody>
          <a:bodyPr wrap="square">
            <a:spAutoFit/>
          </a:bodyPr>
          <a:lstStyle/>
          <a:p>
            <a:pPr algn="l"/>
            <a:r>
              <a:rPr sz="950" b="0" i="0">
                <a:solidFill>
                  <a:srgbClr val="585A5E"/>
                </a:solidFill>
                <a:latin typeface="Pretendard"/>
              </a:rPr>
              <a:t>The architecture is public. The Confidential API documentation, Enclave technical paper, and named enterprise deployments with audit trail on record.</a:t>
            </a:r>
          </a:p>
        </p:txBody>
      </p:sp>
      <p:sp>
        <p:nvSpPr>
          <p:cNvPr id="30" name="Oval 29"/>
          <p:cNvSpPr/>
          <p:nvPr/>
        </p:nvSpPr>
        <p:spPr>
          <a:xfrm>
            <a:off x="11292840" y="6446520"/>
            <a:ext cx="91440" cy="91440"/>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460175" y="6462979"/>
            <a:ext cx="58521" cy="585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00078" y="6452006"/>
            <a:ext cx="80467" cy="8046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1765584" y="6466636"/>
            <a:ext cx="51206" cy="5120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907316" y="6457492"/>
            <a:ext cx="69494" cy="6949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02336"/>
            <a:ext cx="9144000" cy="256032"/>
          </a:xfrm>
          <a:prstGeom prst="rect">
            <a:avLst/>
          </a:prstGeom>
          <a:noFill/>
        </p:spPr>
        <p:txBody>
          <a:bodyPr wrap="square">
            <a:spAutoFit/>
          </a:bodyPr>
          <a:lstStyle/>
          <a:p>
            <a:pPr algn="l"/>
            <a:r>
              <a:rPr sz="800" b="1" i="0">
                <a:solidFill>
                  <a:srgbClr val="878884"/>
                </a:solidFill>
                <a:latin typeface="Pretendard"/>
              </a:rPr>
              <a:t>20  GOVERNANCE  |  SIGN-OFF BY ROLE · NO EXCEPTIONS</a:t>
            </a:r>
          </a:p>
        </p:txBody>
      </p:sp>
      <p:sp>
        <p:nvSpPr>
          <p:cNvPr id="4" name="Rectangle 3"/>
          <p:cNvSpPr/>
          <p:nvPr/>
        </p:nvSpPr>
        <p:spPr>
          <a:xfrm>
            <a:off x="502920" y="685800"/>
            <a:ext cx="11192256"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22960"/>
            <a:ext cx="11155680" cy="320040"/>
          </a:xfrm>
          <a:prstGeom prst="rect">
            <a:avLst/>
          </a:prstGeom>
          <a:noFill/>
        </p:spPr>
        <p:txBody>
          <a:bodyPr wrap="square">
            <a:spAutoFit/>
          </a:bodyPr>
          <a:lstStyle/>
          <a:p>
            <a:pPr algn="l"/>
            <a:r>
              <a:rPr sz="1100" b="0" i="0">
                <a:solidFill>
                  <a:srgbClr val="585A5E"/>
                </a:solidFill>
                <a:latin typeface="Pretendard"/>
              </a:rPr>
              <a:t>Approval = sign-off before publication. It is not an editing right.</a:t>
            </a:r>
          </a:p>
        </p:txBody>
      </p:sp>
      <p:sp>
        <p:nvSpPr>
          <p:cNvPr id="6" name="Rectangle 5"/>
          <p:cNvSpPr/>
          <p:nvPr/>
        </p:nvSpPr>
        <p:spPr>
          <a:xfrm>
            <a:off x="502920" y="1261872"/>
            <a:ext cx="11192256" cy="402336"/>
          </a:xfrm>
          <a:prstGeom prst="rect">
            <a:avLst/>
          </a:prstGeom>
          <a:solidFill>
            <a:srgbClr val="161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35024"/>
            <a:ext cx="3154680" cy="274320"/>
          </a:xfrm>
          <a:prstGeom prst="rect">
            <a:avLst/>
          </a:prstGeom>
          <a:noFill/>
        </p:spPr>
        <p:txBody>
          <a:bodyPr wrap="square">
            <a:spAutoFit/>
          </a:bodyPr>
          <a:lstStyle/>
          <a:p>
            <a:pPr algn="l"/>
            <a:r>
              <a:rPr sz="800" b="1" i="0">
                <a:solidFill>
                  <a:srgbClr val="FFFFFF"/>
                </a:solidFill>
                <a:latin typeface="Pretendard"/>
              </a:rPr>
              <a:t>CONTENT TYPE</a:t>
            </a:r>
          </a:p>
        </p:txBody>
      </p:sp>
      <p:sp>
        <p:nvSpPr>
          <p:cNvPr id="8" name="TextBox 7"/>
          <p:cNvSpPr txBox="1"/>
          <p:nvPr/>
        </p:nvSpPr>
        <p:spPr>
          <a:xfrm>
            <a:off x="3886200" y="1335024"/>
            <a:ext cx="2423160" cy="274320"/>
          </a:xfrm>
          <a:prstGeom prst="rect">
            <a:avLst/>
          </a:prstGeom>
          <a:noFill/>
        </p:spPr>
        <p:txBody>
          <a:bodyPr wrap="square">
            <a:spAutoFit/>
          </a:bodyPr>
          <a:lstStyle/>
          <a:p>
            <a:pPr algn="l"/>
            <a:r>
              <a:rPr sz="800" b="1" i="0">
                <a:solidFill>
                  <a:srgbClr val="FFFFFF"/>
                </a:solidFill>
                <a:latin typeface="Pretendard"/>
              </a:rPr>
              <a:t>APPROVING ROLE</a:t>
            </a:r>
          </a:p>
        </p:txBody>
      </p:sp>
      <p:sp>
        <p:nvSpPr>
          <p:cNvPr id="9" name="TextBox 8"/>
          <p:cNvSpPr txBox="1"/>
          <p:nvPr/>
        </p:nvSpPr>
        <p:spPr>
          <a:xfrm>
            <a:off x="6355080" y="1335024"/>
            <a:ext cx="5303520" cy="274320"/>
          </a:xfrm>
          <a:prstGeom prst="rect">
            <a:avLst/>
          </a:prstGeom>
          <a:noFill/>
        </p:spPr>
        <p:txBody>
          <a:bodyPr wrap="square">
            <a:spAutoFit/>
          </a:bodyPr>
          <a:lstStyle/>
          <a:p>
            <a:pPr algn="l"/>
            <a:r>
              <a:rPr sz="800" b="1" i="0">
                <a:solidFill>
                  <a:srgbClr val="FFFFFF"/>
                </a:solidFill>
                <a:latin typeface="Pretendard"/>
              </a:rPr>
              <a:t>WHY</a:t>
            </a:r>
          </a:p>
        </p:txBody>
      </p:sp>
      <p:sp>
        <p:nvSpPr>
          <p:cNvPr id="10" name="Rectangle 9"/>
          <p:cNvSpPr/>
          <p:nvPr/>
        </p:nvSpPr>
        <p:spPr>
          <a:xfrm>
            <a:off x="502920" y="1664208"/>
            <a:ext cx="11192256"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737360"/>
            <a:ext cx="3154680" cy="475488"/>
          </a:xfrm>
          <a:prstGeom prst="rect">
            <a:avLst/>
          </a:prstGeom>
          <a:noFill/>
        </p:spPr>
        <p:txBody>
          <a:bodyPr wrap="square">
            <a:spAutoFit/>
          </a:bodyPr>
          <a:lstStyle/>
          <a:p>
            <a:pPr algn="l"/>
            <a:r>
              <a:rPr sz="900" b="1" i="0">
                <a:solidFill>
                  <a:srgbClr val="0A0A0A"/>
                </a:solidFill>
                <a:latin typeface="Pretendard"/>
              </a:rPr>
              <a:t>Press and media statements</a:t>
            </a:r>
          </a:p>
        </p:txBody>
      </p:sp>
      <p:sp>
        <p:nvSpPr>
          <p:cNvPr id="12" name="TextBox 11"/>
          <p:cNvSpPr txBox="1"/>
          <p:nvPr/>
        </p:nvSpPr>
        <p:spPr>
          <a:xfrm>
            <a:off x="3886200" y="1737360"/>
            <a:ext cx="2423160" cy="475488"/>
          </a:xfrm>
          <a:prstGeom prst="rect">
            <a:avLst/>
          </a:prstGeom>
          <a:noFill/>
        </p:spPr>
        <p:txBody>
          <a:bodyPr wrap="square">
            <a:spAutoFit/>
          </a:bodyPr>
          <a:lstStyle/>
          <a:p>
            <a:pPr algn="l"/>
            <a:r>
              <a:rPr sz="900" b="0" i="0">
                <a:solidFill>
                  <a:srgbClr val="585A5E"/>
                </a:solidFill>
                <a:latin typeface="Pretendard"/>
              </a:rPr>
              <a:t>CEO</a:t>
            </a:r>
          </a:p>
        </p:txBody>
      </p:sp>
      <p:sp>
        <p:nvSpPr>
          <p:cNvPr id="13" name="TextBox 12"/>
          <p:cNvSpPr txBox="1"/>
          <p:nvPr/>
        </p:nvSpPr>
        <p:spPr>
          <a:xfrm>
            <a:off x="6355080" y="1737360"/>
            <a:ext cx="5257800" cy="475488"/>
          </a:xfrm>
          <a:prstGeom prst="rect">
            <a:avLst/>
          </a:prstGeom>
          <a:noFill/>
        </p:spPr>
        <p:txBody>
          <a:bodyPr wrap="square">
            <a:spAutoFit/>
          </a:bodyPr>
          <a:lstStyle/>
          <a:p>
            <a:pPr algn="l"/>
            <a:r>
              <a:rPr sz="850" b="0" i="0">
                <a:solidFill>
                  <a:srgbClr val="585A5E"/>
                </a:solidFill>
                <a:latin typeface="Pretendard"/>
              </a:rPr>
              <a:t>Anything attributed to the company or its leadership.</a:t>
            </a:r>
          </a:p>
        </p:txBody>
      </p:sp>
      <p:sp>
        <p:nvSpPr>
          <p:cNvPr id="14" name="Rectangle 13"/>
          <p:cNvSpPr/>
          <p:nvPr/>
        </p:nvSpPr>
        <p:spPr>
          <a:xfrm>
            <a:off x="502920" y="2258568"/>
            <a:ext cx="11192256" cy="594360"/>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331720"/>
            <a:ext cx="3154680" cy="475488"/>
          </a:xfrm>
          <a:prstGeom prst="rect">
            <a:avLst/>
          </a:prstGeom>
          <a:noFill/>
        </p:spPr>
        <p:txBody>
          <a:bodyPr wrap="square">
            <a:spAutoFit/>
          </a:bodyPr>
          <a:lstStyle/>
          <a:p>
            <a:pPr algn="l"/>
            <a:r>
              <a:rPr sz="900" b="1" i="0">
                <a:solidFill>
                  <a:srgbClr val="0A0A0A"/>
                </a:solidFill>
                <a:latin typeface="Pretendard"/>
              </a:rPr>
              <a:t>Technical and architecture claims</a:t>
            </a:r>
          </a:p>
        </p:txBody>
      </p:sp>
      <p:sp>
        <p:nvSpPr>
          <p:cNvPr id="16" name="TextBox 15"/>
          <p:cNvSpPr txBox="1"/>
          <p:nvPr/>
        </p:nvSpPr>
        <p:spPr>
          <a:xfrm>
            <a:off x="3886200" y="2331720"/>
            <a:ext cx="2423160" cy="475488"/>
          </a:xfrm>
          <a:prstGeom prst="rect">
            <a:avLst/>
          </a:prstGeom>
          <a:noFill/>
        </p:spPr>
        <p:txBody>
          <a:bodyPr wrap="square">
            <a:spAutoFit/>
          </a:bodyPr>
          <a:lstStyle/>
          <a:p>
            <a:pPr algn="l"/>
            <a:r>
              <a:rPr sz="900" b="0" i="0">
                <a:solidFill>
                  <a:srgbClr val="585A5E"/>
                </a:solidFill>
                <a:latin typeface="Pretendard"/>
              </a:rPr>
              <a:t>CTO</a:t>
            </a:r>
          </a:p>
        </p:txBody>
      </p:sp>
      <p:sp>
        <p:nvSpPr>
          <p:cNvPr id="17" name="TextBox 16"/>
          <p:cNvSpPr txBox="1"/>
          <p:nvPr/>
        </p:nvSpPr>
        <p:spPr>
          <a:xfrm>
            <a:off x="6355080" y="2331720"/>
            <a:ext cx="5257800" cy="475488"/>
          </a:xfrm>
          <a:prstGeom prst="rect">
            <a:avLst/>
          </a:prstGeom>
          <a:noFill/>
        </p:spPr>
        <p:txBody>
          <a:bodyPr wrap="square">
            <a:spAutoFit/>
          </a:bodyPr>
          <a:lstStyle/>
          <a:p>
            <a:pPr algn="l"/>
            <a:r>
              <a:rPr sz="850" b="0" i="0">
                <a:solidFill>
                  <a:srgbClr val="585A5E"/>
                </a:solidFill>
                <a:latin typeface="Pretendard"/>
              </a:rPr>
              <a:t>Accuracy figures, TEE claims, certifications. Verify before publishing.</a:t>
            </a:r>
          </a:p>
        </p:txBody>
      </p:sp>
      <p:sp>
        <p:nvSpPr>
          <p:cNvPr id="18" name="Rectangle 17"/>
          <p:cNvSpPr/>
          <p:nvPr/>
        </p:nvSpPr>
        <p:spPr>
          <a:xfrm>
            <a:off x="502920" y="2852928"/>
            <a:ext cx="11192256"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926080"/>
            <a:ext cx="3154680" cy="475488"/>
          </a:xfrm>
          <a:prstGeom prst="rect">
            <a:avLst/>
          </a:prstGeom>
          <a:noFill/>
        </p:spPr>
        <p:txBody>
          <a:bodyPr wrap="square">
            <a:spAutoFit/>
          </a:bodyPr>
          <a:lstStyle/>
          <a:p>
            <a:pPr algn="l"/>
            <a:r>
              <a:rPr sz="900" b="1" i="0">
                <a:solidFill>
                  <a:srgbClr val="0A0A0A"/>
                </a:solidFill>
                <a:latin typeface="Pretendard"/>
              </a:rPr>
              <a:t>Public pricing mentions</a:t>
            </a:r>
          </a:p>
        </p:txBody>
      </p:sp>
      <p:sp>
        <p:nvSpPr>
          <p:cNvPr id="20" name="TextBox 19"/>
          <p:cNvSpPr txBox="1"/>
          <p:nvPr/>
        </p:nvSpPr>
        <p:spPr>
          <a:xfrm>
            <a:off x="3886200" y="2926080"/>
            <a:ext cx="2423160" cy="475488"/>
          </a:xfrm>
          <a:prstGeom prst="rect">
            <a:avLst/>
          </a:prstGeom>
          <a:noFill/>
        </p:spPr>
        <p:txBody>
          <a:bodyPr wrap="square">
            <a:spAutoFit/>
          </a:bodyPr>
          <a:lstStyle/>
          <a:p>
            <a:pPr algn="l"/>
            <a:r>
              <a:rPr sz="900" b="0" i="0">
                <a:solidFill>
                  <a:srgbClr val="585A5E"/>
                </a:solidFill>
                <a:latin typeface="Pretendard"/>
              </a:rPr>
              <a:t>Sales lead + CEO</a:t>
            </a:r>
          </a:p>
        </p:txBody>
      </p:sp>
      <p:sp>
        <p:nvSpPr>
          <p:cNvPr id="21" name="TextBox 20"/>
          <p:cNvSpPr txBox="1"/>
          <p:nvPr/>
        </p:nvSpPr>
        <p:spPr>
          <a:xfrm>
            <a:off x="6355080" y="2926080"/>
            <a:ext cx="5257800" cy="475488"/>
          </a:xfrm>
          <a:prstGeom prst="rect">
            <a:avLst/>
          </a:prstGeom>
          <a:noFill/>
        </p:spPr>
        <p:txBody>
          <a:bodyPr wrap="square">
            <a:spAutoFit/>
          </a:bodyPr>
          <a:lstStyle/>
          <a:p>
            <a:pPr algn="l"/>
            <a:r>
              <a:rPr sz="850" b="0" i="0">
                <a:solidFill>
                  <a:srgbClr val="585A5E"/>
                </a:solidFill>
                <a:latin typeface="Pretendard"/>
              </a:rPr>
              <a:t>Pricing errors are costly and impossible to quietly retract.</a:t>
            </a:r>
          </a:p>
        </p:txBody>
      </p:sp>
      <p:sp>
        <p:nvSpPr>
          <p:cNvPr id="22" name="Rectangle 21"/>
          <p:cNvSpPr/>
          <p:nvPr/>
        </p:nvSpPr>
        <p:spPr>
          <a:xfrm>
            <a:off x="502920" y="3447288"/>
            <a:ext cx="11192256" cy="594360"/>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520440"/>
            <a:ext cx="3154680" cy="475488"/>
          </a:xfrm>
          <a:prstGeom prst="rect">
            <a:avLst/>
          </a:prstGeom>
          <a:noFill/>
        </p:spPr>
        <p:txBody>
          <a:bodyPr wrap="square">
            <a:spAutoFit/>
          </a:bodyPr>
          <a:lstStyle/>
          <a:p>
            <a:pPr algn="l"/>
            <a:r>
              <a:rPr sz="900" b="1" i="0">
                <a:solidFill>
                  <a:srgbClr val="0A0A0A"/>
                </a:solidFill>
                <a:latin typeface="Pretendard"/>
              </a:rPr>
              <a:t>Campaign strategy and content calendars</a:t>
            </a:r>
          </a:p>
        </p:txBody>
      </p:sp>
      <p:sp>
        <p:nvSpPr>
          <p:cNvPr id="24" name="TextBox 23"/>
          <p:cNvSpPr txBox="1"/>
          <p:nvPr/>
        </p:nvSpPr>
        <p:spPr>
          <a:xfrm>
            <a:off x="3886200" y="3520440"/>
            <a:ext cx="2423160" cy="475488"/>
          </a:xfrm>
          <a:prstGeom prst="rect">
            <a:avLst/>
          </a:prstGeom>
          <a:noFill/>
        </p:spPr>
        <p:txBody>
          <a:bodyPr wrap="square">
            <a:spAutoFit/>
          </a:bodyPr>
          <a:lstStyle/>
          <a:p>
            <a:pPr algn="l"/>
            <a:r>
              <a:rPr sz="900" b="0" i="0">
                <a:solidFill>
                  <a:srgbClr val="585A5E"/>
                </a:solidFill>
                <a:latin typeface="Pretendard"/>
              </a:rPr>
              <a:t>Marketing lead</a:t>
            </a:r>
          </a:p>
        </p:txBody>
      </p:sp>
      <p:sp>
        <p:nvSpPr>
          <p:cNvPr id="25" name="TextBox 24"/>
          <p:cNvSpPr txBox="1"/>
          <p:nvPr/>
        </p:nvSpPr>
        <p:spPr>
          <a:xfrm>
            <a:off x="6355080" y="3520440"/>
            <a:ext cx="5257800" cy="475488"/>
          </a:xfrm>
          <a:prstGeom prst="rect">
            <a:avLst/>
          </a:prstGeom>
          <a:noFill/>
        </p:spPr>
        <p:txBody>
          <a:bodyPr wrap="square">
            <a:spAutoFit/>
          </a:bodyPr>
          <a:lstStyle/>
          <a:p>
            <a:pPr algn="l"/>
            <a:r>
              <a:rPr sz="850" b="0" i="0">
                <a:solidFill>
                  <a:srgbClr val="585A5E"/>
                </a:solidFill>
                <a:latin typeface="Pretendard"/>
              </a:rPr>
              <a:t>Briefs, channel plans, calendars and influencer briefs.</a:t>
            </a:r>
          </a:p>
        </p:txBody>
      </p:sp>
      <p:sp>
        <p:nvSpPr>
          <p:cNvPr id="26" name="Rectangle 25"/>
          <p:cNvSpPr/>
          <p:nvPr/>
        </p:nvSpPr>
        <p:spPr>
          <a:xfrm>
            <a:off x="502920" y="4041648"/>
            <a:ext cx="11192256"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114800"/>
            <a:ext cx="3154680" cy="475488"/>
          </a:xfrm>
          <a:prstGeom prst="rect">
            <a:avLst/>
          </a:prstGeom>
          <a:noFill/>
        </p:spPr>
        <p:txBody>
          <a:bodyPr wrap="square">
            <a:spAutoFit/>
          </a:bodyPr>
          <a:lstStyle/>
          <a:p>
            <a:pPr algn="l"/>
            <a:r>
              <a:rPr sz="900" b="1" i="0">
                <a:solidFill>
                  <a:srgbClr val="0A0A0A"/>
                </a:solidFill>
                <a:latin typeface="Pretendard"/>
              </a:rPr>
              <a:t>Platform bios and handle changes</a:t>
            </a:r>
          </a:p>
        </p:txBody>
      </p:sp>
      <p:sp>
        <p:nvSpPr>
          <p:cNvPr id="28" name="TextBox 27"/>
          <p:cNvSpPr txBox="1"/>
          <p:nvPr/>
        </p:nvSpPr>
        <p:spPr>
          <a:xfrm>
            <a:off x="3886200" y="4114800"/>
            <a:ext cx="2423160" cy="475488"/>
          </a:xfrm>
          <a:prstGeom prst="rect">
            <a:avLst/>
          </a:prstGeom>
          <a:noFill/>
        </p:spPr>
        <p:txBody>
          <a:bodyPr wrap="square">
            <a:spAutoFit/>
          </a:bodyPr>
          <a:lstStyle/>
          <a:p>
            <a:pPr algn="l"/>
            <a:r>
              <a:rPr sz="900" b="0" i="0">
                <a:solidFill>
                  <a:srgbClr val="585A5E"/>
                </a:solidFill>
                <a:latin typeface="Pretendard"/>
              </a:rPr>
              <a:t>Marketing lead + CEO</a:t>
            </a:r>
          </a:p>
        </p:txBody>
      </p:sp>
      <p:sp>
        <p:nvSpPr>
          <p:cNvPr id="29" name="TextBox 28"/>
          <p:cNvSpPr txBox="1"/>
          <p:nvPr/>
        </p:nvSpPr>
        <p:spPr>
          <a:xfrm>
            <a:off x="6355080" y="4114800"/>
            <a:ext cx="5257800" cy="475488"/>
          </a:xfrm>
          <a:prstGeom prst="rect">
            <a:avLst/>
          </a:prstGeom>
          <a:noFill/>
        </p:spPr>
        <p:txBody>
          <a:bodyPr wrap="square">
            <a:spAutoFit/>
          </a:bodyPr>
          <a:lstStyle/>
          <a:p>
            <a:pPr algn="l"/>
            <a:r>
              <a:rPr sz="850" b="0" i="0">
                <a:solidFill>
                  <a:srgbClr val="585A5E"/>
                </a:solidFill>
                <a:latin typeface="Pretendard"/>
              </a:rPr>
              <a:t>Bios govern search discovery. Both sign off.</a:t>
            </a:r>
          </a:p>
        </p:txBody>
      </p:sp>
      <p:sp>
        <p:nvSpPr>
          <p:cNvPr id="30" name="Rectangle 29"/>
          <p:cNvSpPr/>
          <p:nvPr/>
        </p:nvSpPr>
        <p:spPr>
          <a:xfrm>
            <a:off x="502920" y="4636008"/>
            <a:ext cx="11192256" cy="594360"/>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709160"/>
            <a:ext cx="3154680" cy="475488"/>
          </a:xfrm>
          <a:prstGeom prst="rect">
            <a:avLst/>
          </a:prstGeom>
          <a:noFill/>
        </p:spPr>
        <p:txBody>
          <a:bodyPr wrap="square">
            <a:spAutoFit/>
          </a:bodyPr>
          <a:lstStyle/>
          <a:p>
            <a:pPr algn="l"/>
            <a:r>
              <a:rPr sz="900" b="1" i="0">
                <a:solidFill>
                  <a:srgbClr val="0A0A0A"/>
                </a:solidFill>
                <a:latin typeface="Pretendard"/>
              </a:rPr>
              <a:t>Brand visual changes</a:t>
            </a:r>
          </a:p>
        </p:txBody>
      </p:sp>
      <p:sp>
        <p:nvSpPr>
          <p:cNvPr id="32" name="TextBox 31"/>
          <p:cNvSpPr txBox="1"/>
          <p:nvPr/>
        </p:nvSpPr>
        <p:spPr>
          <a:xfrm>
            <a:off x="3886200" y="4709160"/>
            <a:ext cx="2423160" cy="475488"/>
          </a:xfrm>
          <a:prstGeom prst="rect">
            <a:avLst/>
          </a:prstGeom>
          <a:noFill/>
        </p:spPr>
        <p:txBody>
          <a:bodyPr wrap="square">
            <a:spAutoFit/>
          </a:bodyPr>
          <a:lstStyle/>
          <a:p>
            <a:pPr algn="l"/>
            <a:r>
              <a:rPr sz="900" b="0" i="0">
                <a:solidFill>
                  <a:srgbClr val="585A5E"/>
                </a:solidFill>
                <a:latin typeface="Pretendard"/>
              </a:rPr>
              <a:t>CEO + design review</a:t>
            </a:r>
          </a:p>
        </p:txBody>
      </p:sp>
      <p:sp>
        <p:nvSpPr>
          <p:cNvPr id="33" name="TextBox 32"/>
          <p:cNvSpPr txBox="1"/>
          <p:nvPr/>
        </p:nvSpPr>
        <p:spPr>
          <a:xfrm>
            <a:off x="6355080" y="4709160"/>
            <a:ext cx="5257800" cy="475488"/>
          </a:xfrm>
          <a:prstGeom prst="rect">
            <a:avLst/>
          </a:prstGeom>
          <a:noFill/>
        </p:spPr>
        <p:txBody>
          <a:bodyPr wrap="square">
            <a:spAutoFit/>
          </a:bodyPr>
          <a:lstStyle/>
          <a:p>
            <a:pPr algn="l"/>
            <a:r>
              <a:rPr sz="850" b="0" i="0">
                <a:solidFill>
                  <a:srgbClr val="585A5E"/>
                </a:solidFill>
                <a:latin typeface="Pretendard"/>
              </a:rPr>
              <a:t>Color, logo or type modifications require a consistency audit first.</a:t>
            </a:r>
          </a:p>
        </p:txBody>
      </p:sp>
      <p:sp>
        <p:nvSpPr>
          <p:cNvPr id="34" name="Rectangle 33"/>
          <p:cNvSpPr/>
          <p:nvPr/>
        </p:nvSpPr>
        <p:spPr>
          <a:xfrm>
            <a:off x="502920" y="5230368"/>
            <a:ext cx="11192256"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03520"/>
            <a:ext cx="3154680" cy="475488"/>
          </a:xfrm>
          <a:prstGeom prst="rect">
            <a:avLst/>
          </a:prstGeom>
          <a:noFill/>
        </p:spPr>
        <p:txBody>
          <a:bodyPr wrap="square">
            <a:spAutoFit/>
          </a:bodyPr>
          <a:lstStyle/>
          <a:p>
            <a:pPr algn="l"/>
            <a:r>
              <a:rPr sz="900" b="1" i="0">
                <a:solidFill>
                  <a:srgbClr val="0A0A0A"/>
                </a:solidFill>
                <a:latin typeface="Pretendard"/>
              </a:rPr>
              <a:t>Influencer content</a:t>
            </a:r>
          </a:p>
        </p:txBody>
      </p:sp>
      <p:sp>
        <p:nvSpPr>
          <p:cNvPr id="36" name="TextBox 35"/>
          <p:cNvSpPr txBox="1"/>
          <p:nvPr/>
        </p:nvSpPr>
        <p:spPr>
          <a:xfrm>
            <a:off x="3886200" y="5303520"/>
            <a:ext cx="2423160" cy="475488"/>
          </a:xfrm>
          <a:prstGeom prst="rect">
            <a:avLst/>
          </a:prstGeom>
          <a:noFill/>
        </p:spPr>
        <p:txBody>
          <a:bodyPr wrap="square">
            <a:spAutoFit/>
          </a:bodyPr>
          <a:lstStyle/>
          <a:p>
            <a:pPr algn="l"/>
            <a:r>
              <a:rPr sz="900" b="0" i="0">
                <a:solidFill>
                  <a:srgbClr val="585A5E"/>
                </a:solidFill>
                <a:latin typeface="Pretendard"/>
              </a:rPr>
              <a:t>Marketing lead; CEO above 50K reach</a:t>
            </a:r>
          </a:p>
        </p:txBody>
      </p:sp>
      <p:sp>
        <p:nvSpPr>
          <p:cNvPr id="37" name="TextBox 36"/>
          <p:cNvSpPr txBox="1"/>
          <p:nvPr/>
        </p:nvSpPr>
        <p:spPr>
          <a:xfrm>
            <a:off x="6355080" y="5303520"/>
            <a:ext cx="5257800" cy="475488"/>
          </a:xfrm>
          <a:prstGeom prst="rect">
            <a:avLst/>
          </a:prstGeom>
          <a:noFill/>
        </p:spPr>
        <p:txBody>
          <a:bodyPr wrap="square">
            <a:spAutoFit/>
          </a:bodyPr>
          <a:lstStyle/>
          <a:p>
            <a:pPr algn="l"/>
            <a:r>
              <a:rPr sz="850" b="0" i="0">
                <a:solidFill>
                  <a:srgbClr val="585A5E"/>
                </a:solidFill>
                <a:latin typeface="Pretendard"/>
              </a:rPr>
              <a:t>Approve the facts. The creator keeps their voice.</a:t>
            </a:r>
          </a:p>
        </p:txBody>
      </p:sp>
      <p:sp>
        <p:nvSpPr>
          <p:cNvPr id="38" name="Rectangle 37"/>
          <p:cNvSpPr/>
          <p:nvPr/>
        </p:nvSpPr>
        <p:spPr>
          <a:xfrm>
            <a:off x="502920" y="5824728"/>
            <a:ext cx="11192256" cy="594360"/>
          </a:xfrm>
          <a:prstGeom prst="rect">
            <a:avLst/>
          </a:prstGeom>
          <a:solidFill>
            <a:srgbClr val="F2F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897879"/>
            <a:ext cx="3154680" cy="475488"/>
          </a:xfrm>
          <a:prstGeom prst="rect">
            <a:avLst/>
          </a:prstGeom>
          <a:noFill/>
        </p:spPr>
        <p:txBody>
          <a:bodyPr wrap="square">
            <a:spAutoFit/>
          </a:bodyPr>
          <a:lstStyle/>
          <a:p>
            <a:pPr algn="l"/>
            <a:r>
              <a:rPr sz="900" b="1" i="0">
                <a:solidFill>
                  <a:srgbClr val="0A0A0A"/>
                </a:solidFill>
                <a:latin typeface="Pretendard"/>
              </a:rPr>
              <a:t>Crisis or regulatory response</a:t>
            </a:r>
          </a:p>
        </p:txBody>
      </p:sp>
      <p:sp>
        <p:nvSpPr>
          <p:cNvPr id="40" name="TextBox 39"/>
          <p:cNvSpPr txBox="1"/>
          <p:nvPr/>
        </p:nvSpPr>
        <p:spPr>
          <a:xfrm>
            <a:off x="3886200" y="5897879"/>
            <a:ext cx="2423160" cy="475488"/>
          </a:xfrm>
          <a:prstGeom prst="rect">
            <a:avLst/>
          </a:prstGeom>
          <a:noFill/>
        </p:spPr>
        <p:txBody>
          <a:bodyPr wrap="square">
            <a:spAutoFit/>
          </a:bodyPr>
          <a:lstStyle/>
          <a:p>
            <a:pPr algn="l"/>
            <a:r>
              <a:rPr sz="900" b="0" i="0">
                <a:solidFill>
                  <a:srgbClr val="585A5E"/>
                </a:solidFill>
                <a:latin typeface="Pretendard"/>
              </a:rPr>
              <a:t>CEO + legal counsel</a:t>
            </a:r>
          </a:p>
        </p:txBody>
      </p:sp>
      <p:sp>
        <p:nvSpPr>
          <p:cNvPr id="41" name="TextBox 40"/>
          <p:cNvSpPr txBox="1"/>
          <p:nvPr/>
        </p:nvSpPr>
        <p:spPr>
          <a:xfrm>
            <a:off x="6355080" y="5897879"/>
            <a:ext cx="5257800" cy="475488"/>
          </a:xfrm>
          <a:prstGeom prst="rect">
            <a:avLst/>
          </a:prstGeom>
          <a:noFill/>
        </p:spPr>
        <p:txBody>
          <a:bodyPr wrap="square">
            <a:spAutoFit/>
          </a:bodyPr>
          <a:lstStyle/>
          <a:p>
            <a:pPr algn="l"/>
            <a:r>
              <a:rPr sz="850" b="0" i="0">
                <a:solidFill>
                  <a:srgbClr val="585A5E"/>
                </a:solidFill>
                <a:latin typeface="Pretendard"/>
              </a:rPr>
              <a:t>Regulatory inquiries, data incidents, significant public criticism.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609" cy="685800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474720"/>
            <a:ext cx="12192609" cy="3383280"/>
          </a:xfrm>
          <a:prstGeom prst="rect">
            <a:avLst/>
          </a:prstGeom>
          <a:solidFill>
            <a:srgbClr val="AABC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023360"/>
            <a:ext cx="12192609" cy="2834640"/>
          </a:xfrm>
          <a:prstGeom prst="rect">
            <a:avLst/>
          </a:prstGeom>
          <a:solidFill>
            <a:srgbClr val="BEC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4572000"/>
            <a:ext cx="12192609" cy="2286000"/>
          </a:xfrm>
          <a:prstGeom prst="rect">
            <a:avLst/>
          </a:prstGeom>
          <a:solidFill>
            <a:srgbClr val="D7E1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0" y="3566160"/>
            <a:ext cx="12192609" cy="3291840"/>
          </a:xfrm>
          <a:custGeom>
            <a:avLst/>
            <a:gdLst/>
            <a:ahLst/>
            <a:cxnLst/>
            <a:rect l="l" t="t" r="r" b="b"/>
            <a:pathLst>
              <a:path w="12192609" h="3291840">
                <a:moveTo>
                  <a:pt x="0" y="3291840"/>
                </a:moveTo>
                <a:lnTo>
                  <a:pt x="0" y="868680"/>
                </a:lnTo>
                <a:lnTo>
                  <a:pt x="1645920" y="182879"/>
                </a:lnTo>
                <a:lnTo>
                  <a:pt x="3291840" y="685800"/>
                </a:lnTo>
                <a:lnTo>
                  <a:pt x="4937760" y="0"/>
                </a:lnTo>
                <a:lnTo>
                  <a:pt x="6583680" y="548640"/>
                </a:lnTo>
                <a:lnTo>
                  <a:pt x="8229600" y="45720"/>
                </a:lnTo>
                <a:lnTo>
                  <a:pt x="9875520" y="640080"/>
                </a:lnTo>
                <a:lnTo>
                  <a:pt x="11430000" y="228600"/>
                </a:lnTo>
                <a:lnTo>
                  <a:pt x="12192609" y="594360"/>
                </a:lnTo>
                <a:lnTo>
                  <a:pt x="12192609" y="3291840"/>
                </a:lnTo>
                <a:close/>
              </a:path>
            </a:pathLst>
          </a:custGeom>
          <a:solidFill>
            <a:srgbClr val="ACAD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0" y="4389120"/>
            <a:ext cx="12192609" cy="2468880"/>
          </a:xfrm>
          <a:custGeom>
            <a:avLst/>
            <a:gdLst/>
            <a:ahLst/>
            <a:cxnLst/>
            <a:rect l="l" t="t" r="r" b="b"/>
            <a:pathLst>
              <a:path w="12192609" h="2468880">
                <a:moveTo>
                  <a:pt x="0" y="2468880"/>
                </a:moveTo>
                <a:lnTo>
                  <a:pt x="0" y="685800"/>
                </a:lnTo>
                <a:lnTo>
                  <a:pt x="2011680" y="137160"/>
                </a:lnTo>
                <a:lnTo>
                  <a:pt x="4023360" y="594360"/>
                </a:lnTo>
                <a:lnTo>
                  <a:pt x="6035040" y="0"/>
                </a:lnTo>
                <a:lnTo>
                  <a:pt x="8046720" y="502920"/>
                </a:lnTo>
                <a:lnTo>
                  <a:pt x="10058400" y="109728"/>
                </a:lnTo>
                <a:lnTo>
                  <a:pt x="12192609" y="457200"/>
                </a:lnTo>
                <a:lnTo>
                  <a:pt x="12192609" y="2468880"/>
                </a:lnTo>
                <a:close/>
              </a:path>
            </a:pathLst>
          </a:custGeom>
          <a:solidFill>
            <a:srgbClr val="C3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0"/>
            <a:ext cx="12192609" cy="3566160"/>
          </a:xfrm>
          <a:prstGeom prst="rect">
            <a:avLst/>
          </a:prstGeom>
          <a:solidFill>
            <a:srgbClr val="FCF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7369" y="479785"/>
            <a:ext cx="62362" cy="6236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09574" y="488289"/>
            <a:ext cx="45354" cy="4535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78739" y="483754"/>
            <a:ext cx="54425" cy="54425"/>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9810" y="491124"/>
            <a:ext cx="39684" cy="3968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9542" y="487155"/>
            <a:ext cx="47621" cy="476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73857" y="563124"/>
            <a:ext cx="43086" cy="4308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9621" y="555187"/>
            <a:ext cx="58960" cy="58960"/>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0125" y="561990"/>
            <a:ext cx="45354" cy="4535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89290" y="557454"/>
            <a:ext cx="54425" cy="54425"/>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73195" y="567659"/>
            <a:ext cx="34015" cy="34015"/>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4739" y="634557"/>
            <a:ext cx="47621" cy="4762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6172" y="632289"/>
            <a:ext cx="52157" cy="5215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73070" y="625486"/>
            <a:ext cx="65763" cy="65763"/>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54707" y="633423"/>
            <a:ext cx="49889" cy="4988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1810" y="636824"/>
            <a:ext cx="43086" cy="43086"/>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79527" y="716194"/>
            <a:ext cx="31747" cy="3174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1889" y="704856"/>
            <a:ext cx="54425" cy="54425"/>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11621" y="700887"/>
            <a:ext cx="62362" cy="6236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93825" y="709391"/>
            <a:ext cx="45354" cy="4535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5258" y="707123"/>
            <a:ext cx="49889" cy="4988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0409" y="787627"/>
            <a:ext cx="36283" cy="36283"/>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09574" y="783092"/>
            <a:ext cx="45354" cy="4535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78739" y="778556"/>
            <a:ext cx="54425" cy="54425"/>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60377" y="786493"/>
            <a:ext cx="38551" cy="38551"/>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37479" y="789895"/>
            <a:ext cx="31747" cy="3174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71600" y="502920"/>
            <a:ext cx="4572000" cy="438912"/>
          </a:xfrm>
          <a:prstGeom prst="rect">
            <a:avLst/>
          </a:prstGeom>
          <a:noFill/>
        </p:spPr>
        <p:txBody>
          <a:bodyPr wrap="square">
            <a:spAutoFit/>
          </a:bodyPr>
          <a:lstStyle/>
          <a:p>
            <a:pPr algn="l"/>
            <a:r>
              <a:rPr sz="2800" b="1" i="0">
                <a:solidFill>
                  <a:srgbClr val="0A0A0A"/>
                </a:solidFill>
                <a:latin typeface="Pretendard"/>
              </a:rPr>
              <a:t>PREM</a:t>
            </a:r>
          </a:p>
        </p:txBody>
      </p:sp>
      <p:sp>
        <p:nvSpPr>
          <p:cNvPr id="35" name="Rectangle 34"/>
          <p:cNvSpPr/>
          <p:nvPr/>
        </p:nvSpPr>
        <p:spPr>
          <a:xfrm>
            <a:off x="502920" y="1078992"/>
            <a:ext cx="4114800" cy="914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261872"/>
            <a:ext cx="10058400" cy="384048"/>
          </a:xfrm>
          <a:prstGeom prst="rect">
            <a:avLst/>
          </a:prstGeom>
          <a:noFill/>
        </p:spPr>
        <p:txBody>
          <a:bodyPr wrap="square">
            <a:spAutoFit/>
          </a:bodyPr>
          <a:lstStyle/>
          <a:p>
            <a:pPr algn="l"/>
            <a:r>
              <a:rPr sz="1300" b="0" i="0">
                <a:solidFill>
                  <a:srgbClr val="585A5E"/>
                </a:solidFill>
                <a:latin typeface="Pretendard"/>
              </a:rPr>
              <a:t>One rule above all others:</a:t>
            </a:r>
          </a:p>
        </p:txBody>
      </p:sp>
      <p:sp>
        <p:nvSpPr>
          <p:cNvPr id="37" name="TextBox 36"/>
          <p:cNvSpPr txBox="1"/>
          <p:nvPr/>
        </p:nvSpPr>
        <p:spPr>
          <a:xfrm>
            <a:off x="502920" y="1737360"/>
            <a:ext cx="10515600" cy="1325880"/>
          </a:xfrm>
          <a:prstGeom prst="rect">
            <a:avLst/>
          </a:prstGeom>
          <a:noFill/>
        </p:spPr>
        <p:txBody>
          <a:bodyPr wrap="square">
            <a:spAutoFit/>
          </a:bodyPr>
          <a:lstStyle/>
          <a:p>
            <a:pPr algn="l"/>
            <a:r>
              <a:rPr sz="3200" b="1" i="0">
                <a:solidFill>
                  <a:srgbClr val="0A0A0A"/>
                </a:solidFill>
                <a:latin typeface="Pretendard"/>
              </a:rPr>
              <a:t>Be consistently more useful
than you are impressive.</a:t>
            </a:r>
          </a:p>
        </p:txBody>
      </p:sp>
      <p:sp>
        <p:nvSpPr>
          <p:cNvPr id="38" name="TextBox 37"/>
          <p:cNvSpPr txBox="1"/>
          <p:nvPr/>
        </p:nvSpPr>
        <p:spPr>
          <a:xfrm>
            <a:off x="502920" y="3154680"/>
            <a:ext cx="9601200" cy="502920"/>
          </a:xfrm>
          <a:prstGeom prst="rect">
            <a:avLst/>
          </a:prstGeom>
          <a:noFill/>
        </p:spPr>
        <p:txBody>
          <a:bodyPr wrap="square">
            <a:spAutoFit/>
          </a:bodyPr>
          <a:lstStyle/>
          <a:p>
            <a:pPr algn="l"/>
            <a:r>
              <a:rPr sz="1050" b="0" i="0">
                <a:solidFill>
                  <a:srgbClr val="585A5E"/>
                </a:solidFill>
                <a:latin typeface="Pretendard"/>
              </a:rPr>
              <a:t>The brand is a promise kept in every post, every document, every conversation. Hold the standard.</a:t>
            </a:r>
          </a:p>
        </p:txBody>
      </p:sp>
      <p:sp>
        <p:nvSpPr>
          <p:cNvPr id="39" name="TextBox 38"/>
          <p:cNvSpPr txBox="1"/>
          <p:nvPr/>
        </p:nvSpPr>
        <p:spPr>
          <a:xfrm>
            <a:off x="502920" y="6172200"/>
            <a:ext cx="5486400" cy="292608"/>
          </a:xfrm>
          <a:prstGeom prst="rect">
            <a:avLst/>
          </a:prstGeom>
          <a:noFill/>
        </p:spPr>
        <p:txBody>
          <a:bodyPr wrap="square">
            <a:spAutoFit/>
          </a:bodyPr>
          <a:lstStyle/>
          <a:p>
            <a:pPr algn="l"/>
            <a:r>
              <a:rPr sz="1000" b="1" i="0">
                <a:solidFill>
                  <a:srgbClr val="585A5E"/>
                </a:solidFill>
                <a:latin typeface="Pretendard"/>
              </a:rPr>
              <a:t>Intelligence in Service</a:t>
            </a:r>
          </a:p>
        </p:txBody>
      </p:sp>
      <p:sp>
        <p:nvSpPr>
          <p:cNvPr id="40" name="TextBox 39"/>
          <p:cNvSpPr txBox="1"/>
          <p:nvPr/>
        </p:nvSpPr>
        <p:spPr>
          <a:xfrm>
            <a:off x="502920" y="6492240"/>
            <a:ext cx="7315200" cy="256032"/>
          </a:xfrm>
          <a:prstGeom prst="rect">
            <a:avLst/>
          </a:prstGeom>
          <a:noFill/>
        </p:spPr>
        <p:txBody>
          <a:bodyPr wrap="square">
            <a:spAutoFit/>
          </a:bodyPr>
          <a:lstStyle/>
          <a:p>
            <a:pPr algn="l"/>
            <a:r>
              <a:rPr sz="850" b="0" i="0">
                <a:solidFill>
                  <a:srgbClr val="C8C8C4"/>
                </a:solidFill>
                <a:latin typeface="Pretendard"/>
              </a:rPr>
              <a:t>Prem Brand Bible  v4.0   June 2026   Internal use only</a:t>
            </a:r>
          </a:p>
        </p:txBody>
      </p:sp>
      <p:sp>
        <p:nvSpPr>
          <p:cNvPr id="41" name="Oval 40"/>
          <p:cNvSpPr/>
          <p:nvPr/>
        </p:nvSpPr>
        <p:spPr>
          <a:xfrm>
            <a:off x="11292840" y="6446520"/>
            <a:ext cx="91440" cy="91440"/>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460175" y="6462979"/>
            <a:ext cx="58521" cy="58521"/>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1600078" y="6452006"/>
            <a:ext cx="80467" cy="80467"/>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1765584" y="6466636"/>
            <a:ext cx="51206" cy="51206"/>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907316" y="6457492"/>
            <a:ext cx="69494" cy="69494"/>
          </a:xfrm>
          <a:prstGeom prst="ellipse">
            <a:avLst/>
          </a:prstGeom>
          <a:solidFill>
            <a:srgbClr val="58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
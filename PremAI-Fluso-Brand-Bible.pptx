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Logo gradient verified from logo.svg at static.premai.io (premAI-io/static.premai.io, fetched 9 Jun 2026): #7F96FF, #F58E8E, #F2D398. Lugano HQ address per public company information: Crocicchio Cortogna 6, 6900 Lugano.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Gradient stops read directly from logo.svg in premAI-io/static.premai.io: stop 0 #7F96FF, stop 0.505785 #F58E8E, stop 1 #F2D398. Neutrals Paper #FAF9F5 and Ink #17171B taken from the existing PremAI deck system. Fluso exact logo hexes were not available to verify; flagged on slide rather than guessed.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Pretendard verified as the brand typeface: the fonts directory of premAI-io/static.premai.io contains Pretendard-Regular.woff2, Pretendard-SemiBold.woff2, Pretendard-Bold.woff2 (checked 9 Jun 2026). If the logo wordmark itself uses a different custom face, confirm against the master logo file; everything else runs on Pretendard.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4892040"/>
            <a:ext cx="12198096" cy="1965960"/>
          </a:xfrm>
          <a:custGeom>
            <a:avLst/>
            <a:gdLst/>
            <a:ahLst/>
            <a:cxnLst/>
            <a:rect l="l" t="t" r="r" b="b"/>
            <a:pathLst>
              <a:path w="12198096" h="1965960">
                <a:moveTo>
                  <a:pt x="0" y="1965960"/>
                </a:moveTo>
                <a:lnTo>
                  <a:pt x="0" y="868680"/>
                </a:lnTo>
                <a:lnTo>
                  <a:pt x="1463040" y="246888"/>
                </a:lnTo>
                <a:lnTo>
                  <a:pt x="2926080" y="758952"/>
                </a:lnTo>
                <a:lnTo>
                  <a:pt x="4389120" y="0"/>
                </a:lnTo>
                <a:lnTo>
                  <a:pt x="5852160" y="685800"/>
                </a:lnTo>
                <a:lnTo>
                  <a:pt x="7315200" y="137160"/>
                </a:lnTo>
                <a:lnTo>
                  <a:pt x="8778240" y="758952"/>
                </a:lnTo>
                <a:lnTo>
                  <a:pt x="10241280" y="338328"/>
                </a:lnTo>
                <a:lnTo>
                  <a:pt x="12198096" y="850392"/>
                </a:lnTo>
                <a:lnTo>
                  <a:pt x="12198096" y="1965960"/>
                </a:lnTo>
                <a:close/>
              </a:path>
            </a:pathLst>
          </a:custGeom>
          <a:solidFill>
            <a:srgbClr val="E1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5440680"/>
            <a:ext cx="12198096" cy="1417320"/>
          </a:xfrm>
          <a:custGeom>
            <a:avLst/>
            <a:gdLst/>
            <a:ahLst/>
            <a:cxnLst/>
            <a:rect l="l" t="t" r="r" b="b"/>
            <a:pathLst>
              <a:path w="12198096" h="1417320">
                <a:moveTo>
                  <a:pt x="0" y="1417320"/>
                </a:moveTo>
                <a:lnTo>
                  <a:pt x="0" y="704088"/>
                </a:lnTo>
                <a:lnTo>
                  <a:pt x="2011680" y="91440"/>
                </a:lnTo>
                <a:lnTo>
                  <a:pt x="4023360" y="612648"/>
                </a:lnTo>
                <a:lnTo>
                  <a:pt x="6035040" y="0"/>
                </a:lnTo>
                <a:lnTo>
                  <a:pt x="8046720" y="521208"/>
                </a:lnTo>
                <a:lnTo>
                  <a:pt x="10058400" y="155448"/>
                </a:lnTo>
                <a:lnTo>
                  <a:pt x="12198096" y="612648"/>
                </a:lnTo>
                <a:lnTo>
                  <a:pt x="12198096" y="1417320"/>
                </a:lnTo>
                <a:close/>
              </a:path>
            </a:pathLst>
          </a:custGeom>
          <a:solidFill>
            <a:srgbClr val="FC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5870448"/>
            <a:ext cx="12198096" cy="987552"/>
          </a:xfrm>
          <a:custGeom>
            <a:avLst/>
            <a:gdLst/>
            <a:ahLst/>
            <a:cxnLst/>
            <a:rect l="l" t="t" r="r" b="b"/>
            <a:pathLst>
              <a:path w="12198096" h="987552">
                <a:moveTo>
                  <a:pt x="0" y="987552"/>
                </a:moveTo>
                <a:lnTo>
                  <a:pt x="0" y="576072"/>
                </a:lnTo>
                <a:lnTo>
                  <a:pt x="2377440" y="118872"/>
                </a:lnTo>
                <a:lnTo>
                  <a:pt x="4754880" y="512064"/>
                </a:lnTo>
                <a:lnTo>
                  <a:pt x="7132320" y="0"/>
                </a:lnTo>
                <a:lnTo>
                  <a:pt x="9509760" y="457200"/>
                </a:lnTo>
                <a:lnTo>
                  <a:pt x="12198096" y="182880"/>
                </a:lnTo>
                <a:lnTo>
                  <a:pt x="12198096" y="987552"/>
                </a:lnTo>
                <a:close/>
              </a:path>
            </a:pathLst>
          </a:cu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21977" y="1032357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27133" y="1032357"/>
            <a:ext cx="65836" cy="65836"/>
          </a:xfrm>
          <a:prstGeom prst="ellipse">
            <a:avLst/>
          </a:prstGeom>
          <a:solidFill>
            <a:srgbClr val="E7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32289" y="1032357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737445" y="1032357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11665" y="1137513"/>
            <a:ext cx="65836" cy="65836"/>
          </a:xfrm>
          <a:prstGeom prst="ellipse">
            <a:avLst/>
          </a:prstGeom>
          <a:solidFill>
            <a:srgbClr val="DE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16821" y="1137513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1977" y="1137513"/>
            <a:ext cx="65836" cy="65836"/>
          </a:xfrm>
          <a:prstGeom prst="ellipse">
            <a:avLst/>
          </a:prstGeom>
          <a:solidFill>
            <a:srgbClr val="E5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527133" y="1137513"/>
            <a:ext cx="65836" cy="65836"/>
          </a:xfrm>
          <a:prstGeom prst="ellipse">
            <a:avLst/>
          </a:prstGeom>
          <a:solidFill>
            <a:srgbClr val="E9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32289" y="1137513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37445" y="1137513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42601" y="1137513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47757" y="1137513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2913" y="1137513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1041" y="1242669"/>
            <a:ext cx="65836" cy="65836"/>
          </a:xfrm>
          <a:prstGeom prst="ellipse">
            <a:avLst/>
          </a:prstGeom>
          <a:solidFill>
            <a:srgbClr val="D0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96197" y="1242669"/>
            <a:ext cx="65836" cy="65836"/>
          </a:xfrm>
          <a:prstGeom prst="ellipse">
            <a:avLst/>
          </a:prstGeom>
          <a:solidFill>
            <a:srgbClr val="D4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001353" y="1242669"/>
            <a:ext cx="65836" cy="65836"/>
          </a:xfrm>
          <a:prstGeom prst="ellipse">
            <a:avLst/>
          </a:prstGeom>
          <a:solidFill>
            <a:srgbClr val="D8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106509" y="1242669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11665" y="1242669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16821" y="1242669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421977" y="1242669"/>
            <a:ext cx="65836" cy="65836"/>
          </a:xfrm>
          <a:prstGeom prst="ellipse">
            <a:avLst/>
          </a:prstGeom>
          <a:solidFill>
            <a:srgbClr val="E7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27133" y="1242669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32289" y="1242669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37445" y="1242669"/>
            <a:ext cx="65836" cy="65836"/>
          </a:xfrm>
          <a:prstGeom prst="ellipse">
            <a:avLst/>
          </a:prstGeom>
          <a:solidFill>
            <a:srgbClr val="F2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42601" y="1242669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47757" y="1242669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2913" y="1242669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158069" y="1242669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63225" y="1242669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70417" y="1347825"/>
            <a:ext cx="65836" cy="65836"/>
          </a:xfrm>
          <a:prstGeom prst="ellipse">
            <a:avLst/>
          </a:prstGeom>
          <a:solidFill>
            <a:srgbClr val="C39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75573" y="1347825"/>
            <a:ext cx="65836" cy="65836"/>
          </a:xfrm>
          <a:prstGeom prst="ellipse">
            <a:avLst/>
          </a:prstGeom>
          <a:solidFill>
            <a:srgbClr val="C7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580729" y="1347825"/>
            <a:ext cx="65836" cy="65836"/>
          </a:xfrm>
          <a:prstGeom prst="ellipse">
            <a:avLst/>
          </a:prstGeom>
          <a:solidFill>
            <a:srgbClr val="CB90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5885" y="1347825"/>
            <a:ext cx="65836" cy="65836"/>
          </a:xfrm>
          <a:prstGeom prst="ellipse">
            <a:avLst/>
          </a:prstGeom>
          <a:solidFill>
            <a:srgbClr val="CE9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91041" y="1347825"/>
            <a:ext cx="65836" cy="65836"/>
          </a:xfrm>
          <a:prstGeom prst="ellipse">
            <a:avLst/>
          </a:prstGeom>
          <a:solidFill>
            <a:srgbClr val="D2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896197" y="1347825"/>
            <a:ext cx="65836" cy="65836"/>
          </a:xfrm>
          <a:prstGeom prst="ellipse">
            <a:avLst/>
          </a:prstGeom>
          <a:solidFill>
            <a:srgbClr val="D69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001353" y="1347825"/>
            <a:ext cx="65836" cy="65836"/>
          </a:xfrm>
          <a:prstGeom prst="ellipse">
            <a:avLst/>
          </a:prstGeom>
          <a:solidFill>
            <a:srgbClr val="DA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106509" y="1347825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211665" y="1347825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316821" y="1347825"/>
            <a:ext cx="65836" cy="65836"/>
          </a:xfrm>
          <a:prstGeom prst="ellipse">
            <a:avLst/>
          </a:prstGeom>
          <a:solidFill>
            <a:srgbClr val="E5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421977" y="1347825"/>
            <a:ext cx="65836" cy="65836"/>
          </a:xfrm>
          <a:prstGeom prst="ellipse">
            <a:avLst/>
          </a:prstGeom>
          <a:solidFill>
            <a:srgbClr val="E9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27133" y="1347825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32289" y="1347825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737445" y="1347825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42601" y="1347825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47757" y="1347825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052913" y="1347825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0158069" y="1347825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63225" y="1347825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368381" y="1347825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0473537" y="1347825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265261" y="1452981"/>
            <a:ext cx="65836" cy="65836"/>
          </a:xfrm>
          <a:prstGeom prst="ellipse">
            <a:avLst/>
          </a:prstGeom>
          <a:solidFill>
            <a:srgbClr val="C19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70417" y="1452981"/>
            <a:ext cx="65836" cy="65836"/>
          </a:xfrm>
          <a:prstGeom prst="ellipse">
            <a:avLst/>
          </a:prstGeom>
          <a:solidFill>
            <a:srgbClr val="C59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475573" y="1452981"/>
            <a:ext cx="65836" cy="65836"/>
          </a:xfrm>
          <a:prstGeom prst="ellipse">
            <a:avLst/>
          </a:prstGeom>
          <a:solidFill>
            <a:srgbClr val="C9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580729" y="1452981"/>
            <a:ext cx="65836" cy="65836"/>
          </a:xfrm>
          <a:prstGeom prst="ellipse">
            <a:avLst/>
          </a:prstGeom>
          <a:solidFill>
            <a:srgbClr val="CD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85885" y="1452981"/>
            <a:ext cx="65836" cy="65836"/>
          </a:xfrm>
          <a:prstGeom prst="ellipse">
            <a:avLst/>
          </a:prstGeom>
          <a:solidFill>
            <a:srgbClr val="D0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91041" y="1452981"/>
            <a:ext cx="65836" cy="65836"/>
          </a:xfrm>
          <a:prstGeom prst="ellipse">
            <a:avLst/>
          </a:prstGeom>
          <a:solidFill>
            <a:srgbClr val="D4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896197" y="1452981"/>
            <a:ext cx="65836" cy="65836"/>
          </a:xfrm>
          <a:prstGeom prst="ellipse">
            <a:avLst/>
          </a:prstGeom>
          <a:solidFill>
            <a:srgbClr val="D8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9001353" y="1452981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106509" y="1452981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211665" y="1452981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316821" y="1452981"/>
            <a:ext cx="65836" cy="65836"/>
          </a:xfrm>
          <a:prstGeom prst="ellipse">
            <a:avLst/>
          </a:prstGeom>
          <a:solidFill>
            <a:srgbClr val="E7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421977" y="1452981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527133" y="1452981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632289" y="1452981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37445" y="1452981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9842601" y="1452981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9947757" y="1452981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0052913" y="1452981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0158069" y="1452981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0263225" y="1452981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0368381" y="1452981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0473537" y="1452981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160105" y="1558137"/>
            <a:ext cx="65836" cy="65836"/>
          </a:xfrm>
          <a:prstGeom prst="ellipse">
            <a:avLst/>
          </a:prstGeom>
          <a:solidFill>
            <a:srgbClr val="BF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265261" y="1558137"/>
            <a:ext cx="65836" cy="65836"/>
          </a:xfrm>
          <a:prstGeom prst="ellipse">
            <a:avLst/>
          </a:prstGeom>
          <a:solidFill>
            <a:srgbClr val="C39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370417" y="1558137"/>
            <a:ext cx="65836" cy="65836"/>
          </a:xfrm>
          <a:prstGeom prst="ellipse">
            <a:avLst/>
          </a:prstGeom>
          <a:solidFill>
            <a:srgbClr val="C7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475573" y="1558137"/>
            <a:ext cx="65836" cy="65836"/>
          </a:xfrm>
          <a:prstGeom prst="ellipse">
            <a:avLst/>
          </a:prstGeom>
          <a:solidFill>
            <a:srgbClr val="CB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580729" y="1558137"/>
            <a:ext cx="65836" cy="65836"/>
          </a:xfrm>
          <a:prstGeom prst="ellipse">
            <a:avLst/>
          </a:prstGeom>
          <a:solidFill>
            <a:srgbClr val="CF9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685885" y="1558137"/>
            <a:ext cx="65836" cy="65836"/>
          </a:xfrm>
          <a:prstGeom prst="ellipse">
            <a:avLst/>
          </a:prstGeom>
          <a:solidFill>
            <a:srgbClr val="D2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791041" y="1558137"/>
            <a:ext cx="65836" cy="65836"/>
          </a:xfrm>
          <a:prstGeom prst="ellipse">
            <a:avLst/>
          </a:prstGeom>
          <a:solidFill>
            <a:srgbClr val="D6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896197" y="1558137"/>
            <a:ext cx="65836" cy="65836"/>
          </a:xfrm>
          <a:prstGeom prst="ellipse">
            <a:avLst/>
          </a:prstGeom>
          <a:solidFill>
            <a:srgbClr val="DA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9001353" y="1558137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106509" y="1558137"/>
            <a:ext cx="65836" cy="65836"/>
          </a:xfrm>
          <a:prstGeom prst="ellipse">
            <a:avLst/>
          </a:prstGeom>
          <a:solidFill>
            <a:srgbClr val="E2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211665" y="1558137"/>
            <a:ext cx="65836" cy="65836"/>
          </a:xfrm>
          <a:prstGeom prst="ellipse">
            <a:avLst/>
          </a:prstGeom>
          <a:solidFill>
            <a:srgbClr val="E5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316821" y="1558137"/>
            <a:ext cx="65836" cy="65836"/>
          </a:xfrm>
          <a:prstGeom prst="ellipse">
            <a:avLst/>
          </a:prstGeom>
          <a:solidFill>
            <a:srgbClr val="E9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421977" y="1558137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527133" y="1558137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9632289" y="1558137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9737445" y="1558137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842601" y="1558137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947757" y="1558137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0052913" y="1558137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0158069" y="1558137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0263225" y="1558137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368381" y="1558137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0473537" y="1558137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0578693" y="1558137"/>
            <a:ext cx="65836" cy="65836"/>
          </a:xfrm>
          <a:prstGeom prst="ellipse">
            <a:avLst/>
          </a:prstGeom>
          <a:solidFill>
            <a:srgbClr val="F4A2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949793" y="1663293"/>
            <a:ext cx="65836" cy="65836"/>
          </a:xfrm>
          <a:prstGeom prst="ellipse">
            <a:avLst/>
          </a:prstGeom>
          <a:solidFill>
            <a:srgbClr val="BA91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054949" y="1663293"/>
            <a:ext cx="65836" cy="65836"/>
          </a:xfrm>
          <a:prstGeom prst="ellipse">
            <a:avLst/>
          </a:prstGeom>
          <a:solidFill>
            <a:srgbClr val="BE91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160105" y="1663293"/>
            <a:ext cx="65836" cy="65836"/>
          </a:xfrm>
          <a:prstGeom prst="ellipse">
            <a:avLst/>
          </a:prstGeom>
          <a:solidFill>
            <a:srgbClr val="C1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265261" y="1663293"/>
            <a:ext cx="65836" cy="65836"/>
          </a:xfrm>
          <a:prstGeom prst="ellipse">
            <a:avLst/>
          </a:prstGeom>
          <a:solidFill>
            <a:srgbClr val="C59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370417" y="1663293"/>
            <a:ext cx="65836" cy="65836"/>
          </a:xfrm>
          <a:prstGeom prst="ellipse">
            <a:avLst/>
          </a:prstGeom>
          <a:solidFill>
            <a:srgbClr val="C9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475573" y="1663293"/>
            <a:ext cx="65836" cy="65836"/>
          </a:xfrm>
          <a:prstGeom prst="ellipse">
            <a:avLst/>
          </a:prstGeom>
          <a:solidFill>
            <a:srgbClr val="CD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80729" y="1663293"/>
            <a:ext cx="65836" cy="65836"/>
          </a:xfrm>
          <a:prstGeom prst="ellipse">
            <a:avLst/>
          </a:prstGeom>
          <a:solidFill>
            <a:srgbClr val="D1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685885" y="1663293"/>
            <a:ext cx="65836" cy="65836"/>
          </a:xfrm>
          <a:prstGeom prst="ellipse">
            <a:avLst/>
          </a:prstGeom>
          <a:solidFill>
            <a:srgbClr val="D4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791041" y="1663293"/>
            <a:ext cx="65836" cy="65836"/>
          </a:xfrm>
          <a:prstGeom prst="ellipse">
            <a:avLst/>
          </a:prstGeom>
          <a:solidFill>
            <a:srgbClr val="D8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896197" y="1663293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9001353" y="1663293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9106509" y="1663293"/>
            <a:ext cx="65836" cy="65836"/>
          </a:xfrm>
          <a:prstGeom prst="ellipse">
            <a:avLst/>
          </a:prstGeom>
          <a:solidFill>
            <a:srgbClr val="E4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9211665" y="1663293"/>
            <a:ext cx="65836" cy="65836"/>
          </a:xfrm>
          <a:prstGeom prst="ellipse">
            <a:avLst/>
          </a:prstGeom>
          <a:solidFill>
            <a:srgbClr val="E7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9316821" y="1663293"/>
            <a:ext cx="65836" cy="65836"/>
          </a:xfrm>
          <a:prstGeom prst="ellipse">
            <a:avLst/>
          </a:prstGeom>
          <a:solidFill>
            <a:srgbClr val="EB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9421977" y="1663293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9527133" y="1663293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9632289" y="1663293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9737445" y="1663293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9842601" y="1663293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9947757" y="1663293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052913" y="1663293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158069" y="1663293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0263225" y="1663293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0368381" y="1663293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10473537" y="1663293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578693" y="1663293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844637" y="1768449"/>
            <a:ext cx="65836" cy="65836"/>
          </a:xfrm>
          <a:prstGeom prst="ellipse">
            <a:avLst/>
          </a:prstGeom>
          <a:solidFill>
            <a:srgbClr val="B8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949793" y="1768449"/>
            <a:ext cx="65836" cy="65836"/>
          </a:xfrm>
          <a:prstGeom prst="ellipse">
            <a:avLst/>
          </a:prstGeom>
          <a:solidFill>
            <a:srgbClr val="BC9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054949" y="1768449"/>
            <a:ext cx="65836" cy="65836"/>
          </a:xfrm>
          <a:prstGeom prst="ellipse">
            <a:avLst/>
          </a:prstGeom>
          <a:solidFill>
            <a:srgbClr val="C0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160105" y="1768449"/>
            <a:ext cx="65836" cy="65836"/>
          </a:xfrm>
          <a:prstGeom prst="ellipse">
            <a:avLst/>
          </a:prstGeom>
          <a:solidFill>
            <a:srgbClr val="C391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265261" y="1768449"/>
            <a:ext cx="65836" cy="65836"/>
          </a:xfrm>
          <a:prstGeom prst="ellipse">
            <a:avLst/>
          </a:prstGeom>
          <a:solidFill>
            <a:srgbClr val="C7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370417" y="1768449"/>
            <a:ext cx="65836" cy="65836"/>
          </a:xfrm>
          <a:prstGeom prst="ellipse">
            <a:avLst/>
          </a:prstGeom>
          <a:solidFill>
            <a:srgbClr val="CB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75573" y="1768449"/>
            <a:ext cx="65836" cy="65836"/>
          </a:xfrm>
          <a:prstGeom prst="ellipse">
            <a:avLst/>
          </a:prstGeom>
          <a:solidFill>
            <a:srgbClr val="CF9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580729" y="1768449"/>
            <a:ext cx="65836" cy="65836"/>
          </a:xfrm>
          <a:prstGeom prst="ellipse">
            <a:avLst/>
          </a:prstGeom>
          <a:solidFill>
            <a:srgbClr val="D3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685885" y="1768449"/>
            <a:ext cx="65836" cy="65836"/>
          </a:xfrm>
          <a:prstGeom prst="ellipse">
            <a:avLst/>
          </a:prstGeom>
          <a:solidFill>
            <a:srgbClr val="D6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91041" y="1768449"/>
            <a:ext cx="65836" cy="65836"/>
          </a:xfrm>
          <a:prstGeom prst="ellipse">
            <a:avLst/>
          </a:prstGeom>
          <a:solidFill>
            <a:srgbClr val="DA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896197" y="1768449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001353" y="1768449"/>
            <a:ext cx="65836" cy="65836"/>
          </a:xfrm>
          <a:prstGeom prst="ellipse">
            <a:avLst/>
          </a:prstGeom>
          <a:solidFill>
            <a:srgbClr val="E2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106509" y="1768449"/>
            <a:ext cx="65836" cy="65836"/>
          </a:xfrm>
          <a:prstGeom prst="ellipse">
            <a:avLst/>
          </a:prstGeom>
          <a:solidFill>
            <a:srgbClr val="E6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211665" y="1768449"/>
            <a:ext cx="65836" cy="65836"/>
          </a:xfrm>
          <a:prstGeom prst="ellipse">
            <a:avLst/>
          </a:prstGeom>
          <a:solidFill>
            <a:srgbClr val="E9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316821" y="1768449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421977" y="1768449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527133" y="1768449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32289" y="1768449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737445" y="1768449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842601" y="1768449"/>
            <a:ext cx="65836" cy="65836"/>
          </a:xfrm>
          <a:prstGeom prst="ellipse">
            <a:avLst/>
          </a:prstGeom>
          <a:solidFill>
            <a:srgbClr val="F494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947757" y="1768449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052913" y="1768449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158069" y="1768449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263225" y="1768449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368381" y="1768449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473537" y="1768449"/>
            <a:ext cx="65836" cy="65836"/>
          </a:xfrm>
          <a:prstGeom prst="ellipse">
            <a:avLst/>
          </a:prstGeom>
          <a:solidFill>
            <a:srgbClr val="F4A2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578693" y="1768449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7739481" y="1873605"/>
            <a:ext cx="65836" cy="65836"/>
          </a:xfrm>
          <a:prstGeom prst="ellipse">
            <a:avLst/>
          </a:prstGeom>
          <a:solidFill>
            <a:srgbClr val="B69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7844637" y="1873605"/>
            <a:ext cx="65836" cy="65836"/>
          </a:xfrm>
          <a:prstGeom prst="ellipse">
            <a:avLst/>
          </a:prstGeom>
          <a:solidFill>
            <a:srgbClr val="BA91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7949793" y="1873605"/>
            <a:ext cx="65836" cy="65836"/>
          </a:xfrm>
          <a:prstGeom prst="ellipse">
            <a:avLst/>
          </a:prstGeom>
          <a:solidFill>
            <a:srgbClr val="BE91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054949" y="1873605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160105" y="1873605"/>
            <a:ext cx="65836" cy="65836"/>
          </a:xfrm>
          <a:prstGeom prst="ellipse">
            <a:avLst/>
          </a:prstGeom>
          <a:solidFill>
            <a:srgbClr val="C591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265261" y="1873605"/>
            <a:ext cx="65836" cy="65836"/>
          </a:xfrm>
          <a:prstGeom prst="ellipse">
            <a:avLst/>
          </a:prstGeom>
          <a:solidFill>
            <a:srgbClr val="C9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370417" y="1873605"/>
            <a:ext cx="65836" cy="65836"/>
          </a:xfrm>
          <a:prstGeom prst="ellipse">
            <a:avLst/>
          </a:prstGeom>
          <a:solidFill>
            <a:srgbClr val="CD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475573" y="1873605"/>
            <a:ext cx="65836" cy="65836"/>
          </a:xfrm>
          <a:prstGeom prst="ellipse">
            <a:avLst/>
          </a:prstGeom>
          <a:solidFill>
            <a:srgbClr val="D1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580729" y="1873605"/>
            <a:ext cx="65836" cy="65836"/>
          </a:xfrm>
          <a:prstGeom prst="ellipse">
            <a:avLst/>
          </a:prstGeom>
          <a:solidFill>
            <a:srgbClr val="D5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5885" y="1873605"/>
            <a:ext cx="65836" cy="65836"/>
          </a:xfrm>
          <a:prstGeom prst="ellipse">
            <a:avLst/>
          </a:prstGeom>
          <a:solidFill>
            <a:srgbClr val="D8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791041" y="1873605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896197" y="1873605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9001353" y="1873605"/>
            <a:ext cx="65836" cy="65836"/>
          </a:xfrm>
          <a:prstGeom prst="ellipse">
            <a:avLst/>
          </a:prstGeom>
          <a:solidFill>
            <a:srgbClr val="E4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9106509" y="1873605"/>
            <a:ext cx="65836" cy="65836"/>
          </a:xfrm>
          <a:prstGeom prst="ellipse">
            <a:avLst/>
          </a:prstGeom>
          <a:solidFill>
            <a:srgbClr val="E8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211665" y="1873605"/>
            <a:ext cx="65836" cy="65836"/>
          </a:xfrm>
          <a:prstGeom prst="ellipse">
            <a:avLst/>
          </a:prstGeom>
          <a:solidFill>
            <a:srgbClr val="EB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316821" y="1873605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421977" y="1873605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527133" y="1873605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632289" y="1873605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737445" y="1873605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842601" y="1873605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947757" y="1873605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0052913" y="1873605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0158069" y="1873605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263225" y="1873605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0368381" y="1873605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0473537" y="1873605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0578693" y="1873605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7634325" y="1978761"/>
            <a:ext cx="65836" cy="65836"/>
          </a:xfrm>
          <a:prstGeom prst="ellipse">
            <a:avLst/>
          </a:prstGeom>
          <a:solidFill>
            <a:srgbClr val="B49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7739481" y="1978761"/>
            <a:ext cx="65836" cy="65836"/>
          </a:xfrm>
          <a:prstGeom prst="ellipse">
            <a:avLst/>
          </a:prstGeom>
          <a:solidFill>
            <a:srgbClr val="B8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7844637" y="1978761"/>
            <a:ext cx="65836" cy="65836"/>
          </a:xfrm>
          <a:prstGeom prst="ellipse">
            <a:avLst/>
          </a:prstGeom>
          <a:solidFill>
            <a:srgbClr val="BC91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7949793" y="1978761"/>
            <a:ext cx="65836" cy="65836"/>
          </a:xfrm>
          <a:prstGeom prst="ellipse">
            <a:avLst/>
          </a:prstGeom>
          <a:solidFill>
            <a:srgbClr val="C0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054949" y="1978761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160105" y="1978761"/>
            <a:ext cx="65836" cy="65836"/>
          </a:xfrm>
          <a:prstGeom prst="ellipse">
            <a:avLst/>
          </a:prstGeom>
          <a:solidFill>
            <a:srgbClr val="C7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265261" y="1978761"/>
            <a:ext cx="65836" cy="65836"/>
          </a:xfrm>
          <a:prstGeom prst="ellipse">
            <a:avLst/>
          </a:prstGeom>
          <a:solidFill>
            <a:srgbClr val="CB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370417" y="1978761"/>
            <a:ext cx="65836" cy="65836"/>
          </a:xfrm>
          <a:prstGeom prst="ellipse">
            <a:avLst/>
          </a:prstGeom>
          <a:solidFill>
            <a:srgbClr val="C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475573" y="1978761"/>
            <a:ext cx="65836" cy="65836"/>
          </a:xfrm>
          <a:prstGeom prst="ellipse">
            <a:avLst/>
          </a:prstGeom>
          <a:solidFill>
            <a:srgbClr val="D3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8580729" y="1978761"/>
            <a:ext cx="65836" cy="65836"/>
          </a:xfrm>
          <a:prstGeom prst="ellipse">
            <a:avLst/>
          </a:prstGeom>
          <a:solidFill>
            <a:srgbClr val="D7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8685885" y="1978761"/>
            <a:ext cx="65836" cy="65836"/>
          </a:xfrm>
          <a:prstGeom prst="ellipse">
            <a:avLst/>
          </a:prstGeom>
          <a:solidFill>
            <a:srgbClr val="DA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8791041" y="1978761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8896197" y="1978761"/>
            <a:ext cx="65836" cy="65836"/>
          </a:xfrm>
          <a:prstGeom prst="ellipse">
            <a:avLst/>
          </a:prstGeom>
          <a:solidFill>
            <a:srgbClr val="E2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001353" y="1978761"/>
            <a:ext cx="65836" cy="65836"/>
          </a:xfrm>
          <a:prstGeom prst="ellipse">
            <a:avLst/>
          </a:prstGeom>
          <a:solidFill>
            <a:srgbClr val="E6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106509" y="1978761"/>
            <a:ext cx="65836" cy="65836"/>
          </a:xfrm>
          <a:prstGeom prst="ellipse">
            <a:avLst/>
          </a:prstGeom>
          <a:solidFill>
            <a:srgbClr val="EA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211665" y="1978761"/>
            <a:ext cx="65836" cy="65836"/>
          </a:xfrm>
          <a:prstGeom prst="ellipse">
            <a:avLst/>
          </a:prstGeom>
          <a:solidFill>
            <a:srgbClr val="ED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316821" y="1978761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421977" y="1978761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527133" y="1978761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632289" y="1978761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737445" y="1978761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9842601" y="1978761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947757" y="1978761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0052913" y="1978761"/>
            <a:ext cx="65836" cy="65836"/>
          </a:xfrm>
          <a:prstGeom prst="ellipse">
            <a:avLst/>
          </a:prstGeom>
          <a:solidFill>
            <a:srgbClr val="F4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0158069" y="1978761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0263225" y="1978761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0368381" y="1978761"/>
            <a:ext cx="65836" cy="65836"/>
          </a:xfrm>
          <a:prstGeom prst="ellipse">
            <a:avLst/>
          </a:prstGeom>
          <a:solidFill>
            <a:srgbClr val="F4A2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0473537" y="1978761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0578693" y="1978761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7529169" y="2083917"/>
            <a:ext cx="65836" cy="65836"/>
          </a:xfrm>
          <a:prstGeom prst="ellipse">
            <a:avLst/>
          </a:prstGeom>
          <a:solidFill>
            <a:srgbClr val="B392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7634325" y="2083917"/>
            <a:ext cx="65836" cy="65836"/>
          </a:xfrm>
          <a:prstGeom prst="ellipse">
            <a:avLst/>
          </a:prstGeom>
          <a:solidFill>
            <a:srgbClr val="B69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7739481" y="2083917"/>
            <a:ext cx="65836" cy="65836"/>
          </a:xfrm>
          <a:prstGeom prst="ellipse">
            <a:avLst/>
          </a:prstGeom>
          <a:solidFill>
            <a:srgbClr val="BA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7844637" y="2083917"/>
            <a:ext cx="65836" cy="65836"/>
          </a:xfrm>
          <a:prstGeom prst="ellipse">
            <a:avLst/>
          </a:prstGeom>
          <a:solidFill>
            <a:srgbClr val="BE91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7949793" y="2083917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8054949" y="2083917"/>
            <a:ext cx="65836" cy="65836"/>
          </a:xfrm>
          <a:prstGeom prst="ellipse">
            <a:avLst/>
          </a:prstGeom>
          <a:solidFill>
            <a:srgbClr val="C69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8160105" y="2083917"/>
            <a:ext cx="65836" cy="65836"/>
          </a:xfrm>
          <a:prstGeom prst="ellipse">
            <a:avLst/>
          </a:prstGeom>
          <a:solidFill>
            <a:srgbClr val="C9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8265261" y="2083917"/>
            <a:ext cx="65836" cy="65836"/>
          </a:xfrm>
          <a:prstGeom prst="ellipse">
            <a:avLst/>
          </a:prstGeom>
          <a:solidFill>
            <a:srgbClr val="CD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8370417" y="2083917"/>
            <a:ext cx="65836" cy="65836"/>
          </a:xfrm>
          <a:prstGeom prst="ellipse">
            <a:avLst/>
          </a:prstGeom>
          <a:solidFill>
            <a:srgbClr val="D1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8475573" y="2083917"/>
            <a:ext cx="65836" cy="65836"/>
          </a:xfrm>
          <a:prstGeom prst="ellipse">
            <a:avLst/>
          </a:prstGeom>
          <a:solidFill>
            <a:srgbClr val="D5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8580729" y="2083917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8685885" y="2083917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8791041" y="2083917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8896197" y="2083917"/>
            <a:ext cx="65836" cy="65836"/>
          </a:xfrm>
          <a:prstGeom prst="ellipse">
            <a:avLst/>
          </a:prstGeom>
          <a:solidFill>
            <a:srgbClr val="E4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001353" y="2083917"/>
            <a:ext cx="65836" cy="65836"/>
          </a:xfrm>
          <a:prstGeom prst="ellipse">
            <a:avLst/>
          </a:prstGeom>
          <a:solidFill>
            <a:srgbClr val="E8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106509" y="2083917"/>
            <a:ext cx="65836" cy="65836"/>
          </a:xfrm>
          <a:prstGeom prst="ellipse">
            <a:avLst/>
          </a:prstGeom>
          <a:solidFill>
            <a:srgbClr val="EB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211665" y="2083917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316821" y="2083917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421977" y="2083917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9527133" y="2083917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632289" y="2083917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737445" y="2083917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842601" y="2083917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9947757" y="2083917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0052913" y="2083917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0158069" y="2083917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0263225" y="2083917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0368381" y="2083917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0473537" y="2083917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0578693" y="2083917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7318857" y="2189073"/>
            <a:ext cx="65836" cy="65836"/>
          </a:xfrm>
          <a:prstGeom prst="ellipse">
            <a:avLst/>
          </a:prstGeom>
          <a:solidFill>
            <a:srgbClr val="AD9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7424013" y="2189073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7529169" y="2189073"/>
            <a:ext cx="65836" cy="65836"/>
          </a:xfrm>
          <a:prstGeom prst="ellipse">
            <a:avLst/>
          </a:prstGeom>
          <a:solidFill>
            <a:srgbClr val="B59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634325" y="2189073"/>
            <a:ext cx="65836" cy="65836"/>
          </a:xfrm>
          <a:prstGeom prst="ellipse">
            <a:avLst/>
          </a:prstGeom>
          <a:solidFill>
            <a:srgbClr val="B8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739481" y="2189073"/>
            <a:ext cx="65836" cy="65836"/>
          </a:xfrm>
          <a:prstGeom prst="ellipse">
            <a:avLst/>
          </a:prstGeom>
          <a:solidFill>
            <a:srgbClr val="BC9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7844637" y="2189073"/>
            <a:ext cx="65836" cy="65836"/>
          </a:xfrm>
          <a:prstGeom prst="ellipse">
            <a:avLst/>
          </a:prstGeom>
          <a:solidFill>
            <a:srgbClr val="C0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7949793" y="2189073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8054949" y="2189073"/>
            <a:ext cx="65836" cy="65836"/>
          </a:xfrm>
          <a:prstGeom prst="ellipse">
            <a:avLst/>
          </a:prstGeom>
          <a:solidFill>
            <a:srgbClr val="C891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8160105" y="2189073"/>
            <a:ext cx="65836" cy="65836"/>
          </a:xfrm>
          <a:prstGeom prst="ellipse">
            <a:avLst/>
          </a:prstGeom>
          <a:solidFill>
            <a:srgbClr val="CB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8265261" y="2189073"/>
            <a:ext cx="65836" cy="65836"/>
          </a:xfrm>
          <a:prstGeom prst="ellipse">
            <a:avLst/>
          </a:prstGeom>
          <a:solidFill>
            <a:srgbClr val="C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8370417" y="2189073"/>
            <a:ext cx="65836" cy="65836"/>
          </a:xfrm>
          <a:prstGeom prst="ellipse">
            <a:avLst/>
          </a:prstGeom>
          <a:solidFill>
            <a:srgbClr val="D3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8475573" y="2189073"/>
            <a:ext cx="65836" cy="65836"/>
          </a:xfrm>
          <a:prstGeom prst="ellipse">
            <a:avLst/>
          </a:prstGeom>
          <a:solidFill>
            <a:srgbClr val="D7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8580729" y="2189073"/>
            <a:ext cx="65836" cy="65836"/>
          </a:xfrm>
          <a:prstGeom prst="ellipse">
            <a:avLst/>
          </a:prstGeom>
          <a:solidFill>
            <a:srgbClr val="DA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8685885" y="2189073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8791041" y="2189073"/>
            <a:ext cx="65836" cy="65836"/>
          </a:xfrm>
          <a:prstGeom prst="ellipse">
            <a:avLst/>
          </a:prstGeom>
          <a:solidFill>
            <a:srgbClr val="E2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8896197" y="2189073"/>
            <a:ext cx="65836" cy="65836"/>
          </a:xfrm>
          <a:prstGeom prst="ellipse">
            <a:avLst/>
          </a:prstGeom>
          <a:solidFill>
            <a:srgbClr val="E68E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001353" y="2189073"/>
            <a:ext cx="65836" cy="65836"/>
          </a:xfrm>
          <a:prstGeom prst="ellipse">
            <a:avLst/>
          </a:prstGeom>
          <a:solidFill>
            <a:srgbClr val="EA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106509" y="2189073"/>
            <a:ext cx="65836" cy="65836"/>
          </a:xfrm>
          <a:prstGeom prst="ellipse">
            <a:avLst/>
          </a:prstGeom>
          <a:solidFill>
            <a:srgbClr val="ED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211665" y="2189073"/>
            <a:ext cx="65836" cy="65836"/>
          </a:xfrm>
          <a:prstGeom prst="ellipse">
            <a:avLst/>
          </a:prstGeom>
          <a:solidFill>
            <a:srgbClr val="F1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9316821" y="2189073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9421977" y="2189073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9527133" y="2189073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9632289" y="2189073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9737445" y="2189073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9842601" y="2189073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9947757" y="2189073"/>
            <a:ext cx="65836" cy="65836"/>
          </a:xfrm>
          <a:prstGeom prst="ellipse">
            <a:avLst/>
          </a:prstGeom>
          <a:solidFill>
            <a:srgbClr val="F4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0052913" y="2189073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0158069" y="2189073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0263225" y="2189073"/>
            <a:ext cx="65836" cy="65836"/>
          </a:xfrm>
          <a:prstGeom prst="ellipse">
            <a:avLst/>
          </a:prstGeom>
          <a:solidFill>
            <a:srgbClr val="F4A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0368381" y="2189073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0473537" y="2189073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0578693" y="2189073"/>
            <a:ext cx="65836" cy="65836"/>
          </a:xfrm>
          <a:prstGeom prst="ellipse">
            <a:avLst/>
          </a:prstGeom>
          <a:solidFill>
            <a:srgbClr val="F3A9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0683849" y="2189073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0789005" y="2189073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0894161" y="2189073"/>
            <a:ext cx="65836" cy="6583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7213701" y="2294229"/>
            <a:ext cx="65836" cy="65836"/>
          </a:xfrm>
          <a:prstGeom prst="ellipse">
            <a:avLst/>
          </a:prstGeom>
          <a:solidFill>
            <a:srgbClr val="AB92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7318857" y="2294229"/>
            <a:ext cx="65836" cy="65836"/>
          </a:xfrm>
          <a:prstGeom prst="ellipse">
            <a:avLst/>
          </a:prstGeom>
          <a:solidFill>
            <a:srgbClr val="AF9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7424013" y="2294229"/>
            <a:ext cx="65836" cy="65836"/>
          </a:xfrm>
          <a:prstGeom prst="ellipse">
            <a:avLst/>
          </a:prstGeom>
          <a:solidFill>
            <a:srgbClr val="B392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7529169" y="2294229"/>
            <a:ext cx="65836" cy="65836"/>
          </a:xfrm>
          <a:prstGeom prst="ellipse">
            <a:avLst/>
          </a:prstGeom>
          <a:solidFill>
            <a:srgbClr val="B79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7634325" y="2294229"/>
            <a:ext cx="65836" cy="65836"/>
          </a:xfrm>
          <a:prstGeom prst="ellipse">
            <a:avLst/>
          </a:prstGeom>
          <a:solidFill>
            <a:srgbClr val="BA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7739481" y="2294229"/>
            <a:ext cx="65836" cy="65836"/>
          </a:xfrm>
          <a:prstGeom prst="ellipse">
            <a:avLst/>
          </a:prstGeom>
          <a:solidFill>
            <a:srgbClr val="BE91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844637" y="2294229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7949793" y="2294229"/>
            <a:ext cx="65836" cy="65836"/>
          </a:xfrm>
          <a:prstGeom prst="ellipse">
            <a:avLst/>
          </a:prstGeom>
          <a:solidFill>
            <a:srgbClr val="C69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8054949" y="2294229"/>
            <a:ext cx="65836" cy="65836"/>
          </a:xfrm>
          <a:prstGeom prst="ellipse">
            <a:avLst/>
          </a:prstGeom>
          <a:solidFill>
            <a:srgbClr val="C9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8160105" y="2294229"/>
            <a:ext cx="65836" cy="65836"/>
          </a:xfrm>
          <a:prstGeom prst="ellipse">
            <a:avLst/>
          </a:prstGeom>
          <a:solidFill>
            <a:srgbClr val="CD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8265261" y="2294229"/>
            <a:ext cx="65836" cy="65836"/>
          </a:xfrm>
          <a:prstGeom prst="ellipse">
            <a:avLst/>
          </a:prstGeom>
          <a:solidFill>
            <a:srgbClr val="D1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8370417" y="2294229"/>
            <a:ext cx="65836" cy="65836"/>
          </a:xfrm>
          <a:prstGeom prst="ellipse">
            <a:avLst/>
          </a:prstGeom>
          <a:solidFill>
            <a:srgbClr val="D5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8475573" y="2294229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8580729" y="2294229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8685885" y="2294229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8791041" y="2294229"/>
            <a:ext cx="65836" cy="65836"/>
          </a:xfrm>
          <a:prstGeom prst="ellipse">
            <a:avLst/>
          </a:prstGeom>
          <a:solidFill>
            <a:srgbClr val="E4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8896197" y="2294229"/>
            <a:ext cx="65836" cy="65836"/>
          </a:xfrm>
          <a:prstGeom prst="ellipse">
            <a:avLst/>
          </a:prstGeom>
          <a:solidFill>
            <a:srgbClr val="E8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9001353" y="2294229"/>
            <a:ext cx="65836" cy="65836"/>
          </a:xfrm>
          <a:prstGeom prst="ellipse">
            <a:avLst/>
          </a:prstGeom>
          <a:solidFill>
            <a:srgbClr val="EC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9106509" y="2294229"/>
            <a:ext cx="65836" cy="65836"/>
          </a:xfrm>
          <a:prstGeom prst="ellipse">
            <a:avLst/>
          </a:prstGeom>
          <a:solidFill>
            <a:srgbClr val="EF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9211665" y="2294229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9316821" y="2294229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9421977" y="2294229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9527133" y="2294229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9632289" y="2294229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9737445" y="2294229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9842601" y="2294229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9947757" y="2294229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10052913" y="2294229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10158069" y="2294229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10263225" y="2294229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0368381" y="2294229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0473537" y="2294229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10578693" y="2294229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10683849" y="2294229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10789005" y="2294229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10894161" y="2294229"/>
            <a:ext cx="65836" cy="65836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10999317" y="2294229"/>
            <a:ext cx="65836" cy="65836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11104473" y="2294229"/>
            <a:ext cx="65836" cy="65836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11209629" y="2294229"/>
            <a:ext cx="65836" cy="65836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13701" y="2399385"/>
            <a:ext cx="65836" cy="65836"/>
          </a:xfrm>
          <a:prstGeom prst="ellipse">
            <a:avLst/>
          </a:prstGeom>
          <a:solidFill>
            <a:srgbClr val="AD9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7318857" y="2399385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424013" y="2399385"/>
            <a:ext cx="65836" cy="65836"/>
          </a:xfrm>
          <a:prstGeom prst="ellipse">
            <a:avLst/>
          </a:prstGeom>
          <a:solidFill>
            <a:srgbClr val="B592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529169" y="2399385"/>
            <a:ext cx="65836" cy="65836"/>
          </a:xfrm>
          <a:prstGeom prst="ellipse">
            <a:avLst/>
          </a:prstGeom>
          <a:solidFill>
            <a:srgbClr val="B8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7634325" y="2399385"/>
            <a:ext cx="65836" cy="65836"/>
          </a:xfrm>
          <a:prstGeom prst="ellipse">
            <a:avLst/>
          </a:prstGeom>
          <a:solidFill>
            <a:srgbClr val="BC9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39481" y="2399385"/>
            <a:ext cx="65836" cy="65836"/>
          </a:xfrm>
          <a:prstGeom prst="ellipse">
            <a:avLst/>
          </a:prstGeom>
          <a:solidFill>
            <a:srgbClr val="C0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844637" y="2399385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949793" y="2399385"/>
            <a:ext cx="65836" cy="65836"/>
          </a:xfrm>
          <a:prstGeom prst="ellipse">
            <a:avLst/>
          </a:prstGeom>
          <a:solidFill>
            <a:srgbClr val="C89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8054949" y="2399385"/>
            <a:ext cx="65836" cy="65836"/>
          </a:xfrm>
          <a:prstGeom prst="ellipse">
            <a:avLst/>
          </a:prstGeom>
          <a:solidFill>
            <a:srgbClr val="CB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8160105" y="2399385"/>
            <a:ext cx="65836" cy="65836"/>
          </a:xfrm>
          <a:prstGeom prst="ellipse">
            <a:avLst/>
          </a:prstGeom>
          <a:solidFill>
            <a:srgbClr val="C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265261" y="2399385"/>
            <a:ext cx="65836" cy="65836"/>
          </a:xfrm>
          <a:prstGeom prst="ellipse">
            <a:avLst/>
          </a:prstGeom>
          <a:solidFill>
            <a:srgbClr val="D390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8370417" y="2399385"/>
            <a:ext cx="65836" cy="65836"/>
          </a:xfrm>
          <a:prstGeom prst="ellipse">
            <a:avLst/>
          </a:prstGeom>
          <a:solidFill>
            <a:srgbClr val="D7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8475573" y="2399385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8580729" y="2399385"/>
            <a:ext cx="65836" cy="65836"/>
          </a:xfrm>
          <a:prstGeom prst="ellipse">
            <a:avLst/>
          </a:prstGeom>
          <a:solidFill>
            <a:srgbClr val="DE8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8685885" y="2399385"/>
            <a:ext cx="65836" cy="65836"/>
          </a:xfrm>
          <a:prstGeom prst="ellipse">
            <a:avLst/>
          </a:prstGeom>
          <a:solidFill>
            <a:srgbClr val="E2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8791041" y="2399385"/>
            <a:ext cx="65836" cy="65836"/>
          </a:xfrm>
          <a:prstGeom prst="ellipse">
            <a:avLst/>
          </a:prstGeom>
          <a:solidFill>
            <a:srgbClr val="E6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8896197" y="2399385"/>
            <a:ext cx="65836" cy="65836"/>
          </a:xfrm>
          <a:prstGeom prst="ellipse">
            <a:avLst/>
          </a:prstGeom>
          <a:solidFill>
            <a:srgbClr val="EA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9001353" y="2399385"/>
            <a:ext cx="65836" cy="65836"/>
          </a:xfrm>
          <a:prstGeom prst="ellipse">
            <a:avLst/>
          </a:prstGeom>
          <a:solidFill>
            <a:srgbClr val="EE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9106509" y="2399385"/>
            <a:ext cx="65836" cy="65836"/>
          </a:xfrm>
          <a:prstGeom prst="ellipse">
            <a:avLst/>
          </a:prstGeom>
          <a:solidFill>
            <a:srgbClr val="F1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9211665" y="2399385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9316821" y="2399385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9421977" y="2399385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9527133" y="2399385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9632289" y="2399385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9737445" y="2399385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9842601" y="2399385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9947757" y="2399385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10052913" y="2399385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10158069" y="2399385"/>
            <a:ext cx="65836" cy="65836"/>
          </a:xfrm>
          <a:prstGeom prst="ellipse">
            <a:avLst/>
          </a:prstGeom>
          <a:solidFill>
            <a:srgbClr val="F4A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10263225" y="2399385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10368381" y="2399385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10473537" y="2399385"/>
            <a:ext cx="65836" cy="65836"/>
          </a:xfrm>
          <a:prstGeom prst="ellipse">
            <a:avLst/>
          </a:prstGeom>
          <a:solidFill>
            <a:srgbClr val="F3A9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10578693" y="2399385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10683849" y="2399385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10789005" y="2399385"/>
            <a:ext cx="65836" cy="65836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10894161" y="2399385"/>
            <a:ext cx="65836" cy="65836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10999317" y="2399385"/>
            <a:ext cx="65836" cy="65836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11104473" y="2399385"/>
            <a:ext cx="65836" cy="65836"/>
          </a:xfrm>
          <a:prstGeom prst="ellipse">
            <a:avLst/>
          </a:prstGeom>
          <a:solidFill>
            <a:srgbClr val="F3B7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11209629" y="2399385"/>
            <a:ext cx="65836" cy="65836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11314785" y="2399385"/>
            <a:ext cx="65836" cy="65836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11419941" y="2399385"/>
            <a:ext cx="65836" cy="65836"/>
          </a:xfrm>
          <a:prstGeom prst="ellipse">
            <a:avLst/>
          </a:prstGeom>
          <a:solidFill>
            <a:srgbClr val="F2B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7213701" y="2504541"/>
            <a:ext cx="65836" cy="65836"/>
          </a:xfrm>
          <a:prstGeom prst="ellipse">
            <a:avLst/>
          </a:prstGeom>
          <a:solidFill>
            <a:srgbClr val="AF9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7318857" y="2504541"/>
            <a:ext cx="65836" cy="65836"/>
          </a:xfrm>
          <a:prstGeom prst="ellipse">
            <a:avLst/>
          </a:prstGeom>
          <a:solidFill>
            <a:srgbClr val="B39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7424013" y="2504541"/>
            <a:ext cx="65836" cy="65836"/>
          </a:xfrm>
          <a:prstGeom prst="ellipse">
            <a:avLst/>
          </a:prstGeom>
          <a:solidFill>
            <a:srgbClr val="B79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7529169" y="2504541"/>
            <a:ext cx="65836" cy="65836"/>
          </a:xfrm>
          <a:prstGeom prst="ellipse">
            <a:avLst/>
          </a:prstGeom>
          <a:solidFill>
            <a:srgbClr val="BA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7634325" y="2504541"/>
            <a:ext cx="65836" cy="65836"/>
          </a:xfrm>
          <a:prstGeom prst="ellipse">
            <a:avLst/>
          </a:prstGeom>
          <a:solidFill>
            <a:srgbClr val="B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7739481" y="2504541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7844637" y="2504541"/>
            <a:ext cx="65836" cy="65836"/>
          </a:xfrm>
          <a:prstGeom prst="ellipse">
            <a:avLst/>
          </a:prstGeom>
          <a:solidFill>
            <a:srgbClr val="C69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7949793" y="2504541"/>
            <a:ext cx="65836" cy="65836"/>
          </a:xfrm>
          <a:prstGeom prst="ellipse">
            <a:avLst/>
          </a:prstGeom>
          <a:solidFill>
            <a:srgbClr val="CA9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8054949" y="2504541"/>
            <a:ext cx="65836" cy="65836"/>
          </a:xfrm>
          <a:prstGeom prst="ellipse">
            <a:avLst/>
          </a:prstGeom>
          <a:solidFill>
            <a:srgbClr val="CD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8160105" y="2504541"/>
            <a:ext cx="65836" cy="65836"/>
          </a:xfrm>
          <a:prstGeom prst="ellipse">
            <a:avLst/>
          </a:prstGeom>
          <a:solidFill>
            <a:srgbClr val="D1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8265261" y="2504541"/>
            <a:ext cx="65836" cy="65836"/>
          </a:xfrm>
          <a:prstGeom prst="ellipse">
            <a:avLst/>
          </a:prstGeom>
          <a:solidFill>
            <a:srgbClr val="D5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8370417" y="2504541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8475573" y="2504541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8580729" y="2504541"/>
            <a:ext cx="65836" cy="65836"/>
          </a:xfrm>
          <a:prstGeom prst="ellipse">
            <a:avLst/>
          </a:prstGeom>
          <a:solidFill>
            <a:srgbClr val="E0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8685885" y="2504541"/>
            <a:ext cx="65836" cy="65836"/>
          </a:xfrm>
          <a:prstGeom prst="ellipse">
            <a:avLst/>
          </a:prstGeom>
          <a:solidFill>
            <a:srgbClr val="E4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8791041" y="2504541"/>
            <a:ext cx="65836" cy="65836"/>
          </a:xfrm>
          <a:prstGeom prst="ellipse">
            <a:avLst/>
          </a:prstGeom>
          <a:solidFill>
            <a:srgbClr val="E8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8896197" y="2504541"/>
            <a:ext cx="65836" cy="65836"/>
          </a:xfrm>
          <a:prstGeom prst="ellipse">
            <a:avLst/>
          </a:prstGeom>
          <a:solidFill>
            <a:srgbClr val="EC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001353" y="2504541"/>
            <a:ext cx="65836" cy="65836"/>
          </a:xfrm>
          <a:prstGeom prst="ellipse">
            <a:avLst/>
          </a:prstGeom>
          <a:solidFill>
            <a:srgbClr val="F0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9106509" y="2504541"/>
            <a:ext cx="65836" cy="6583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211665" y="2504541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9316821" y="2504541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421977" y="2504541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9527133" y="2504541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632289" y="2504541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37445" y="2504541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9842601" y="2504541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9947757" y="2504541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052913" y="2504541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0158069" y="2504541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263225" y="2504541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10368381" y="2504541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10473537" y="2504541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10578693" y="2504541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10683849" y="2504541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10789005" y="2504541"/>
            <a:ext cx="65836" cy="65836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10894161" y="2504541"/>
            <a:ext cx="65836" cy="65836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10999317" y="2504541"/>
            <a:ext cx="65836" cy="65836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11104473" y="2504541"/>
            <a:ext cx="65836" cy="65836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11209629" y="2504541"/>
            <a:ext cx="65836" cy="65836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11314785" y="2504541"/>
            <a:ext cx="65836" cy="65836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1419941" y="2504541"/>
            <a:ext cx="65836" cy="65836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7213701" y="2609697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7318857" y="2609697"/>
            <a:ext cx="65836" cy="65836"/>
          </a:xfrm>
          <a:prstGeom prst="ellipse">
            <a:avLst/>
          </a:prstGeom>
          <a:solidFill>
            <a:srgbClr val="B59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7424013" y="2609697"/>
            <a:ext cx="65836" cy="6583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7529169" y="2609697"/>
            <a:ext cx="65836" cy="65836"/>
          </a:xfrm>
          <a:prstGeom prst="ellipse">
            <a:avLst/>
          </a:prstGeom>
          <a:solidFill>
            <a:srgbClr val="BC9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7634325" y="2609697"/>
            <a:ext cx="65836" cy="65836"/>
          </a:xfrm>
          <a:prstGeom prst="ellipse">
            <a:avLst/>
          </a:prstGeom>
          <a:solidFill>
            <a:srgbClr val="C091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7739481" y="2609697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7844637" y="2609697"/>
            <a:ext cx="65836" cy="65836"/>
          </a:xfrm>
          <a:prstGeom prst="ellipse">
            <a:avLst/>
          </a:prstGeom>
          <a:solidFill>
            <a:srgbClr val="C89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7949793" y="2609697"/>
            <a:ext cx="65836" cy="65836"/>
          </a:xfrm>
          <a:prstGeom prst="ellipse">
            <a:avLst/>
          </a:prstGeom>
          <a:solidFill>
            <a:srgbClr val="CC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8054949" y="2609697"/>
            <a:ext cx="65836" cy="65836"/>
          </a:xfrm>
          <a:prstGeom prst="ellipse">
            <a:avLst/>
          </a:prstGeom>
          <a:solidFill>
            <a:srgbClr val="CF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8160105" y="2609697"/>
            <a:ext cx="65836" cy="65836"/>
          </a:xfrm>
          <a:prstGeom prst="ellipse">
            <a:avLst/>
          </a:prstGeom>
          <a:solidFill>
            <a:srgbClr val="D3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8265261" y="2609697"/>
            <a:ext cx="65836" cy="65836"/>
          </a:xfrm>
          <a:prstGeom prst="ellipse">
            <a:avLst/>
          </a:prstGeom>
          <a:solidFill>
            <a:srgbClr val="D790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8370417" y="2609697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8475573" y="2609697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8580729" y="2609697"/>
            <a:ext cx="65836" cy="65836"/>
          </a:xfrm>
          <a:prstGeom prst="ellipse">
            <a:avLst/>
          </a:prstGeom>
          <a:solidFill>
            <a:srgbClr val="E2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8685885" y="2609697"/>
            <a:ext cx="65836" cy="65836"/>
          </a:xfrm>
          <a:prstGeom prst="ellipse">
            <a:avLst/>
          </a:prstGeom>
          <a:solidFill>
            <a:srgbClr val="E6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8791041" y="2609697"/>
            <a:ext cx="65836" cy="65836"/>
          </a:xfrm>
          <a:prstGeom prst="ellipse">
            <a:avLst/>
          </a:prstGeom>
          <a:solidFill>
            <a:srgbClr val="EA8E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8896197" y="2609697"/>
            <a:ext cx="65836" cy="65836"/>
          </a:xfrm>
          <a:prstGeom prst="ellipse">
            <a:avLst/>
          </a:prstGeom>
          <a:solidFill>
            <a:srgbClr val="EE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9001353" y="2609697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106509" y="2609697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211665" y="2609697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316821" y="2609697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9421977" y="2609697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9527133" y="2609697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632289" y="2609697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9737445" y="2609697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842601" y="2609697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947757" y="2609697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10052913" y="2609697"/>
            <a:ext cx="65836" cy="65836"/>
          </a:xfrm>
          <a:prstGeom prst="ellipse">
            <a:avLst/>
          </a:prstGeom>
          <a:solidFill>
            <a:srgbClr val="F4A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158069" y="2609697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10263225" y="2609697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368381" y="2609697"/>
            <a:ext cx="65836" cy="65836"/>
          </a:xfrm>
          <a:prstGeom prst="ellipse">
            <a:avLst/>
          </a:prstGeom>
          <a:solidFill>
            <a:srgbClr val="F3A9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10473537" y="2609697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578693" y="2609697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83849" y="2609697"/>
            <a:ext cx="65836" cy="65836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10789005" y="2609697"/>
            <a:ext cx="65836" cy="65836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0894161" y="2609697"/>
            <a:ext cx="65836" cy="65836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10999317" y="2609697"/>
            <a:ext cx="65836" cy="65836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11104473" y="2609697"/>
            <a:ext cx="65836" cy="65836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11209629" y="2609697"/>
            <a:ext cx="65836" cy="65836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1314785" y="2609697"/>
            <a:ext cx="65836" cy="65836"/>
          </a:xfrm>
          <a:prstGeom prst="ellipse">
            <a:avLst/>
          </a:prstGeom>
          <a:solidFill>
            <a:srgbClr val="F2B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419941" y="2609697"/>
            <a:ext cx="65836" cy="65836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7108545" y="2714853"/>
            <a:ext cx="65836" cy="65836"/>
          </a:xfrm>
          <a:prstGeom prst="ellipse">
            <a:avLst/>
          </a:prstGeom>
          <a:solidFill>
            <a:srgbClr val="AF9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7213701" y="2714853"/>
            <a:ext cx="65836" cy="65836"/>
          </a:xfrm>
          <a:prstGeom prst="ellipse">
            <a:avLst/>
          </a:prstGeom>
          <a:solidFill>
            <a:srgbClr val="B39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7318857" y="2714853"/>
            <a:ext cx="65836" cy="65836"/>
          </a:xfrm>
          <a:prstGeom prst="ellipse">
            <a:avLst/>
          </a:prstGeom>
          <a:solidFill>
            <a:srgbClr val="B79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7424013" y="2714853"/>
            <a:ext cx="65836" cy="65836"/>
          </a:xfrm>
          <a:prstGeom prst="ellipse">
            <a:avLst/>
          </a:prstGeom>
          <a:solidFill>
            <a:srgbClr val="BB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7529169" y="2714853"/>
            <a:ext cx="65836" cy="65836"/>
          </a:xfrm>
          <a:prstGeom prst="ellipse">
            <a:avLst/>
          </a:prstGeom>
          <a:solidFill>
            <a:srgbClr val="BE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7634325" y="2714853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7739481" y="2714853"/>
            <a:ext cx="65836" cy="65836"/>
          </a:xfrm>
          <a:prstGeom prst="ellipse">
            <a:avLst/>
          </a:prstGeom>
          <a:solidFill>
            <a:srgbClr val="C69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7844637" y="2714853"/>
            <a:ext cx="65836" cy="65836"/>
          </a:xfrm>
          <a:prstGeom prst="ellipse">
            <a:avLst/>
          </a:prstGeom>
          <a:solidFill>
            <a:srgbClr val="CA90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7949793" y="2714853"/>
            <a:ext cx="65836" cy="65836"/>
          </a:xfrm>
          <a:prstGeom prst="ellipse">
            <a:avLst/>
          </a:prstGeom>
          <a:solidFill>
            <a:srgbClr val="CE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8054949" y="2714853"/>
            <a:ext cx="65836" cy="65836"/>
          </a:xfrm>
          <a:prstGeom prst="ellipse">
            <a:avLst/>
          </a:prstGeom>
          <a:solidFill>
            <a:srgbClr val="D1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8160105" y="2714853"/>
            <a:ext cx="65836" cy="65836"/>
          </a:xfrm>
          <a:prstGeom prst="ellipse">
            <a:avLst/>
          </a:prstGeom>
          <a:solidFill>
            <a:srgbClr val="D590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8265261" y="2714853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8370417" y="2714853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8475573" y="2714853"/>
            <a:ext cx="65836" cy="65836"/>
          </a:xfrm>
          <a:prstGeom prst="ellipse">
            <a:avLst/>
          </a:prstGeom>
          <a:solidFill>
            <a:srgbClr val="E18F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8580729" y="2714853"/>
            <a:ext cx="65836" cy="65836"/>
          </a:xfrm>
          <a:prstGeom prst="ellipse">
            <a:avLst/>
          </a:prstGeom>
          <a:solidFill>
            <a:srgbClr val="E4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8685885" y="2714853"/>
            <a:ext cx="65836" cy="65836"/>
          </a:xfrm>
          <a:prstGeom prst="ellipse">
            <a:avLst/>
          </a:prstGeom>
          <a:solidFill>
            <a:srgbClr val="E8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8791041" y="2714853"/>
            <a:ext cx="65836" cy="65836"/>
          </a:xfrm>
          <a:prstGeom prst="ellipse">
            <a:avLst/>
          </a:prstGeom>
          <a:solidFill>
            <a:srgbClr val="EC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8896197" y="2714853"/>
            <a:ext cx="65836" cy="65836"/>
          </a:xfrm>
          <a:prstGeom prst="ellipse">
            <a:avLst/>
          </a:prstGeom>
          <a:solidFill>
            <a:srgbClr val="F0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9001353" y="2714853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9106509" y="2714853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9211665" y="2714853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9316821" y="2714853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9421977" y="2714853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9527133" y="2714853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9632289" y="2714853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9737445" y="2714853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9842601" y="2714853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9947757" y="2714853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10052913" y="2714853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10158069" y="2714853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10263225" y="2714853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10368381" y="2714853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473537" y="2714853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10578693" y="2714853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683849" y="2714853"/>
            <a:ext cx="65836" cy="65836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789005" y="2714853"/>
            <a:ext cx="65836" cy="65836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894161" y="2714853"/>
            <a:ext cx="65836" cy="65836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999317" y="2714853"/>
            <a:ext cx="65836" cy="65836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1104473" y="2714853"/>
            <a:ext cx="65836" cy="65836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1209629" y="2714853"/>
            <a:ext cx="65836" cy="65836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11314785" y="2714853"/>
            <a:ext cx="65836" cy="65836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11419941" y="2714853"/>
            <a:ext cx="65836" cy="65836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7003389" y="2820009"/>
            <a:ext cx="65836" cy="65836"/>
          </a:xfrm>
          <a:prstGeom prst="ellipse">
            <a:avLst/>
          </a:prstGeom>
          <a:solidFill>
            <a:srgbClr val="AD9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7108545" y="2820009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7213701" y="2820009"/>
            <a:ext cx="65836" cy="65836"/>
          </a:xfrm>
          <a:prstGeom prst="ellipse">
            <a:avLst/>
          </a:prstGeom>
          <a:solidFill>
            <a:srgbClr val="B59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7318857" y="2820009"/>
            <a:ext cx="65836" cy="6583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7424013" y="2820009"/>
            <a:ext cx="65836" cy="65836"/>
          </a:xfrm>
          <a:prstGeom prst="ellipse">
            <a:avLst/>
          </a:prstGeom>
          <a:solidFill>
            <a:srgbClr val="BD9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7529169" y="2820009"/>
            <a:ext cx="65836" cy="65836"/>
          </a:xfrm>
          <a:prstGeom prst="ellipse">
            <a:avLst/>
          </a:prstGeom>
          <a:solidFill>
            <a:srgbClr val="C09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7634325" y="2820009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7739481" y="2820009"/>
            <a:ext cx="65836" cy="65836"/>
          </a:xfrm>
          <a:prstGeom prst="ellipse">
            <a:avLst/>
          </a:prstGeom>
          <a:solidFill>
            <a:srgbClr val="C89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7844637" y="2820009"/>
            <a:ext cx="65836" cy="65836"/>
          </a:xfrm>
          <a:prstGeom prst="ellipse">
            <a:avLst/>
          </a:prstGeom>
          <a:solidFill>
            <a:srgbClr val="CC90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7949793" y="2820009"/>
            <a:ext cx="65836" cy="65836"/>
          </a:xfrm>
          <a:prstGeom prst="ellipse">
            <a:avLst/>
          </a:prstGeom>
          <a:solidFill>
            <a:srgbClr val="D0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8054949" y="2820009"/>
            <a:ext cx="65836" cy="65836"/>
          </a:xfrm>
          <a:prstGeom prst="ellipse">
            <a:avLst/>
          </a:prstGeom>
          <a:solidFill>
            <a:srgbClr val="D3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8160105" y="2820009"/>
            <a:ext cx="65836" cy="65836"/>
          </a:xfrm>
          <a:prstGeom prst="ellipse">
            <a:avLst/>
          </a:prstGeom>
          <a:solidFill>
            <a:srgbClr val="D78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8265261" y="2820009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8370417" y="2820009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8475573" y="2820009"/>
            <a:ext cx="65836" cy="65836"/>
          </a:xfrm>
          <a:prstGeom prst="ellipse">
            <a:avLst/>
          </a:prstGeom>
          <a:solidFill>
            <a:srgbClr val="E3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8580729" y="2820009"/>
            <a:ext cx="65836" cy="65836"/>
          </a:xfrm>
          <a:prstGeom prst="ellipse">
            <a:avLst/>
          </a:prstGeom>
          <a:solidFill>
            <a:srgbClr val="E6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8685885" y="2820009"/>
            <a:ext cx="65836" cy="65836"/>
          </a:xfrm>
          <a:prstGeom prst="ellipse">
            <a:avLst/>
          </a:prstGeom>
          <a:solidFill>
            <a:srgbClr val="EA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8791041" y="2820009"/>
            <a:ext cx="65836" cy="65836"/>
          </a:xfrm>
          <a:prstGeom prst="ellipse">
            <a:avLst/>
          </a:prstGeom>
          <a:solidFill>
            <a:srgbClr val="EE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8896197" y="2820009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01353" y="2820009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06509" y="2820009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11665" y="2820009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16821" y="2820009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21977" y="2820009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27133" y="2820009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32289" y="2820009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737445" y="2820009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842601" y="2820009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9947757" y="2820009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052913" y="2820009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158069" y="2820009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263225" y="2820009"/>
            <a:ext cx="65836" cy="65836"/>
          </a:xfrm>
          <a:prstGeom prst="ellipse">
            <a:avLst/>
          </a:prstGeom>
          <a:solidFill>
            <a:srgbClr val="F3A9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368381" y="2820009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473537" y="2820009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578693" y="2820009"/>
            <a:ext cx="65836" cy="65836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683849" y="2820009"/>
            <a:ext cx="65836" cy="65836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789005" y="2820009"/>
            <a:ext cx="65836" cy="65836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0894161" y="2820009"/>
            <a:ext cx="65836" cy="65836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10999317" y="2820009"/>
            <a:ext cx="65836" cy="65836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11104473" y="2820009"/>
            <a:ext cx="65836" cy="65836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11209629" y="2820009"/>
            <a:ext cx="65836" cy="65836"/>
          </a:xfrm>
          <a:prstGeom prst="ellipse">
            <a:avLst/>
          </a:prstGeom>
          <a:solidFill>
            <a:srgbClr val="F2B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11314785" y="2820009"/>
            <a:ext cx="65836" cy="65836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6898233" y="2925165"/>
            <a:ext cx="65836" cy="65836"/>
          </a:xfrm>
          <a:prstGeom prst="ellipse">
            <a:avLst/>
          </a:prstGeom>
          <a:solidFill>
            <a:srgbClr val="AC9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7003389" y="2925165"/>
            <a:ext cx="65836" cy="65836"/>
          </a:xfrm>
          <a:prstGeom prst="ellipse">
            <a:avLst/>
          </a:prstGeom>
          <a:solidFill>
            <a:srgbClr val="AF9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7108545" y="2925165"/>
            <a:ext cx="65836" cy="65836"/>
          </a:xfrm>
          <a:prstGeom prst="ellipse">
            <a:avLst/>
          </a:prstGeom>
          <a:solidFill>
            <a:srgbClr val="B39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7213701" y="2925165"/>
            <a:ext cx="65836" cy="65836"/>
          </a:xfrm>
          <a:prstGeom prst="ellipse">
            <a:avLst/>
          </a:prstGeom>
          <a:solidFill>
            <a:srgbClr val="B79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7318857" y="2925165"/>
            <a:ext cx="65836" cy="65836"/>
          </a:xfrm>
          <a:prstGeom prst="ellipse">
            <a:avLst/>
          </a:prstGeom>
          <a:solidFill>
            <a:srgbClr val="BB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7424013" y="2925165"/>
            <a:ext cx="65836" cy="65836"/>
          </a:xfrm>
          <a:prstGeom prst="ellipse">
            <a:avLst/>
          </a:prstGeom>
          <a:solidFill>
            <a:srgbClr val="BF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7529169" y="2925165"/>
            <a:ext cx="65836" cy="65836"/>
          </a:xfrm>
          <a:prstGeom prst="ellipse">
            <a:avLst/>
          </a:prstGeom>
          <a:solidFill>
            <a:srgbClr val="C291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7634325" y="2925165"/>
            <a:ext cx="65836" cy="65836"/>
          </a:xfrm>
          <a:prstGeom prst="ellipse">
            <a:avLst/>
          </a:prstGeom>
          <a:solidFill>
            <a:srgbClr val="C69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7739481" y="2925165"/>
            <a:ext cx="65836" cy="65836"/>
          </a:xfrm>
          <a:prstGeom prst="ellipse">
            <a:avLst/>
          </a:prstGeom>
          <a:solidFill>
            <a:srgbClr val="CA90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7844637" y="2925165"/>
            <a:ext cx="65836" cy="65836"/>
          </a:xfrm>
          <a:prstGeom prst="ellipse">
            <a:avLst/>
          </a:prstGeom>
          <a:solidFill>
            <a:srgbClr val="CE90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7949793" y="2925165"/>
            <a:ext cx="65836" cy="65836"/>
          </a:xfrm>
          <a:prstGeom prst="ellipse">
            <a:avLst/>
          </a:prstGeom>
          <a:solidFill>
            <a:srgbClr val="D2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8054949" y="2925165"/>
            <a:ext cx="65836" cy="65836"/>
          </a:xfrm>
          <a:prstGeom prst="ellipse">
            <a:avLst/>
          </a:prstGeom>
          <a:solidFill>
            <a:srgbClr val="D59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8160105" y="2925165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8265261" y="2925165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8370417" y="2925165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8475573" y="2925165"/>
            <a:ext cx="65836" cy="65836"/>
          </a:xfrm>
          <a:prstGeom prst="ellipse">
            <a:avLst/>
          </a:prstGeom>
          <a:solidFill>
            <a:srgbClr val="E4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8580729" y="2925165"/>
            <a:ext cx="65836" cy="65836"/>
          </a:xfrm>
          <a:prstGeom prst="ellipse">
            <a:avLst/>
          </a:prstGeom>
          <a:solidFill>
            <a:srgbClr val="E8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8685885" y="2925165"/>
            <a:ext cx="65836" cy="65836"/>
          </a:xfrm>
          <a:prstGeom prst="ellipse">
            <a:avLst/>
          </a:prstGeom>
          <a:solidFill>
            <a:srgbClr val="EC8E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8791041" y="2925165"/>
            <a:ext cx="65836" cy="65836"/>
          </a:xfrm>
          <a:prstGeom prst="ellipse">
            <a:avLst/>
          </a:prstGeom>
          <a:solidFill>
            <a:srgbClr val="F0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8896197" y="2925165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9001353" y="2925165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9106509" y="2925165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9211665" y="2925165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9316821" y="2925165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9421977" y="2925165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9527133" y="2925165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9632289" y="2925165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9737445" y="2925165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9842601" y="2925165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9947757" y="2925165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10052913" y="2925165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10158069" y="2925165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10263225" y="2925165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10368381" y="2925165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10473537" y="2925165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10578693" y="2925165"/>
            <a:ext cx="65836" cy="65836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10683849" y="2925165"/>
            <a:ext cx="65836" cy="65836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10789005" y="2925165"/>
            <a:ext cx="65836" cy="65836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0894161" y="2925165"/>
            <a:ext cx="65836" cy="65836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10999317" y="2925165"/>
            <a:ext cx="65836" cy="65836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11104473" y="2925165"/>
            <a:ext cx="65836" cy="65836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11209629" y="2925165"/>
            <a:ext cx="65836" cy="65836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11314785" y="2925165"/>
            <a:ext cx="65836" cy="65836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6898233" y="3030321"/>
            <a:ext cx="65836" cy="65836"/>
          </a:xfrm>
          <a:prstGeom prst="ellipse">
            <a:avLst/>
          </a:prstGeom>
          <a:solidFill>
            <a:srgbClr val="AE9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7003389" y="3030321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7108545" y="3030321"/>
            <a:ext cx="65836" cy="65836"/>
          </a:xfrm>
          <a:prstGeom prst="ellipse">
            <a:avLst/>
          </a:prstGeom>
          <a:solidFill>
            <a:srgbClr val="B59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7213701" y="3030321"/>
            <a:ext cx="65836" cy="6583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7318857" y="3030321"/>
            <a:ext cx="65836" cy="65836"/>
          </a:xfrm>
          <a:prstGeom prst="ellipse">
            <a:avLst/>
          </a:prstGeom>
          <a:solidFill>
            <a:srgbClr val="BD91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7424013" y="3030321"/>
            <a:ext cx="65836" cy="65836"/>
          </a:xfrm>
          <a:prstGeom prst="ellipse">
            <a:avLst/>
          </a:prstGeom>
          <a:solidFill>
            <a:srgbClr val="C19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7529169" y="3030321"/>
            <a:ext cx="65836" cy="65836"/>
          </a:xfrm>
          <a:prstGeom prst="ellipse">
            <a:avLst/>
          </a:prstGeom>
          <a:solidFill>
            <a:srgbClr val="C491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7634325" y="3030321"/>
            <a:ext cx="65836" cy="65836"/>
          </a:xfrm>
          <a:prstGeom prst="ellipse">
            <a:avLst/>
          </a:prstGeom>
          <a:solidFill>
            <a:srgbClr val="C89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7739481" y="3030321"/>
            <a:ext cx="65836" cy="65836"/>
          </a:xfrm>
          <a:prstGeom prst="ellipse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7844637" y="3030321"/>
            <a:ext cx="65836" cy="65836"/>
          </a:xfrm>
          <a:prstGeom prst="ellipse">
            <a:avLst/>
          </a:prstGeom>
          <a:solidFill>
            <a:srgbClr val="D0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7949793" y="3030321"/>
            <a:ext cx="65836" cy="65836"/>
          </a:xfrm>
          <a:prstGeom prst="ellipse">
            <a:avLst/>
          </a:prstGeom>
          <a:solidFill>
            <a:srgbClr val="D3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8054949" y="3030321"/>
            <a:ext cx="65836" cy="65836"/>
          </a:xfrm>
          <a:prstGeom prst="ellipse">
            <a:avLst/>
          </a:prstGeom>
          <a:solidFill>
            <a:srgbClr val="D7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8160105" y="3030321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8265261" y="3030321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8370417" y="3030321"/>
            <a:ext cx="65836" cy="65836"/>
          </a:xfrm>
          <a:prstGeom prst="ellipse">
            <a:avLst/>
          </a:prstGeom>
          <a:solidFill>
            <a:srgbClr val="E38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8475573" y="3030321"/>
            <a:ext cx="65836" cy="65836"/>
          </a:xfrm>
          <a:prstGeom prst="ellipse">
            <a:avLst/>
          </a:prstGeom>
          <a:solidFill>
            <a:srgbClr val="E6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8580729" y="3030321"/>
            <a:ext cx="65836" cy="65836"/>
          </a:xfrm>
          <a:prstGeom prst="ellipse">
            <a:avLst/>
          </a:prstGeom>
          <a:solidFill>
            <a:srgbClr val="EA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8685885" y="3030321"/>
            <a:ext cx="65836" cy="65836"/>
          </a:xfrm>
          <a:prstGeom prst="ellipse">
            <a:avLst/>
          </a:prstGeom>
          <a:solidFill>
            <a:srgbClr val="EE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8791041" y="3030321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8896197" y="3030321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9001353" y="3030321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9106509" y="3030321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9211665" y="3030321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9316821" y="3030321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9421977" y="3030321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9527133" y="3030321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9632289" y="3030321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9737445" y="3030321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9842601" y="3030321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9947757" y="3030321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10052913" y="3030321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10158069" y="3030321"/>
            <a:ext cx="65836" cy="65836"/>
          </a:xfrm>
          <a:prstGeom prst="ellipse">
            <a:avLst/>
          </a:prstGeom>
          <a:solidFill>
            <a:srgbClr val="F3A9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10263225" y="3030321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10368381" y="3030321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10473537" y="3030321"/>
            <a:ext cx="65836" cy="65836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10578693" y="3030321"/>
            <a:ext cx="65836" cy="65836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10683849" y="3030321"/>
            <a:ext cx="65836" cy="65836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10789005" y="3030321"/>
            <a:ext cx="65836" cy="65836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10894161" y="3030321"/>
            <a:ext cx="65836" cy="65836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10999317" y="3030321"/>
            <a:ext cx="65836" cy="65836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11104473" y="3030321"/>
            <a:ext cx="65836" cy="65836"/>
          </a:xfrm>
          <a:prstGeom prst="ellipse">
            <a:avLst/>
          </a:prstGeom>
          <a:solidFill>
            <a:srgbClr val="F2B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11209629" y="3030321"/>
            <a:ext cx="65836" cy="65836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6793077" y="3135477"/>
            <a:ext cx="65836" cy="65836"/>
          </a:xfrm>
          <a:prstGeom prst="ellipse">
            <a:avLst/>
          </a:prstGeom>
          <a:solidFill>
            <a:srgbClr val="AC9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6898233" y="3135477"/>
            <a:ext cx="65836" cy="65836"/>
          </a:xfrm>
          <a:prstGeom prst="ellipse">
            <a:avLst/>
          </a:prstGeom>
          <a:solidFill>
            <a:srgbClr val="B092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7003389" y="3135477"/>
            <a:ext cx="65836" cy="65836"/>
          </a:xfrm>
          <a:prstGeom prst="ellipse">
            <a:avLst/>
          </a:prstGeom>
          <a:solidFill>
            <a:srgbClr val="B39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7108545" y="3135477"/>
            <a:ext cx="65836" cy="65836"/>
          </a:xfrm>
          <a:prstGeom prst="ellipse">
            <a:avLst/>
          </a:prstGeom>
          <a:solidFill>
            <a:srgbClr val="B79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7213701" y="3135477"/>
            <a:ext cx="65836" cy="65836"/>
          </a:xfrm>
          <a:prstGeom prst="ellipse">
            <a:avLst/>
          </a:prstGeom>
          <a:solidFill>
            <a:srgbClr val="BB9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7318857" y="3135477"/>
            <a:ext cx="65836" cy="65836"/>
          </a:xfrm>
          <a:prstGeom prst="ellipse">
            <a:avLst/>
          </a:prstGeom>
          <a:solidFill>
            <a:srgbClr val="BF91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7634325" y="3135477"/>
            <a:ext cx="65836" cy="65836"/>
          </a:xfrm>
          <a:prstGeom prst="ellipse">
            <a:avLst/>
          </a:prstGeom>
          <a:solidFill>
            <a:srgbClr val="CA90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7739481" y="3135477"/>
            <a:ext cx="65836" cy="65836"/>
          </a:xfrm>
          <a:prstGeom prst="ellipse">
            <a:avLst/>
          </a:prstGeom>
          <a:solidFill>
            <a:srgbClr val="CE9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7844637" y="3135477"/>
            <a:ext cx="65836" cy="65836"/>
          </a:xfrm>
          <a:prstGeom prst="ellipse">
            <a:avLst/>
          </a:prstGeom>
          <a:solidFill>
            <a:srgbClr val="D2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7949793" y="3135477"/>
            <a:ext cx="65836" cy="65836"/>
          </a:xfrm>
          <a:prstGeom prst="ellipse">
            <a:avLst/>
          </a:prstGeom>
          <a:solidFill>
            <a:srgbClr val="D59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8054949" y="3135477"/>
            <a:ext cx="65836" cy="65836"/>
          </a:xfrm>
          <a:prstGeom prst="ellipse">
            <a:avLst/>
          </a:prstGeom>
          <a:solidFill>
            <a:srgbClr val="D98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8160105" y="3135477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8265261" y="3135477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8370417" y="3135477"/>
            <a:ext cx="65836" cy="65836"/>
          </a:xfrm>
          <a:prstGeom prst="ellipse">
            <a:avLst/>
          </a:prstGeom>
          <a:solidFill>
            <a:srgbClr val="E5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8475573" y="3135477"/>
            <a:ext cx="65836" cy="65836"/>
          </a:xfrm>
          <a:prstGeom prst="ellipse">
            <a:avLst/>
          </a:prstGeom>
          <a:solidFill>
            <a:srgbClr val="E8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8580729" y="3135477"/>
            <a:ext cx="65836" cy="65836"/>
          </a:xfrm>
          <a:prstGeom prst="ellipse">
            <a:avLst/>
          </a:prstGeom>
          <a:solidFill>
            <a:srgbClr val="EC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8685885" y="3135477"/>
            <a:ext cx="65836" cy="65836"/>
          </a:xfrm>
          <a:prstGeom prst="ellipse">
            <a:avLst/>
          </a:prstGeom>
          <a:solidFill>
            <a:srgbClr val="F0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8791041" y="3135477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8896197" y="3135477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9001353" y="3135477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9106509" y="3135477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9211665" y="3135477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9316821" y="3135477"/>
            <a:ext cx="65836" cy="65836"/>
          </a:xfrm>
          <a:prstGeom prst="ellipse">
            <a:avLst/>
          </a:prstGeom>
          <a:solidFill>
            <a:srgbClr val="F49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9421977" y="3135477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9527133" y="3135477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9632289" y="3135477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9737445" y="3135477"/>
            <a:ext cx="65836" cy="65836"/>
          </a:xfrm>
          <a:prstGeom prst="ellipse">
            <a:avLst/>
          </a:prstGeom>
          <a:solidFill>
            <a:srgbClr val="F4A2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9842601" y="3135477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9947757" y="3135477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10052913" y="3135477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10158069" y="3135477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10263225" y="3135477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10368381" y="3135477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10473537" y="3135477"/>
            <a:ext cx="65836" cy="65836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10578693" y="3135477"/>
            <a:ext cx="65836" cy="65836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10683849" y="3135477"/>
            <a:ext cx="65836" cy="65836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10789005" y="3135477"/>
            <a:ext cx="65836" cy="65836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10894161" y="3135477"/>
            <a:ext cx="65836" cy="65836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10999317" y="3135477"/>
            <a:ext cx="65836" cy="65836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11104473" y="3135477"/>
            <a:ext cx="65836" cy="65836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11209629" y="3135477"/>
            <a:ext cx="65836" cy="65836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6793077" y="3240633"/>
            <a:ext cx="65836" cy="65836"/>
          </a:xfrm>
          <a:prstGeom prst="ellipse">
            <a:avLst/>
          </a:prstGeom>
          <a:solidFill>
            <a:srgbClr val="AE92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6898233" y="3240633"/>
            <a:ext cx="65836" cy="65836"/>
          </a:xfrm>
          <a:prstGeom prst="ellipse">
            <a:avLst/>
          </a:prstGeom>
          <a:solidFill>
            <a:srgbClr val="B1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7634325" y="3240633"/>
            <a:ext cx="65836" cy="65836"/>
          </a:xfrm>
          <a:prstGeom prst="ellipse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7739481" y="3240633"/>
            <a:ext cx="65836" cy="65836"/>
          </a:xfrm>
          <a:prstGeom prst="ellipse">
            <a:avLst/>
          </a:prstGeom>
          <a:solidFill>
            <a:srgbClr val="D090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7844637" y="3240633"/>
            <a:ext cx="65836" cy="65836"/>
          </a:xfrm>
          <a:prstGeom prst="ellipse">
            <a:avLst/>
          </a:prstGeom>
          <a:solidFill>
            <a:srgbClr val="D4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7949793" y="3240633"/>
            <a:ext cx="65836" cy="65836"/>
          </a:xfrm>
          <a:prstGeom prst="ellipse">
            <a:avLst/>
          </a:prstGeom>
          <a:solidFill>
            <a:srgbClr val="D7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8054949" y="3240633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8160105" y="3240633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8265261" y="3240633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8370417" y="3240633"/>
            <a:ext cx="65836" cy="65836"/>
          </a:xfrm>
          <a:prstGeom prst="ellipse">
            <a:avLst/>
          </a:prstGeom>
          <a:solidFill>
            <a:srgbClr val="E7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8475573" y="3240633"/>
            <a:ext cx="65836" cy="65836"/>
          </a:xfrm>
          <a:prstGeom prst="ellipse">
            <a:avLst/>
          </a:prstGeom>
          <a:solidFill>
            <a:srgbClr val="EA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8580729" y="3240633"/>
            <a:ext cx="65836" cy="65836"/>
          </a:xfrm>
          <a:prstGeom prst="ellipse">
            <a:avLst/>
          </a:prstGeom>
          <a:solidFill>
            <a:srgbClr val="EE8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8685885" y="3240633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8791041" y="3240633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8896197" y="3240633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9001353" y="3240633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9106509" y="3240633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9211665" y="3240633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9316821" y="3240633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9421977" y="3240633"/>
            <a:ext cx="65836" cy="65836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9527133" y="3240633"/>
            <a:ext cx="65836" cy="65836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9632289" y="3240633"/>
            <a:ext cx="65836" cy="65836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9737445" y="3240633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9842601" y="3240633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9947757" y="3240633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10052913" y="3240633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10158069" y="3240633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10263225" y="3240633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10368381" y="3240633"/>
            <a:ext cx="65836" cy="65836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10473537" y="3240633"/>
            <a:ext cx="65836" cy="65836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10578693" y="3240633"/>
            <a:ext cx="65836" cy="65836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10683849" y="3240633"/>
            <a:ext cx="65836" cy="65836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10789005" y="3240633"/>
            <a:ext cx="65836" cy="65836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10894161" y="3240633"/>
            <a:ext cx="65836" cy="65836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10999317" y="3240633"/>
            <a:ext cx="65836" cy="65836"/>
          </a:xfrm>
          <a:prstGeom prst="ellipse">
            <a:avLst/>
          </a:prstGeom>
          <a:solidFill>
            <a:srgbClr val="F2B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11104473" y="3240633"/>
            <a:ext cx="65836" cy="65836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6793077" y="3345789"/>
            <a:ext cx="65836" cy="65836"/>
          </a:xfrm>
          <a:prstGeom prst="ellipse">
            <a:avLst/>
          </a:prstGeom>
          <a:solidFill>
            <a:srgbClr val="B092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6898233" y="3345789"/>
            <a:ext cx="65836" cy="65836"/>
          </a:xfrm>
          <a:prstGeom prst="ellipse">
            <a:avLst/>
          </a:prstGeom>
          <a:solidFill>
            <a:srgbClr val="B39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7003389" y="3345789"/>
            <a:ext cx="65836" cy="65836"/>
          </a:xfrm>
          <a:prstGeom prst="ellipse">
            <a:avLst/>
          </a:prstGeom>
          <a:solidFill>
            <a:srgbClr val="B792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7634325" y="3345789"/>
            <a:ext cx="65836" cy="65836"/>
          </a:xfrm>
          <a:prstGeom prst="ellipse">
            <a:avLst/>
          </a:prstGeom>
          <a:solidFill>
            <a:srgbClr val="CE9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7739481" y="3345789"/>
            <a:ext cx="65836" cy="65836"/>
          </a:xfrm>
          <a:prstGeom prst="ellipse">
            <a:avLst/>
          </a:prstGeom>
          <a:solidFill>
            <a:srgbClr val="D2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7844637" y="3345789"/>
            <a:ext cx="65836" cy="65836"/>
          </a:xfrm>
          <a:prstGeom prst="ellipse">
            <a:avLst/>
          </a:prstGeom>
          <a:solidFill>
            <a:srgbClr val="D69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7949793" y="3345789"/>
            <a:ext cx="65836" cy="65836"/>
          </a:xfrm>
          <a:prstGeom prst="ellipse">
            <a:avLst/>
          </a:prstGeom>
          <a:solidFill>
            <a:srgbClr val="D9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8054949" y="3345789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8160105" y="3345789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8265261" y="3345789"/>
            <a:ext cx="65836" cy="65836"/>
          </a:xfrm>
          <a:prstGeom prst="ellipse">
            <a:avLst/>
          </a:prstGeom>
          <a:solidFill>
            <a:srgbClr val="E58F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8370417" y="3345789"/>
            <a:ext cx="65836" cy="65836"/>
          </a:xfrm>
          <a:prstGeom prst="ellipse">
            <a:avLst/>
          </a:prstGeom>
          <a:solidFill>
            <a:srgbClr val="E9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8475573" y="3345789"/>
            <a:ext cx="65836" cy="65836"/>
          </a:xfrm>
          <a:prstGeom prst="ellipse">
            <a:avLst/>
          </a:prstGeom>
          <a:solidFill>
            <a:srgbClr val="EC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8580729" y="3345789"/>
            <a:ext cx="65836" cy="65836"/>
          </a:xfrm>
          <a:prstGeom prst="ellipse">
            <a:avLst/>
          </a:prstGeom>
          <a:solidFill>
            <a:srgbClr val="F08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8685885" y="3345789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8791041" y="3345789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8896197" y="3345789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9001353" y="3345789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9106509" y="3345789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9211665" y="3345789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9316821" y="3345789"/>
            <a:ext cx="65836" cy="65836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9421977" y="3345789"/>
            <a:ext cx="65836" cy="65836"/>
          </a:xfrm>
          <a:prstGeom prst="ellipse">
            <a:avLst/>
          </a:prstGeom>
          <a:solidFill>
            <a:srgbClr val="F49D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9527133" y="3345789"/>
            <a:ext cx="65836" cy="65836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9632289" y="3345789"/>
            <a:ext cx="65836" cy="65836"/>
          </a:xfrm>
          <a:prstGeom prst="ellipse">
            <a:avLst/>
          </a:prstGeom>
          <a:solidFill>
            <a:srgbClr val="F4A2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9737445" y="3345789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9842601" y="3345789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9947757" y="3345789"/>
            <a:ext cx="65836" cy="65836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10052913" y="3345789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10158069" y="3345789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10789005" y="3345789"/>
            <a:ext cx="65836" cy="65836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10894161" y="3345789"/>
            <a:ext cx="65836" cy="65836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10999317" y="3345789"/>
            <a:ext cx="65836" cy="65836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11104473" y="3345789"/>
            <a:ext cx="65836" cy="65836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6793077" y="3450945"/>
            <a:ext cx="65836" cy="65836"/>
          </a:xfrm>
          <a:prstGeom prst="ellipse">
            <a:avLst/>
          </a:prstGeom>
          <a:solidFill>
            <a:srgbClr val="B29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7634325" y="3450945"/>
            <a:ext cx="65836" cy="65836"/>
          </a:xfrm>
          <a:prstGeom prst="ellipse">
            <a:avLst/>
          </a:prstGeom>
          <a:solidFill>
            <a:srgbClr val="D090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7739481" y="3450945"/>
            <a:ext cx="65836" cy="65836"/>
          </a:xfrm>
          <a:prstGeom prst="ellipse">
            <a:avLst/>
          </a:prstGeom>
          <a:solidFill>
            <a:srgbClr val="D490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7844637" y="3450945"/>
            <a:ext cx="65836" cy="65836"/>
          </a:xfrm>
          <a:prstGeom prst="ellipse">
            <a:avLst/>
          </a:prstGeom>
          <a:solidFill>
            <a:srgbClr val="D8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7949793" y="3450945"/>
            <a:ext cx="65836" cy="65836"/>
          </a:xfrm>
          <a:prstGeom prst="ellipse">
            <a:avLst/>
          </a:prstGeom>
          <a:solidFill>
            <a:srgbClr val="DB8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8054949" y="3450945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8160105" y="3450945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8265261" y="3450945"/>
            <a:ext cx="65836" cy="65836"/>
          </a:xfrm>
          <a:prstGeom prst="ellipse">
            <a:avLst/>
          </a:prstGeom>
          <a:solidFill>
            <a:srgbClr val="E7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8370417" y="3450945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8475573" y="3450945"/>
            <a:ext cx="65836" cy="65836"/>
          </a:xfrm>
          <a:prstGeom prst="ellipse">
            <a:avLst/>
          </a:prstGeom>
          <a:solidFill>
            <a:srgbClr val="EE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8580729" y="3450945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8685885" y="3450945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8791041" y="3450945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8896197" y="3450945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9001353" y="3450945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9106509" y="3450945"/>
            <a:ext cx="65836" cy="65836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9211665" y="3450945"/>
            <a:ext cx="65836" cy="65836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9527133" y="3450945"/>
            <a:ext cx="65836" cy="65836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9632289" y="3450945"/>
            <a:ext cx="65836" cy="65836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9737445" y="3450945"/>
            <a:ext cx="65836" cy="65836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9842601" y="3450945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9947757" y="3450945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10052913" y="3450945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10158069" y="3450945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7634325" y="3556101"/>
            <a:ext cx="65836" cy="65836"/>
          </a:xfrm>
          <a:prstGeom prst="ellipse">
            <a:avLst/>
          </a:prstGeom>
          <a:solidFill>
            <a:srgbClr val="D29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7739481" y="3556101"/>
            <a:ext cx="65836" cy="65836"/>
          </a:xfrm>
          <a:prstGeom prst="ellipse">
            <a:avLst/>
          </a:prstGeom>
          <a:solidFill>
            <a:srgbClr val="D690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7844637" y="3556101"/>
            <a:ext cx="65836" cy="65836"/>
          </a:xfrm>
          <a:prstGeom prst="ellipse">
            <a:avLst/>
          </a:prstGeom>
          <a:solidFill>
            <a:srgbClr val="DA8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7949793" y="3556101"/>
            <a:ext cx="65836" cy="65836"/>
          </a:xfrm>
          <a:prstGeom prst="ellipse">
            <a:avLst/>
          </a:prstGeom>
          <a:solidFill>
            <a:srgbClr val="DD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8054949" y="3556101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8160105" y="3556101"/>
            <a:ext cx="65836" cy="65836"/>
          </a:xfrm>
          <a:prstGeom prst="ellipse">
            <a:avLst/>
          </a:prstGeom>
          <a:solidFill>
            <a:srgbClr val="E5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8265261" y="3556101"/>
            <a:ext cx="65836" cy="65836"/>
          </a:xfrm>
          <a:prstGeom prst="ellipse">
            <a:avLst/>
          </a:prstGeom>
          <a:solidFill>
            <a:srgbClr val="E9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8370417" y="3556101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8475573" y="3556101"/>
            <a:ext cx="65836" cy="65836"/>
          </a:xfrm>
          <a:prstGeom prst="ellipse">
            <a:avLst/>
          </a:prstGeom>
          <a:solidFill>
            <a:srgbClr val="F0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8580729" y="3556101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8685885" y="3556101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8791041" y="3556101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8896197" y="3556101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9001353" y="3556101"/>
            <a:ext cx="65836" cy="65836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9106509" y="3556101"/>
            <a:ext cx="65836" cy="65836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9632289" y="3556101"/>
            <a:ext cx="65836" cy="65836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9737445" y="3556101"/>
            <a:ext cx="65836" cy="65836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9842601" y="3556101"/>
            <a:ext cx="65836" cy="65836"/>
          </a:xfrm>
          <a:prstGeom prst="ellipse">
            <a:avLst/>
          </a:prstGeom>
          <a:solidFill>
            <a:srgbClr val="F3A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9947757" y="3556101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10052913" y="3556101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7739481" y="3661257"/>
            <a:ext cx="65836" cy="65836"/>
          </a:xfrm>
          <a:prstGeom prst="ellipse">
            <a:avLst/>
          </a:prstGeom>
          <a:solidFill>
            <a:srgbClr val="D8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7844637" y="3661257"/>
            <a:ext cx="65836" cy="65836"/>
          </a:xfrm>
          <a:prstGeom prst="ellipse">
            <a:avLst/>
          </a:prstGeom>
          <a:solidFill>
            <a:srgbClr val="DC8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7949793" y="3661257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8054949" y="3661257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8160105" y="3661257"/>
            <a:ext cx="65836" cy="65836"/>
          </a:xfrm>
          <a:prstGeom prst="ellipse">
            <a:avLst/>
          </a:prstGeom>
          <a:solidFill>
            <a:srgbClr val="E78E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8265261" y="3661257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8370417" y="3661257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8475573" y="3661257"/>
            <a:ext cx="65836" cy="65836"/>
          </a:xfrm>
          <a:prstGeom prst="ellipse">
            <a:avLst/>
          </a:prstGeom>
          <a:solidFill>
            <a:srgbClr val="F28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8580729" y="3661257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8685885" y="3661257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8791041" y="3661257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8896197" y="3661257"/>
            <a:ext cx="65836" cy="65836"/>
          </a:xfrm>
          <a:prstGeom prst="ellipse">
            <a:avLst/>
          </a:prstGeom>
          <a:solidFill>
            <a:srgbClr val="F495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9737445" y="3661257"/>
            <a:ext cx="65836" cy="65836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9842601" y="3661257"/>
            <a:ext cx="65836" cy="65836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9947757" y="3661257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10052913" y="3661257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7844637" y="3766413"/>
            <a:ext cx="65836" cy="65836"/>
          </a:xfrm>
          <a:prstGeom prst="ellipse">
            <a:avLst/>
          </a:prstGeom>
          <a:solidFill>
            <a:srgbClr val="DE8F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7949793" y="3766413"/>
            <a:ext cx="65836" cy="65836"/>
          </a:xfrm>
          <a:prstGeom prst="ellipse">
            <a:avLst/>
          </a:prstGeom>
          <a:solidFill>
            <a:srgbClr val="E1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8054949" y="3766413"/>
            <a:ext cx="65836" cy="65836"/>
          </a:xfrm>
          <a:prstGeom prst="ellipse">
            <a:avLst/>
          </a:prstGeom>
          <a:solidFill>
            <a:srgbClr val="E58F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8160105" y="3766413"/>
            <a:ext cx="65836" cy="65836"/>
          </a:xfrm>
          <a:prstGeom prst="ellipse">
            <a:avLst/>
          </a:prstGeom>
          <a:solidFill>
            <a:srgbClr val="E98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8265261" y="3766413"/>
            <a:ext cx="65836" cy="65836"/>
          </a:xfrm>
          <a:prstGeom prst="ellipse">
            <a:avLst/>
          </a:prstGeom>
          <a:solidFill>
            <a:srgbClr val="ED8E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8370417" y="3766413"/>
            <a:ext cx="65836" cy="65836"/>
          </a:xfrm>
          <a:prstGeom prst="ellipse">
            <a:avLst/>
          </a:prstGeom>
          <a:solidFill>
            <a:srgbClr val="F08E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8475573" y="3766413"/>
            <a:ext cx="65836" cy="65836"/>
          </a:xfrm>
          <a:prstGeom prst="ellipse">
            <a:avLst/>
          </a:prstGeom>
          <a:solidFill>
            <a:srgbClr val="F4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8580729" y="3766413"/>
            <a:ext cx="65836" cy="65836"/>
          </a:xfrm>
          <a:prstGeom prst="ellipse">
            <a:avLst/>
          </a:prstGeom>
          <a:solidFill>
            <a:srgbClr val="F490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8685885" y="3766413"/>
            <a:ext cx="65836" cy="65836"/>
          </a:xfrm>
          <a:prstGeom prst="ellipse">
            <a:avLst/>
          </a:prstGeom>
          <a:solidFill>
            <a:srgbClr val="F492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8791041" y="3766413"/>
            <a:ext cx="65836" cy="65836"/>
          </a:xfrm>
          <a:prstGeom prst="ellipse">
            <a:avLst/>
          </a:prstGeom>
          <a:solidFill>
            <a:srgbClr val="F494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9842601" y="3766413"/>
            <a:ext cx="65836" cy="65836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9947757" y="3766413"/>
            <a:ext cx="65836" cy="65836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10052913" y="3766413"/>
            <a:ext cx="65836" cy="65836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7844637" y="3871569"/>
            <a:ext cx="65836" cy="65836"/>
          </a:xfrm>
          <a:prstGeom prst="ellipse">
            <a:avLst/>
          </a:prstGeom>
          <a:solidFill>
            <a:srgbClr val="DF8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7949793" y="3871569"/>
            <a:ext cx="65836" cy="65836"/>
          </a:xfrm>
          <a:prstGeom prst="ellipse">
            <a:avLst/>
          </a:prstGeom>
          <a:solidFill>
            <a:srgbClr val="E38F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8054949" y="3871569"/>
            <a:ext cx="65836" cy="65836"/>
          </a:xfrm>
          <a:prstGeom prst="ellipse">
            <a:avLst/>
          </a:prstGeom>
          <a:solidFill>
            <a:srgbClr val="E78E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8160105" y="3871569"/>
            <a:ext cx="65836" cy="65836"/>
          </a:xfrm>
          <a:prstGeom prst="ellipse">
            <a:avLst/>
          </a:prstGeom>
          <a:solidFill>
            <a:srgbClr val="EB8E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8265261" y="3871569"/>
            <a:ext cx="65836" cy="65836"/>
          </a:xfrm>
          <a:prstGeom prst="ellipse">
            <a:avLst/>
          </a:prstGeom>
          <a:solidFill>
            <a:srgbClr val="EF8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8370417" y="3871569"/>
            <a:ext cx="65836" cy="65836"/>
          </a:xfrm>
          <a:prstGeom prst="ellipse">
            <a:avLst/>
          </a:prstGeom>
          <a:solidFill>
            <a:srgbClr val="F2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8475573" y="3871569"/>
            <a:ext cx="65836" cy="65836"/>
          </a:xfrm>
          <a:prstGeom prst="ellipse">
            <a:avLst/>
          </a:prstGeom>
          <a:solidFill>
            <a:srgbClr val="F48F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8580729" y="3871569"/>
            <a:ext cx="65836" cy="65836"/>
          </a:xfrm>
          <a:prstGeom prst="ellipse">
            <a:avLst/>
          </a:prstGeom>
          <a:solidFill>
            <a:srgbClr val="F491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8685885" y="3871569"/>
            <a:ext cx="65836" cy="65836"/>
          </a:xfrm>
          <a:prstGeom prst="ellipse">
            <a:avLst/>
          </a:prstGeom>
          <a:solidFill>
            <a:srgbClr val="F493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9842601" y="3871569"/>
            <a:ext cx="65836" cy="65836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9947757" y="3871569"/>
            <a:ext cx="65836" cy="65836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9947757" y="3976725"/>
            <a:ext cx="65836" cy="6583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9883518" y="3735389"/>
            <a:ext cx="100584" cy="100584"/>
          </a:xfrm>
          <a:prstGeom prst="ellipse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TextBox 801"/>
          <p:cNvSpPr txBox="1"/>
          <p:nvPr/>
        </p:nvSpPr>
        <p:spPr>
          <a:xfrm>
            <a:off x="10043538" y="3675953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7171B"/>
                </a:solidFill>
                <a:latin typeface="Pretendard"/>
              </a:rPr>
              <a:t>Lugano HQ</a:t>
            </a:r>
          </a:p>
        </p:txBody>
      </p:sp>
      <p:sp>
        <p:nvSpPr>
          <p:cNvPr id="803" name="Oval 802"/>
          <p:cNvSpPr/>
          <p:nvPr/>
        </p:nvSpPr>
        <p:spPr>
          <a:xfrm>
            <a:off x="525780" y="1037844"/>
            <a:ext cx="82296" cy="82296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672084" y="1037844"/>
            <a:ext cx="82296" cy="8229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818387" y="1037844"/>
            <a:ext cx="82296" cy="8229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964692" y="1037844"/>
            <a:ext cx="82296" cy="8229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1110996" y="1037844"/>
            <a:ext cx="82296" cy="82296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TextBox 807"/>
          <p:cNvSpPr txBox="1"/>
          <p:nvPr/>
        </p:nvSpPr>
        <p:spPr>
          <a:xfrm>
            <a:off x="502920" y="1371600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7171B"/>
                </a:solidFill>
                <a:latin typeface="Pretendard"/>
              </a:rPr>
              <a:t>THE BRAND BIBLE</a:t>
            </a:r>
          </a:p>
        </p:txBody>
      </p:sp>
      <p:sp>
        <p:nvSpPr>
          <p:cNvPr id="809" name="TextBox 808"/>
          <p:cNvSpPr txBox="1"/>
          <p:nvPr/>
        </p:nvSpPr>
        <p:spPr>
          <a:xfrm>
            <a:off x="521207" y="23317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5B5F63"/>
                </a:solidFill>
                <a:latin typeface="Pretendard"/>
              </a:rPr>
              <a:t>Prem + Fluso</a:t>
            </a:r>
          </a:p>
        </p:txBody>
      </p:sp>
      <p:sp>
        <p:nvSpPr>
          <p:cNvPr id="810" name="Rectangle 809"/>
          <p:cNvSpPr/>
          <p:nvPr/>
        </p:nvSpPr>
        <p:spPr>
          <a:xfrm>
            <a:off x="521207" y="3063240"/>
            <a:ext cx="2926080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521207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5F63"/>
                </a:solidFill>
                <a:latin typeface="Pretendard"/>
              </a:rPr>
              <a:t>Built in Lugano. Verified by design.</a:t>
            </a:r>
          </a:p>
        </p:txBody>
      </p:sp>
      <p:sp>
        <p:nvSpPr>
          <p:cNvPr id="812" name="TextBox 811"/>
          <p:cNvSpPr txBox="1"/>
          <p:nvPr/>
        </p:nvSpPr>
        <p:spPr>
          <a:xfrm>
            <a:off x="521207" y="370332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9A9A93"/>
                </a:solidFill>
                <a:latin typeface="Pretendard"/>
              </a:rPr>
              <a:t>Brand architecture  |  Voice  |  Color and type  |  The Swiss visual world  |  Platform playbooks</a:t>
            </a:r>
          </a:p>
        </p:txBody>
      </p:sp>
      <p:sp>
        <p:nvSpPr>
          <p:cNvPr id="813" name="TextBox 812"/>
          <p:cNvSpPr txBox="1"/>
          <p:nvPr/>
        </p:nvSpPr>
        <p:spPr>
          <a:xfrm>
            <a:off x="521207" y="4251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v2.0   June 2026   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Brand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1399031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One family, two identities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37943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83794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Positioning: Prem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185415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Enterprise AI you can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2432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624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Positioning: Fluso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9718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Work deeper, not longer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107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4107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The category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75818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Verifiable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197096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19709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Voice and 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54456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Four principles, one banned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83479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9834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Color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5330951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The verified logo palette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69864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57698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Typography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" y="611733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Pretendard, the brand typeface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05156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1051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The Swiss visual 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1399031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Mountains, the dot map, calm 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1837943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1837943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Visual 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2008" y="2185415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Social templates in practice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624328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2624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Platform playbooks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2008" y="29718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LinkedIn, X, Instagram, Facebook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3410712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22008" y="34107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Content pillars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2008" y="375818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What each brand publishes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197096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2008" y="419709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Audience architecture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22008" y="454456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Persona to platform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983479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5F63"/>
                </a:solidFill>
                <a:latin typeface="Pretendard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2008" y="4983479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Vocabulary and governance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22008" y="5330951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Words we own, who signs off</a:t>
            </a:r>
          </a:p>
        </p:txBody>
      </p:sp>
      <p:sp>
        <p:nvSpPr>
          <p:cNvPr id="44" name="Oval 43"/>
          <p:cNvSpPr/>
          <p:nvPr/>
        </p:nvSpPr>
        <p:spPr>
          <a:xfrm>
            <a:off x="11251692" y="6405372"/>
            <a:ext cx="82296" cy="82296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397996" y="6405372"/>
            <a:ext cx="82296" cy="8229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544300" y="6405372"/>
            <a:ext cx="82296" cy="8229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690604" y="6405372"/>
            <a:ext cx="82296" cy="8229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836908" y="6405372"/>
            <a:ext cx="82296" cy="82296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01  BRAND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71B"/>
                </a:solidFill>
                <a:latin typeface="Pretendard"/>
              </a:rPr>
              <a:t>One family. Two distinct identities.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83080"/>
            <a:ext cx="5349240" cy="4526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534924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385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7171B"/>
                </a:solidFill>
                <a:latin typeface="Pretendard"/>
              </a:rPr>
              <a:t>PREM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3230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Masterbrand. The enterprise identity.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880360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CISOs, CTOs, compliance officers, enterprise procurement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38728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TONE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3538728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Authoritative, precise, institutional. Peer-to-peer CTO voice.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970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CHANNELS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97096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LinkedIn primary. Press, partner and investor materials.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55464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PURPOSE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855464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Build the category Verifiable AI. Win regulated enterprise.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13831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513831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Prem dot-cluster mark, gradient version, on light backgrounds.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783080"/>
            <a:ext cx="5349240" cy="4526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1783080"/>
            <a:ext cx="5349240" cy="54864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19385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7171B"/>
                </a:solidFill>
                <a:latin typeface="Pretendard"/>
              </a:rPr>
              <a:t>FLUSO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43230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Product sub-brand. The user-facing identity.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880360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AUDIENCE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2880360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Lawyers, analysts, researchers, developers, prosumers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538728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TONE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538728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Direct, builder voice, grounded, honest about limitations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197096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CHANNELS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4197096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X primary. Instagram, product blog, community.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855464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PURPOSE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4855464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Be the product builders recommend to each other.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513831"/>
            <a:ext cx="1143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5B5F63"/>
                </a:solidFill>
                <a:latin typeface="Pretendard"/>
              </a:rPr>
              <a:t>MARK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5513831"/>
            <a:ext cx="3703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Fluso dot mark, used exactly as provided. Never recolored.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The lockup is "Fluso by Prem", never "Prem's product". The sub-brand keeps its own personality while borrowing the masterbrand's enterprise trust.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02  POSITIONING: PREM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71B"/>
                </a:solidFill>
                <a:latin typeface="Pretendard"/>
              </a:rPr>
              <a:t>"Enterprise AI you can prove."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5F63"/>
                </a:solidFill>
                <a:latin typeface="Pretendard"/>
              </a:rPr>
              <a:t>The only AI platform that ships cryptographic attestation with every inference. A proof, not a policy.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361188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706624"/>
            <a:ext cx="164592" cy="164592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0632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71B"/>
                </a:solidFill>
                <a:latin typeface="Pretendard"/>
              </a:rPr>
              <a:t>Proof per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79476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Reticle produces a hardware-signed cryptographic attestation at the TEE layer on every inference. Verifiable by any party. No competitor ships this.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7" y="2331720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7" y="2331720"/>
            <a:ext cx="3611880" cy="54864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59" y="2706624"/>
            <a:ext cx="164592" cy="164592"/>
          </a:xfrm>
          <a:prstGeom prst="ellipse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30632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71B"/>
                </a:solidFill>
                <a:latin typeface="Pretendard"/>
              </a:rPr>
              <a:t>Model portability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79476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Any open-source model on your own infrastructure. Switch models without migration cost. No lock-in, no forced upgrade path.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11896" y="2331720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1896" y="2331720"/>
            <a:ext cx="3611880" cy="54864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13648" y="2706624"/>
            <a:ext cx="164592" cy="164592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06324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7171B"/>
                </a:solidFill>
                <a:latin typeface="Pretendard"/>
              </a:rPr>
              <a:t>Sovereign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7928" y="379476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Data never leaves the customer VPC. The customer's jurisdiction governs. Auditable by their team, their counsel, their regulator.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03  POSITIONING: FLUSO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7171B"/>
                </a:solidFill>
                <a:latin typeface="Pretendard"/>
              </a:rPr>
              <a:t>"Work deeper, not longer."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5F63"/>
                </a:solidFill>
                <a:latin typeface="Pretendard"/>
              </a:rPr>
              <a:t>Deep-work AI for knowledge professionals who think in 20-minute sessions, not prompt chains.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11183112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514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51460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7171B"/>
                </a:solidFill>
                <a:latin typeface="Pretendard"/>
              </a:rPr>
              <a:t>Lawyers, analysts, researchers and engineers doing cognitive-heavy 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300984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WHO NEED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3300984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7171B"/>
                </a:solidFill>
                <a:latin typeface="Pretendard"/>
              </a:rPr>
              <a:t>AI that fits into deep-work sessions without breaking concentration or creating new overhead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87368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UNLIKE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087368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7171B"/>
                </a:solidFill>
                <a:latin typeface="Pretendard"/>
              </a:rPr>
              <a:t>Chat-first tools optimised for quick answers rather than sustained reasoning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7375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FLUSO 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873752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7171B"/>
                </a:solidFill>
                <a:latin typeface="Pretendard"/>
              </a:rPr>
              <a:t>A private AI workspace with compounding memory, built for 10 to 30 minute focused workflows, with session audit trail and honest accuracy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660136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THE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660136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7171B"/>
                </a:solidFill>
                <a:latin typeface="Pretendard"/>
              </a:rPr>
              <a:t>59 minutes per day lost to information search. 60% of knowledge-worker time spent on work about work. Fluso attacks both numbers.</a:t>
            </a:r>
          </a:p>
        </p:txBody>
      </p:sp>
      <p:sp>
        <p:nvSpPr>
          <p:cNvPr id="18" name="Oval 17"/>
          <p:cNvSpPr/>
          <p:nvPr/>
        </p:nvSpPr>
        <p:spPr>
          <a:xfrm>
            <a:off x="11251692" y="6451092"/>
            <a:ext cx="82296" cy="82296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397996" y="6451092"/>
            <a:ext cx="82296" cy="8229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544300" y="6451092"/>
            <a:ext cx="82296" cy="8229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690604" y="6451092"/>
            <a:ext cx="82296" cy="8229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836908" y="6451092"/>
            <a:ext cx="82296" cy="82296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04  THE CATEGORY WE ARE CREATING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7171B"/>
                </a:solidFill>
                <a:latin typeface="Pretendard"/>
              </a:rPr>
              <a:t>Verifiable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5F63"/>
                </a:solidFill>
                <a:latin typeface="Pretendard"/>
              </a:rPr>
              <a:t>Not "Private AI". Not "Secure AI". A new category that Prem names and owns.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331720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331720"/>
            <a:ext cx="3611880" cy="54864"/>
          </a:xfrm>
          <a:prstGeom prst="rect">
            <a:avLst/>
          </a:prstGeom>
          <a:solidFill>
            <a:srgbClr val="9A9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487168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5F63"/>
                </a:solidFill>
                <a:latin typeface="Pretendard"/>
              </a:rPr>
              <a:t>Policy-based "Private AI"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546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5F63"/>
                </a:solidFill>
                <a:latin typeface="Pretendard"/>
              </a:rPr>
              <a:t>A contractual promise that the provider handles data properly.
Breaks when terms change or a subpoena arrives.
Cannot be audited. Must be trusted.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7407" y="2331720"/>
            <a:ext cx="3611880" cy="39776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7" y="2331720"/>
            <a:ext cx="3611880" cy="54864"/>
          </a:xfrm>
          <a:prstGeom prst="rect">
            <a:avLst/>
          </a:prstGeom>
          <a:solidFill>
            <a:srgbClr val="9A9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87168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5B5F63"/>
                </a:solidFill>
                <a:latin typeface="Pretendard"/>
              </a:rPr>
              <a:t>Perimeter-based "Secure AI"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546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5F63"/>
                </a:solidFill>
                <a:latin typeface="Pretendard"/>
              </a:rPr>
              <a:t>Firewalls and access controls around the system's exterior.
Says nothing about what happened inside the model during inference.
Proves the boundary, not the behaviour.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11896" y="2331720"/>
            <a:ext cx="3611880" cy="3977639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11896" y="2331720"/>
            <a:ext cx="361188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67928" y="2487168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Pretendard"/>
              </a:rPr>
              <a:t>Verifiable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7928" y="3154680"/>
            <a:ext cx="31089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CEAE1"/>
                </a:solidFill>
                <a:latin typeface="Pretendard"/>
              </a:rPr>
              <a:t>Hardware-signed cryptographic proof per inference, via the open-source Reticle stack.
Mathematically checkable by any party.
No trust required.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67928" y="5943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F96FF"/>
                </a:solidFill>
                <a:latin typeface="Pretendard"/>
              </a:rPr>
              <a:t>PREM OWNS THIS COLUMN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05  VOICE AND TONE  |  FOUR PRINCIPLES, BOTH BRANDS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53492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51560"/>
            <a:ext cx="54864" cy="2468880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5272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9A93"/>
                </a:solidFill>
                <a:latin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171B"/>
                </a:solidFill>
                <a:latin typeface="Pretendard"/>
              </a:rPr>
              <a:t>Precise over poetic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Name the exact thing. Use numbers when you have them. "Reduces audit prep from 3 weeks to 4 days" beats "dramatically accelerates compliance."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051560"/>
            <a:ext cx="53492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051560"/>
            <a:ext cx="54864" cy="2468880"/>
          </a:xfrm>
          <a:prstGeom prst="rect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252728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9A93"/>
                </a:solidFill>
                <a:latin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171B"/>
                </a:solidFill>
                <a:latin typeface="Pretendard"/>
              </a:rPr>
              <a:t>Useful over impressive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286000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Every piece should leave the reader able to do something they could not do before. If it reads like a capability tour, rewrite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49039"/>
            <a:ext cx="53492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49039"/>
            <a:ext cx="54864" cy="2468880"/>
          </a:xfrm>
          <a:prstGeom prst="rect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50207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9A93"/>
                </a:solidFill>
                <a:latin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8055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171B"/>
                </a:solidFill>
                <a:latin typeface="Pretendard"/>
              </a:rPr>
              <a:t>Specific over sweeping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983479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No "many companies". No "most organisations". Say who, where, how many. If you cannot source it, do not claim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3749039"/>
            <a:ext cx="534924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3749039"/>
            <a:ext cx="54864" cy="2468880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950207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A9A93"/>
                </a:solidFill>
                <a:latin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48055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7171B"/>
                </a:solidFill>
                <a:latin typeface="Pretendard"/>
              </a:rPr>
              <a:t>Honest about limits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983479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B5F63"/>
                </a:solidFill>
                <a:latin typeface="Pretendard"/>
              </a:rPr>
              <a:t>State what the product does not do. Admit what the data does not show. Readers trust brands that acknowledge constraints.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05  VOICE AND TONE  |  THE BANNED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5F63"/>
                </a:solidFill>
                <a:latin typeface="Pretendard"/>
              </a:rPr>
              <a:t>Prohibited across all Prem and Fluso content. No exceptions.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61188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611880" cy="54864"/>
          </a:xfrm>
          <a:prstGeom prst="rect">
            <a:avLst/>
          </a:prstGeom>
          <a:solidFill>
            <a:srgbClr val="BA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A3C3C"/>
                </a:solidFill>
                <a:latin typeface="Pretendard"/>
              </a:rPr>
              <a:t>BANNED WORDS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Revolutionary, game-changing, effortless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33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633472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Unlock your potential, empower your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924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392424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"AI-powered" (everything is AI-powered)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5137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1375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"The future of work"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1032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910327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"We're excited to announce"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66927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7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"Industry-leading" and other unverifiable superlatives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07407" y="1280160"/>
            <a:ext cx="361188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7407" y="1280160"/>
            <a:ext cx="3611880" cy="54864"/>
          </a:xfrm>
          <a:prstGeom prst="rect">
            <a:avLst/>
          </a:prstGeom>
          <a:solidFill>
            <a:srgbClr val="BA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A3C3C"/>
                </a:solidFill>
                <a:latin typeface="Pretendard"/>
              </a:rPr>
              <a:t>BANNED STRUCTURES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6007" y="187451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7" y="187451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Em dashes anywhere in copy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7" y="2633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6047" y="2633472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Rhetorical hooks: "What if your AI could..."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7" y="33924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7" y="3392424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Fragment staccato: "Faster. Smarter. Better."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415137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7" y="4151375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The "not X, but Y" construction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491032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56047" y="4910327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Aphoristic closers: "That's the future we're building."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7" y="566927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6047" y="566927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Ending posts with "What do you think?"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11896" y="1280160"/>
            <a:ext cx="361188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11896" y="1280160"/>
            <a:ext cx="3611880" cy="54864"/>
          </a:xfrm>
          <a:prstGeom prst="rect">
            <a:avLst/>
          </a:prstGeom>
          <a:solidFill>
            <a:srgbClr val="BA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40496" y="14173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BA3C3C"/>
                </a:solidFill>
                <a:latin typeface="Pretendard"/>
              </a:rPr>
              <a:t>BANNED CLAIMS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187451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187451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"Swiss jurisdiction" for customer-VPC deployments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633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0536" y="2633472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"Privacy-first" as the lead positioning claim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39242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0536" y="3392424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Any accuracy figure without a named source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15137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0536" y="4151375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Implying competitors are dishonest. Show data instead.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0496" y="491032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0536" y="4910327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Any certification the company does not currently hold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566927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BA3C3C"/>
                </a:solidFill>
                <a:latin typeface="Pretendard"/>
              </a:rPr>
              <a:t>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5669279"/>
            <a:ext cx="2880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Statements about our own website or product UI no one has checked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05  VOICE AND TONE  |  IN PRACTICE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LINKEDIN PRODUCT INTRO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44168"/>
            <a:ext cx="5486400" cy="1389888"/>
          </a:xfrm>
          <a:prstGeom prst="rect">
            <a:avLst/>
          </a:prstGeom>
          <a:solidFill>
            <a:srgbClr val="F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435607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BA3C3C"/>
                </a:solidFill>
                <a:latin typeface="Pretendard"/>
              </a:rPr>
              <a:t>DON'T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691639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Introducing Prem, the revolutionary AI platform that empowers your team to unlock new levels of productivity while keeping data safe.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344168"/>
            <a:ext cx="5486400" cy="1389888"/>
          </a:xfrm>
          <a:prstGeom prst="rect">
            <a:avLst/>
          </a:prstGeom>
          <a:solidFill>
            <a:srgbClr val="E9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35607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2E7D50"/>
                </a:solidFill>
                <a:latin typeface="Pretendard"/>
              </a:rPr>
              <a:t>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39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Prem runs on your infrastructure. Every inference produces a cryptographic proof via Reticle. Your compliance team can audit what ran, when, and on which model.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X / FLUSO POST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72968"/>
            <a:ext cx="5486400" cy="1389888"/>
          </a:xfrm>
          <a:prstGeom prst="rect">
            <a:avLst/>
          </a:prstGeom>
          <a:solidFill>
            <a:srgbClr val="F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2644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BA3C3C"/>
                </a:solidFill>
                <a:latin typeface="Pretendard"/>
              </a:rPr>
              <a:t>DON'T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520439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What if your AI could actually prove it's private? That's not a dream. That's Fluso.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3172968"/>
            <a:ext cx="5486400" cy="1389888"/>
          </a:xfrm>
          <a:prstGeom prst="rect">
            <a:avLst/>
          </a:prstGeom>
          <a:solidFill>
            <a:srgbClr val="E9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2644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2E7D50"/>
                </a:solidFill>
                <a:latin typeface="Pretendard"/>
              </a:rPr>
              <a:t>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20439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Fluso produced a hardware-signed audit trail for every session in our legal workflow. Our CISO asked how. I sent the Reticle docs.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0916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PARTNERSHIP ANNOUNCEMENT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01768"/>
            <a:ext cx="5486400" cy="1389888"/>
          </a:xfrm>
          <a:prstGeom prst="rect">
            <a:avLst/>
          </a:prstGeom>
          <a:solidFill>
            <a:srgbClr val="FA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093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BA3C3C"/>
                </a:solidFill>
                <a:latin typeface="Pretendard"/>
              </a:rPr>
              <a:t>DON'T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349240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We're excited to announce our partnership with [Partner]. Together we're shaping the future of enterprise AI.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5001768"/>
            <a:ext cx="5486400" cy="1389888"/>
          </a:xfrm>
          <a:prstGeom prst="rect">
            <a:avLst/>
          </a:prstGeom>
          <a:solidFill>
            <a:srgbClr val="E9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0932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2E7D50"/>
                </a:solidFill>
                <a:latin typeface="Pretendard"/>
              </a:rPr>
              <a:t>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349240"/>
            <a:ext cx="50749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[Partner] is deploying Prem across 400 compliance workflows, the first regulated-industry deployment at this scale with full attestation. Implementation notes on the blog.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06  COLOR  |  THE VERIFIED LOGO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Every brand color comes from one place: the Prem logo gradient.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Source: logo.svg, static.premai.io. Three gradient stops, verified 9 June 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2084831" cy="2103120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005072"/>
            <a:ext cx="20848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7171B"/>
                </a:solidFill>
                <a:latin typeface="Pretendard"/>
              </a:rPr>
              <a:t>Periwinkle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342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#7F96FF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45152"/>
            <a:ext cx="208483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Gradient stop 0.
Prem primary accent.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7208" y="1783080"/>
            <a:ext cx="2084831" cy="2103120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4005072"/>
            <a:ext cx="20848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7171B"/>
                </a:solidFill>
                <a:latin typeface="Pretendard"/>
              </a:rPr>
              <a:t>Coral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43342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#F58E8E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208" y="4645152"/>
            <a:ext cx="208483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Gradient stop 0.5.
Fluso primary accent.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11496" y="1783080"/>
            <a:ext cx="2084831" cy="2103120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11496" y="4005072"/>
            <a:ext cx="20848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7171B"/>
                </a:solidFill>
                <a:latin typeface="Pretendard"/>
              </a:rPr>
              <a:t>Sand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43342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#F2D398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4645152"/>
            <a:ext cx="208483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Gradient stop 1.
Warm highlight, sparingly.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15784" y="1783080"/>
            <a:ext cx="2084831" cy="2103120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15784" y="4005072"/>
            <a:ext cx="20848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7171B"/>
                </a:solidFill>
                <a:latin typeface="Pretendard"/>
              </a:rPr>
              <a:t>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4" y="43342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#17171B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5784" y="4645152"/>
            <a:ext cx="208483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All text.
Dark surfaces.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0072" y="1783080"/>
            <a:ext cx="2084831" cy="2103120"/>
          </a:xfrm>
          <a:prstGeom prst="rect">
            <a:avLst/>
          </a:prstGeom>
          <a:solidFill>
            <a:srgbClr val="FAF9F5"/>
          </a:solidFill>
          <a:ln w="12700">
            <a:solidFill>
              <a:srgbClr val="EC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0072" y="4005072"/>
            <a:ext cx="208483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7171B"/>
                </a:solidFill>
                <a:latin typeface="Pretendard"/>
              </a:rPr>
              <a:t>Paper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4334256"/>
            <a:ext cx="208483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#FAF9F5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0072" y="4645152"/>
            <a:ext cx="2084831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Default background.
The Swiss white space.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577840"/>
            <a:ext cx="1118311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577840"/>
            <a:ext cx="54864" cy="914400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687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58E8E"/>
                </a:solidFill>
                <a:latin typeface="Pretendard"/>
              </a:rPr>
              <a:t>FLUSO 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9436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Fluso never uses orange. Its accent colors must be lifted from the Fluso logo file exactly as provided. Until those hex values are pulled from the asset, use coral #F58E8E from the family gradient. Do not approximate, tint, or recolor the dot mark.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07  TYPOGRAPHY  |  PRETENDARD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7171B"/>
                </a:solidFill>
                <a:latin typeface="Pretendard"/>
              </a:rPr>
              <a:t>Pretendard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6400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B5F63"/>
                </a:solidFill>
                <a:latin typeface="Pretendard"/>
              </a:rPr>
              <a:t>The verified brand typeface. Prem already self-hosts Pretendard Regular, SemiBold and Bold at static.premai.io/fonts. One family, both brands, every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4320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Display / H1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743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Pretendard Bold, 36 to 48pt, tight leading (1.2x)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31012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Section 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310128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Pretendard SemiBold, 20 to 28pt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87705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Body copy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3877056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Pretendard Regular, 10 to 12pt, leading 1.6x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43983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443983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Pretendard SemiBold, 8 to 9pt, all caps, letterspaced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01091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Data callout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010912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Pretendard Bold at display scale, accent color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914400"/>
            <a:ext cx="4370832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09728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>
                <a:solidFill>
                  <a:srgbClr val="17171B"/>
                </a:solidFill>
                <a:latin typeface="Pretendard"/>
              </a:rPr>
              <a:t>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7171B"/>
                </a:solidFill>
                <a:latin typeface="Pretendard"/>
              </a:rPr>
              <a:t>Pretendard Bold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06324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B5F63"/>
                </a:solidFill>
                <a:latin typeface="Pretendard"/>
              </a:rPr>
              <a:t>ABCDEFGHIJKLM
abcdefghijklm
0123456789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452628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A9A93"/>
                </a:solidFill>
                <a:latin typeface="Pretendard"/>
              </a:rPr>
              <a:t>Files: Pretendard-Regular.woff2, Pretendard-SemiBold.woff2, Pretendard-Bold.woff2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760720"/>
            <a:ext cx="11183112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RULES   Bold for emphasis, never italics.  Minimum 10pt digital.  Max 70 characters per line.  Sentence case in product and social.  Mono (JetBrains Mono) only for code.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08  THE SWISS VISUAL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7171B"/>
                </a:solidFill>
                <a:latin typeface="Pretendard"/>
              </a:rPr>
              <a:t>Prem is built in Lugano. The visuals say so without saying 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3492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54864" cy="1600200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79222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Alpine ridgelines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194560"/>
            <a:ext cx="4846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Layered mountain silhouettes in gradient tints. Used as footers, section breaks and Reel cover frames. Always calm, never dramatic stock peaks.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45920"/>
            <a:ext cx="53492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45920"/>
            <a:ext cx="54864" cy="1600200"/>
          </a:xfrm>
          <a:prstGeom prst="rect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1112" y="179222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The dot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1112" y="2194560"/>
            <a:ext cx="4846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Switzerland drawn in the logo's own dot language, gradient applied. Our most ownable asset: the country and the mark in one image.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29000"/>
            <a:ext cx="53492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54864" cy="1600200"/>
          </a:xfrm>
          <a:prstGeom prst="rect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" y="357530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Lake horizon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3977639"/>
            <a:ext cx="4846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Generous negative space above a single low horizon line. White space is the loudest part of the layout.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429000"/>
            <a:ext cx="5349240" cy="1600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429000"/>
            <a:ext cx="54864" cy="1600200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3575304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Swiss grid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1112" y="3977639"/>
            <a:ext cx="4846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The International Typographic Style is literally Swiss: strict grid, flush-left type, no decoration. We inherit it by birthright.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03520"/>
            <a:ext cx="11183112" cy="1188720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7F96FF"/>
                </a:solidFill>
                <a:latin typeface="Pretendard"/>
              </a:rPr>
              <a:t>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AF9F5"/>
                </a:solidFill>
                <a:latin typeface="Pretendard"/>
              </a:rPr>
              <a:t>Photography: real Alps, muted morning light, no saturated stock.  Never use the Swiss flag or cross: protected mark, and a cliche.  Motifs support the message, they never carry it.  Every asset passes the calm test: if it shouts, it ships nowhere.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09  VISUAL APPLICATION  |  SOCIAL TEMPLATES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188720"/>
            <a:ext cx="2377440" cy="4224528"/>
          </a:xfrm>
          <a:prstGeom prst="rect">
            <a:avLst/>
          </a:prstGeom>
          <a:solidFill>
            <a:srgbClr val="FAF9F5"/>
          </a:solidFill>
          <a:ln w="15240">
            <a:solidFill>
              <a:srgbClr val="EC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777240" y="3767328"/>
            <a:ext cx="2377440" cy="3090672"/>
          </a:xfrm>
          <a:custGeom>
            <a:avLst/>
            <a:gdLst/>
            <a:ahLst/>
            <a:cxnLst/>
            <a:rect l="l" t="t" r="r" b="b"/>
            <a:pathLst>
              <a:path w="2377440" h="3090672">
                <a:moveTo>
                  <a:pt x="0" y="3090672"/>
                </a:moveTo>
                <a:lnTo>
                  <a:pt x="0" y="640080"/>
                </a:lnTo>
                <a:lnTo>
                  <a:pt x="640079" y="91440"/>
                </a:lnTo>
                <a:lnTo>
                  <a:pt x="1280160" y="548640"/>
                </a:lnTo>
                <a:lnTo>
                  <a:pt x="1828800" y="0"/>
                </a:lnTo>
                <a:lnTo>
                  <a:pt x="2377440" y="502920"/>
                </a:lnTo>
                <a:lnTo>
                  <a:pt x="2377440" y="3090672"/>
                </a:lnTo>
                <a:close/>
              </a:path>
            </a:pathLst>
          </a:custGeom>
          <a:solidFill>
            <a:srgbClr val="E1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5413248"/>
            <a:ext cx="2414016" cy="1444752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4592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7171B"/>
                </a:solidFill>
                <a:latin typeface="Pretendard"/>
              </a:rPr>
              <a:t>23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5F63"/>
                </a:solidFill>
                <a:latin typeface="Pretendard"/>
              </a:rPr>
              <a:t>contract review,
every clause sourced</a:t>
            </a:r>
          </a:p>
        </p:txBody>
      </p:sp>
      <p:sp>
        <p:nvSpPr>
          <p:cNvPr id="10" name="Oval 9"/>
          <p:cNvSpPr/>
          <p:nvPr/>
        </p:nvSpPr>
        <p:spPr>
          <a:xfrm>
            <a:off x="1037844" y="5088636"/>
            <a:ext cx="64008" cy="64008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56716" y="5088636"/>
            <a:ext cx="64008" cy="64008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75588" y="5088636"/>
            <a:ext cx="64008" cy="64008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52297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REEL COVER  9:16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79729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A9A93"/>
                </a:solidFill>
                <a:latin typeface="Pretendard"/>
              </a:rPr>
              <a:t>Big number, one claim,
ridge footer, dot row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1188720"/>
            <a:ext cx="3291840" cy="3291840"/>
          </a:xfrm>
          <a:prstGeom prst="rect">
            <a:avLst/>
          </a:prstGeom>
          <a:solidFill>
            <a:srgbClr val="FFFFFF"/>
          </a:solidFill>
          <a:ln w="15240">
            <a:solidFill>
              <a:srgbClr val="ECE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46304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171B"/>
                </a:solidFill>
                <a:latin typeface="Pretendard"/>
              </a:rPr>
              <a:t>The 20-minute
agent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B5F63"/>
                </a:solidFill>
                <a:latin typeface="Pretendard"/>
              </a:rPr>
              <a:t>One task. One timer.
Receipts inside.</a:t>
            </a:r>
          </a:p>
        </p:txBody>
      </p:sp>
      <p:sp>
        <p:nvSpPr>
          <p:cNvPr id="18" name="Oval 17"/>
          <p:cNvSpPr/>
          <p:nvPr/>
        </p:nvSpPr>
        <p:spPr>
          <a:xfrm>
            <a:off x="6412687" y="3166567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0411" y="3166567"/>
            <a:ext cx="40233" cy="40233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68135" y="3166567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45859" y="3166567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179515" y="3244291"/>
            <a:ext cx="40233" cy="40233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57239" y="3244291"/>
            <a:ext cx="40233" cy="40233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334963" y="3244291"/>
            <a:ext cx="40233" cy="40233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12687" y="3244291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90411" y="3244291"/>
            <a:ext cx="40233" cy="40233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568135" y="3244291"/>
            <a:ext cx="40233" cy="40233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645859" y="3244291"/>
            <a:ext cx="40233" cy="40233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723583" y="3244291"/>
            <a:ext cx="40233" cy="40233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01307" y="3244291"/>
            <a:ext cx="40233" cy="40233"/>
          </a:xfrm>
          <a:prstGeom prst="ellipse">
            <a:avLst/>
          </a:prstGeom>
          <a:solidFill>
            <a:srgbClr val="F3A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024067" y="3322015"/>
            <a:ext cx="40233" cy="40233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101791" y="3322015"/>
            <a:ext cx="40233" cy="40233"/>
          </a:xfrm>
          <a:prstGeom prst="ellipse">
            <a:avLst/>
          </a:prstGeom>
          <a:solidFill>
            <a:srgbClr val="F2B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179515" y="3322015"/>
            <a:ext cx="40233" cy="40233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57239" y="3322015"/>
            <a:ext cx="40233" cy="40233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34963" y="3322015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12687" y="3322015"/>
            <a:ext cx="40233" cy="40233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490411" y="3322015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568135" y="3322015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645859" y="3322015"/>
            <a:ext cx="40233" cy="40233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23583" y="3322015"/>
            <a:ext cx="40233" cy="40233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01307" y="3322015"/>
            <a:ext cx="40233" cy="40233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879031" y="3322015"/>
            <a:ext cx="40233" cy="40233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946343" y="3399739"/>
            <a:ext cx="40233" cy="40233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24067" y="3399739"/>
            <a:ext cx="40233" cy="40233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101791" y="3399739"/>
            <a:ext cx="40233" cy="40233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179515" y="3399739"/>
            <a:ext cx="40233" cy="40233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57239" y="3399739"/>
            <a:ext cx="40233" cy="40233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34963" y="3399739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412687" y="3399739"/>
            <a:ext cx="40233" cy="40233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90411" y="3399739"/>
            <a:ext cx="40233" cy="40233"/>
          </a:xfrm>
          <a:prstGeom prst="ellipse">
            <a:avLst/>
          </a:prstGeom>
          <a:solidFill>
            <a:srgbClr val="F3B0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568135" y="3399739"/>
            <a:ext cx="40233" cy="40233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645859" y="3399739"/>
            <a:ext cx="40233" cy="40233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723583" y="3399739"/>
            <a:ext cx="40233" cy="40233"/>
          </a:xfrm>
          <a:prstGeom prst="ellipse">
            <a:avLst/>
          </a:prstGeom>
          <a:solidFill>
            <a:srgbClr val="F3A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01307" y="3399739"/>
            <a:ext cx="40233" cy="40233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879031" y="3399739"/>
            <a:ext cx="40233" cy="40233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868619" y="3477463"/>
            <a:ext cx="40233" cy="40233"/>
          </a:xfrm>
          <a:prstGeom prst="ellipse">
            <a:avLst/>
          </a:prstGeom>
          <a:solidFill>
            <a:srgbClr val="F2C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946343" y="3477463"/>
            <a:ext cx="40233" cy="40233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024067" y="3477463"/>
            <a:ext cx="40233" cy="40233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01791" y="3477463"/>
            <a:ext cx="40233" cy="40233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179515" y="3477463"/>
            <a:ext cx="40233" cy="40233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257239" y="3477463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334963" y="3477463"/>
            <a:ext cx="40233" cy="40233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412687" y="3477463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90411" y="3477463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568135" y="3477463"/>
            <a:ext cx="40233" cy="40233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645859" y="3477463"/>
            <a:ext cx="40233" cy="40233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723583" y="3477463"/>
            <a:ext cx="40233" cy="40233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801307" y="3477463"/>
            <a:ext cx="40233" cy="40233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879031" y="3477463"/>
            <a:ext cx="40233" cy="40233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790895" y="3555187"/>
            <a:ext cx="40233" cy="40233"/>
          </a:xfrm>
          <a:prstGeom prst="ellipse">
            <a:avLst/>
          </a:prstGeom>
          <a:solidFill>
            <a:srgbClr val="F2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868619" y="3555187"/>
            <a:ext cx="40233" cy="40233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46343" y="3555187"/>
            <a:ext cx="40233" cy="40233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24067" y="3555187"/>
            <a:ext cx="40233" cy="40233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101791" y="3555187"/>
            <a:ext cx="40233" cy="40233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179515" y="3555187"/>
            <a:ext cx="40233" cy="40233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257239" y="3555187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34963" y="3555187"/>
            <a:ext cx="40233" cy="40233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12687" y="3555187"/>
            <a:ext cx="40233" cy="40233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490411" y="3555187"/>
            <a:ext cx="40233" cy="40233"/>
          </a:xfrm>
          <a:prstGeom prst="ellipse">
            <a:avLst/>
          </a:prstGeom>
          <a:solidFill>
            <a:srgbClr val="F3AE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6568135" y="3555187"/>
            <a:ext cx="40233" cy="40233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645859" y="3555187"/>
            <a:ext cx="40233" cy="40233"/>
          </a:xfrm>
          <a:prstGeom prst="ellipse">
            <a:avLst/>
          </a:prstGeom>
          <a:solidFill>
            <a:srgbClr val="F3A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723583" y="3555187"/>
            <a:ext cx="40233" cy="40233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01307" y="3555187"/>
            <a:ext cx="40233" cy="40233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879031" y="3555187"/>
            <a:ext cx="40233" cy="40233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956755" y="3555187"/>
            <a:ext cx="40233" cy="40233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7034479" y="3555187"/>
            <a:ext cx="40233" cy="40233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790895" y="3632911"/>
            <a:ext cx="40233" cy="40233"/>
          </a:xfrm>
          <a:prstGeom prst="ellipse">
            <a:avLst/>
          </a:prstGeom>
          <a:solidFill>
            <a:srgbClr val="F2C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868619" y="3632911"/>
            <a:ext cx="40233" cy="40233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946343" y="3632911"/>
            <a:ext cx="40233" cy="40233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24067" y="3632911"/>
            <a:ext cx="40233" cy="40233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101791" y="3632911"/>
            <a:ext cx="40233" cy="40233"/>
          </a:xfrm>
          <a:prstGeom prst="ellipse">
            <a:avLst/>
          </a:prstGeom>
          <a:solidFill>
            <a:srgbClr val="F3B9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79515" y="3632911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257239" y="3632911"/>
            <a:ext cx="40233" cy="40233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34963" y="3632911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412687" y="3632911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490411" y="3632911"/>
            <a:ext cx="40233" cy="40233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568135" y="3632911"/>
            <a:ext cx="40233" cy="40233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45859" y="3632911"/>
            <a:ext cx="40233" cy="40233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23583" y="3632911"/>
            <a:ext cx="40233" cy="40233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801307" y="3632911"/>
            <a:ext cx="40233" cy="40233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879031" y="3632911"/>
            <a:ext cx="40233" cy="40233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956755" y="3632911"/>
            <a:ext cx="40233" cy="40233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034479" y="3632911"/>
            <a:ext cx="40233" cy="40233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112203" y="3632911"/>
            <a:ext cx="40233" cy="40233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189927" y="3632911"/>
            <a:ext cx="40233" cy="40233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5713171" y="3710635"/>
            <a:ext cx="40233" cy="40233"/>
          </a:xfrm>
          <a:prstGeom prst="ellipse">
            <a:avLst/>
          </a:prstGeom>
          <a:solidFill>
            <a:srgbClr val="F2C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5790895" y="3710635"/>
            <a:ext cx="40233" cy="40233"/>
          </a:xfrm>
          <a:prstGeom prst="ellipse">
            <a:avLst/>
          </a:prstGeom>
          <a:solidFill>
            <a:srgbClr val="F2C1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5868619" y="3710635"/>
            <a:ext cx="40233" cy="40233"/>
          </a:xfrm>
          <a:prstGeom prst="ellipse">
            <a:avLst/>
          </a:prstGeom>
          <a:solidFill>
            <a:srgbClr val="F2BF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5946343" y="3710635"/>
            <a:ext cx="40233" cy="40233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024067" y="3710635"/>
            <a:ext cx="40233" cy="40233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101791" y="3710635"/>
            <a:ext cx="40233" cy="40233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179515" y="3710635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257239" y="3710635"/>
            <a:ext cx="40233" cy="40233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334963" y="3710635"/>
            <a:ext cx="40233" cy="40233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412687" y="3710635"/>
            <a:ext cx="40233" cy="40233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490411" y="3710635"/>
            <a:ext cx="40233" cy="40233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568135" y="3710635"/>
            <a:ext cx="40233" cy="40233"/>
          </a:xfrm>
          <a:prstGeom prst="ellipse">
            <a:avLst/>
          </a:prstGeom>
          <a:solidFill>
            <a:srgbClr val="F3A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645859" y="3710635"/>
            <a:ext cx="40233" cy="40233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723583" y="3710635"/>
            <a:ext cx="40233" cy="40233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01307" y="3710635"/>
            <a:ext cx="40233" cy="40233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79031" y="3710635"/>
            <a:ext cx="40233" cy="40233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956755" y="3710635"/>
            <a:ext cx="40233" cy="40233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7034479" y="3710635"/>
            <a:ext cx="40233" cy="40233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7112203" y="3710635"/>
            <a:ext cx="40233" cy="40233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5635447" y="3788359"/>
            <a:ext cx="40233" cy="40233"/>
          </a:xfrm>
          <a:prstGeom prst="ellipse">
            <a:avLst/>
          </a:prstGeom>
          <a:solidFill>
            <a:srgbClr val="F2C5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5713171" y="3788359"/>
            <a:ext cx="40233" cy="40233"/>
          </a:xfrm>
          <a:prstGeom prst="ellipse">
            <a:avLst/>
          </a:prstGeom>
          <a:solidFill>
            <a:srgbClr val="F2C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5790895" y="3788359"/>
            <a:ext cx="40233" cy="40233"/>
          </a:xfrm>
          <a:prstGeom prst="ellipse">
            <a:avLst/>
          </a:prstGeom>
          <a:solidFill>
            <a:srgbClr val="F2C0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5868619" y="3788359"/>
            <a:ext cx="40233" cy="40233"/>
          </a:xfrm>
          <a:prstGeom prst="ellipse">
            <a:avLst/>
          </a:prstGeom>
          <a:solidFill>
            <a:srgbClr val="F2BD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946343" y="3788359"/>
            <a:ext cx="40233" cy="40233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024067" y="3788359"/>
            <a:ext cx="40233" cy="40233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101791" y="3788359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179515" y="3788359"/>
            <a:ext cx="40233" cy="40233"/>
          </a:xfrm>
          <a:prstGeom prst="ellipse">
            <a:avLst/>
          </a:prstGeom>
          <a:solidFill>
            <a:srgbClr val="F3B4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257239" y="3788359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6334963" y="3788359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6412687" y="3788359"/>
            <a:ext cx="40233" cy="40233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490411" y="3788359"/>
            <a:ext cx="40233" cy="40233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6568135" y="3788359"/>
            <a:ext cx="40233" cy="40233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6645859" y="3788359"/>
            <a:ext cx="40233" cy="40233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6723583" y="3788359"/>
            <a:ext cx="40233" cy="40233"/>
          </a:xfrm>
          <a:prstGeom prst="ellipse">
            <a:avLst/>
          </a:prstGeom>
          <a:solidFill>
            <a:srgbClr val="F4A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801307" y="3788359"/>
            <a:ext cx="40233" cy="40233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879031" y="3788359"/>
            <a:ext cx="40233" cy="40233"/>
          </a:xfrm>
          <a:prstGeom prst="ellipse">
            <a:avLst/>
          </a:prstGeom>
          <a:solidFill>
            <a:srgbClr val="F49E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956755" y="3788359"/>
            <a:ext cx="40233" cy="40233"/>
          </a:xfrm>
          <a:prstGeom prst="ellipse">
            <a:avLst/>
          </a:prstGeom>
          <a:solidFill>
            <a:srgbClr val="F49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034479" y="3788359"/>
            <a:ext cx="40233" cy="40233"/>
          </a:xfrm>
          <a:prstGeom prst="ellipse">
            <a:avLst/>
          </a:prstGeom>
          <a:solidFill>
            <a:srgbClr val="F499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112203" y="3788359"/>
            <a:ext cx="40233" cy="40233"/>
          </a:xfrm>
          <a:prstGeom prst="ellipse">
            <a:avLst/>
          </a:prstGeom>
          <a:solidFill>
            <a:srgbClr val="F49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635447" y="3866083"/>
            <a:ext cx="40233" cy="40233"/>
          </a:xfrm>
          <a:prstGeom prst="ellipse">
            <a:avLst/>
          </a:prstGeom>
          <a:solidFill>
            <a:srgbClr val="F2C3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868619" y="3866083"/>
            <a:ext cx="40233" cy="40233"/>
          </a:xfrm>
          <a:prstGeom prst="ellipse">
            <a:avLst/>
          </a:prstGeom>
          <a:solidFill>
            <a:srgbClr val="F2BC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6343" y="3866083"/>
            <a:ext cx="40233" cy="40233"/>
          </a:xfrm>
          <a:prstGeom prst="ellipse">
            <a:avLst/>
          </a:prstGeom>
          <a:solidFill>
            <a:srgbClr val="F3BA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024067" y="3866083"/>
            <a:ext cx="40233" cy="40233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101791" y="3866083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179515" y="3866083"/>
            <a:ext cx="40233" cy="40233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6257239" y="3866083"/>
            <a:ext cx="40233" cy="40233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6334963" y="3866083"/>
            <a:ext cx="40233" cy="40233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412687" y="3866083"/>
            <a:ext cx="40233" cy="40233"/>
          </a:xfrm>
          <a:prstGeom prst="ellipse">
            <a:avLst/>
          </a:prstGeom>
          <a:solidFill>
            <a:srgbClr val="F3AB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6490411" y="3866083"/>
            <a:ext cx="40233" cy="40233"/>
          </a:xfrm>
          <a:prstGeom prst="ellipse">
            <a:avLst/>
          </a:prstGeom>
          <a:solidFill>
            <a:srgbClr val="F3A8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6568135" y="3866083"/>
            <a:ext cx="40233" cy="40233"/>
          </a:xfrm>
          <a:prstGeom prst="ellipse">
            <a:avLst/>
          </a:prstGeom>
          <a:solidFill>
            <a:srgbClr val="F3A6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6645859" y="3866083"/>
            <a:ext cx="40233" cy="40233"/>
          </a:xfrm>
          <a:prstGeom prst="ellipse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6723583" y="3866083"/>
            <a:ext cx="40233" cy="40233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6801307" y="3866083"/>
            <a:ext cx="40233" cy="40233"/>
          </a:xfrm>
          <a:prstGeom prst="ellipse">
            <a:avLst/>
          </a:prstGeom>
          <a:solidFill>
            <a:srgbClr val="F49F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6879031" y="3866083"/>
            <a:ext cx="40233" cy="40233"/>
          </a:xfrm>
          <a:prstGeom prst="ellipse">
            <a:avLst/>
          </a:prstGeom>
          <a:solidFill>
            <a:srgbClr val="F49C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956755" y="3866083"/>
            <a:ext cx="40233" cy="40233"/>
          </a:xfrm>
          <a:prstGeom prst="ellipse">
            <a:avLst/>
          </a:prstGeom>
          <a:solidFill>
            <a:srgbClr val="F49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7034479" y="3866083"/>
            <a:ext cx="40233" cy="40233"/>
          </a:xfrm>
          <a:prstGeom prst="ellipse">
            <a:avLst/>
          </a:prstGeom>
          <a:solidFill>
            <a:srgbClr val="F497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5868619" y="3943807"/>
            <a:ext cx="40233" cy="40233"/>
          </a:xfrm>
          <a:prstGeom prst="ellipse">
            <a:avLst/>
          </a:prstGeom>
          <a:solidFill>
            <a:srgbClr val="F3BB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5946343" y="3943807"/>
            <a:ext cx="40233" cy="40233"/>
          </a:xfrm>
          <a:prstGeom prst="ellipse">
            <a:avLst/>
          </a:prstGeom>
          <a:solidFill>
            <a:srgbClr val="F3B8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6024067" y="3943807"/>
            <a:ext cx="40233" cy="40233"/>
          </a:xfrm>
          <a:prstGeom prst="ellipse">
            <a:avLst/>
          </a:prstGeom>
          <a:solidFill>
            <a:srgbClr val="F3B6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6101791" y="3943807"/>
            <a:ext cx="40233" cy="40233"/>
          </a:xfrm>
          <a:prstGeom prst="ellipse">
            <a:avLst/>
          </a:prstGeom>
          <a:solidFill>
            <a:srgbClr val="F3B3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6179515" y="3943807"/>
            <a:ext cx="40233" cy="40233"/>
          </a:xfrm>
          <a:prstGeom prst="ellipse">
            <a:avLst/>
          </a:prstGeom>
          <a:solidFill>
            <a:srgbClr val="F3B1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6257239" y="3943807"/>
            <a:ext cx="40233" cy="40233"/>
          </a:xfrm>
          <a:prstGeom prst="ellipse">
            <a:avLst/>
          </a:prstGeom>
          <a:solidFill>
            <a:srgbClr val="F3AF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6334963" y="3943807"/>
            <a:ext cx="40233" cy="40233"/>
          </a:xfrm>
          <a:prstGeom prst="ellipse">
            <a:avLst/>
          </a:prstGeom>
          <a:solidFill>
            <a:srgbClr val="F3AC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6412687" y="3943807"/>
            <a:ext cx="40233" cy="40233"/>
          </a:xfrm>
          <a:prstGeom prst="ellipse">
            <a:avLst/>
          </a:prstGeom>
          <a:solidFill>
            <a:srgbClr val="F3AA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6490411" y="3943807"/>
            <a:ext cx="40233" cy="40233"/>
          </a:xfrm>
          <a:prstGeom prst="ellipse">
            <a:avLst/>
          </a:prstGeom>
          <a:solidFill>
            <a:srgbClr val="F3A7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6568135" y="3943807"/>
            <a:ext cx="40233" cy="40233"/>
          </a:xfrm>
          <a:prstGeom prst="ellipse">
            <a:avLst/>
          </a:prstGeom>
          <a:solidFill>
            <a:srgbClr val="F3A5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6645859" y="3943807"/>
            <a:ext cx="40233" cy="40233"/>
          </a:xfrm>
          <a:prstGeom prst="ellipse">
            <a:avLst/>
          </a:prstGeom>
          <a:solidFill>
            <a:srgbClr val="F4A2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6723583" y="3943807"/>
            <a:ext cx="40233" cy="40233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5946343" y="4021531"/>
            <a:ext cx="40233" cy="40233"/>
          </a:xfrm>
          <a:prstGeom prst="ellipse">
            <a:avLst/>
          </a:prstGeom>
          <a:solidFill>
            <a:srgbClr val="F3B7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6024067" y="4021531"/>
            <a:ext cx="40233" cy="40233"/>
          </a:xfrm>
          <a:prstGeom prst="ellipse">
            <a:avLst/>
          </a:prstGeom>
          <a:solidFill>
            <a:srgbClr val="F3B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101791" y="4021531"/>
            <a:ext cx="40233" cy="40233"/>
          </a:xfrm>
          <a:prstGeom prst="ellipse">
            <a:avLst/>
          </a:prstGeom>
          <a:solidFill>
            <a:srgbClr val="F3B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6179515" y="4021531"/>
            <a:ext cx="40233" cy="40233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6257239" y="4021531"/>
            <a:ext cx="40233" cy="40233"/>
          </a:xfrm>
          <a:prstGeom prst="ellipse">
            <a:avLst/>
          </a:prstGeom>
          <a:solidFill>
            <a:srgbClr val="F3AD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568135" y="4021531"/>
            <a:ext cx="40233" cy="40233"/>
          </a:xfrm>
          <a:prstGeom prst="ellipse">
            <a:avLst/>
          </a:prstGeom>
          <a:solidFill>
            <a:srgbClr val="F4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645859" y="4021531"/>
            <a:ext cx="40233" cy="40233"/>
          </a:xfrm>
          <a:prstGeom prst="ellipse">
            <a:avLst/>
          </a:prstGeom>
          <a:solidFill>
            <a:srgbClr val="F4A1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6645859" y="4099255"/>
            <a:ext cx="40233" cy="40233"/>
          </a:xfrm>
          <a:prstGeom prst="ellipse">
            <a:avLst/>
          </a:prstGeom>
          <a:solidFill>
            <a:srgbClr val="F4A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4160520" y="45902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CAROUSEL  1:1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160520" y="486460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A9A93"/>
                </a:solidFill>
                <a:latin typeface="Pretendard"/>
              </a:rPr>
              <a:t>Standalone claim on slide 1, dot-map watermark, summary close (never a CTA slide)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9600" y="1188720"/>
            <a:ext cx="3474720" cy="1956816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8458200" y="14630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retendard"/>
              </a:rPr>
              <a:t>"Our CISO asked how.
I sent the Reticle docs."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8458200" y="2514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A9A93"/>
                </a:solidFill>
                <a:latin typeface="Pretendard"/>
              </a:rPr>
              <a:t>Fluso session audit trail</a:t>
            </a:r>
          </a:p>
        </p:txBody>
      </p:sp>
      <p:sp>
        <p:nvSpPr>
          <p:cNvPr id="187" name="Oval 186"/>
          <p:cNvSpPr/>
          <p:nvPr/>
        </p:nvSpPr>
        <p:spPr>
          <a:xfrm>
            <a:off x="8535924" y="2857500"/>
            <a:ext cx="64008" cy="64008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654796" y="2857500"/>
            <a:ext cx="64008" cy="64008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773667" y="2857500"/>
            <a:ext cx="64008" cy="64008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892540" y="2857500"/>
            <a:ext cx="64008" cy="64008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011411" y="2857500"/>
            <a:ext cx="64008" cy="64008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8229600" y="32552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QUOTE CARD  16:9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8229600" y="3529584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9A9A93"/>
                </a:solidFill>
                <a:latin typeface="Pretendard"/>
              </a:rPr>
              <a:t>Ink ground, white type, gradient dot row as signature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229600" y="4206240"/>
            <a:ext cx="347472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458200" y="43434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5B5F63"/>
                </a:solidFill>
                <a:latin typeface="Pretendard"/>
              </a:rPr>
              <a:t>SYSTEM RULES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8458200" y="4617720"/>
            <a:ext cx="3063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Paper or Ink grounds only. One motif per asset. Type does the talking. The dot row is the family signature across every template.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10  PLATFORM PLAYBOOKS  |  LINKEDIN  (PREM PRIMARY)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3749039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3749039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7F96FF"/>
                </a:solidFill>
                <a:latin typeface="Pretendard"/>
              </a:rPr>
              <a:t>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CISOs, CTOs, compliance officers, legal ops, investors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5059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7F96FF"/>
                </a:solidFill>
                <a:latin typeface="Pretendard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66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Become the default answer to "which enterprise AI survives a regulator's questions?"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381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7F96FF"/>
                </a:solidFill>
                <a:latin typeface="Pretendard"/>
              </a:rPr>
              <a:t>CADENCE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94176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3 to 4 posts per week, maximum. Quality over volume.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256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7F96FF"/>
                </a:solidFill>
                <a:latin typeface="Pretendard"/>
              </a:rPr>
              <a:t>KPI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8172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Branded search growth, qualified inbound, SQL mentions. Never followers or likes.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13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7F96FF"/>
                </a:solidFill>
                <a:latin typeface="Pretendard"/>
              </a:rPr>
              <a:t>ENGAGEMENT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69280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Reply within 2 hours on publish day. Founder and team comments outperform page posts.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960120"/>
            <a:ext cx="7251192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960120"/>
            <a:ext cx="7251192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1078992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FIVE POST ARCHETYPES  (rotate, never repeat two in a row)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4630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1  Regulation, decoded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Quote the clause. Plain-English requirement. The gap most deployers miss. One action step.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4630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96FF"/>
                </a:solidFill>
                <a:latin typeface="Pretendard"/>
              </a:rPr>
              <a:t>"Article 26 of the EU AI Act contains one sentence most deployers have not read."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45059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2  Architecture teardown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450592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A real problem, a diagram or screenshot, how attestation works in 4 steps, what to ask any vendor.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50592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96FF"/>
                </a:solidFill>
                <a:latin typeface="Pretendard"/>
              </a:rPr>
              <a:t>"Here is what happens in the 300ms after you hit enter on a Prem inference."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438144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3  Named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38144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Customer, workload, before-and-after numbers, a quote with name and title. No anonymous case studies.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438144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96FF"/>
                </a:solidFill>
                <a:latin typeface="Pretendard"/>
              </a:rPr>
              <a:t>"A 400-workflow compliance deployment, measured."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425696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4  The data 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425696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A common belief, the dataset that contradicts it, what it changes for buyers.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425696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96FF"/>
                </a:solidFill>
                <a:latin typeface="Pretendard"/>
              </a:rPr>
              <a:t>"42% of companies abandoned most AI initiatives in 2025. Model quality is not the reason."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41324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5  Operator memo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413248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A decision we faced, the options, what we chose, what it cost us. Builds trust no ad can buy.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5413248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F96FF"/>
                </a:solidFill>
                <a:latin typeface="Pretendard"/>
              </a:rPr>
              <a:t>"We turned down a seven-figure deal last quarter. The reason matters."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10  PLATFORM PLAYBOOKS  |  X  (FLUSO PRIMARY)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3749039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3749039" cy="54864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58E8E"/>
                </a:solidFill>
                <a:latin typeface="Pretendard"/>
              </a:rPr>
              <a:t>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Builders, developers, AI researchers, power users already debating open models and privacy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5059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58E8E"/>
                </a:solidFill>
                <a:latin typeface="Pretendard"/>
              </a:rPr>
              <a:t>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06624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Be the product builders recommend to each other. Credibility earned, not bought.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381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58E8E"/>
                </a:solidFill>
                <a:latin typeface="Pretendard"/>
              </a:rPr>
              <a:t>VOICE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94176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A person who uses Fluso daily. Never a brand account voice.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4256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58E8E"/>
                </a:solidFill>
                <a:latin typeface="Pretendard"/>
              </a:rPr>
              <a:t>CADENCE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81728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1 to 2 posts per day max. Replies outgrow posts; spend half the time in other people's threads.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132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58E8E"/>
                </a:solidFill>
                <a:latin typeface="Pretendard"/>
              </a:rPr>
              <a:t>KPI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69280"/>
            <a:ext cx="3291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17171B"/>
                </a:solidFill>
                <a:latin typeface="Pretendard"/>
              </a:rPr>
              <a:t>Qualified signups and waitlist conversions from profile clicks. Not impressions.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960120"/>
            <a:ext cx="7251192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960120"/>
            <a:ext cx="7251192" cy="54864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1078992"/>
            <a:ext cx="6766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FIVE POST ARCHETYPES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1463040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1  Build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4630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What shipped, one screenshot, one number. No adjectives.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14630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85F5F"/>
                </a:solidFill>
                <a:latin typeface="Pretendard"/>
              </a:rPr>
              <a:t>"Session export shipped. 14 seconds from audit request to PDF."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2450592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2  Workflow receipt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450592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Task, time, model used, result. The receipt is the post.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2450592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85F5F"/>
                </a:solidFill>
                <a:latin typeface="Pretendard"/>
              </a:rPr>
              <a:t>"Contract review. 23 minutes. Every clause sourced."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3438144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3  Honest limit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38144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What Fluso cannot do yet, plus the current workaround. These outperform launch posts.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438144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85F5F"/>
                </a:solidFill>
                <a:latin typeface="Pretendard"/>
              </a:rPr>
              <a:t>"Fluso still struggles with scanned tables. Here is what we do instead."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4425696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4  Model take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03720" y="4425696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Opinionated open-model comparison backed by our own runs. Data attached, no winner hype.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425696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85F5F"/>
                </a:solidFill>
                <a:latin typeface="Pretendard"/>
              </a:rPr>
              <a:t>"We ran the same brief through 4 open models. The spread surprised us."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41324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17171B"/>
                </a:solidFill>
                <a:latin typeface="Pretendard"/>
              </a:rPr>
              <a:t>5  Community 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5413248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B5F63"/>
                </a:solidFill>
                <a:latin typeface="Pretendard"/>
              </a:rPr>
              <a:t>A real open question we have not solved. Respond to every single answer.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5413248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C85F5F"/>
                </a:solidFill>
                <a:latin typeface="Pretendard"/>
              </a:rPr>
              <a:t>"How do you handle citation checking in long research sessions? Genuinely asking."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10  PLATFORM PLAYBOOKS  |  INSTAGRAM  (FLUSO)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7171B"/>
                </a:solidFill>
                <a:latin typeface="Pretendard"/>
              </a:rPr>
              <a:t>Show the work. The Swiss visual world lives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5486400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5486400" cy="54864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CONTENT FORMATS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Reels, 15 to 30s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04288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Screen capture of a real task plus text overlay. No talking heads, no voiceover. Cover frame: big number, ridge footer (template, slide 09).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Carousels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19856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Slide 1 carries a standalone claim. Dot-map watermark bottom-right. Close on a summary slide, never a CTA slide.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428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Stories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35424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Behind-the-work only: real screenshots, drafts, whiteboards. No branded templates. Polls only when we genuinely want the answer.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58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Grid rhythm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50992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Alternate Paper-ground and Ink-ground cards so the grid reads as a pattern. Every 9th post: the dot map or a ridge, full bleed.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508760"/>
            <a:ext cx="5486400" cy="4983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508760"/>
            <a:ext cx="5486400" cy="54864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62763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DISCOVERY AND CAPTIONS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0116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Name 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304288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"Fluso | deep work AI". The name field is search-indexed; keywords live there, not in hashtags.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1272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Bio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3419856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Line 1: what it does in 8 words. Line 2: one proof point. Line 3: link. No emoji walls.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24281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Captions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535424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First line is the hook and must be specific, not clever. 3 to 5 hashtags in the first comment, never in the caption body.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535838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Algorithm reality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650992"/>
            <a:ext cx="4983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Hashtags were deweighted in Dec 2024; keyword search and Reels completion rate drive reach. The first 3 seconds decide most of the completion curve.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10  PLATFORM PLAYBOOKS  |  FACEBOOK + THE CHANNEL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11183112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11183112" cy="54864"/>
          </a:xfrm>
          <a:prstGeom prst="rect">
            <a:avLst/>
          </a:prstGeom>
          <a:solidFill>
            <a:srgbClr val="9A9A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FACEBOOK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7171B"/>
                </a:solidFill>
                <a:latin typeface="Pretendard"/>
              </a:rPr>
              <a:t>Role: warm remarketing and community, not organic reach. Repurpose top LinkedIn posts after 24 to 48 hours with a Facebook-specific first line. The About section is keyword-indexed for search: write it as one dense, accurate paragraph. Retarget site visitors and the email list; LinkedIn handles cold.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B5F63"/>
                </a:solidFill>
                <a:latin typeface="Pretendard"/>
              </a:rPr>
              <a:t>THE CHANNEL MATRIX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11183112" cy="411480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821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1821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BRAND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182112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18211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CADENCE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18211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KPI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0440"/>
            <a:ext cx="111831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3016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7171B"/>
                </a:solidFill>
                <a:latin typeface="Pretendard"/>
              </a:rPr>
              <a:t>LinkedIn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3630168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630168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Authority and inbound in regulated enterprise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630168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3 to 4 per week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30168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Branded search, SQL mentions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178808"/>
            <a:ext cx="11183112" cy="65836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885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7171B"/>
                </a:solidFill>
                <a:latin typeface="Pretendard"/>
              </a:rPr>
              <a:t>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288536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Fluso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4288536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Builder credibility, product proof in public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288536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1 to 2 per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88536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Qualified signups from profile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37176"/>
            <a:ext cx="111831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4690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7171B"/>
                </a:solidFill>
                <a:latin typeface="Pretendard"/>
              </a:rPr>
              <a:t>Instagram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4946904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Fluso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946904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Process visibility, the Swiss visual world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946904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4 to 5 per week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946904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Profile-to-site clicks, activations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495544"/>
            <a:ext cx="11183112" cy="65836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605272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17171B"/>
                </a:solidFill>
                <a:latin typeface="Pretendard"/>
              </a:rPr>
              <a:t>Facebook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94560" y="5605272"/>
            <a:ext cx="1097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Both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605272"/>
            <a:ext cx="3017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Warm remarketing and community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5605272"/>
            <a:ext cx="1828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2 to 3 per week, repurposed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60527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Re-engagement CTR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5F63"/>
                </a:solidFill>
                <a:latin typeface="Pretendard"/>
              </a:rPr>
              <a:t>Website guidance is deliberately absent: no recommendations until the live site has been reviewed page by page.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11  CONTENT PILLARS  |  PREM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5F63"/>
                </a:solidFill>
                <a:latin typeface="Pretendard"/>
              </a:rPr>
              <a:t>Every Prem piece belongs to one pillar. If it fits none, it does not ship.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9748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40%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Verifiable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Reticle attestation
TEE architecture explainers
Proof walkthroughs
Open source vs policy promises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325880"/>
            <a:ext cx="2697480" cy="54864"/>
          </a:xfrm>
          <a:prstGeom prst="rect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Compliance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8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EU AI Act interpretation
GDPR and HIPAA by use case
Audit readiness frameworks
What a regulator actually asks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91656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656" y="1325880"/>
            <a:ext cx="2697480" cy="54864"/>
          </a:xfrm>
          <a:prstGeom prst="rect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Engineering depth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0256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Open-model selection
On-premise deployment guides
Portability benchmarks
Reticle contributor updates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6024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36024" y="1325880"/>
            <a:ext cx="2697480" cy="54864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4624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10%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Customer evidence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64624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Named case studies only
Quantified outcomes
Quotes with name and title
Regulator-facing results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11  CONTENT PILLARS  |  FLUSO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5F63"/>
                </a:solidFill>
                <a:latin typeface="Pretendard"/>
              </a:rPr>
              <a:t>Utility leads. 60% of output shows the product doing real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9748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Product utility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Use cases with time data
Before and after workflows
Model-to-task matching
Session audit trail demos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47288" y="1325880"/>
            <a:ext cx="2697480" cy="54864"/>
          </a:xfrm>
          <a:prstGeom prst="rect">
            <a:avLst/>
          </a:prstGeom>
          <a:solidFill>
            <a:srgbClr val="CC9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8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Deep work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8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5888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Cognitive load in AI workflows
Focus session design
10 to 30 minute workflows
Work vs work-about-work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91656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656" y="1325880"/>
            <a:ext cx="2697480" cy="54864"/>
          </a:xfrm>
          <a:prstGeom prst="rect">
            <a:avLst/>
          </a:prstGeom>
          <a:solidFill>
            <a:srgbClr val="F4A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Model transparency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0256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Which model, why, when
Honest accuracy reporting
Limitation disclosure
Open-model reviews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6024" y="1325880"/>
            <a:ext cx="269748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36024" y="1325880"/>
            <a:ext cx="2697480" cy="54864"/>
          </a:xfrm>
          <a:prstGeom prst="rect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64624" y="15087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7171B"/>
                </a:solidFill>
                <a:latin typeface="Pretendard"/>
              </a:rPr>
              <a:t>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64624" y="2148840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7171B"/>
                </a:solidFill>
                <a:latin typeface="Pretendard"/>
              </a:rPr>
              <a:t>Builder community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64624" y="2926080"/>
            <a:ext cx="2240280" cy="18288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64624" y="3063240"/>
            <a:ext cx="2286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Reticle open-source updates
Contributor spotlights
Honest retrospectives
Open questions, answered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12  AUDIENCE ARCHITECTURE  |  PERSONA TO PLATFORM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11183112" cy="420624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2412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Pretendard"/>
              </a:rPr>
              <a:t>PERSONA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1024128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Pretendard"/>
              </a:rPr>
              <a:t>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02412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Pretendard"/>
              </a:rPr>
              <a:t>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024128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Pretendard"/>
              </a:rPr>
              <a:t>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02412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FFFFFF"/>
                </a:solidFill>
                <a:latin typeface="Pretendard"/>
              </a:rPr>
              <a:t>JOB TO BE DONE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80744"/>
            <a:ext cx="11183112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44752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Compliance owner (CISO)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444752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Prem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444752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LinkedIn, direct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444752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EU AI Act breakdowns, attestation explainers, audit frameworks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444752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"Help me not get fired when the regulator asks how we use AI."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231136"/>
            <a:ext cx="11183112" cy="850392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295144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Champion (CTO, VP Eng)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295144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Prem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295144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LinkedIn, 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295144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Architecture posts, portability data, Reticle technical docs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95144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"Give me technical proof I can put in front of the board."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81528"/>
            <a:ext cx="11183112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145536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Validator (security eng)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145536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Prem + Fluso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3145536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GitHub, 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145536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TEE explainers, benchmarks, open-source contribution posts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145536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"Show me the code, not the marketing page."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931920"/>
            <a:ext cx="11183112" cy="850392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995928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Vertical buyer (legal ops)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3995928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Prem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995928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LinkedIn, events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49240" y="3995928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Cost comparisons vs legal AI tools, ROI evidence, case studies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3995928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"Beat the incumbents on price, match them on accuracy."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782312"/>
            <a:ext cx="11183112" cy="8503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846320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Developer / builder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97480" y="4846320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Fluso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846320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X, GitHub, community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49240" y="4846320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API docs, model selection guides, workflow teardowns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846320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"Let me try it in 10 minutes without talking to sales."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632704"/>
            <a:ext cx="11183112" cy="850392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5696712"/>
            <a:ext cx="20116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17171B"/>
                </a:solidFill>
                <a:latin typeface="Pretendard"/>
              </a:rPr>
              <a:t>Prosumer / power user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696712"/>
            <a:ext cx="914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Fluso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5696712"/>
            <a:ext cx="1645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Instagram, 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5696712"/>
            <a:ext cx="28346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Deep-work content, 20-minute workflows, productivity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5696712"/>
            <a:ext cx="338328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17171B"/>
                </a:solidFill>
                <a:latin typeface="Pretendard"/>
              </a:rPr>
              <a:t>"Help me do 3 hours of thinking in 45 minutes."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13  VOCABULARY  |  WORDS WE OWN, WORDS WE NEVER USE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960120"/>
            <a:ext cx="3611880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3611880" cy="54864"/>
          </a:xfrm>
          <a:prstGeom prst="rect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78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668C8"/>
                </a:solidFill>
                <a:latin typeface="Pretendard"/>
              </a:rPr>
              <a:t>PREM OWNS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Verifiable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928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Attestation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042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Proof, not promise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157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On-premise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27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Sovereign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38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Auditable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50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"At the hardware layer"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361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Hardware-signed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73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"Per inference"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846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Reticle (always capitalised)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961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Model portability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0076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"Your jurisdiction governs"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07407" y="960120"/>
            <a:ext cx="3611880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7407" y="960120"/>
            <a:ext cx="3611880" cy="54864"/>
          </a:xfrm>
          <a:prstGeom prst="rect">
            <a:avLst/>
          </a:prstGeom>
          <a:solidFill>
            <a:srgbClr val="F58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7" y="1078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58E8E"/>
                </a:solidFill>
                <a:latin typeface="Pretendard"/>
              </a:rPr>
              <a:t>FLUSO OWNS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7" y="14813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Deep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36007" y="18928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Focused session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7" y="23042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"20-minute session"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7" y="27157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Compounding memory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36007" y="3127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Honest accuracy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7" y="3538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Session audit trail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6007" y="3950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Open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4361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"No black box"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4773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Cognitive 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51846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Workflow, not chat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6007" y="55961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"Work that needs thinking"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7" y="60076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17171B"/>
                </a:solidFill>
                <a:latin typeface="Pretendard"/>
              </a:rPr>
              <a:t>"By Prem"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11896" y="960120"/>
            <a:ext cx="3611880" cy="5532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11896" y="960120"/>
            <a:ext cx="3611880" cy="54864"/>
          </a:xfrm>
          <a:prstGeom prst="rect">
            <a:avLst/>
          </a:prstGeom>
          <a:solidFill>
            <a:srgbClr val="BA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10789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A3C3C"/>
                </a:solidFill>
                <a:latin typeface="Pretendard"/>
              </a:rPr>
              <a:t>NEITHER USES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14813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Revolutionary, game-changing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40496" y="18928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Effortless, seamless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0496" y="23042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"AI-powered"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27157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"The future of work"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0496" y="31272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Unlock, empower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40496" y="35387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"We're excited to announce"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39502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"Privacy-first" as lead claim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40496" y="436168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Em dashes in copy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0496" y="477316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"Not X, but Y"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0496" y="518464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Rhetorical question hooks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0496" y="559612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Fragment staccato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6007608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BA3C3C"/>
                </a:solidFill>
                <a:latin typeface="Pretendard"/>
              </a:rPr>
              <a:t>×  Uncited figures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13  THE POSITIONING TEST  |  RUN BEFORE EVERY CAMPAIGN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1118311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704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115568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Target customer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115568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Who, exactly? Not "enterprises". CISOs and legal ops leads at regulated firms facing EU AI Act deadlines.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92808"/>
            <a:ext cx="11183112" cy="822960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02536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Market category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002536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Verifiable AI. Not "enterprise AI assistant", not "private LLM", not "secure AI platform".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79776"/>
            <a:ext cx="1118311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94436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2889504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Unique attributes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889504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Hardware-signed proof per inference via the open-source Reticle stack. No other vendor ships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666744"/>
            <a:ext cx="11183112" cy="822960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831335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7764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Value to the buyer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3776472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A cryptographic audit trail answers the regulator directly. A policy promise cannot.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553712"/>
            <a:ext cx="11183112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7183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663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Competitive alternatives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4663440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Policy-based enterprise tools, perimeter security stacks, vertical legal AI suites.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440679"/>
            <a:ext cx="11183112" cy="822960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05271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9A9A93"/>
                </a:solidFill>
                <a:latin typeface="Pretendar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550407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7171B"/>
                </a:solidFill>
                <a:latin typeface="Pretendard"/>
              </a:rPr>
              <a:t>Proof of claim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5550407"/>
            <a:ext cx="749807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B5F63"/>
                </a:solidFill>
                <a:latin typeface="Pretendard"/>
              </a:rPr>
              <a:t>The Reticle repository, TEE documentation, and named deployments with attestation on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B5F63"/>
                </a:solidFill>
                <a:latin typeface="Pretendard"/>
              </a:rPr>
              <a:t>13  GOVERNANCE  |  SIGN-OFF BY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13232"/>
            <a:ext cx="11183112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5F63"/>
                </a:solidFill>
                <a:latin typeface="Pretendard"/>
              </a:rPr>
              <a:t>Approval means sign-off before publication, not editing rights.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83112" cy="402336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4416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CONTENT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344168"/>
            <a:ext cx="2468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APPROVING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441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Pretendard"/>
              </a:rPr>
              <a:t>WHY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82496"/>
            <a:ext cx="1118311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55648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Press and media statements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75564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CEO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55648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Anything attributed to the company or its leadership.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67712"/>
            <a:ext cx="11183112" cy="585216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4086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Technical claims and benchmarks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234086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40864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Accuracy figures, architecture claims, certifications. Verify before publishing.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52928"/>
            <a:ext cx="1118311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26080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Public pricing mentions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292608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Sales lead + CEO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26080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Pricing errors are costly and hard to retract.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38144"/>
            <a:ext cx="11183112" cy="585216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511296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Campaign strategy and calendars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3511296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Marketing 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11296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Briefs, channel plans, content calendars, influencer briefs.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023360"/>
            <a:ext cx="1118311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96512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Platform bios and handles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096512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Marketing lead + CEO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96512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Bios change how the brand is found in search.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08576"/>
            <a:ext cx="11183112" cy="585216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681728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Brand visual changes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4681728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CEO + design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681728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Color, logo or type changes need a consistency audit first.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193792"/>
            <a:ext cx="11183112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6694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Influencer content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80" y="5266944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Marketing lead (CEO above 50K reach)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266944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We approve the facts; creators keep their voice.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5779008"/>
            <a:ext cx="11183112" cy="585216"/>
          </a:xfrm>
          <a:prstGeom prst="rect">
            <a:avLst/>
          </a:prstGeom>
          <a:solidFill>
            <a:srgbClr val="ECE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52160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7171B"/>
                </a:solidFill>
                <a:latin typeface="Pretendard"/>
              </a:rPr>
              <a:t>Crisis or regulatory response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0" y="5852160"/>
            <a:ext cx="24688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668C8"/>
                </a:solidFill>
                <a:latin typeface="Pretendard"/>
              </a:rPr>
              <a:t>CEO + legal counsel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212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B5F63"/>
                </a:solidFill>
                <a:latin typeface="Pretendard"/>
              </a:rPr>
              <a:t>Regulatory inquiries, incidents, significant public criticism.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5212080"/>
            <a:ext cx="12198096" cy="1645920"/>
          </a:xfrm>
          <a:custGeom>
            <a:avLst/>
            <a:gdLst/>
            <a:ahLst/>
            <a:cxnLst/>
            <a:rect l="l" t="t" r="r" b="b"/>
            <a:pathLst>
              <a:path w="12198096" h="1645920">
                <a:moveTo>
                  <a:pt x="0" y="1645920"/>
                </a:moveTo>
                <a:lnTo>
                  <a:pt x="0" y="685800"/>
                </a:lnTo>
                <a:lnTo>
                  <a:pt x="2194560" y="137160"/>
                </a:lnTo>
                <a:lnTo>
                  <a:pt x="4389120" y="640080"/>
                </a:lnTo>
                <a:lnTo>
                  <a:pt x="6583680" y="0"/>
                </a:lnTo>
                <a:lnTo>
                  <a:pt x="8778240" y="594360"/>
                </a:lnTo>
                <a:lnTo>
                  <a:pt x="10972800" y="228600"/>
                </a:lnTo>
                <a:lnTo>
                  <a:pt x="12198096" y="640080"/>
                </a:lnTo>
                <a:lnTo>
                  <a:pt x="12198096" y="1645920"/>
                </a:lnTo>
                <a:close/>
              </a:path>
            </a:pathLst>
          </a:custGeom>
          <a:solidFill>
            <a:srgbClr val="E1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5806440"/>
            <a:ext cx="12198096" cy="1051560"/>
          </a:xfrm>
          <a:custGeom>
            <a:avLst/>
            <a:gdLst/>
            <a:ahLst/>
            <a:cxnLst/>
            <a:rect l="l" t="t" r="r" b="b"/>
            <a:pathLst>
              <a:path w="12198096" h="1051560">
                <a:moveTo>
                  <a:pt x="0" y="1051560"/>
                </a:moveTo>
                <a:lnTo>
                  <a:pt x="0" y="548640"/>
                </a:lnTo>
                <a:lnTo>
                  <a:pt x="3017520" y="91440"/>
                </a:lnTo>
                <a:lnTo>
                  <a:pt x="6035040" y="502920"/>
                </a:lnTo>
                <a:lnTo>
                  <a:pt x="9052560" y="0"/>
                </a:lnTo>
                <a:lnTo>
                  <a:pt x="12198096" y="457200"/>
                </a:lnTo>
                <a:lnTo>
                  <a:pt x="12198096" y="1051560"/>
                </a:lnTo>
                <a:close/>
              </a:path>
            </a:pathLst>
          </a:custGeom>
          <a:solidFill>
            <a:srgbClr val="FA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5780" y="1330452"/>
            <a:ext cx="82296" cy="82296"/>
          </a:xfrm>
          <a:prstGeom prst="ellipse">
            <a:avLst/>
          </a:prstGeom>
          <a:solidFill>
            <a:srgbClr val="7F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72084" y="1330452"/>
            <a:ext cx="82296" cy="82296"/>
          </a:xfrm>
          <a:prstGeom prst="ellipse">
            <a:avLst/>
          </a:prstGeom>
          <a:solidFill>
            <a:srgbClr val="B992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8387" y="1330452"/>
            <a:ext cx="82296" cy="82296"/>
          </a:xfrm>
          <a:prstGeom prst="ellipse">
            <a:avLst/>
          </a:prstGeom>
          <a:solidFill>
            <a:srgbClr val="F38E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64692" y="1330452"/>
            <a:ext cx="82296" cy="82296"/>
          </a:xfrm>
          <a:prstGeom prst="ellipse">
            <a:avLst/>
          </a:prstGeom>
          <a:solidFill>
            <a:srgbClr val="F3B0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0996" y="1330452"/>
            <a:ext cx="82296" cy="82296"/>
          </a:xfrm>
          <a:prstGeom prst="ellipse">
            <a:avLst/>
          </a:prstGeom>
          <a:solidFill>
            <a:srgbClr val="F2D3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B5F63"/>
                </a:solidFill>
                <a:latin typeface="Pretendard"/>
              </a:rPr>
              <a:t>One rule above all others: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7171B"/>
                </a:solidFill>
                <a:latin typeface="Pretendard"/>
              </a:rPr>
              <a:t>Be consistently more useful
than you are impressive.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7" y="3977639"/>
            <a:ext cx="2926080" cy="10972"/>
          </a:xfrm>
          <a:prstGeom prst="rect">
            <a:avLst/>
          </a:prstGeom>
          <a:solidFill>
            <a:srgbClr val="1717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7" y="41605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B5F63"/>
                </a:solidFill>
                <a:latin typeface="Pretendard"/>
              </a:rPr>
              <a:t>The brand is a promise kept in every post, every document, every conversation. Hold the standard.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7" y="4800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A9A93"/>
                </a:solidFill>
                <a:latin typeface="Pretendard"/>
              </a:rPr>
              <a:t>Prem + Fluso Brand Bible  v2.0   June 2026   Internal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
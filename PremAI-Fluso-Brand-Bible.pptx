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Logo verified from the live premai.io site (screenshot, 9 Jun 2026): monochrome black dot-cluster mark, "PREM" wordmark. The gradient logo.svg in static.premai.io is an older asset and is not the current identity. Site hero: "Private Super Intelligence" over dark alpine photography. Tagline on site: "AI is the most powerful technology of our era. Prem makes it private, verifiable, and sovereign."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Product facts sourced: Fluso description (private AI workspace, compounding memory, 50+ connectors, cross-silo workflows) from public premai.io product info via search. Prem Studio from premAI-io/prem-studio-tutorials repo description. Reticle from prior verified research on the attestation stack.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Hero copy and trusted-by logos read directly from the live premai.io homepage screenshot, 9 Jun 2026. Positioning language uses the company's own words: private, verifiable, sovereign.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logo verified monochrome from the live premai.io screenshot (9 Jun 2026). The gradient logo.svg (#7F96FF, #F58E8E, #F2D398) found in premAI-io/static.premai.io is an older asset; do not use it unless design confirms it is still active. Neutrals: Paper #FAFAF8 and near-black from the existing PremAI deck system.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Pretendard files verified in premAI-io/static.premai.io/fonts (9 Jun 2026). If the wordmark itself is a different custom face, confirm against the master logo file; everything else runs on Pretendard.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0" y="4892040"/>
            <a:ext cx="12198096" cy="1965960"/>
          </a:xfrm>
          <a:custGeom>
            <a:avLst/>
            <a:gdLst/>
            <a:ahLst/>
            <a:cxnLst/>
            <a:rect l="l" t="t" r="r" b="b"/>
            <a:pathLst>
              <a:path w="12198096" h="1965960">
                <a:moveTo>
                  <a:pt x="0" y="1965960"/>
                </a:moveTo>
                <a:lnTo>
                  <a:pt x="0" y="868680"/>
                </a:lnTo>
                <a:lnTo>
                  <a:pt x="1463040" y="246888"/>
                </a:lnTo>
                <a:lnTo>
                  <a:pt x="2926080" y="758952"/>
                </a:lnTo>
                <a:lnTo>
                  <a:pt x="4389120" y="0"/>
                </a:lnTo>
                <a:lnTo>
                  <a:pt x="5852160" y="685800"/>
                </a:lnTo>
                <a:lnTo>
                  <a:pt x="7315200" y="137160"/>
                </a:lnTo>
                <a:lnTo>
                  <a:pt x="8778240" y="758952"/>
                </a:lnTo>
                <a:lnTo>
                  <a:pt x="10241280" y="338328"/>
                </a:lnTo>
                <a:lnTo>
                  <a:pt x="12198096" y="850392"/>
                </a:lnTo>
                <a:lnTo>
                  <a:pt x="12198096" y="1965960"/>
                </a:lnTo>
                <a:close/>
              </a:path>
            </a:pathLst>
          </a:custGeom>
          <a:solidFill>
            <a:srgbClr val="E1E0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0" y="5440680"/>
            <a:ext cx="12198096" cy="1417320"/>
          </a:xfrm>
          <a:custGeom>
            <a:avLst/>
            <a:gdLst/>
            <a:ahLst/>
            <a:cxnLst/>
            <a:rect l="l" t="t" r="r" b="b"/>
            <a:pathLst>
              <a:path w="12198096" h="1417320">
                <a:moveTo>
                  <a:pt x="0" y="1417320"/>
                </a:moveTo>
                <a:lnTo>
                  <a:pt x="0" y="704088"/>
                </a:lnTo>
                <a:lnTo>
                  <a:pt x="2011680" y="91440"/>
                </a:lnTo>
                <a:lnTo>
                  <a:pt x="4023360" y="612648"/>
                </a:lnTo>
                <a:lnTo>
                  <a:pt x="6035040" y="0"/>
                </a:lnTo>
                <a:lnTo>
                  <a:pt x="8046720" y="521208"/>
                </a:lnTo>
                <a:lnTo>
                  <a:pt x="10058400" y="155448"/>
                </a:lnTo>
                <a:lnTo>
                  <a:pt x="12198096" y="612648"/>
                </a:lnTo>
                <a:lnTo>
                  <a:pt x="12198096" y="1417320"/>
                </a:lnTo>
                <a:close/>
              </a:path>
            </a:pathLst>
          </a:custGeom>
          <a:solidFill>
            <a:srgbClr val="CFCE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0" y="5870448"/>
            <a:ext cx="12198096" cy="987552"/>
          </a:xfrm>
          <a:custGeom>
            <a:avLst/>
            <a:gdLst/>
            <a:ahLst/>
            <a:cxnLst/>
            <a:rect l="l" t="t" r="r" b="b"/>
            <a:pathLst>
              <a:path w="12198096" h="987552">
                <a:moveTo>
                  <a:pt x="0" y="987552"/>
                </a:moveTo>
                <a:lnTo>
                  <a:pt x="0" y="576072"/>
                </a:lnTo>
                <a:lnTo>
                  <a:pt x="2377440" y="118872"/>
                </a:lnTo>
                <a:lnTo>
                  <a:pt x="4754880" y="512064"/>
                </a:lnTo>
                <a:lnTo>
                  <a:pt x="7132320" y="0"/>
                </a:lnTo>
                <a:lnTo>
                  <a:pt x="9509760" y="457200"/>
                </a:lnTo>
                <a:lnTo>
                  <a:pt x="12198096" y="182880"/>
                </a:lnTo>
                <a:lnTo>
                  <a:pt x="12198096" y="987552"/>
                </a:lnTo>
                <a:close/>
              </a:path>
            </a:pathLst>
          </a:custGeom>
          <a:solidFill>
            <a:srgbClr val="BDBC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421977" y="1032357"/>
            <a:ext cx="65836" cy="65836"/>
          </a:xfrm>
          <a:prstGeom prst="ellipse">
            <a:avLst/>
          </a:prstGeom>
          <a:solidFill>
            <a:srgbClr val="3434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527133" y="1032357"/>
            <a:ext cx="65836" cy="65836"/>
          </a:xfrm>
          <a:prstGeom prst="ellipse">
            <a:avLst/>
          </a:prstGeom>
          <a:solidFill>
            <a:srgbClr val="3535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632289" y="1032357"/>
            <a:ext cx="65836" cy="65836"/>
          </a:xfrm>
          <a:prstGeom prst="ellipse">
            <a:avLst/>
          </a:prstGeom>
          <a:solidFill>
            <a:srgbClr val="3737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737445" y="1032357"/>
            <a:ext cx="65836" cy="65836"/>
          </a:xfrm>
          <a:prstGeom prst="ellipse">
            <a:avLst/>
          </a:prstGeom>
          <a:solidFill>
            <a:srgbClr val="383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211665" y="1137513"/>
            <a:ext cx="65836" cy="65836"/>
          </a:xfrm>
          <a:prstGeom prst="ellipse">
            <a:avLst/>
          </a:prstGeom>
          <a:solidFill>
            <a:srgbClr val="3232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316821" y="1137513"/>
            <a:ext cx="65836" cy="65836"/>
          </a:xfrm>
          <a:prstGeom prst="ellipse">
            <a:avLst/>
          </a:prstGeom>
          <a:solidFill>
            <a:srgbClr val="3434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421977" y="1137513"/>
            <a:ext cx="65836" cy="65836"/>
          </a:xfrm>
          <a:prstGeom prst="ellipse">
            <a:avLst/>
          </a:prstGeom>
          <a:solidFill>
            <a:srgbClr val="353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527133" y="1137513"/>
            <a:ext cx="65836" cy="65836"/>
          </a:xfrm>
          <a:prstGeom prst="ellipse">
            <a:avLst/>
          </a:prstGeom>
          <a:solidFill>
            <a:srgbClr val="3737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32289" y="1137513"/>
            <a:ext cx="65836" cy="65836"/>
          </a:xfrm>
          <a:prstGeom prst="ellipse">
            <a:avLst/>
          </a:prstGeom>
          <a:solidFill>
            <a:srgbClr val="3838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737445" y="1137513"/>
            <a:ext cx="65836" cy="65836"/>
          </a:xfrm>
          <a:prstGeom prst="ellipse">
            <a:avLst/>
          </a:prstGeom>
          <a:solidFill>
            <a:srgbClr val="3A3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842601" y="1137513"/>
            <a:ext cx="65836" cy="65836"/>
          </a:xfrm>
          <a:prstGeom prst="ellipse">
            <a:avLst/>
          </a:prstGeom>
          <a:solidFill>
            <a:srgbClr val="3C3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947757" y="1137513"/>
            <a:ext cx="65836" cy="65836"/>
          </a:xfrm>
          <a:prstGeom prst="ellipse">
            <a:avLst/>
          </a:prstGeom>
          <a:solidFill>
            <a:srgbClr val="3D3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052913" y="1137513"/>
            <a:ext cx="65836" cy="65836"/>
          </a:xfrm>
          <a:prstGeom prst="ellipse">
            <a:avLst/>
          </a:prstGeom>
          <a:solidFill>
            <a:srgbClr val="3F3F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791041" y="1242669"/>
            <a:ext cx="65836" cy="65836"/>
          </a:xfrm>
          <a:prstGeom prst="ellipse">
            <a:avLst/>
          </a:prstGeom>
          <a:solidFill>
            <a:srgbClr val="2E2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896197" y="1242669"/>
            <a:ext cx="65836" cy="65836"/>
          </a:xfrm>
          <a:prstGeom prst="ellipse">
            <a:avLst/>
          </a:prstGeom>
          <a:solidFill>
            <a:srgbClr val="2F2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01353" y="1242669"/>
            <a:ext cx="65836" cy="65836"/>
          </a:xfrm>
          <a:prstGeom prst="ellipse">
            <a:avLst/>
          </a:prstGeom>
          <a:solidFill>
            <a:srgbClr val="3131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106509" y="1242669"/>
            <a:ext cx="65836" cy="65836"/>
          </a:xfrm>
          <a:prstGeom prst="ellipse">
            <a:avLst/>
          </a:prstGeom>
          <a:solidFill>
            <a:srgbClr val="3232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211665" y="1242669"/>
            <a:ext cx="65836" cy="65836"/>
          </a:xfrm>
          <a:prstGeom prst="ellipse">
            <a:avLst/>
          </a:prstGeom>
          <a:solidFill>
            <a:srgbClr val="3434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316821" y="1242669"/>
            <a:ext cx="65836" cy="65836"/>
          </a:xfrm>
          <a:prstGeom prst="ellipse">
            <a:avLst/>
          </a:prstGeom>
          <a:solidFill>
            <a:srgbClr val="353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421977" y="1242669"/>
            <a:ext cx="65836" cy="65836"/>
          </a:xfrm>
          <a:prstGeom prst="ellipse">
            <a:avLst/>
          </a:prstGeom>
          <a:solidFill>
            <a:srgbClr val="3737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527133" y="1242669"/>
            <a:ext cx="65836" cy="65836"/>
          </a:xfrm>
          <a:prstGeom prst="ellipse">
            <a:avLst/>
          </a:prstGeom>
          <a:solidFill>
            <a:srgbClr val="393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632289" y="1242669"/>
            <a:ext cx="65836" cy="65836"/>
          </a:xfrm>
          <a:prstGeom prst="ellipse">
            <a:avLst/>
          </a:prstGeom>
          <a:solidFill>
            <a:srgbClr val="3A3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737445" y="1242669"/>
            <a:ext cx="65836" cy="65836"/>
          </a:xfrm>
          <a:prstGeom prst="ellipse">
            <a:avLst/>
          </a:prstGeom>
          <a:solidFill>
            <a:srgbClr val="3C3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842601" y="1242669"/>
            <a:ext cx="65836" cy="65836"/>
          </a:xfrm>
          <a:prstGeom prst="ellipse">
            <a:avLst/>
          </a:prstGeom>
          <a:solidFill>
            <a:srgbClr val="3D3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947757" y="1242669"/>
            <a:ext cx="65836" cy="65836"/>
          </a:xfrm>
          <a:prstGeom prst="ellipse">
            <a:avLst/>
          </a:prstGeom>
          <a:solidFill>
            <a:srgbClr val="3F3F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052913" y="1242669"/>
            <a:ext cx="65836" cy="65836"/>
          </a:xfrm>
          <a:prstGeom prst="ellipse">
            <a:avLst/>
          </a:prstGeom>
          <a:solidFill>
            <a:srgbClr val="4040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158069" y="1242669"/>
            <a:ext cx="65836" cy="65836"/>
          </a:xfrm>
          <a:prstGeom prst="ellipse">
            <a:avLst/>
          </a:prstGeom>
          <a:solidFill>
            <a:srgbClr val="424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263225" y="1242669"/>
            <a:ext cx="65836" cy="65836"/>
          </a:xfrm>
          <a:prstGeom prst="ellipse">
            <a:avLst/>
          </a:prstGeom>
          <a:solidFill>
            <a:srgbClr val="4343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370417" y="1347825"/>
            <a:ext cx="65836" cy="65836"/>
          </a:xfrm>
          <a:prstGeom prst="ellipse">
            <a:avLst/>
          </a:prstGeom>
          <a:solidFill>
            <a:srgbClr val="2929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475573" y="1347825"/>
            <a:ext cx="65836" cy="65836"/>
          </a:xfrm>
          <a:prstGeom prst="ellipse">
            <a:avLst/>
          </a:prstGeom>
          <a:solidFill>
            <a:srgbClr val="2B2B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580729" y="1347825"/>
            <a:ext cx="65836" cy="65836"/>
          </a:xfrm>
          <a:prstGeom prst="ellipse">
            <a:avLst/>
          </a:prstGeom>
          <a:solidFill>
            <a:srgbClr val="2C2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685885" y="1347825"/>
            <a:ext cx="65836" cy="65836"/>
          </a:xfrm>
          <a:prstGeom prst="ellipse">
            <a:avLst/>
          </a:prstGeom>
          <a:solidFill>
            <a:srgbClr val="2E2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791041" y="1347825"/>
            <a:ext cx="65836" cy="65836"/>
          </a:xfrm>
          <a:prstGeom prst="ellipse">
            <a:avLst/>
          </a:prstGeom>
          <a:solidFill>
            <a:srgbClr val="2F2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8896197" y="1347825"/>
            <a:ext cx="65836" cy="65836"/>
          </a:xfrm>
          <a:prstGeom prst="ellipse">
            <a:avLst/>
          </a:prstGeom>
          <a:solidFill>
            <a:srgbClr val="3131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001353" y="1347825"/>
            <a:ext cx="65836" cy="65836"/>
          </a:xfrm>
          <a:prstGeom prst="ellipse">
            <a:avLst/>
          </a:prstGeom>
          <a:solidFill>
            <a:srgbClr val="3232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9106509" y="1347825"/>
            <a:ext cx="65836" cy="65836"/>
          </a:xfrm>
          <a:prstGeom prst="ellipse">
            <a:avLst/>
          </a:prstGeom>
          <a:solidFill>
            <a:srgbClr val="3434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9211665" y="1347825"/>
            <a:ext cx="65836" cy="65836"/>
          </a:xfrm>
          <a:prstGeom prst="ellipse">
            <a:avLst/>
          </a:prstGeom>
          <a:solidFill>
            <a:srgbClr val="353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9316821" y="1347825"/>
            <a:ext cx="65836" cy="65836"/>
          </a:xfrm>
          <a:prstGeom prst="ellipse">
            <a:avLst/>
          </a:prstGeom>
          <a:solidFill>
            <a:srgbClr val="3737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9421977" y="1347825"/>
            <a:ext cx="65836" cy="65836"/>
          </a:xfrm>
          <a:prstGeom prst="ellipse">
            <a:avLst/>
          </a:prstGeom>
          <a:solidFill>
            <a:srgbClr val="393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527133" y="1347825"/>
            <a:ext cx="65836" cy="65836"/>
          </a:xfrm>
          <a:prstGeom prst="ellipse">
            <a:avLst/>
          </a:prstGeom>
          <a:solidFill>
            <a:srgbClr val="3A3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9632289" y="1347825"/>
            <a:ext cx="65836" cy="65836"/>
          </a:xfrm>
          <a:prstGeom prst="ellipse">
            <a:avLst/>
          </a:prstGeom>
          <a:solidFill>
            <a:srgbClr val="3C3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9737445" y="1347825"/>
            <a:ext cx="65836" cy="65836"/>
          </a:xfrm>
          <a:prstGeom prst="ellipse">
            <a:avLst/>
          </a:prstGeom>
          <a:solidFill>
            <a:srgbClr val="3D3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9842601" y="1347825"/>
            <a:ext cx="65836" cy="65836"/>
          </a:xfrm>
          <a:prstGeom prst="ellipse">
            <a:avLst/>
          </a:prstGeom>
          <a:solidFill>
            <a:srgbClr val="3F3F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9947757" y="1347825"/>
            <a:ext cx="65836" cy="65836"/>
          </a:xfrm>
          <a:prstGeom prst="ellipse">
            <a:avLst/>
          </a:prstGeom>
          <a:solidFill>
            <a:srgbClr val="4040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0052913" y="1347825"/>
            <a:ext cx="65836" cy="65836"/>
          </a:xfrm>
          <a:prstGeom prst="ellipse">
            <a:avLst/>
          </a:prstGeom>
          <a:solidFill>
            <a:srgbClr val="424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158069" y="1347825"/>
            <a:ext cx="65836" cy="65836"/>
          </a:xfrm>
          <a:prstGeom prst="ellipse">
            <a:avLst/>
          </a:prstGeom>
          <a:solidFill>
            <a:srgbClr val="4444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0263225" y="1347825"/>
            <a:ext cx="65836" cy="65836"/>
          </a:xfrm>
          <a:prstGeom prst="ellipse">
            <a:avLst/>
          </a:prstGeom>
          <a:solidFill>
            <a:srgbClr val="4545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0368381" y="1347825"/>
            <a:ext cx="65836" cy="65836"/>
          </a:xfrm>
          <a:prstGeom prst="ellipse">
            <a:avLst/>
          </a:prstGeom>
          <a:solidFill>
            <a:srgbClr val="474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473537" y="1347825"/>
            <a:ext cx="65836" cy="65836"/>
          </a:xfrm>
          <a:prstGeom prst="ellipse">
            <a:avLst/>
          </a:prstGeom>
          <a:solidFill>
            <a:srgbClr val="4848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265261" y="1452981"/>
            <a:ext cx="65836" cy="65836"/>
          </a:xfrm>
          <a:prstGeom prst="ellipse">
            <a:avLst/>
          </a:prstGeom>
          <a:solidFill>
            <a:srgbClr val="2929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8370417" y="1452981"/>
            <a:ext cx="65836" cy="65836"/>
          </a:xfrm>
          <a:prstGeom prst="ellipse">
            <a:avLst/>
          </a:prstGeom>
          <a:solidFill>
            <a:srgbClr val="2B2B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8475573" y="1452981"/>
            <a:ext cx="65836" cy="65836"/>
          </a:xfrm>
          <a:prstGeom prst="ellipse">
            <a:avLst/>
          </a:prstGeom>
          <a:solidFill>
            <a:srgbClr val="2C2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8580729" y="1452981"/>
            <a:ext cx="65836" cy="65836"/>
          </a:xfrm>
          <a:prstGeom prst="ellipse">
            <a:avLst/>
          </a:prstGeom>
          <a:solidFill>
            <a:srgbClr val="2E2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8685885" y="1452981"/>
            <a:ext cx="65836" cy="65836"/>
          </a:xfrm>
          <a:prstGeom prst="ellipse">
            <a:avLst/>
          </a:prstGeom>
          <a:solidFill>
            <a:srgbClr val="2F2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8791041" y="1452981"/>
            <a:ext cx="65836" cy="65836"/>
          </a:xfrm>
          <a:prstGeom prst="ellipse">
            <a:avLst/>
          </a:prstGeom>
          <a:solidFill>
            <a:srgbClr val="3131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8896197" y="1452981"/>
            <a:ext cx="65836" cy="65836"/>
          </a:xfrm>
          <a:prstGeom prst="ellipse">
            <a:avLst/>
          </a:prstGeom>
          <a:solidFill>
            <a:srgbClr val="3232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9001353" y="1452981"/>
            <a:ext cx="65836" cy="65836"/>
          </a:xfrm>
          <a:prstGeom prst="ellipse">
            <a:avLst/>
          </a:prstGeom>
          <a:solidFill>
            <a:srgbClr val="3434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9106509" y="1452981"/>
            <a:ext cx="65836" cy="65836"/>
          </a:xfrm>
          <a:prstGeom prst="ellipse">
            <a:avLst/>
          </a:prstGeom>
          <a:solidFill>
            <a:srgbClr val="3636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9211665" y="1452981"/>
            <a:ext cx="65836" cy="65836"/>
          </a:xfrm>
          <a:prstGeom prst="ellipse">
            <a:avLst/>
          </a:prstGeom>
          <a:solidFill>
            <a:srgbClr val="3737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9316821" y="1452981"/>
            <a:ext cx="65836" cy="65836"/>
          </a:xfrm>
          <a:prstGeom prst="ellipse">
            <a:avLst/>
          </a:prstGeom>
          <a:solidFill>
            <a:srgbClr val="393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9421977" y="1452981"/>
            <a:ext cx="65836" cy="65836"/>
          </a:xfrm>
          <a:prstGeom prst="ellipse">
            <a:avLst/>
          </a:prstGeom>
          <a:solidFill>
            <a:srgbClr val="3A3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9527133" y="1452981"/>
            <a:ext cx="65836" cy="65836"/>
          </a:xfrm>
          <a:prstGeom prst="ellipse">
            <a:avLst/>
          </a:prstGeom>
          <a:solidFill>
            <a:srgbClr val="3C3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9632289" y="1452981"/>
            <a:ext cx="65836" cy="65836"/>
          </a:xfrm>
          <a:prstGeom prst="ellipse">
            <a:avLst/>
          </a:prstGeom>
          <a:solidFill>
            <a:srgbClr val="3D3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9737445" y="1452981"/>
            <a:ext cx="65836" cy="65836"/>
          </a:xfrm>
          <a:prstGeom prst="ellipse">
            <a:avLst/>
          </a:prstGeom>
          <a:solidFill>
            <a:srgbClr val="3F3F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9842601" y="1452981"/>
            <a:ext cx="65836" cy="65836"/>
          </a:xfrm>
          <a:prstGeom prst="ellipse">
            <a:avLst/>
          </a:prstGeom>
          <a:solidFill>
            <a:srgbClr val="4040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9947757" y="1452981"/>
            <a:ext cx="65836" cy="65836"/>
          </a:xfrm>
          <a:prstGeom prst="ellipse">
            <a:avLst/>
          </a:prstGeom>
          <a:solidFill>
            <a:srgbClr val="424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10052913" y="1452981"/>
            <a:ext cx="65836" cy="65836"/>
          </a:xfrm>
          <a:prstGeom prst="ellipse">
            <a:avLst/>
          </a:prstGeom>
          <a:solidFill>
            <a:srgbClr val="4444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10158069" y="1452981"/>
            <a:ext cx="65836" cy="65836"/>
          </a:xfrm>
          <a:prstGeom prst="ellipse">
            <a:avLst/>
          </a:prstGeom>
          <a:solidFill>
            <a:srgbClr val="4545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10263225" y="1452981"/>
            <a:ext cx="65836" cy="65836"/>
          </a:xfrm>
          <a:prstGeom prst="ellipse">
            <a:avLst/>
          </a:prstGeom>
          <a:solidFill>
            <a:srgbClr val="474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10368381" y="1452981"/>
            <a:ext cx="65836" cy="65836"/>
          </a:xfrm>
          <a:prstGeom prst="ellipse">
            <a:avLst/>
          </a:prstGeom>
          <a:solidFill>
            <a:srgbClr val="4848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10473537" y="1452981"/>
            <a:ext cx="65836" cy="65836"/>
          </a:xfrm>
          <a:prstGeom prst="ellipse">
            <a:avLst/>
          </a:prstGeom>
          <a:solidFill>
            <a:srgbClr val="4A4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8160105" y="1558137"/>
            <a:ext cx="65836" cy="65836"/>
          </a:xfrm>
          <a:prstGeom prst="ellipse">
            <a:avLst/>
          </a:prstGeom>
          <a:solidFill>
            <a:srgbClr val="2929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265261" y="1558137"/>
            <a:ext cx="65836" cy="65836"/>
          </a:xfrm>
          <a:prstGeom prst="ellipse">
            <a:avLst/>
          </a:prstGeom>
          <a:solidFill>
            <a:srgbClr val="2B2B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8370417" y="1558137"/>
            <a:ext cx="65836" cy="65836"/>
          </a:xfrm>
          <a:prstGeom prst="ellipse">
            <a:avLst/>
          </a:prstGeom>
          <a:solidFill>
            <a:srgbClr val="2C2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8475573" y="1558137"/>
            <a:ext cx="65836" cy="65836"/>
          </a:xfrm>
          <a:prstGeom prst="ellipse">
            <a:avLst/>
          </a:prstGeom>
          <a:solidFill>
            <a:srgbClr val="2E2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8580729" y="1558137"/>
            <a:ext cx="65836" cy="65836"/>
          </a:xfrm>
          <a:prstGeom prst="ellipse">
            <a:avLst/>
          </a:prstGeom>
          <a:solidFill>
            <a:srgbClr val="2F2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8685885" y="1558137"/>
            <a:ext cx="65836" cy="65836"/>
          </a:xfrm>
          <a:prstGeom prst="ellipse">
            <a:avLst/>
          </a:prstGeom>
          <a:solidFill>
            <a:srgbClr val="3131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8791041" y="1558137"/>
            <a:ext cx="65836" cy="65836"/>
          </a:xfrm>
          <a:prstGeom prst="ellipse">
            <a:avLst/>
          </a:prstGeom>
          <a:solidFill>
            <a:srgbClr val="3232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8896197" y="1558137"/>
            <a:ext cx="65836" cy="65836"/>
          </a:xfrm>
          <a:prstGeom prst="ellipse">
            <a:avLst/>
          </a:prstGeom>
          <a:solidFill>
            <a:srgbClr val="3434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9001353" y="1558137"/>
            <a:ext cx="65836" cy="65836"/>
          </a:xfrm>
          <a:prstGeom prst="ellipse">
            <a:avLst/>
          </a:prstGeom>
          <a:solidFill>
            <a:srgbClr val="3636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9106509" y="1558137"/>
            <a:ext cx="65836" cy="65836"/>
          </a:xfrm>
          <a:prstGeom prst="ellipse">
            <a:avLst/>
          </a:prstGeom>
          <a:solidFill>
            <a:srgbClr val="3737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9211665" y="1558137"/>
            <a:ext cx="65836" cy="65836"/>
          </a:xfrm>
          <a:prstGeom prst="ellipse">
            <a:avLst/>
          </a:prstGeom>
          <a:solidFill>
            <a:srgbClr val="393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9316821" y="1558137"/>
            <a:ext cx="65836" cy="65836"/>
          </a:xfrm>
          <a:prstGeom prst="ellipse">
            <a:avLst/>
          </a:prstGeom>
          <a:solidFill>
            <a:srgbClr val="3A3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9421977" y="1558137"/>
            <a:ext cx="65836" cy="65836"/>
          </a:xfrm>
          <a:prstGeom prst="ellipse">
            <a:avLst/>
          </a:prstGeom>
          <a:solidFill>
            <a:srgbClr val="3C3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9527133" y="1558137"/>
            <a:ext cx="65836" cy="65836"/>
          </a:xfrm>
          <a:prstGeom prst="ellipse">
            <a:avLst/>
          </a:prstGeom>
          <a:solidFill>
            <a:srgbClr val="3D3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9632289" y="1558137"/>
            <a:ext cx="65836" cy="65836"/>
          </a:xfrm>
          <a:prstGeom prst="ellipse">
            <a:avLst/>
          </a:prstGeom>
          <a:solidFill>
            <a:srgbClr val="3F3F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9737445" y="1558137"/>
            <a:ext cx="65836" cy="65836"/>
          </a:xfrm>
          <a:prstGeom prst="ellipse">
            <a:avLst/>
          </a:prstGeom>
          <a:solidFill>
            <a:srgbClr val="414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9842601" y="1558137"/>
            <a:ext cx="65836" cy="65836"/>
          </a:xfrm>
          <a:prstGeom prst="ellipse">
            <a:avLst/>
          </a:prstGeom>
          <a:solidFill>
            <a:srgbClr val="424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9947757" y="1558137"/>
            <a:ext cx="65836" cy="65836"/>
          </a:xfrm>
          <a:prstGeom prst="ellipse">
            <a:avLst/>
          </a:prstGeom>
          <a:solidFill>
            <a:srgbClr val="4444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10052913" y="1558137"/>
            <a:ext cx="65836" cy="65836"/>
          </a:xfrm>
          <a:prstGeom prst="ellipse">
            <a:avLst/>
          </a:prstGeom>
          <a:solidFill>
            <a:srgbClr val="4545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10158069" y="1558137"/>
            <a:ext cx="65836" cy="65836"/>
          </a:xfrm>
          <a:prstGeom prst="ellipse">
            <a:avLst/>
          </a:prstGeom>
          <a:solidFill>
            <a:srgbClr val="474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10263225" y="1558137"/>
            <a:ext cx="65836" cy="65836"/>
          </a:xfrm>
          <a:prstGeom prst="ellipse">
            <a:avLst/>
          </a:prstGeom>
          <a:solidFill>
            <a:srgbClr val="4848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0368381" y="1558137"/>
            <a:ext cx="65836" cy="65836"/>
          </a:xfrm>
          <a:prstGeom prst="ellipse">
            <a:avLst/>
          </a:prstGeom>
          <a:solidFill>
            <a:srgbClr val="4A4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473537" y="1558137"/>
            <a:ext cx="65836" cy="65836"/>
          </a:xfrm>
          <a:prstGeom prst="ellipse">
            <a:avLst/>
          </a:prstGeom>
          <a:solidFill>
            <a:srgbClr val="4B4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10578693" y="1558137"/>
            <a:ext cx="65836" cy="65836"/>
          </a:xfrm>
          <a:prstGeom prst="ellipse">
            <a:avLst/>
          </a:prstGeom>
          <a:solidFill>
            <a:srgbClr val="4D4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7949793" y="1663293"/>
            <a:ext cx="65836" cy="65836"/>
          </a:xfrm>
          <a:prstGeom prst="ellipse">
            <a:avLst/>
          </a:prstGeom>
          <a:solidFill>
            <a:srgbClr val="2828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054949" y="1663293"/>
            <a:ext cx="65836" cy="65836"/>
          </a:xfrm>
          <a:prstGeom prst="ellipse">
            <a:avLst/>
          </a:prstGeom>
          <a:solidFill>
            <a:srgbClr val="2929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160105" y="1663293"/>
            <a:ext cx="65836" cy="65836"/>
          </a:xfrm>
          <a:prstGeom prst="ellipse">
            <a:avLst/>
          </a:prstGeom>
          <a:solidFill>
            <a:srgbClr val="2B2B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8265261" y="1663293"/>
            <a:ext cx="65836" cy="65836"/>
          </a:xfrm>
          <a:prstGeom prst="ellipse">
            <a:avLst/>
          </a:prstGeom>
          <a:solidFill>
            <a:srgbClr val="2C2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8370417" y="1663293"/>
            <a:ext cx="65836" cy="65836"/>
          </a:xfrm>
          <a:prstGeom prst="ellipse">
            <a:avLst/>
          </a:prstGeom>
          <a:solidFill>
            <a:srgbClr val="2E2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8475573" y="1663293"/>
            <a:ext cx="65836" cy="65836"/>
          </a:xfrm>
          <a:prstGeom prst="ellipse">
            <a:avLst/>
          </a:prstGeom>
          <a:solidFill>
            <a:srgbClr val="2F2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8580729" y="1663293"/>
            <a:ext cx="65836" cy="65836"/>
          </a:xfrm>
          <a:prstGeom prst="ellipse">
            <a:avLst/>
          </a:prstGeom>
          <a:solidFill>
            <a:srgbClr val="3131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8685885" y="1663293"/>
            <a:ext cx="65836" cy="65836"/>
          </a:xfrm>
          <a:prstGeom prst="ellipse">
            <a:avLst/>
          </a:prstGeom>
          <a:solidFill>
            <a:srgbClr val="3333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8791041" y="1663293"/>
            <a:ext cx="65836" cy="65836"/>
          </a:xfrm>
          <a:prstGeom prst="ellipse">
            <a:avLst/>
          </a:prstGeom>
          <a:solidFill>
            <a:srgbClr val="3434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8896197" y="1663293"/>
            <a:ext cx="65836" cy="65836"/>
          </a:xfrm>
          <a:prstGeom prst="ellipse">
            <a:avLst/>
          </a:prstGeom>
          <a:solidFill>
            <a:srgbClr val="3636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001353" y="1663293"/>
            <a:ext cx="65836" cy="65836"/>
          </a:xfrm>
          <a:prstGeom prst="ellipse">
            <a:avLst/>
          </a:prstGeom>
          <a:solidFill>
            <a:srgbClr val="3737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9106509" y="1663293"/>
            <a:ext cx="65836" cy="65836"/>
          </a:xfrm>
          <a:prstGeom prst="ellipse">
            <a:avLst/>
          </a:prstGeom>
          <a:solidFill>
            <a:srgbClr val="393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9211665" y="1663293"/>
            <a:ext cx="65836" cy="65836"/>
          </a:xfrm>
          <a:prstGeom prst="ellipse">
            <a:avLst/>
          </a:prstGeom>
          <a:solidFill>
            <a:srgbClr val="3A3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9316821" y="1663293"/>
            <a:ext cx="65836" cy="65836"/>
          </a:xfrm>
          <a:prstGeom prst="ellipse">
            <a:avLst/>
          </a:prstGeom>
          <a:solidFill>
            <a:srgbClr val="3C3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9421977" y="1663293"/>
            <a:ext cx="65836" cy="65836"/>
          </a:xfrm>
          <a:prstGeom prst="ellipse">
            <a:avLst/>
          </a:prstGeom>
          <a:solidFill>
            <a:srgbClr val="3D3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9527133" y="1663293"/>
            <a:ext cx="65836" cy="65836"/>
          </a:xfrm>
          <a:prstGeom prst="ellipse">
            <a:avLst/>
          </a:prstGeom>
          <a:solidFill>
            <a:srgbClr val="3F3F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9632289" y="1663293"/>
            <a:ext cx="65836" cy="65836"/>
          </a:xfrm>
          <a:prstGeom prst="ellipse">
            <a:avLst/>
          </a:prstGeom>
          <a:solidFill>
            <a:srgbClr val="414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9737445" y="1663293"/>
            <a:ext cx="65836" cy="65836"/>
          </a:xfrm>
          <a:prstGeom prst="ellipse">
            <a:avLst/>
          </a:prstGeom>
          <a:solidFill>
            <a:srgbClr val="424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9842601" y="1663293"/>
            <a:ext cx="65836" cy="65836"/>
          </a:xfrm>
          <a:prstGeom prst="ellipse">
            <a:avLst/>
          </a:prstGeom>
          <a:solidFill>
            <a:srgbClr val="4444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9947757" y="1663293"/>
            <a:ext cx="65836" cy="65836"/>
          </a:xfrm>
          <a:prstGeom prst="ellipse">
            <a:avLst/>
          </a:prstGeom>
          <a:solidFill>
            <a:srgbClr val="4545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10052913" y="1663293"/>
            <a:ext cx="65836" cy="65836"/>
          </a:xfrm>
          <a:prstGeom prst="ellipse">
            <a:avLst/>
          </a:prstGeom>
          <a:solidFill>
            <a:srgbClr val="474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10158069" y="1663293"/>
            <a:ext cx="65836" cy="65836"/>
          </a:xfrm>
          <a:prstGeom prst="ellipse">
            <a:avLst/>
          </a:prstGeom>
          <a:solidFill>
            <a:srgbClr val="4848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10263225" y="1663293"/>
            <a:ext cx="65836" cy="65836"/>
          </a:xfrm>
          <a:prstGeom prst="ellipse">
            <a:avLst/>
          </a:prstGeom>
          <a:solidFill>
            <a:srgbClr val="4A4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10368381" y="1663293"/>
            <a:ext cx="65836" cy="65836"/>
          </a:xfrm>
          <a:prstGeom prst="ellipse">
            <a:avLst/>
          </a:prstGeom>
          <a:solidFill>
            <a:srgbClr val="4C4C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10473537" y="1663293"/>
            <a:ext cx="65836" cy="65836"/>
          </a:xfrm>
          <a:prstGeom prst="ellipse">
            <a:avLst/>
          </a:prstGeom>
          <a:solidFill>
            <a:srgbClr val="4D4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10578693" y="1663293"/>
            <a:ext cx="65836" cy="65836"/>
          </a:xfrm>
          <a:prstGeom prst="ellipse">
            <a:avLst/>
          </a:prstGeom>
          <a:solidFill>
            <a:srgbClr val="4F4F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7844637" y="1768449"/>
            <a:ext cx="65836" cy="65836"/>
          </a:xfrm>
          <a:prstGeom prst="ellipse">
            <a:avLst/>
          </a:prstGeom>
          <a:solidFill>
            <a:srgbClr val="2828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7949793" y="1768449"/>
            <a:ext cx="65836" cy="65836"/>
          </a:xfrm>
          <a:prstGeom prst="ellipse">
            <a:avLst/>
          </a:prstGeom>
          <a:solidFill>
            <a:srgbClr val="2929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8054949" y="1768449"/>
            <a:ext cx="65836" cy="65836"/>
          </a:xfrm>
          <a:prstGeom prst="ellipse">
            <a:avLst/>
          </a:prstGeom>
          <a:solidFill>
            <a:srgbClr val="2B2B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8160105" y="1768449"/>
            <a:ext cx="65836" cy="65836"/>
          </a:xfrm>
          <a:prstGeom prst="ellipse">
            <a:avLst/>
          </a:prstGeom>
          <a:solidFill>
            <a:srgbClr val="2C2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8265261" y="1768449"/>
            <a:ext cx="65836" cy="65836"/>
          </a:xfrm>
          <a:prstGeom prst="ellipse">
            <a:avLst/>
          </a:prstGeom>
          <a:solidFill>
            <a:srgbClr val="2E2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8370417" y="1768449"/>
            <a:ext cx="65836" cy="65836"/>
          </a:xfrm>
          <a:prstGeom prst="ellipse">
            <a:avLst/>
          </a:prstGeom>
          <a:solidFill>
            <a:srgbClr val="2F2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8475573" y="1768449"/>
            <a:ext cx="65836" cy="65836"/>
          </a:xfrm>
          <a:prstGeom prst="ellipse">
            <a:avLst/>
          </a:prstGeom>
          <a:solidFill>
            <a:srgbClr val="3131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8580729" y="1768449"/>
            <a:ext cx="65836" cy="65836"/>
          </a:xfrm>
          <a:prstGeom prst="ellipse">
            <a:avLst/>
          </a:prstGeom>
          <a:solidFill>
            <a:srgbClr val="3333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8685885" y="1768449"/>
            <a:ext cx="65836" cy="65836"/>
          </a:xfrm>
          <a:prstGeom prst="ellipse">
            <a:avLst/>
          </a:prstGeom>
          <a:solidFill>
            <a:srgbClr val="3434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8791041" y="1768449"/>
            <a:ext cx="65836" cy="65836"/>
          </a:xfrm>
          <a:prstGeom prst="ellipse">
            <a:avLst/>
          </a:prstGeom>
          <a:solidFill>
            <a:srgbClr val="3636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8896197" y="1768449"/>
            <a:ext cx="65836" cy="65836"/>
          </a:xfrm>
          <a:prstGeom prst="ellipse">
            <a:avLst/>
          </a:prstGeom>
          <a:solidFill>
            <a:srgbClr val="3737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9001353" y="1768449"/>
            <a:ext cx="65836" cy="65836"/>
          </a:xfrm>
          <a:prstGeom prst="ellipse">
            <a:avLst/>
          </a:prstGeom>
          <a:solidFill>
            <a:srgbClr val="393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9106509" y="1768449"/>
            <a:ext cx="65836" cy="65836"/>
          </a:xfrm>
          <a:prstGeom prst="ellipse">
            <a:avLst/>
          </a:prstGeom>
          <a:solidFill>
            <a:srgbClr val="3A3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9211665" y="1768449"/>
            <a:ext cx="65836" cy="65836"/>
          </a:xfrm>
          <a:prstGeom prst="ellipse">
            <a:avLst/>
          </a:prstGeom>
          <a:solidFill>
            <a:srgbClr val="3C3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9316821" y="1768449"/>
            <a:ext cx="65836" cy="65836"/>
          </a:xfrm>
          <a:prstGeom prst="ellipse">
            <a:avLst/>
          </a:prstGeom>
          <a:solidFill>
            <a:srgbClr val="3E3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9421977" y="1768449"/>
            <a:ext cx="65836" cy="65836"/>
          </a:xfrm>
          <a:prstGeom prst="ellipse">
            <a:avLst/>
          </a:prstGeom>
          <a:solidFill>
            <a:srgbClr val="3F3F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9527133" y="1768449"/>
            <a:ext cx="65836" cy="65836"/>
          </a:xfrm>
          <a:prstGeom prst="ellipse">
            <a:avLst/>
          </a:prstGeom>
          <a:solidFill>
            <a:srgbClr val="414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9632289" y="1768449"/>
            <a:ext cx="65836" cy="65836"/>
          </a:xfrm>
          <a:prstGeom prst="ellipse">
            <a:avLst/>
          </a:prstGeom>
          <a:solidFill>
            <a:srgbClr val="424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9737445" y="1768449"/>
            <a:ext cx="65836" cy="65836"/>
          </a:xfrm>
          <a:prstGeom prst="ellipse">
            <a:avLst/>
          </a:prstGeom>
          <a:solidFill>
            <a:srgbClr val="4444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9842601" y="1768449"/>
            <a:ext cx="65836" cy="65836"/>
          </a:xfrm>
          <a:prstGeom prst="ellipse">
            <a:avLst/>
          </a:prstGeom>
          <a:solidFill>
            <a:srgbClr val="4545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9947757" y="1768449"/>
            <a:ext cx="65836" cy="65836"/>
          </a:xfrm>
          <a:prstGeom prst="ellipse">
            <a:avLst/>
          </a:prstGeom>
          <a:solidFill>
            <a:srgbClr val="474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10052913" y="1768449"/>
            <a:ext cx="65836" cy="65836"/>
          </a:xfrm>
          <a:prstGeom prst="ellipse">
            <a:avLst/>
          </a:prstGeom>
          <a:solidFill>
            <a:srgbClr val="4848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Oval 148"/>
          <p:cNvSpPr/>
          <p:nvPr/>
        </p:nvSpPr>
        <p:spPr>
          <a:xfrm>
            <a:off x="10158069" y="1768449"/>
            <a:ext cx="65836" cy="65836"/>
          </a:xfrm>
          <a:prstGeom prst="ellipse">
            <a:avLst/>
          </a:prstGeom>
          <a:solidFill>
            <a:srgbClr val="4A4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Oval 149"/>
          <p:cNvSpPr/>
          <p:nvPr/>
        </p:nvSpPr>
        <p:spPr>
          <a:xfrm>
            <a:off x="10263225" y="1768449"/>
            <a:ext cx="65836" cy="65836"/>
          </a:xfrm>
          <a:prstGeom prst="ellipse">
            <a:avLst/>
          </a:prstGeom>
          <a:solidFill>
            <a:srgbClr val="4C4C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Oval 150"/>
          <p:cNvSpPr/>
          <p:nvPr/>
        </p:nvSpPr>
        <p:spPr>
          <a:xfrm>
            <a:off x="10368381" y="1768449"/>
            <a:ext cx="65836" cy="65836"/>
          </a:xfrm>
          <a:prstGeom prst="ellipse">
            <a:avLst/>
          </a:prstGeom>
          <a:solidFill>
            <a:srgbClr val="4D4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Oval 151"/>
          <p:cNvSpPr/>
          <p:nvPr/>
        </p:nvSpPr>
        <p:spPr>
          <a:xfrm>
            <a:off x="10473537" y="1768449"/>
            <a:ext cx="65836" cy="65836"/>
          </a:xfrm>
          <a:prstGeom prst="ellipse">
            <a:avLst/>
          </a:prstGeom>
          <a:solidFill>
            <a:srgbClr val="4F4F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Oval 152"/>
          <p:cNvSpPr/>
          <p:nvPr/>
        </p:nvSpPr>
        <p:spPr>
          <a:xfrm>
            <a:off x="10578693" y="1768449"/>
            <a:ext cx="65836" cy="65836"/>
          </a:xfrm>
          <a:prstGeom prst="ellipse">
            <a:avLst/>
          </a:prstGeom>
          <a:solidFill>
            <a:srgbClr val="5050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Oval 153"/>
          <p:cNvSpPr/>
          <p:nvPr/>
        </p:nvSpPr>
        <p:spPr>
          <a:xfrm>
            <a:off x="7739481" y="1873605"/>
            <a:ext cx="65836" cy="65836"/>
          </a:xfrm>
          <a:prstGeom prst="ellipse">
            <a:avLst/>
          </a:prstGeom>
          <a:solidFill>
            <a:srgbClr val="2828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Oval 154"/>
          <p:cNvSpPr/>
          <p:nvPr/>
        </p:nvSpPr>
        <p:spPr>
          <a:xfrm>
            <a:off x="7844637" y="1873605"/>
            <a:ext cx="65836" cy="65836"/>
          </a:xfrm>
          <a:prstGeom prst="ellipse">
            <a:avLst/>
          </a:prstGeom>
          <a:solidFill>
            <a:srgbClr val="2929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Oval 155"/>
          <p:cNvSpPr/>
          <p:nvPr/>
        </p:nvSpPr>
        <p:spPr>
          <a:xfrm>
            <a:off x="7949793" y="1873605"/>
            <a:ext cx="65836" cy="65836"/>
          </a:xfrm>
          <a:prstGeom prst="ellipse">
            <a:avLst/>
          </a:prstGeom>
          <a:solidFill>
            <a:srgbClr val="2B2B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Oval 156"/>
          <p:cNvSpPr/>
          <p:nvPr/>
        </p:nvSpPr>
        <p:spPr>
          <a:xfrm>
            <a:off x="8054949" y="1873605"/>
            <a:ext cx="65836" cy="65836"/>
          </a:xfrm>
          <a:prstGeom prst="ellipse">
            <a:avLst/>
          </a:prstGeom>
          <a:solidFill>
            <a:srgbClr val="2C2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Oval 157"/>
          <p:cNvSpPr/>
          <p:nvPr/>
        </p:nvSpPr>
        <p:spPr>
          <a:xfrm>
            <a:off x="8160105" y="1873605"/>
            <a:ext cx="65836" cy="65836"/>
          </a:xfrm>
          <a:prstGeom prst="ellipse">
            <a:avLst/>
          </a:prstGeom>
          <a:solidFill>
            <a:srgbClr val="2E2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Oval 158"/>
          <p:cNvSpPr/>
          <p:nvPr/>
        </p:nvSpPr>
        <p:spPr>
          <a:xfrm>
            <a:off x="8265261" y="1873605"/>
            <a:ext cx="65836" cy="65836"/>
          </a:xfrm>
          <a:prstGeom prst="ellipse">
            <a:avLst/>
          </a:prstGeom>
          <a:solidFill>
            <a:srgbClr val="303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Oval 159"/>
          <p:cNvSpPr/>
          <p:nvPr/>
        </p:nvSpPr>
        <p:spPr>
          <a:xfrm>
            <a:off x="8370417" y="1873605"/>
            <a:ext cx="65836" cy="65836"/>
          </a:xfrm>
          <a:prstGeom prst="ellipse">
            <a:avLst/>
          </a:prstGeom>
          <a:solidFill>
            <a:srgbClr val="3131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Oval 160"/>
          <p:cNvSpPr/>
          <p:nvPr/>
        </p:nvSpPr>
        <p:spPr>
          <a:xfrm>
            <a:off x="8475573" y="1873605"/>
            <a:ext cx="65836" cy="65836"/>
          </a:xfrm>
          <a:prstGeom prst="ellipse">
            <a:avLst/>
          </a:prstGeom>
          <a:solidFill>
            <a:srgbClr val="3333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Oval 161"/>
          <p:cNvSpPr/>
          <p:nvPr/>
        </p:nvSpPr>
        <p:spPr>
          <a:xfrm>
            <a:off x="8580729" y="1873605"/>
            <a:ext cx="65836" cy="65836"/>
          </a:xfrm>
          <a:prstGeom prst="ellipse">
            <a:avLst/>
          </a:prstGeom>
          <a:solidFill>
            <a:srgbClr val="3434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Oval 162"/>
          <p:cNvSpPr/>
          <p:nvPr/>
        </p:nvSpPr>
        <p:spPr>
          <a:xfrm>
            <a:off x="8685885" y="1873605"/>
            <a:ext cx="65836" cy="65836"/>
          </a:xfrm>
          <a:prstGeom prst="ellipse">
            <a:avLst/>
          </a:prstGeom>
          <a:solidFill>
            <a:srgbClr val="3636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Oval 163"/>
          <p:cNvSpPr/>
          <p:nvPr/>
        </p:nvSpPr>
        <p:spPr>
          <a:xfrm>
            <a:off x="8791041" y="1873605"/>
            <a:ext cx="65836" cy="65836"/>
          </a:xfrm>
          <a:prstGeom prst="ellipse">
            <a:avLst/>
          </a:prstGeom>
          <a:solidFill>
            <a:srgbClr val="3737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Oval 164"/>
          <p:cNvSpPr/>
          <p:nvPr/>
        </p:nvSpPr>
        <p:spPr>
          <a:xfrm>
            <a:off x="8896197" y="1873605"/>
            <a:ext cx="65836" cy="65836"/>
          </a:xfrm>
          <a:prstGeom prst="ellipse">
            <a:avLst/>
          </a:prstGeom>
          <a:solidFill>
            <a:srgbClr val="393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Oval 165"/>
          <p:cNvSpPr/>
          <p:nvPr/>
        </p:nvSpPr>
        <p:spPr>
          <a:xfrm>
            <a:off x="9001353" y="1873605"/>
            <a:ext cx="65836" cy="65836"/>
          </a:xfrm>
          <a:prstGeom prst="ellipse">
            <a:avLst/>
          </a:prstGeom>
          <a:solidFill>
            <a:srgbClr val="3A3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Oval 166"/>
          <p:cNvSpPr/>
          <p:nvPr/>
        </p:nvSpPr>
        <p:spPr>
          <a:xfrm>
            <a:off x="9106509" y="1873605"/>
            <a:ext cx="65836" cy="65836"/>
          </a:xfrm>
          <a:prstGeom prst="ellipse">
            <a:avLst/>
          </a:prstGeom>
          <a:solidFill>
            <a:srgbClr val="3C3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Oval 167"/>
          <p:cNvSpPr/>
          <p:nvPr/>
        </p:nvSpPr>
        <p:spPr>
          <a:xfrm>
            <a:off x="9211665" y="1873605"/>
            <a:ext cx="65836" cy="65836"/>
          </a:xfrm>
          <a:prstGeom prst="ellipse">
            <a:avLst/>
          </a:prstGeom>
          <a:solidFill>
            <a:srgbClr val="3E3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Oval 168"/>
          <p:cNvSpPr/>
          <p:nvPr/>
        </p:nvSpPr>
        <p:spPr>
          <a:xfrm>
            <a:off x="9316821" y="1873605"/>
            <a:ext cx="65836" cy="65836"/>
          </a:xfrm>
          <a:prstGeom prst="ellipse">
            <a:avLst/>
          </a:prstGeom>
          <a:solidFill>
            <a:srgbClr val="3F3F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Oval 169"/>
          <p:cNvSpPr/>
          <p:nvPr/>
        </p:nvSpPr>
        <p:spPr>
          <a:xfrm>
            <a:off x="9421977" y="1873605"/>
            <a:ext cx="65836" cy="65836"/>
          </a:xfrm>
          <a:prstGeom prst="ellipse">
            <a:avLst/>
          </a:prstGeom>
          <a:solidFill>
            <a:srgbClr val="414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Oval 170"/>
          <p:cNvSpPr/>
          <p:nvPr/>
        </p:nvSpPr>
        <p:spPr>
          <a:xfrm>
            <a:off x="9527133" y="1873605"/>
            <a:ext cx="65836" cy="65836"/>
          </a:xfrm>
          <a:prstGeom prst="ellipse">
            <a:avLst/>
          </a:prstGeom>
          <a:solidFill>
            <a:srgbClr val="424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Oval 171"/>
          <p:cNvSpPr/>
          <p:nvPr/>
        </p:nvSpPr>
        <p:spPr>
          <a:xfrm>
            <a:off x="9632289" y="1873605"/>
            <a:ext cx="65836" cy="65836"/>
          </a:xfrm>
          <a:prstGeom prst="ellipse">
            <a:avLst/>
          </a:prstGeom>
          <a:solidFill>
            <a:srgbClr val="4444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Oval 172"/>
          <p:cNvSpPr/>
          <p:nvPr/>
        </p:nvSpPr>
        <p:spPr>
          <a:xfrm>
            <a:off x="9737445" y="1873605"/>
            <a:ext cx="65836" cy="65836"/>
          </a:xfrm>
          <a:prstGeom prst="ellipse">
            <a:avLst/>
          </a:prstGeom>
          <a:solidFill>
            <a:srgbClr val="4545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Oval 173"/>
          <p:cNvSpPr/>
          <p:nvPr/>
        </p:nvSpPr>
        <p:spPr>
          <a:xfrm>
            <a:off x="9842601" y="1873605"/>
            <a:ext cx="65836" cy="65836"/>
          </a:xfrm>
          <a:prstGeom prst="ellipse">
            <a:avLst/>
          </a:prstGeom>
          <a:solidFill>
            <a:srgbClr val="474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Oval 174"/>
          <p:cNvSpPr/>
          <p:nvPr/>
        </p:nvSpPr>
        <p:spPr>
          <a:xfrm>
            <a:off x="9947757" y="1873605"/>
            <a:ext cx="65836" cy="65836"/>
          </a:xfrm>
          <a:prstGeom prst="ellipse">
            <a:avLst/>
          </a:prstGeom>
          <a:solidFill>
            <a:srgbClr val="4949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Oval 175"/>
          <p:cNvSpPr/>
          <p:nvPr/>
        </p:nvSpPr>
        <p:spPr>
          <a:xfrm>
            <a:off x="10052913" y="1873605"/>
            <a:ext cx="65836" cy="65836"/>
          </a:xfrm>
          <a:prstGeom prst="ellipse">
            <a:avLst/>
          </a:prstGeom>
          <a:solidFill>
            <a:srgbClr val="4A4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Oval 176"/>
          <p:cNvSpPr/>
          <p:nvPr/>
        </p:nvSpPr>
        <p:spPr>
          <a:xfrm>
            <a:off x="10158069" y="1873605"/>
            <a:ext cx="65836" cy="65836"/>
          </a:xfrm>
          <a:prstGeom prst="ellipse">
            <a:avLst/>
          </a:prstGeom>
          <a:solidFill>
            <a:srgbClr val="4C4C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Oval 177"/>
          <p:cNvSpPr/>
          <p:nvPr/>
        </p:nvSpPr>
        <p:spPr>
          <a:xfrm>
            <a:off x="10263225" y="1873605"/>
            <a:ext cx="65836" cy="65836"/>
          </a:xfrm>
          <a:prstGeom prst="ellipse">
            <a:avLst/>
          </a:prstGeom>
          <a:solidFill>
            <a:srgbClr val="4D4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Oval 178"/>
          <p:cNvSpPr/>
          <p:nvPr/>
        </p:nvSpPr>
        <p:spPr>
          <a:xfrm>
            <a:off x="10368381" y="1873605"/>
            <a:ext cx="65836" cy="65836"/>
          </a:xfrm>
          <a:prstGeom prst="ellipse">
            <a:avLst/>
          </a:prstGeom>
          <a:solidFill>
            <a:srgbClr val="4F4F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Oval 179"/>
          <p:cNvSpPr/>
          <p:nvPr/>
        </p:nvSpPr>
        <p:spPr>
          <a:xfrm>
            <a:off x="10473537" y="1873605"/>
            <a:ext cx="65836" cy="65836"/>
          </a:xfrm>
          <a:prstGeom prst="ellipse">
            <a:avLst/>
          </a:prstGeom>
          <a:solidFill>
            <a:srgbClr val="5050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Oval 180"/>
          <p:cNvSpPr/>
          <p:nvPr/>
        </p:nvSpPr>
        <p:spPr>
          <a:xfrm>
            <a:off x="10578693" y="1873605"/>
            <a:ext cx="65836" cy="65836"/>
          </a:xfrm>
          <a:prstGeom prst="ellipse">
            <a:avLst/>
          </a:prstGeom>
          <a:solidFill>
            <a:srgbClr val="525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Oval 181"/>
          <p:cNvSpPr/>
          <p:nvPr/>
        </p:nvSpPr>
        <p:spPr>
          <a:xfrm>
            <a:off x="7634325" y="1978761"/>
            <a:ext cx="65836" cy="65836"/>
          </a:xfrm>
          <a:prstGeom prst="ellipse">
            <a:avLst/>
          </a:prstGeom>
          <a:solidFill>
            <a:srgbClr val="282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Oval 182"/>
          <p:cNvSpPr/>
          <p:nvPr/>
        </p:nvSpPr>
        <p:spPr>
          <a:xfrm>
            <a:off x="7739481" y="1978761"/>
            <a:ext cx="65836" cy="65836"/>
          </a:xfrm>
          <a:prstGeom prst="ellipse">
            <a:avLst/>
          </a:prstGeom>
          <a:solidFill>
            <a:srgbClr val="2929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Oval 183"/>
          <p:cNvSpPr/>
          <p:nvPr/>
        </p:nvSpPr>
        <p:spPr>
          <a:xfrm>
            <a:off x="7844637" y="1978761"/>
            <a:ext cx="65836" cy="65836"/>
          </a:xfrm>
          <a:prstGeom prst="ellipse">
            <a:avLst/>
          </a:prstGeom>
          <a:solidFill>
            <a:srgbClr val="2B2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Oval 184"/>
          <p:cNvSpPr/>
          <p:nvPr/>
        </p:nvSpPr>
        <p:spPr>
          <a:xfrm>
            <a:off x="7949793" y="1978761"/>
            <a:ext cx="65836" cy="65836"/>
          </a:xfrm>
          <a:prstGeom prst="ellipse">
            <a:avLst/>
          </a:prstGeom>
          <a:solidFill>
            <a:srgbClr val="2C2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Oval 185"/>
          <p:cNvSpPr/>
          <p:nvPr/>
        </p:nvSpPr>
        <p:spPr>
          <a:xfrm>
            <a:off x="8054949" y="1978761"/>
            <a:ext cx="65836" cy="65836"/>
          </a:xfrm>
          <a:prstGeom prst="ellipse">
            <a:avLst/>
          </a:prstGeom>
          <a:solidFill>
            <a:srgbClr val="2E2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Oval 186"/>
          <p:cNvSpPr/>
          <p:nvPr/>
        </p:nvSpPr>
        <p:spPr>
          <a:xfrm>
            <a:off x="8160105" y="1978761"/>
            <a:ext cx="65836" cy="65836"/>
          </a:xfrm>
          <a:prstGeom prst="ellipse">
            <a:avLst/>
          </a:prstGeom>
          <a:solidFill>
            <a:srgbClr val="303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Oval 187"/>
          <p:cNvSpPr/>
          <p:nvPr/>
        </p:nvSpPr>
        <p:spPr>
          <a:xfrm>
            <a:off x="8265261" y="1978761"/>
            <a:ext cx="65836" cy="65836"/>
          </a:xfrm>
          <a:prstGeom prst="ellipse">
            <a:avLst/>
          </a:prstGeom>
          <a:solidFill>
            <a:srgbClr val="3131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Oval 188"/>
          <p:cNvSpPr/>
          <p:nvPr/>
        </p:nvSpPr>
        <p:spPr>
          <a:xfrm>
            <a:off x="8370417" y="1978761"/>
            <a:ext cx="65836" cy="65836"/>
          </a:xfrm>
          <a:prstGeom prst="ellipse">
            <a:avLst/>
          </a:prstGeom>
          <a:solidFill>
            <a:srgbClr val="3333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Oval 189"/>
          <p:cNvSpPr/>
          <p:nvPr/>
        </p:nvSpPr>
        <p:spPr>
          <a:xfrm>
            <a:off x="8475573" y="1978761"/>
            <a:ext cx="65836" cy="65836"/>
          </a:xfrm>
          <a:prstGeom prst="ellipse">
            <a:avLst/>
          </a:prstGeom>
          <a:solidFill>
            <a:srgbClr val="343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Oval 190"/>
          <p:cNvSpPr/>
          <p:nvPr/>
        </p:nvSpPr>
        <p:spPr>
          <a:xfrm>
            <a:off x="8580729" y="1978761"/>
            <a:ext cx="65836" cy="65836"/>
          </a:xfrm>
          <a:prstGeom prst="ellipse">
            <a:avLst/>
          </a:prstGeom>
          <a:solidFill>
            <a:srgbClr val="3636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Oval 191"/>
          <p:cNvSpPr/>
          <p:nvPr/>
        </p:nvSpPr>
        <p:spPr>
          <a:xfrm>
            <a:off x="8685885" y="1978761"/>
            <a:ext cx="65836" cy="65836"/>
          </a:xfrm>
          <a:prstGeom prst="ellipse">
            <a:avLst/>
          </a:prstGeom>
          <a:solidFill>
            <a:srgbClr val="3737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Oval 192"/>
          <p:cNvSpPr/>
          <p:nvPr/>
        </p:nvSpPr>
        <p:spPr>
          <a:xfrm>
            <a:off x="8791041" y="1978761"/>
            <a:ext cx="65836" cy="65836"/>
          </a:xfrm>
          <a:prstGeom prst="ellipse">
            <a:avLst/>
          </a:prstGeom>
          <a:solidFill>
            <a:srgbClr val="393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Oval 193"/>
          <p:cNvSpPr/>
          <p:nvPr/>
        </p:nvSpPr>
        <p:spPr>
          <a:xfrm>
            <a:off x="8896197" y="1978761"/>
            <a:ext cx="65836" cy="65836"/>
          </a:xfrm>
          <a:prstGeom prst="ellipse">
            <a:avLst/>
          </a:prstGeom>
          <a:solidFill>
            <a:srgbClr val="3B3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Oval 194"/>
          <p:cNvSpPr/>
          <p:nvPr/>
        </p:nvSpPr>
        <p:spPr>
          <a:xfrm>
            <a:off x="9001353" y="1978761"/>
            <a:ext cx="65836" cy="65836"/>
          </a:xfrm>
          <a:prstGeom prst="ellipse">
            <a:avLst/>
          </a:prstGeom>
          <a:solidFill>
            <a:srgbClr val="3C3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Oval 195"/>
          <p:cNvSpPr/>
          <p:nvPr/>
        </p:nvSpPr>
        <p:spPr>
          <a:xfrm>
            <a:off x="9106509" y="1978761"/>
            <a:ext cx="65836" cy="65836"/>
          </a:xfrm>
          <a:prstGeom prst="ellipse">
            <a:avLst/>
          </a:prstGeom>
          <a:solidFill>
            <a:srgbClr val="3E3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Oval 196"/>
          <p:cNvSpPr/>
          <p:nvPr/>
        </p:nvSpPr>
        <p:spPr>
          <a:xfrm>
            <a:off x="9211665" y="1978761"/>
            <a:ext cx="65836" cy="65836"/>
          </a:xfrm>
          <a:prstGeom prst="ellipse">
            <a:avLst/>
          </a:prstGeom>
          <a:solidFill>
            <a:srgbClr val="3F3F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Oval 197"/>
          <p:cNvSpPr/>
          <p:nvPr/>
        </p:nvSpPr>
        <p:spPr>
          <a:xfrm>
            <a:off x="9316821" y="1978761"/>
            <a:ext cx="65836" cy="65836"/>
          </a:xfrm>
          <a:prstGeom prst="ellipse">
            <a:avLst/>
          </a:prstGeom>
          <a:solidFill>
            <a:srgbClr val="414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Oval 198"/>
          <p:cNvSpPr/>
          <p:nvPr/>
        </p:nvSpPr>
        <p:spPr>
          <a:xfrm>
            <a:off x="9421977" y="1978761"/>
            <a:ext cx="65836" cy="65836"/>
          </a:xfrm>
          <a:prstGeom prst="ellipse">
            <a:avLst/>
          </a:prstGeom>
          <a:solidFill>
            <a:srgbClr val="424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Oval 199"/>
          <p:cNvSpPr/>
          <p:nvPr/>
        </p:nvSpPr>
        <p:spPr>
          <a:xfrm>
            <a:off x="9527133" y="1978761"/>
            <a:ext cx="65836" cy="65836"/>
          </a:xfrm>
          <a:prstGeom prst="ellipse">
            <a:avLst/>
          </a:prstGeom>
          <a:solidFill>
            <a:srgbClr val="4444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Oval 200"/>
          <p:cNvSpPr/>
          <p:nvPr/>
        </p:nvSpPr>
        <p:spPr>
          <a:xfrm>
            <a:off x="9632289" y="1978761"/>
            <a:ext cx="65836" cy="65836"/>
          </a:xfrm>
          <a:prstGeom prst="ellipse">
            <a:avLst/>
          </a:prstGeom>
          <a:solidFill>
            <a:srgbClr val="4545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Oval 201"/>
          <p:cNvSpPr/>
          <p:nvPr/>
        </p:nvSpPr>
        <p:spPr>
          <a:xfrm>
            <a:off x="9737445" y="1978761"/>
            <a:ext cx="65836" cy="65836"/>
          </a:xfrm>
          <a:prstGeom prst="ellipse">
            <a:avLst/>
          </a:prstGeom>
          <a:solidFill>
            <a:srgbClr val="474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Oval 202"/>
          <p:cNvSpPr/>
          <p:nvPr/>
        </p:nvSpPr>
        <p:spPr>
          <a:xfrm>
            <a:off x="9842601" y="1978761"/>
            <a:ext cx="65836" cy="65836"/>
          </a:xfrm>
          <a:prstGeom prst="ellipse">
            <a:avLst/>
          </a:prstGeom>
          <a:solidFill>
            <a:srgbClr val="4949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Oval 203"/>
          <p:cNvSpPr/>
          <p:nvPr/>
        </p:nvSpPr>
        <p:spPr>
          <a:xfrm>
            <a:off x="9947757" y="1978761"/>
            <a:ext cx="65836" cy="65836"/>
          </a:xfrm>
          <a:prstGeom prst="ellipse">
            <a:avLst/>
          </a:prstGeom>
          <a:solidFill>
            <a:srgbClr val="4A4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Oval 204"/>
          <p:cNvSpPr/>
          <p:nvPr/>
        </p:nvSpPr>
        <p:spPr>
          <a:xfrm>
            <a:off x="10052913" y="1978761"/>
            <a:ext cx="65836" cy="65836"/>
          </a:xfrm>
          <a:prstGeom prst="ellipse">
            <a:avLst/>
          </a:prstGeom>
          <a:solidFill>
            <a:srgbClr val="4C4C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Oval 205"/>
          <p:cNvSpPr/>
          <p:nvPr/>
        </p:nvSpPr>
        <p:spPr>
          <a:xfrm>
            <a:off x="10158069" y="1978761"/>
            <a:ext cx="65836" cy="65836"/>
          </a:xfrm>
          <a:prstGeom prst="ellipse">
            <a:avLst/>
          </a:prstGeom>
          <a:solidFill>
            <a:srgbClr val="4D4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Oval 206"/>
          <p:cNvSpPr/>
          <p:nvPr/>
        </p:nvSpPr>
        <p:spPr>
          <a:xfrm>
            <a:off x="10263225" y="1978761"/>
            <a:ext cx="65836" cy="65836"/>
          </a:xfrm>
          <a:prstGeom prst="ellipse">
            <a:avLst/>
          </a:prstGeom>
          <a:solidFill>
            <a:srgbClr val="4F4F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Oval 207"/>
          <p:cNvSpPr/>
          <p:nvPr/>
        </p:nvSpPr>
        <p:spPr>
          <a:xfrm>
            <a:off x="10368381" y="1978761"/>
            <a:ext cx="65836" cy="65836"/>
          </a:xfrm>
          <a:prstGeom prst="ellipse">
            <a:avLst/>
          </a:prstGeom>
          <a:solidFill>
            <a:srgbClr val="5050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Oval 208"/>
          <p:cNvSpPr/>
          <p:nvPr/>
        </p:nvSpPr>
        <p:spPr>
          <a:xfrm>
            <a:off x="10473537" y="1978761"/>
            <a:ext cx="65836" cy="65836"/>
          </a:xfrm>
          <a:prstGeom prst="ellipse">
            <a:avLst/>
          </a:prstGeom>
          <a:solidFill>
            <a:srgbClr val="525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Oval 209"/>
          <p:cNvSpPr/>
          <p:nvPr/>
        </p:nvSpPr>
        <p:spPr>
          <a:xfrm>
            <a:off x="10578693" y="1978761"/>
            <a:ext cx="65836" cy="65836"/>
          </a:xfrm>
          <a:prstGeom prst="ellipse">
            <a:avLst/>
          </a:prstGeom>
          <a:solidFill>
            <a:srgbClr val="545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Oval 210"/>
          <p:cNvSpPr/>
          <p:nvPr/>
        </p:nvSpPr>
        <p:spPr>
          <a:xfrm>
            <a:off x="7529169" y="2083917"/>
            <a:ext cx="65836" cy="65836"/>
          </a:xfrm>
          <a:prstGeom prst="ellipse">
            <a:avLst/>
          </a:prstGeom>
          <a:solidFill>
            <a:srgbClr val="282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Oval 211"/>
          <p:cNvSpPr/>
          <p:nvPr/>
        </p:nvSpPr>
        <p:spPr>
          <a:xfrm>
            <a:off x="7634325" y="2083917"/>
            <a:ext cx="65836" cy="65836"/>
          </a:xfrm>
          <a:prstGeom prst="ellipse">
            <a:avLst/>
          </a:prstGeom>
          <a:solidFill>
            <a:srgbClr val="2929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Oval 212"/>
          <p:cNvSpPr/>
          <p:nvPr/>
        </p:nvSpPr>
        <p:spPr>
          <a:xfrm>
            <a:off x="7739481" y="2083917"/>
            <a:ext cx="65836" cy="65836"/>
          </a:xfrm>
          <a:prstGeom prst="ellipse">
            <a:avLst/>
          </a:prstGeom>
          <a:solidFill>
            <a:srgbClr val="2B2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Oval 213"/>
          <p:cNvSpPr/>
          <p:nvPr/>
        </p:nvSpPr>
        <p:spPr>
          <a:xfrm>
            <a:off x="7844637" y="2083917"/>
            <a:ext cx="65836" cy="65836"/>
          </a:xfrm>
          <a:prstGeom prst="ellipse">
            <a:avLst/>
          </a:prstGeom>
          <a:solidFill>
            <a:srgbClr val="2D2D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Oval 214"/>
          <p:cNvSpPr/>
          <p:nvPr/>
        </p:nvSpPr>
        <p:spPr>
          <a:xfrm>
            <a:off x="7949793" y="2083917"/>
            <a:ext cx="65836" cy="65836"/>
          </a:xfrm>
          <a:prstGeom prst="ellipse">
            <a:avLst/>
          </a:prstGeom>
          <a:solidFill>
            <a:srgbClr val="2E2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Oval 215"/>
          <p:cNvSpPr/>
          <p:nvPr/>
        </p:nvSpPr>
        <p:spPr>
          <a:xfrm>
            <a:off x="8054949" y="2083917"/>
            <a:ext cx="65836" cy="65836"/>
          </a:xfrm>
          <a:prstGeom prst="ellipse">
            <a:avLst/>
          </a:prstGeom>
          <a:solidFill>
            <a:srgbClr val="303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Oval 216"/>
          <p:cNvSpPr/>
          <p:nvPr/>
        </p:nvSpPr>
        <p:spPr>
          <a:xfrm>
            <a:off x="8160105" y="2083917"/>
            <a:ext cx="65836" cy="65836"/>
          </a:xfrm>
          <a:prstGeom prst="ellipse">
            <a:avLst/>
          </a:prstGeom>
          <a:solidFill>
            <a:srgbClr val="3131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Oval 217"/>
          <p:cNvSpPr/>
          <p:nvPr/>
        </p:nvSpPr>
        <p:spPr>
          <a:xfrm>
            <a:off x="8265261" y="2083917"/>
            <a:ext cx="65836" cy="65836"/>
          </a:xfrm>
          <a:prstGeom prst="ellipse">
            <a:avLst/>
          </a:prstGeom>
          <a:solidFill>
            <a:srgbClr val="3333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Oval 218"/>
          <p:cNvSpPr/>
          <p:nvPr/>
        </p:nvSpPr>
        <p:spPr>
          <a:xfrm>
            <a:off x="8370417" y="2083917"/>
            <a:ext cx="65836" cy="65836"/>
          </a:xfrm>
          <a:prstGeom prst="ellipse">
            <a:avLst/>
          </a:prstGeom>
          <a:solidFill>
            <a:srgbClr val="343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Oval 219"/>
          <p:cNvSpPr/>
          <p:nvPr/>
        </p:nvSpPr>
        <p:spPr>
          <a:xfrm>
            <a:off x="8475573" y="2083917"/>
            <a:ext cx="65836" cy="65836"/>
          </a:xfrm>
          <a:prstGeom prst="ellipse">
            <a:avLst/>
          </a:prstGeom>
          <a:solidFill>
            <a:srgbClr val="3636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Oval 220"/>
          <p:cNvSpPr/>
          <p:nvPr/>
        </p:nvSpPr>
        <p:spPr>
          <a:xfrm>
            <a:off x="8580729" y="2083917"/>
            <a:ext cx="65836" cy="65836"/>
          </a:xfrm>
          <a:prstGeom prst="ellipse">
            <a:avLst/>
          </a:prstGeom>
          <a:solidFill>
            <a:srgbClr val="3737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Oval 221"/>
          <p:cNvSpPr/>
          <p:nvPr/>
        </p:nvSpPr>
        <p:spPr>
          <a:xfrm>
            <a:off x="8685885" y="2083917"/>
            <a:ext cx="65836" cy="65836"/>
          </a:xfrm>
          <a:prstGeom prst="ellipse">
            <a:avLst/>
          </a:prstGeom>
          <a:solidFill>
            <a:srgbClr val="393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Oval 222"/>
          <p:cNvSpPr/>
          <p:nvPr/>
        </p:nvSpPr>
        <p:spPr>
          <a:xfrm>
            <a:off x="8791041" y="2083917"/>
            <a:ext cx="65836" cy="65836"/>
          </a:xfrm>
          <a:prstGeom prst="ellipse">
            <a:avLst/>
          </a:prstGeom>
          <a:solidFill>
            <a:srgbClr val="3B3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Oval 223"/>
          <p:cNvSpPr/>
          <p:nvPr/>
        </p:nvSpPr>
        <p:spPr>
          <a:xfrm>
            <a:off x="8896197" y="2083917"/>
            <a:ext cx="65836" cy="65836"/>
          </a:xfrm>
          <a:prstGeom prst="ellipse">
            <a:avLst/>
          </a:prstGeom>
          <a:solidFill>
            <a:srgbClr val="3C3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Oval 224"/>
          <p:cNvSpPr/>
          <p:nvPr/>
        </p:nvSpPr>
        <p:spPr>
          <a:xfrm>
            <a:off x="9001353" y="2083917"/>
            <a:ext cx="65836" cy="65836"/>
          </a:xfrm>
          <a:prstGeom prst="ellipse">
            <a:avLst/>
          </a:prstGeom>
          <a:solidFill>
            <a:srgbClr val="3E3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Oval 225"/>
          <p:cNvSpPr/>
          <p:nvPr/>
        </p:nvSpPr>
        <p:spPr>
          <a:xfrm>
            <a:off x="9106509" y="2083917"/>
            <a:ext cx="65836" cy="65836"/>
          </a:xfrm>
          <a:prstGeom prst="ellipse">
            <a:avLst/>
          </a:prstGeom>
          <a:solidFill>
            <a:srgbClr val="3F3F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Oval 226"/>
          <p:cNvSpPr/>
          <p:nvPr/>
        </p:nvSpPr>
        <p:spPr>
          <a:xfrm>
            <a:off x="9211665" y="2083917"/>
            <a:ext cx="65836" cy="65836"/>
          </a:xfrm>
          <a:prstGeom prst="ellipse">
            <a:avLst/>
          </a:prstGeom>
          <a:solidFill>
            <a:srgbClr val="4141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Oval 227"/>
          <p:cNvSpPr/>
          <p:nvPr/>
        </p:nvSpPr>
        <p:spPr>
          <a:xfrm>
            <a:off x="9316821" y="2083917"/>
            <a:ext cx="65836" cy="65836"/>
          </a:xfrm>
          <a:prstGeom prst="ellipse">
            <a:avLst/>
          </a:prstGeom>
          <a:solidFill>
            <a:srgbClr val="424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Oval 228"/>
          <p:cNvSpPr/>
          <p:nvPr/>
        </p:nvSpPr>
        <p:spPr>
          <a:xfrm>
            <a:off x="9421977" y="2083917"/>
            <a:ext cx="65836" cy="65836"/>
          </a:xfrm>
          <a:prstGeom prst="ellipse">
            <a:avLst/>
          </a:prstGeom>
          <a:solidFill>
            <a:srgbClr val="444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Oval 229"/>
          <p:cNvSpPr/>
          <p:nvPr/>
        </p:nvSpPr>
        <p:spPr>
          <a:xfrm>
            <a:off x="9527133" y="2083917"/>
            <a:ext cx="65836" cy="65836"/>
          </a:xfrm>
          <a:prstGeom prst="ellipse">
            <a:avLst/>
          </a:prstGeom>
          <a:solidFill>
            <a:srgbClr val="4646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Oval 230"/>
          <p:cNvSpPr/>
          <p:nvPr/>
        </p:nvSpPr>
        <p:spPr>
          <a:xfrm>
            <a:off x="9632289" y="2083917"/>
            <a:ext cx="65836" cy="65836"/>
          </a:xfrm>
          <a:prstGeom prst="ellipse">
            <a:avLst/>
          </a:prstGeom>
          <a:solidFill>
            <a:srgbClr val="474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Oval 231"/>
          <p:cNvSpPr/>
          <p:nvPr/>
        </p:nvSpPr>
        <p:spPr>
          <a:xfrm>
            <a:off x="9737445" y="2083917"/>
            <a:ext cx="65836" cy="65836"/>
          </a:xfrm>
          <a:prstGeom prst="ellipse">
            <a:avLst/>
          </a:prstGeom>
          <a:solidFill>
            <a:srgbClr val="4949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Oval 232"/>
          <p:cNvSpPr/>
          <p:nvPr/>
        </p:nvSpPr>
        <p:spPr>
          <a:xfrm>
            <a:off x="9842601" y="2083917"/>
            <a:ext cx="65836" cy="65836"/>
          </a:xfrm>
          <a:prstGeom prst="ellipse">
            <a:avLst/>
          </a:prstGeom>
          <a:solidFill>
            <a:srgbClr val="4A4A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Oval 233"/>
          <p:cNvSpPr/>
          <p:nvPr/>
        </p:nvSpPr>
        <p:spPr>
          <a:xfrm>
            <a:off x="9947757" y="2083917"/>
            <a:ext cx="65836" cy="65836"/>
          </a:xfrm>
          <a:prstGeom prst="ellipse">
            <a:avLst/>
          </a:prstGeom>
          <a:solidFill>
            <a:srgbClr val="4C4C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Oval 234"/>
          <p:cNvSpPr/>
          <p:nvPr/>
        </p:nvSpPr>
        <p:spPr>
          <a:xfrm>
            <a:off x="10052913" y="2083917"/>
            <a:ext cx="65836" cy="65836"/>
          </a:xfrm>
          <a:prstGeom prst="ellipse">
            <a:avLst/>
          </a:prstGeom>
          <a:solidFill>
            <a:srgbClr val="4D4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Oval 235"/>
          <p:cNvSpPr/>
          <p:nvPr/>
        </p:nvSpPr>
        <p:spPr>
          <a:xfrm>
            <a:off x="10158069" y="2083917"/>
            <a:ext cx="65836" cy="65836"/>
          </a:xfrm>
          <a:prstGeom prst="ellipse">
            <a:avLst/>
          </a:prstGeom>
          <a:solidFill>
            <a:srgbClr val="4F4F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Oval 236"/>
          <p:cNvSpPr/>
          <p:nvPr/>
        </p:nvSpPr>
        <p:spPr>
          <a:xfrm>
            <a:off x="10263225" y="2083917"/>
            <a:ext cx="65836" cy="65836"/>
          </a:xfrm>
          <a:prstGeom prst="ellipse">
            <a:avLst/>
          </a:prstGeom>
          <a:solidFill>
            <a:srgbClr val="5050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Oval 237"/>
          <p:cNvSpPr/>
          <p:nvPr/>
        </p:nvSpPr>
        <p:spPr>
          <a:xfrm>
            <a:off x="10368381" y="2083917"/>
            <a:ext cx="65836" cy="65836"/>
          </a:xfrm>
          <a:prstGeom prst="ellipse">
            <a:avLst/>
          </a:prstGeom>
          <a:solidFill>
            <a:srgbClr val="525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Oval 238"/>
          <p:cNvSpPr/>
          <p:nvPr/>
        </p:nvSpPr>
        <p:spPr>
          <a:xfrm>
            <a:off x="10473537" y="2083917"/>
            <a:ext cx="65836" cy="65836"/>
          </a:xfrm>
          <a:prstGeom prst="ellipse">
            <a:avLst/>
          </a:prstGeom>
          <a:solidFill>
            <a:srgbClr val="5454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Oval 239"/>
          <p:cNvSpPr/>
          <p:nvPr/>
        </p:nvSpPr>
        <p:spPr>
          <a:xfrm>
            <a:off x="10578693" y="2083917"/>
            <a:ext cx="65836" cy="65836"/>
          </a:xfrm>
          <a:prstGeom prst="ellipse">
            <a:avLst/>
          </a:prstGeom>
          <a:solidFill>
            <a:srgbClr val="555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Oval 240"/>
          <p:cNvSpPr/>
          <p:nvPr/>
        </p:nvSpPr>
        <p:spPr>
          <a:xfrm>
            <a:off x="7318857" y="2189073"/>
            <a:ext cx="65836" cy="65836"/>
          </a:xfrm>
          <a:prstGeom prst="ellipse">
            <a:avLst/>
          </a:prstGeom>
          <a:solidFill>
            <a:srgbClr val="2626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Oval 241"/>
          <p:cNvSpPr/>
          <p:nvPr/>
        </p:nvSpPr>
        <p:spPr>
          <a:xfrm>
            <a:off x="7424013" y="2189073"/>
            <a:ext cx="65836" cy="65836"/>
          </a:xfrm>
          <a:prstGeom prst="ellipse">
            <a:avLst/>
          </a:prstGeom>
          <a:solidFill>
            <a:srgbClr val="282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Oval 242"/>
          <p:cNvSpPr/>
          <p:nvPr/>
        </p:nvSpPr>
        <p:spPr>
          <a:xfrm>
            <a:off x="7529169" y="2189073"/>
            <a:ext cx="65836" cy="65836"/>
          </a:xfrm>
          <a:prstGeom prst="ellipse">
            <a:avLst/>
          </a:prstGeom>
          <a:solidFill>
            <a:srgbClr val="2929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Oval 243"/>
          <p:cNvSpPr/>
          <p:nvPr/>
        </p:nvSpPr>
        <p:spPr>
          <a:xfrm>
            <a:off x="7634325" y="2189073"/>
            <a:ext cx="65836" cy="65836"/>
          </a:xfrm>
          <a:prstGeom prst="ellipse">
            <a:avLst/>
          </a:prstGeom>
          <a:solidFill>
            <a:srgbClr val="2B2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Oval 244"/>
          <p:cNvSpPr/>
          <p:nvPr/>
        </p:nvSpPr>
        <p:spPr>
          <a:xfrm>
            <a:off x="7739481" y="2189073"/>
            <a:ext cx="65836" cy="65836"/>
          </a:xfrm>
          <a:prstGeom prst="ellipse">
            <a:avLst/>
          </a:prstGeom>
          <a:solidFill>
            <a:srgbClr val="2D2D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Oval 245"/>
          <p:cNvSpPr/>
          <p:nvPr/>
        </p:nvSpPr>
        <p:spPr>
          <a:xfrm>
            <a:off x="7844637" y="2189073"/>
            <a:ext cx="65836" cy="65836"/>
          </a:xfrm>
          <a:prstGeom prst="ellipse">
            <a:avLst/>
          </a:prstGeom>
          <a:solidFill>
            <a:srgbClr val="2E2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Oval 246"/>
          <p:cNvSpPr/>
          <p:nvPr/>
        </p:nvSpPr>
        <p:spPr>
          <a:xfrm>
            <a:off x="7949793" y="2189073"/>
            <a:ext cx="65836" cy="65836"/>
          </a:xfrm>
          <a:prstGeom prst="ellipse">
            <a:avLst/>
          </a:prstGeom>
          <a:solidFill>
            <a:srgbClr val="303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Oval 247"/>
          <p:cNvSpPr/>
          <p:nvPr/>
        </p:nvSpPr>
        <p:spPr>
          <a:xfrm>
            <a:off x="8054949" y="2189073"/>
            <a:ext cx="65836" cy="65836"/>
          </a:xfrm>
          <a:prstGeom prst="ellipse">
            <a:avLst/>
          </a:prstGeom>
          <a:solidFill>
            <a:srgbClr val="3131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Oval 248"/>
          <p:cNvSpPr/>
          <p:nvPr/>
        </p:nvSpPr>
        <p:spPr>
          <a:xfrm>
            <a:off x="8160105" y="2189073"/>
            <a:ext cx="65836" cy="65836"/>
          </a:xfrm>
          <a:prstGeom prst="ellipse">
            <a:avLst/>
          </a:prstGeom>
          <a:solidFill>
            <a:srgbClr val="3333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Oval 249"/>
          <p:cNvSpPr/>
          <p:nvPr/>
        </p:nvSpPr>
        <p:spPr>
          <a:xfrm>
            <a:off x="8265261" y="2189073"/>
            <a:ext cx="65836" cy="65836"/>
          </a:xfrm>
          <a:prstGeom prst="ellipse">
            <a:avLst/>
          </a:prstGeom>
          <a:solidFill>
            <a:srgbClr val="343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Oval 250"/>
          <p:cNvSpPr/>
          <p:nvPr/>
        </p:nvSpPr>
        <p:spPr>
          <a:xfrm>
            <a:off x="8370417" y="2189073"/>
            <a:ext cx="65836" cy="65836"/>
          </a:xfrm>
          <a:prstGeom prst="ellipse">
            <a:avLst/>
          </a:prstGeom>
          <a:solidFill>
            <a:srgbClr val="3636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Oval 251"/>
          <p:cNvSpPr/>
          <p:nvPr/>
        </p:nvSpPr>
        <p:spPr>
          <a:xfrm>
            <a:off x="8475573" y="2189073"/>
            <a:ext cx="65836" cy="65836"/>
          </a:xfrm>
          <a:prstGeom prst="ellipse">
            <a:avLst/>
          </a:prstGeom>
          <a:solidFill>
            <a:srgbClr val="383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Oval 252"/>
          <p:cNvSpPr/>
          <p:nvPr/>
        </p:nvSpPr>
        <p:spPr>
          <a:xfrm>
            <a:off x="8580729" y="2189073"/>
            <a:ext cx="65836" cy="65836"/>
          </a:xfrm>
          <a:prstGeom prst="ellipse">
            <a:avLst/>
          </a:prstGeom>
          <a:solidFill>
            <a:srgbClr val="393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Oval 253"/>
          <p:cNvSpPr/>
          <p:nvPr/>
        </p:nvSpPr>
        <p:spPr>
          <a:xfrm>
            <a:off x="8685885" y="2189073"/>
            <a:ext cx="65836" cy="65836"/>
          </a:xfrm>
          <a:prstGeom prst="ellipse">
            <a:avLst/>
          </a:prstGeom>
          <a:solidFill>
            <a:srgbClr val="3B3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Oval 254"/>
          <p:cNvSpPr/>
          <p:nvPr/>
        </p:nvSpPr>
        <p:spPr>
          <a:xfrm>
            <a:off x="8791041" y="2189073"/>
            <a:ext cx="65836" cy="65836"/>
          </a:xfrm>
          <a:prstGeom prst="ellipse">
            <a:avLst/>
          </a:prstGeom>
          <a:solidFill>
            <a:srgbClr val="3C3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Oval 255"/>
          <p:cNvSpPr/>
          <p:nvPr/>
        </p:nvSpPr>
        <p:spPr>
          <a:xfrm>
            <a:off x="8896197" y="2189073"/>
            <a:ext cx="65836" cy="65836"/>
          </a:xfrm>
          <a:prstGeom prst="ellipse">
            <a:avLst/>
          </a:prstGeom>
          <a:solidFill>
            <a:srgbClr val="3E3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Oval 256"/>
          <p:cNvSpPr/>
          <p:nvPr/>
        </p:nvSpPr>
        <p:spPr>
          <a:xfrm>
            <a:off x="9001353" y="2189073"/>
            <a:ext cx="65836" cy="65836"/>
          </a:xfrm>
          <a:prstGeom prst="ellipse">
            <a:avLst/>
          </a:prstGeom>
          <a:solidFill>
            <a:srgbClr val="3F3F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Oval 257"/>
          <p:cNvSpPr/>
          <p:nvPr/>
        </p:nvSpPr>
        <p:spPr>
          <a:xfrm>
            <a:off x="9106509" y="2189073"/>
            <a:ext cx="65836" cy="65836"/>
          </a:xfrm>
          <a:prstGeom prst="ellipse">
            <a:avLst/>
          </a:prstGeom>
          <a:solidFill>
            <a:srgbClr val="4141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Oval 258"/>
          <p:cNvSpPr/>
          <p:nvPr/>
        </p:nvSpPr>
        <p:spPr>
          <a:xfrm>
            <a:off x="9211665" y="2189073"/>
            <a:ext cx="65836" cy="65836"/>
          </a:xfrm>
          <a:prstGeom prst="ellipse">
            <a:avLst/>
          </a:prstGeom>
          <a:solidFill>
            <a:srgbClr val="424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Oval 259"/>
          <p:cNvSpPr/>
          <p:nvPr/>
        </p:nvSpPr>
        <p:spPr>
          <a:xfrm>
            <a:off x="9316821" y="2189073"/>
            <a:ext cx="65836" cy="65836"/>
          </a:xfrm>
          <a:prstGeom prst="ellipse">
            <a:avLst/>
          </a:prstGeom>
          <a:solidFill>
            <a:srgbClr val="444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Oval 260"/>
          <p:cNvSpPr/>
          <p:nvPr/>
        </p:nvSpPr>
        <p:spPr>
          <a:xfrm>
            <a:off x="9421977" y="2189073"/>
            <a:ext cx="65836" cy="65836"/>
          </a:xfrm>
          <a:prstGeom prst="ellipse">
            <a:avLst/>
          </a:prstGeom>
          <a:solidFill>
            <a:srgbClr val="4646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Oval 261"/>
          <p:cNvSpPr/>
          <p:nvPr/>
        </p:nvSpPr>
        <p:spPr>
          <a:xfrm>
            <a:off x="9527133" y="2189073"/>
            <a:ext cx="65836" cy="65836"/>
          </a:xfrm>
          <a:prstGeom prst="ellipse">
            <a:avLst/>
          </a:prstGeom>
          <a:solidFill>
            <a:srgbClr val="474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Oval 262"/>
          <p:cNvSpPr/>
          <p:nvPr/>
        </p:nvSpPr>
        <p:spPr>
          <a:xfrm>
            <a:off x="9632289" y="2189073"/>
            <a:ext cx="65836" cy="65836"/>
          </a:xfrm>
          <a:prstGeom prst="ellipse">
            <a:avLst/>
          </a:prstGeom>
          <a:solidFill>
            <a:srgbClr val="4949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Oval 263"/>
          <p:cNvSpPr/>
          <p:nvPr/>
        </p:nvSpPr>
        <p:spPr>
          <a:xfrm>
            <a:off x="9737445" y="2189073"/>
            <a:ext cx="65836" cy="65836"/>
          </a:xfrm>
          <a:prstGeom prst="ellipse">
            <a:avLst/>
          </a:prstGeom>
          <a:solidFill>
            <a:srgbClr val="4A4A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Oval 264"/>
          <p:cNvSpPr/>
          <p:nvPr/>
        </p:nvSpPr>
        <p:spPr>
          <a:xfrm>
            <a:off x="9842601" y="2189073"/>
            <a:ext cx="65836" cy="65836"/>
          </a:xfrm>
          <a:prstGeom prst="ellipse">
            <a:avLst/>
          </a:prstGeom>
          <a:solidFill>
            <a:srgbClr val="4C4C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Oval 265"/>
          <p:cNvSpPr/>
          <p:nvPr/>
        </p:nvSpPr>
        <p:spPr>
          <a:xfrm>
            <a:off x="9947757" y="2189073"/>
            <a:ext cx="65836" cy="65836"/>
          </a:xfrm>
          <a:prstGeom prst="ellipse">
            <a:avLst/>
          </a:prstGeom>
          <a:solidFill>
            <a:srgbClr val="4D4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Oval 266"/>
          <p:cNvSpPr/>
          <p:nvPr/>
        </p:nvSpPr>
        <p:spPr>
          <a:xfrm>
            <a:off x="10052913" y="2189073"/>
            <a:ext cx="65836" cy="65836"/>
          </a:xfrm>
          <a:prstGeom prst="ellipse">
            <a:avLst/>
          </a:prstGeom>
          <a:solidFill>
            <a:srgbClr val="4F4F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Oval 267"/>
          <p:cNvSpPr/>
          <p:nvPr/>
        </p:nvSpPr>
        <p:spPr>
          <a:xfrm>
            <a:off x="10158069" y="2189073"/>
            <a:ext cx="65836" cy="65836"/>
          </a:xfrm>
          <a:prstGeom prst="ellipse">
            <a:avLst/>
          </a:prstGeom>
          <a:solidFill>
            <a:srgbClr val="51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Oval 268"/>
          <p:cNvSpPr/>
          <p:nvPr/>
        </p:nvSpPr>
        <p:spPr>
          <a:xfrm>
            <a:off x="10263225" y="2189073"/>
            <a:ext cx="65836" cy="65836"/>
          </a:xfrm>
          <a:prstGeom prst="ellipse">
            <a:avLst/>
          </a:prstGeom>
          <a:solidFill>
            <a:srgbClr val="525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Oval 269"/>
          <p:cNvSpPr/>
          <p:nvPr/>
        </p:nvSpPr>
        <p:spPr>
          <a:xfrm>
            <a:off x="10368381" y="2189073"/>
            <a:ext cx="65836" cy="65836"/>
          </a:xfrm>
          <a:prstGeom prst="ellipse">
            <a:avLst/>
          </a:prstGeom>
          <a:solidFill>
            <a:srgbClr val="5454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Oval 270"/>
          <p:cNvSpPr/>
          <p:nvPr/>
        </p:nvSpPr>
        <p:spPr>
          <a:xfrm>
            <a:off x="10473537" y="2189073"/>
            <a:ext cx="65836" cy="65836"/>
          </a:xfrm>
          <a:prstGeom prst="ellipse">
            <a:avLst/>
          </a:prstGeom>
          <a:solidFill>
            <a:srgbClr val="555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Oval 271"/>
          <p:cNvSpPr/>
          <p:nvPr/>
        </p:nvSpPr>
        <p:spPr>
          <a:xfrm>
            <a:off x="10578693" y="2189073"/>
            <a:ext cx="65836" cy="65836"/>
          </a:xfrm>
          <a:prstGeom prst="ellipse">
            <a:avLst/>
          </a:prstGeom>
          <a:solidFill>
            <a:srgbClr val="5757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Oval 272"/>
          <p:cNvSpPr/>
          <p:nvPr/>
        </p:nvSpPr>
        <p:spPr>
          <a:xfrm>
            <a:off x="10683849" y="2189073"/>
            <a:ext cx="65836" cy="65836"/>
          </a:xfrm>
          <a:prstGeom prst="ellipse">
            <a:avLst/>
          </a:prstGeom>
          <a:solidFill>
            <a:srgbClr val="5858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Oval 273"/>
          <p:cNvSpPr/>
          <p:nvPr/>
        </p:nvSpPr>
        <p:spPr>
          <a:xfrm>
            <a:off x="10789005" y="2189073"/>
            <a:ext cx="65836" cy="65836"/>
          </a:xfrm>
          <a:prstGeom prst="ellipse">
            <a:avLst/>
          </a:prstGeom>
          <a:solidFill>
            <a:srgbClr val="5A5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Oval 274"/>
          <p:cNvSpPr/>
          <p:nvPr/>
        </p:nvSpPr>
        <p:spPr>
          <a:xfrm>
            <a:off x="10894161" y="2189073"/>
            <a:ext cx="65836" cy="65836"/>
          </a:xfrm>
          <a:prstGeom prst="ellipse">
            <a:avLst/>
          </a:prstGeom>
          <a:solidFill>
            <a:srgbClr val="5B5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Oval 275"/>
          <p:cNvSpPr/>
          <p:nvPr/>
        </p:nvSpPr>
        <p:spPr>
          <a:xfrm>
            <a:off x="7213701" y="2294229"/>
            <a:ext cx="65836" cy="65836"/>
          </a:xfrm>
          <a:prstGeom prst="ellipse">
            <a:avLst/>
          </a:prstGeom>
          <a:solidFill>
            <a:srgbClr val="2626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Oval 276"/>
          <p:cNvSpPr/>
          <p:nvPr/>
        </p:nvSpPr>
        <p:spPr>
          <a:xfrm>
            <a:off x="7318857" y="2294229"/>
            <a:ext cx="65836" cy="65836"/>
          </a:xfrm>
          <a:prstGeom prst="ellipse">
            <a:avLst/>
          </a:prstGeom>
          <a:solidFill>
            <a:srgbClr val="282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Oval 277"/>
          <p:cNvSpPr/>
          <p:nvPr/>
        </p:nvSpPr>
        <p:spPr>
          <a:xfrm>
            <a:off x="7424013" y="2294229"/>
            <a:ext cx="65836" cy="65836"/>
          </a:xfrm>
          <a:prstGeom prst="ellipse">
            <a:avLst/>
          </a:prstGeom>
          <a:solidFill>
            <a:srgbClr val="2A2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Oval 278"/>
          <p:cNvSpPr/>
          <p:nvPr/>
        </p:nvSpPr>
        <p:spPr>
          <a:xfrm>
            <a:off x="7529169" y="2294229"/>
            <a:ext cx="65836" cy="65836"/>
          </a:xfrm>
          <a:prstGeom prst="ellipse">
            <a:avLst/>
          </a:prstGeom>
          <a:solidFill>
            <a:srgbClr val="2B2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Oval 279"/>
          <p:cNvSpPr/>
          <p:nvPr/>
        </p:nvSpPr>
        <p:spPr>
          <a:xfrm>
            <a:off x="7634325" y="2294229"/>
            <a:ext cx="65836" cy="65836"/>
          </a:xfrm>
          <a:prstGeom prst="ellipse">
            <a:avLst/>
          </a:prstGeom>
          <a:solidFill>
            <a:srgbClr val="2D2D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Oval 280"/>
          <p:cNvSpPr/>
          <p:nvPr/>
        </p:nvSpPr>
        <p:spPr>
          <a:xfrm>
            <a:off x="7739481" y="2294229"/>
            <a:ext cx="65836" cy="65836"/>
          </a:xfrm>
          <a:prstGeom prst="ellipse">
            <a:avLst/>
          </a:prstGeom>
          <a:solidFill>
            <a:srgbClr val="2E2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Oval 281"/>
          <p:cNvSpPr/>
          <p:nvPr/>
        </p:nvSpPr>
        <p:spPr>
          <a:xfrm>
            <a:off x="7844637" y="2294229"/>
            <a:ext cx="65836" cy="65836"/>
          </a:xfrm>
          <a:prstGeom prst="ellipse">
            <a:avLst/>
          </a:prstGeom>
          <a:solidFill>
            <a:srgbClr val="303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Oval 282"/>
          <p:cNvSpPr/>
          <p:nvPr/>
        </p:nvSpPr>
        <p:spPr>
          <a:xfrm>
            <a:off x="7949793" y="2294229"/>
            <a:ext cx="65836" cy="65836"/>
          </a:xfrm>
          <a:prstGeom prst="ellipse">
            <a:avLst/>
          </a:prstGeom>
          <a:solidFill>
            <a:srgbClr val="3131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Oval 283"/>
          <p:cNvSpPr/>
          <p:nvPr/>
        </p:nvSpPr>
        <p:spPr>
          <a:xfrm>
            <a:off x="8054949" y="2294229"/>
            <a:ext cx="65836" cy="65836"/>
          </a:xfrm>
          <a:prstGeom prst="ellipse">
            <a:avLst/>
          </a:prstGeom>
          <a:solidFill>
            <a:srgbClr val="3333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Oval 284"/>
          <p:cNvSpPr/>
          <p:nvPr/>
        </p:nvSpPr>
        <p:spPr>
          <a:xfrm>
            <a:off x="8160105" y="2294229"/>
            <a:ext cx="65836" cy="65836"/>
          </a:xfrm>
          <a:prstGeom prst="ellipse">
            <a:avLst/>
          </a:prstGeom>
          <a:solidFill>
            <a:srgbClr val="343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Oval 285"/>
          <p:cNvSpPr/>
          <p:nvPr/>
        </p:nvSpPr>
        <p:spPr>
          <a:xfrm>
            <a:off x="8265261" y="2294229"/>
            <a:ext cx="65836" cy="65836"/>
          </a:xfrm>
          <a:prstGeom prst="ellipse">
            <a:avLst/>
          </a:prstGeom>
          <a:solidFill>
            <a:srgbClr val="3636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Oval 286"/>
          <p:cNvSpPr/>
          <p:nvPr/>
        </p:nvSpPr>
        <p:spPr>
          <a:xfrm>
            <a:off x="8370417" y="2294229"/>
            <a:ext cx="65836" cy="65836"/>
          </a:xfrm>
          <a:prstGeom prst="ellipse">
            <a:avLst/>
          </a:prstGeom>
          <a:solidFill>
            <a:srgbClr val="383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Oval 287"/>
          <p:cNvSpPr/>
          <p:nvPr/>
        </p:nvSpPr>
        <p:spPr>
          <a:xfrm>
            <a:off x="8475573" y="2294229"/>
            <a:ext cx="65836" cy="65836"/>
          </a:xfrm>
          <a:prstGeom prst="ellipse">
            <a:avLst/>
          </a:prstGeom>
          <a:solidFill>
            <a:srgbClr val="393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Oval 288"/>
          <p:cNvSpPr/>
          <p:nvPr/>
        </p:nvSpPr>
        <p:spPr>
          <a:xfrm>
            <a:off x="8580729" y="2294229"/>
            <a:ext cx="65836" cy="65836"/>
          </a:xfrm>
          <a:prstGeom prst="ellipse">
            <a:avLst/>
          </a:prstGeom>
          <a:solidFill>
            <a:srgbClr val="3B3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Oval 289"/>
          <p:cNvSpPr/>
          <p:nvPr/>
        </p:nvSpPr>
        <p:spPr>
          <a:xfrm>
            <a:off x="8685885" y="2294229"/>
            <a:ext cx="65836" cy="65836"/>
          </a:xfrm>
          <a:prstGeom prst="ellipse">
            <a:avLst/>
          </a:prstGeom>
          <a:solidFill>
            <a:srgbClr val="3C3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Oval 290"/>
          <p:cNvSpPr/>
          <p:nvPr/>
        </p:nvSpPr>
        <p:spPr>
          <a:xfrm>
            <a:off x="8791041" y="2294229"/>
            <a:ext cx="65836" cy="65836"/>
          </a:xfrm>
          <a:prstGeom prst="ellipse">
            <a:avLst/>
          </a:prstGeom>
          <a:solidFill>
            <a:srgbClr val="3E3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Oval 291"/>
          <p:cNvSpPr/>
          <p:nvPr/>
        </p:nvSpPr>
        <p:spPr>
          <a:xfrm>
            <a:off x="8896197" y="2294229"/>
            <a:ext cx="65836" cy="65836"/>
          </a:xfrm>
          <a:prstGeom prst="ellipse">
            <a:avLst/>
          </a:prstGeom>
          <a:solidFill>
            <a:srgbClr val="3F3F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Oval 292"/>
          <p:cNvSpPr/>
          <p:nvPr/>
        </p:nvSpPr>
        <p:spPr>
          <a:xfrm>
            <a:off x="9001353" y="2294229"/>
            <a:ext cx="65836" cy="65836"/>
          </a:xfrm>
          <a:prstGeom prst="ellipse">
            <a:avLst/>
          </a:prstGeom>
          <a:solidFill>
            <a:srgbClr val="4141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Oval 293"/>
          <p:cNvSpPr/>
          <p:nvPr/>
        </p:nvSpPr>
        <p:spPr>
          <a:xfrm>
            <a:off x="9106509" y="2294229"/>
            <a:ext cx="65836" cy="65836"/>
          </a:xfrm>
          <a:prstGeom prst="ellipse">
            <a:avLst/>
          </a:prstGeom>
          <a:solidFill>
            <a:srgbClr val="4343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Oval 294"/>
          <p:cNvSpPr/>
          <p:nvPr/>
        </p:nvSpPr>
        <p:spPr>
          <a:xfrm>
            <a:off x="9211665" y="2294229"/>
            <a:ext cx="65836" cy="65836"/>
          </a:xfrm>
          <a:prstGeom prst="ellipse">
            <a:avLst/>
          </a:prstGeom>
          <a:solidFill>
            <a:srgbClr val="444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Oval 295"/>
          <p:cNvSpPr/>
          <p:nvPr/>
        </p:nvSpPr>
        <p:spPr>
          <a:xfrm>
            <a:off x="9316821" y="2294229"/>
            <a:ext cx="65836" cy="65836"/>
          </a:xfrm>
          <a:prstGeom prst="ellipse">
            <a:avLst/>
          </a:prstGeom>
          <a:solidFill>
            <a:srgbClr val="4646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Oval 296"/>
          <p:cNvSpPr/>
          <p:nvPr/>
        </p:nvSpPr>
        <p:spPr>
          <a:xfrm>
            <a:off x="9421977" y="2294229"/>
            <a:ext cx="65836" cy="65836"/>
          </a:xfrm>
          <a:prstGeom prst="ellipse">
            <a:avLst/>
          </a:prstGeom>
          <a:solidFill>
            <a:srgbClr val="474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Oval 297"/>
          <p:cNvSpPr/>
          <p:nvPr/>
        </p:nvSpPr>
        <p:spPr>
          <a:xfrm>
            <a:off x="9527133" y="2294229"/>
            <a:ext cx="65836" cy="65836"/>
          </a:xfrm>
          <a:prstGeom prst="ellipse">
            <a:avLst/>
          </a:prstGeom>
          <a:solidFill>
            <a:srgbClr val="4949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Oval 298"/>
          <p:cNvSpPr/>
          <p:nvPr/>
        </p:nvSpPr>
        <p:spPr>
          <a:xfrm>
            <a:off x="9632289" y="2294229"/>
            <a:ext cx="65836" cy="65836"/>
          </a:xfrm>
          <a:prstGeom prst="ellipse">
            <a:avLst/>
          </a:prstGeom>
          <a:solidFill>
            <a:srgbClr val="4A4A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Oval 299"/>
          <p:cNvSpPr/>
          <p:nvPr/>
        </p:nvSpPr>
        <p:spPr>
          <a:xfrm>
            <a:off x="9737445" y="2294229"/>
            <a:ext cx="65836" cy="65836"/>
          </a:xfrm>
          <a:prstGeom prst="ellipse">
            <a:avLst/>
          </a:prstGeom>
          <a:solidFill>
            <a:srgbClr val="4C4C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Oval 300"/>
          <p:cNvSpPr/>
          <p:nvPr/>
        </p:nvSpPr>
        <p:spPr>
          <a:xfrm>
            <a:off x="9842601" y="2294229"/>
            <a:ext cx="65836" cy="65836"/>
          </a:xfrm>
          <a:prstGeom prst="ellipse">
            <a:avLst/>
          </a:prstGeom>
          <a:solidFill>
            <a:srgbClr val="4D4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Oval 301"/>
          <p:cNvSpPr/>
          <p:nvPr/>
        </p:nvSpPr>
        <p:spPr>
          <a:xfrm>
            <a:off x="9947757" y="2294229"/>
            <a:ext cx="65836" cy="65836"/>
          </a:xfrm>
          <a:prstGeom prst="ellipse">
            <a:avLst/>
          </a:prstGeom>
          <a:solidFill>
            <a:srgbClr val="4F4F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Oval 302"/>
          <p:cNvSpPr/>
          <p:nvPr/>
        </p:nvSpPr>
        <p:spPr>
          <a:xfrm>
            <a:off x="10052913" y="2294229"/>
            <a:ext cx="65836" cy="65836"/>
          </a:xfrm>
          <a:prstGeom prst="ellipse">
            <a:avLst/>
          </a:prstGeom>
          <a:solidFill>
            <a:srgbClr val="51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Oval 303"/>
          <p:cNvSpPr/>
          <p:nvPr/>
        </p:nvSpPr>
        <p:spPr>
          <a:xfrm>
            <a:off x="10158069" y="2294229"/>
            <a:ext cx="65836" cy="65836"/>
          </a:xfrm>
          <a:prstGeom prst="ellipse">
            <a:avLst/>
          </a:prstGeom>
          <a:solidFill>
            <a:srgbClr val="525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Oval 304"/>
          <p:cNvSpPr/>
          <p:nvPr/>
        </p:nvSpPr>
        <p:spPr>
          <a:xfrm>
            <a:off x="10263225" y="2294229"/>
            <a:ext cx="65836" cy="65836"/>
          </a:xfrm>
          <a:prstGeom prst="ellipse">
            <a:avLst/>
          </a:prstGeom>
          <a:solidFill>
            <a:srgbClr val="5454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Oval 305"/>
          <p:cNvSpPr/>
          <p:nvPr/>
        </p:nvSpPr>
        <p:spPr>
          <a:xfrm>
            <a:off x="10368381" y="2294229"/>
            <a:ext cx="65836" cy="65836"/>
          </a:xfrm>
          <a:prstGeom prst="ellipse">
            <a:avLst/>
          </a:prstGeom>
          <a:solidFill>
            <a:srgbClr val="555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Oval 306"/>
          <p:cNvSpPr/>
          <p:nvPr/>
        </p:nvSpPr>
        <p:spPr>
          <a:xfrm>
            <a:off x="10473537" y="2294229"/>
            <a:ext cx="65836" cy="65836"/>
          </a:xfrm>
          <a:prstGeom prst="ellipse">
            <a:avLst/>
          </a:prstGeom>
          <a:solidFill>
            <a:srgbClr val="5757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Oval 307"/>
          <p:cNvSpPr/>
          <p:nvPr/>
        </p:nvSpPr>
        <p:spPr>
          <a:xfrm>
            <a:off x="10578693" y="2294229"/>
            <a:ext cx="65836" cy="65836"/>
          </a:xfrm>
          <a:prstGeom prst="ellipse">
            <a:avLst/>
          </a:prstGeom>
          <a:solidFill>
            <a:srgbClr val="5858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Oval 308"/>
          <p:cNvSpPr/>
          <p:nvPr/>
        </p:nvSpPr>
        <p:spPr>
          <a:xfrm>
            <a:off x="10683849" y="2294229"/>
            <a:ext cx="65836" cy="65836"/>
          </a:xfrm>
          <a:prstGeom prst="ellipse">
            <a:avLst/>
          </a:prstGeom>
          <a:solidFill>
            <a:srgbClr val="5A5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Oval 309"/>
          <p:cNvSpPr/>
          <p:nvPr/>
        </p:nvSpPr>
        <p:spPr>
          <a:xfrm>
            <a:off x="10789005" y="2294229"/>
            <a:ext cx="65836" cy="65836"/>
          </a:xfrm>
          <a:prstGeom prst="ellipse">
            <a:avLst/>
          </a:prstGeom>
          <a:solidFill>
            <a:srgbClr val="5C5C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Oval 310"/>
          <p:cNvSpPr/>
          <p:nvPr/>
        </p:nvSpPr>
        <p:spPr>
          <a:xfrm>
            <a:off x="10894161" y="2294229"/>
            <a:ext cx="65836" cy="65836"/>
          </a:xfrm>
          <a:prstGeom prst="ellipse">
            <a:avLst/>
          </a:prstGeom>
          <a:solidFill>
            <a:srgbClr val="5D5D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Oval 311"/>
          <p:cNvSpPr/>
          <p:nvPr/>
        </p:nvSpPr>
        <p:spPr>
          <a:xfrm>
            <a:off x="10999317" y="2294229"/>
            <a:ext cx="65836" cy="65836"/>
          </a:xfrm>
          <a:prstGeom prst="ellipse">
            <a:avLst/>
          </a:prstGeom>
          <a:solidFill>
            <a:srgbClr val="5F5F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Oval 312"/>
          <p:cNvSpPr/>
          <p:nvPr/>
        </p:nvSpPr>
        <p:spPr>
          <a:xfrm>
            <a:off x="11104473" y="2294229"/>
            <a:ext cx="65836" cy="65836"/>
          </a:xfrm>
          <a:prstGeom prst="ellipse">
            <a:avLst/>
          </a:prstGeom>
          <a:solidFill>
            <a:srgbClr val="6060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Oval 313"/>
          <p:cNvSpPr/>
          <p:nvPr/>
        </p:nvSpPr>
        <p:spPr>
          <a:xfrm>
            <a:off x="11209629" y="2294229"/>
            <a:ext cx="65836" cy="65836"/>
          </a:xfrm>
          <a:prstGeom prst="ellipse">
            <a:avLst/>
          </a:prstGeom>
          <a:solidFill>
            <a:srgbClr val="6262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Oval 314"/>
          <p:cNvSpPr/>
          <p:nvPr/>
        </p:nvSpPr>
        <p:spPr>
          <a:xfrm>
            <a:off x="7213701" y="2399385"/>
            <a:ext cx="65836" cy="65836"/>
          </a:xfrm>
          <a:prstGeom prst="ellipse">
            <a:avLst/>
          </a:prstGeom>
          <a:solidFill>
            <a:srgbClr val="282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Oval 315"/>
          <p:cNvSpPr/>
          <p:nvPr/>
        </p:nvSpPr>
        <p:spPr>
          <a:xfrm>
            <a:off x="7318857" y="2399385"/>
            <a:ext cx="65836" cy="65836"/>
          </a:xfrm>
          <a:prstGeom prst="ellipse">
            <a:avLst/>
          </a:prstGeom>
          <a:solidFill>
            <a:srgbClr val="2A2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Oval 316"/>
          <p:cNvSpPr/>
          <p:nvPr/>
        </p:nvSpPr>
        <p:spPr>
          <a:xfrm>
            <a:off x="7424013" y="2399385"/>
            <a:ext cx="65836" cy="65836"/>
          </a:xfrm>
          <a:prstGeom prst="ellipse">
            <a:avLst/>
          </a:prstGeom>
          <a:solidFill>
            <a:srgbClr val="2B2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Oval 317"/>
          <p:cNvSpPr/>
          <p:nvPr/>
        </p:nvSpPr>
        <p:spPr>
          <a:xfrm>
            <a:off x="7529169" y="2399385"/>
            <a:ext cx="65836" cy="65836"/>
          </a:xfrm>
          <a:prstGeom prst="ellipse">
            <a:avLst/>
          </a:prstGeom>
          <a:solidFill>
            <a:srgbClr val="2D2D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Oval 318"/>
          <p:cNvSpPr/>
          <p:nvPr/>
        </p:nvSpPr>
        <p:spPr>
          <a:xfrm>
            <a:off x="7634325" y="2399385"/>
            <a:ext cx="65836" cy="65836"/>
          </a:xfrm>
          <a:prstGeom prst="ellipse">
            <a:avLst/>
          </a:prstGeom>
          <a:solidFill>
            <a:srgbClr val="2E2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Oval 319"/>
          <p:cNvSpPr/>
          <p:nvPr/>
        </p:nvSpPr>
        <p:spPr>
          <a:xfrm>
            <a:off x="7739481" y="2399385"/>
            <a:ext cx="65836" cy="65836"/>
          </a:xfrm>
          <a:prstGeom prst="ellipse">
            <a:avLst/>
          </a:prstGeom>
          <a:solidFill>
            <a:srgbClr val="303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Oval 320"/>
          <p:cNvSpPr/>
          <p:nvPr/>
        </p:nvSpPr>
        <p:spPr>
          <a:xfrm>
            <a:off x="7844637" y="2399385"/>
            <a:ext cx="65836" cy="65836"/>
          </a:xfrm>
          <a:prstGeom prst="ellipse">
            <a:avLst/>
          </a:prstGeom>
          <a:solidFill>
            <a:srgbClr val="3131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Oval 321"/>
          <p:cNvSpPr/>
          <p:nvPr/>
        </p:nvSpPr>
        <p:spPr>
          <a:xfrm>
            <a:off x="7949793" y="2399385"/>
            <a:ext cx="65836" cy="65836"/>
          </a:xfrm>
          <a:prstGeom prst="ellipse">
            <a:avLst/>
          </a:prstGeom>
          <a:solidFill>
            <a:srgbClr val="3333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Oval 322"/>
          <p:cNvSpPr/>
          <p:nvPr/>
        </p:nvSpPr>
        <p:spPr>
          <a:xfrm>
            <a:off x="8054949" y="2399385"/>
            <a:ext cx="65836" cy="65836"/>
          </a:xfrm>
          <a:prstGeom prst="ellipse">
            <a:avLst/>
          </a:prstGeom>
          <a:solidFill>
            <a:srgbClr val="3535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Oval 323"/>
          <p:cNvSpPr/>
          <p:nvPr/>
        </p:nvSpPr>
        <p:spPr>
          <a:xfrm>
            <a:off x="8160105" y="2399385"/>
            <a:ext cx="65836" cy="65836"/>
          </a:xfrm>
          <a:prstGeom prst="ellipse">
            <a:avLst/>
          </a:prstGeom>
          <a:solidFill>
            <a:srgbClr val="3636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Oval 324"/>
          <p:cNvSpPr/>
          <p:nvPr/>
        </p:nvSpPr>
        <p:spPr>
          <a:xfrm>
            <a:off x="8265261" y="2399385"/>
            <a:ext cx="65836" cy="65836"/>
          </a:xfrm>
          <a:prstGeom prst="ellipse">
            <a:avLst/>
          </a:prstGeom>
          <a:solidFill>
            <a:srgbClr val="383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Oval 325"/>
          <p:cNvSpPr/>
          <p:nvPr/>
        </p:nvSpPr>
        <p:spPr>
          <a:xfrm>
            <a:off x="8370417" y="2399385"/>
            <a:ext cx="65836" cy="65836"/>
          </a:xfrm>
          <a:prstGeom prst="ellipse">
            <a:avLst/>
          </a:prstGeom>
          <a:solidFill>
            <a:srgbClr val="393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Oval 326"/>
          <p:cNvSpPr/>
          <p:nvPr/>
        </p:nvSpPr>
        <p:spPr>
          <a:xfrm>
            <a:off x="8475573" y="2399385"/>
            <a:ext cx="65836" cy="65836"/>
          </a:xfrm>
          <a:prstGeom prst="ellipse">
            <a:avLst/>
          </a:prstGeom>
          <a:solidFill>
            <a:srgbClr val="3B3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Oval 327"/>
          <p:cNvSpPr/>
          <p:nvPr/>
        </p:nvSpPr>
        <p:spPr>
          <a:xfrm>
            <a:off x="8580729" y="2399385"/>
            <a:ext cx="65836" cy="65836"/>
          </a:xfrm>
          <a:prstGeom prst="ellipse">
            <a:avLst/>
          </a:prstGeom>
          <a:solidFill>
            <a:srgbClr val="3C3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Oval 328"/>
          <p:cNvSpPr/>
          <p:nvPr/>
        </p:nvSpPr>
        <p:spPr>
          <a:xfrm>
            <a:off x="8685885" y="2399385"/>
            <a:ext cx="65836" cy="65836"/>
          </a:xfrm>
          <a:prstGeom prst="ellipse">
            <a:avLst/>
          </a:prstGeom>
          <a:solidFill>
            <a:srgbClr val="3E3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Oval 329"/>
          <p:cNvSpPr/>
          <p:nvPr/>
        </p:nvSpPr>
        <p:spPr>
          <a:xfrm>
            <a:off x="8791041" y="2399385"/>
            <a:ext cx="65836" cy="65836"/>
          </a:xfrm>
          <a:prstGeom prst="ellipse">
            <a:avLst/>
          </a:prstGeom>
          <a:solidFill>
            <a:srgbClr val="3F3F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Oval 330"/>
          <p:cNvSpPr/>
          <p:nvPr/>
        </p:nvSpPr>
        <p:spPr>
          <a:xfrm>
            <a:off x="8896197" y="2399385"/>
            <a:ext cx="65836" cy="65836"/>
          </a:xfrm>
          <a:prstGeom prst="ellipse">
            <a:avLst/>
          </a:prstGeom>
          <a:solidFill>
            <a:srgbClr val="4141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Oval 331"/>
          <p:cNvSpPr/>
          <p:nvPr/>
        </p:nvSpPr>
        <p:spPr>
          <a:xfrm>
            <a:off x="9001353" y="2399385"/>
            <a:ext cx="65836" cy="65836"/>
          </a:xfrm>
          <a:prstGeom prst="ellipse">
            <a:avLst/>
          </a:prstGeom>
          <a:solidFill>
            <a:srgbClr val="4343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Oval 332"/>
          <p:cNvSpPr/>
          <p:nvPr/>
        </p:nvSpPr>
        <p:spPr>
          <a:xfrm>
            <a:off x="9106509" y="2399385"/>
            <a:ext cx="65836" cy="65836"/>
          </a:xfrm>
          <a:prstGeom prst="ellipse">
            <a:avLst/>
          </a:prstGeom>
          <a:solidFill>
            <a:srgbClr val="444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Oval 333"/>
          <p:cNvSpPr/>
          <p:nvPr/>
        </p:nvSpPr>
        <p:spPr>
          <a:xfrm>
            <a:off x="9211665" y="2399385"/>
            <a:ext cx="65836" cy="65836"/>
          </a:xfrm>
          <a:prstGeom prst="ellipse">
            <a:avLst/>
          </a:prstGeom>
          <a:solidFill>
            <a:srgbClr val="4646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Oval 334"/>
          <p:cNvSpPr/>
          <p:nvPr/>
        </p:nvSpPr>
        <p:spPr>
          <a:xfrm>
            <a:off x="9316821" y="2399385"/>
            <a:ext cx="65836" cy="65836"/>
          </a:xfrm>
          <a:prstGeom prst="ellipse">
            <a:avLst/>
          </a:prstGeom>
          <a:solidFill>
            <a:srgbClr val="474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Oval 335"/>
          <p:cNvSpPr/>
          <p:nvPr/>
        </p:nvSpPr>
        <p:spPr>
          <a:xfrm>
            <a:off x="9421977" y="2399385"/>
            <a:ext cx="65836" cy="65836"/>
          </a:xfrm>
          <a:prstGeom prst="ellipse">
            <a:avLst/>
          </a:prstGeom>
          <a:solidFill>
            <a:srgbClr val="4949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Oval 336"/>
          <p:cNvSpPr/>
          <p:nvPr/>
        </p:nvSpPr>
        <p:spPr>
          <a:xfrm>
            <a:off x="9527133" y="2399385"/>
            <a:ext cx="65836" cy="65836"/>
          </a:xfrm>
          <a:prstGeom prst="ellipse">
            <a:avLst/>
          </a:prstGeom>
          <a:solidFill>
            <a:srgbClr val="4A4A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Oval 337"/>
          <p:cNvSpPr/>
          <p:nvPr/>
        </p:nvSpPr>
        <p:spPr>
          <a:xfrm>
            <a:off x="9632289" y="2399385"/>
            <a:ext cx="65836" cy="65836"/>
          </a:xfrm>
          <a:prstGeom prst="ellipse">
            <a:avLst/>
          </a:prstGeom>
          <a:solidFill>
            <a:srgbClr val="4C4C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Oval 338"/>
          <p:cNvSpPr/>
          <p:nvPr/>
        </p:nvSpPr>
        <p:spPr>
          <a:xfrm>
            <a:off x="9737445" y="2399385"/>
            <a:ext cx="65836" cy="65836"/>
          </a:xfrm>
          <a:prstGeom prst="ellipse">
            <a:avLst/>
          </a:prstGeom>
          <a:solidFill>
            <a:srgbClr val="4E4E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Oval 339"/>
          <p:cNvSpPr/>
          <p:nvPr/>
        </p:nvSpPr>
        <p:spPr>
          <a:xfrm>
            <a:off x="9842601" y="2399385"/>
            <a:ext cx="65836" cy="65836"/>
          </a:xfrm>
          <a:prstGeom prst="ellipse">
            <a:avLst/>
          </a:prstGeom>
          <a:solidFill>
            <a:srgbClr val="4F4F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Oval 340"/>
          <p:cNvSpPr/>
          <p:nvPr/>
        </p:nvSpPr>
        <p:spPr>
          <a:xfrm>
            <a:off x="9947757" y="2399385"/>
            <a:ext cx="65836" cy="65836"/>
          </a:xfrm>
          <a:prstGeom prst="ellipse">
            <a:avLst/>
          </a:prstGeom>
          <a:solidFill>
            <a:srgbClr val="51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Oval 341"/>
          <p:cNvSpPr/>
          <p:nvPr/>
        </p:nvSpPr>
        <p:spPr>
          <a:xfrm>
            <a:off x="10052913" y="2399385"/>
            <a:ext cx="65836" cy="65836"/>
          </a:xfrm>
          <a:prstGeom prst="ellipse">
            <a:avLst/>
          </a:prstGeom>
          <a:solidFill>
            <a:srgbClr val="525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Oval 342"/>
          <p:cNvSpPr/>
          <p:nvPr/>
        </p:nvSpPr>
        <p:spPr>
          <a:xfrm>
            <a:off x="10158069" y="2399385"/>
            <a:ext cx="65836" cy="65836"/>
          </a:xfrm>
          <a:prstGeom prst="ellipse">
            <a:avLst/>
          </a:prstGeom>
          <a:solidFill>
            <a:srgbClr val="5454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Oval 343"/>
          <p:cNvSpPr/>
          <p:nvPr/>
        </p:nvSpPr>
        <p:spPr>
          <a:xfrm>
            <a:off x="10263225" y="2399385"/>
            <a:ext cx="65836" cy="65836"/>
          </a:xfrm>
          <a:prstGeom prst="ellipse">
            <a:avLst/>
          </a:prstGeom>
          <a:solidFill>
            <a:srgbClr val="555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Oval 344"/>
          <p:cNvSpPr/>
          <p:nvPr/>
        </p:nvSpPr>
        <p:spPr>
          <a:xfrm>
            <a:off x="10368381" y="2399385"/>
            <a:ext cx="65836" cy="65836"/>
          </a:xfrm>
          <a:prstGeom prst="ellipse">
            <a:avLst/>
          </a:prstGeom>
          <a:solidFill>
            <a:srgbClr val="5757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Oval 345"/>
          <p:cNvSpPr/>
          <p:nvPr/>
        </p:nvSpPr>
        <p:spPr>
          <a:xfrm>
            <a:off x="10473537" y="2399385"/>
            <a:ext cx="65836" cy="65836"/>
          </a:xfrm>
          <a:prstGeom prst="ellipse">
            <a:avLst/>
          </a:prstGeom>
          <a:solidFill>
            <a:srgbClr val="5858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Oval 346"/>
          <p:cNvSpPr/>
          <p:nvPr/>
        </p:nvSpPr>
        <p:spPr>
          <a:xfrm>
            <a:off x="10578693" y="2399385"/>
            <a:ext cx="65836" cy="65836"/>
          </a:xfrm>
          <a:prstGeom prst="ellipse">
            <a:avLst/>
          </a:prstGeom>
          <a:solidFill>
            <a:srgbClr val="5A5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Oval 347"/>
          <p:cNvSpPr/>
          <p:nvPr/>
        </p:nvSpPr>
        <p:spPr>
          <a:xfrm>
            <a:off x="10683849" y="2399385"/>
            <a:ext cx="65836" cy="65836"/>
          </a:xfrm>
          <a:prstGeom prst="ellipse">
            <a:avLst/>
          </a:prstGeom>
          <a:solidFill>
            <a:srgbClr val="5C5C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Oval 348"/>
          <p:cNvSpPr/>
          <p:nvPr/>
        </p:nvSpPr>
        <p:spPr>
          <a:xfrm>
            <a:off x="10789005" y="2399385"/>
            <a:ext cx="65836" cy="65836"/>
          </a:xfrm>
          <a:prstGeom prst="ellipse">
            <a:avLst/>
          </a:prstGeom>
          <a:solidFill>
            <a:srgbClr val="5D5D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Oval 349"/>
          <p:cNvSpPr/>
          <p:nvPr/>
        </p:nvSpPr>
        <p:spPr>
          <a:xfrm>
            <a:off x="10894161" y="2399385"/>
            <a:ext cx="65836" cy="65836"/>
          </a:xfrm>
          <a:prstGeom prst="ellipse">
            <a:avLst/>
          </a:prstGeom>
          <a:solidFill>
            <a:srgbClr val="5F5F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Oval 350"/>
          <p:cNvSpPr/>
          <p:nvPr/>
        </p:nvSpPr>
        <p:spPr>
          <a:xfrm>
            <a:off x="10999317" y="2399385"/>
            <a:ext cx="65836" cy="65836"/>
          </a:xfrm>
          <a:prstGeom prst="ellipse">
            <a:avLst/>
          </a:prstGeom>
          <a:solidFill>
            <a:srgbClr val="6060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Oval 351"/>
          <p:cNvSpPr/>
          <p:nvPr/>
        </p:nvSpPr>
        <p:spPr>
          <a:xfrm>
            <a:off x="11104473" y="2399385"/>
            <a:ext cx="65836" cy="65836"/>
          </a:xfrm>
          <a:prstGeom prst="ellipse">
            <a:avLst/>
          </a:prstGeom>
          <a:solidFill>
            <a:srgbClr val="6262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Oval 352"/>
          <p:cNvSpPr/>
          <p:nvPr/>
        </p:nvSpPr>
        <p:spPr>
          <a:xfrm>
            <a:off x="11209629" y="2399385"/>
            <a:ext cx="65836" cy="65836"/>
          </a:xfrm>
          <a:prstGeom prst="ellipse">
            <a:avLst/>
          </a:prstGeom>
          <a:solidFill>
            <a:srgbClr val="6363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Oval 353"/>
          <p:cNvSpPr/>
          <p:nvPr/>
        </p:nvSpPr>
        <p:spPr>
          <a:xfrm>
            <a:off x="11314785" y="2399385"/>
            <a:ext cx="65836" cy="65836"/>
          </a:xfrm>
          <a:prstGeom prst="ellipse">
            <a:avLst/>
          </a:prstGeom>
          <a:solidFill>
            <a:srgbClr val="6565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Oval 354"/>
          <p:cNvSpPr/>
          <p:nvPr/>
        </p:nvSpPr>
        <p:spPr>
          <a:xfrm>
            <a:off x="11419941" y="2399385"/>
            <a:ext cx="65836" cy="65836"/>
          </a:xfrm>
          <a:prstGeom prst="ellipse">
            <a:avLst/>
          </a:prstGeom>
          <a:solidFill>
            <a:srgbClr val="6767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Oval 355"/>
          <p:cNvSpPr/>
          <p:nvPr/>
        </p:nvSpPr>
        <p:spPr>
          <a:xfrm>
            <a:off x="7213701" y="2504541"/>
            <a:ext cx="65836" cy="65836"/>
          </a:xfrm>
          <a:prstGeom prst="ellipse">
            <a:avLst/>
          </a:prstGeom>
          <a:solidFill>
            <a:srgbClr val="2A2A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Oval 356"/>
          <p:cNvSpPr/>
          <p:nvPr/>
        </p:nvSpPr>
        <p:spPr>
          <a:xfrm>
            <a:off x="7318857" y="2504541"/>
            <a:ext cx="65836" cy="65836"/>
          </a:xfrm>
          <a:prstGeom prst="ellipse">
            <a:avLst/>
          </a:prstGeom>
          <a:solidFill>
            <a:srgbClr val="2B2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Oval 357"/>
          <p:cNvSpPr/>
          <p:nvPr/>
        </p:nvSpPr>
        <p:spPr>
          <a:xfrm>
            <a:off x="7424013" y="2504541"/>
            <a:ext cx="65836" cy="65836"/>
          </a:xfrm>
          <a:prstGeom prst="ellipse">
            <a:avLst/>
          </a:prstGeom>
          <a:solidFill>
            <a:srgbClr val="2D2D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Oval 358"/>
          <p:cNvSpPr/>
          <p:nvPr/>
        </p:nvSpPr>
        <p:spPr>
          <a:xfrm>
            <a:off x="7529169" y="2504541"/>
            <a:ext cx="65836" cy="65836"/>
          </a:xfrm>
          <a:prstGeom prst="ellipse">
            <a:avLst/>
          </a:prstGeom>
          <a:solidFill>
            <a:srgbClr val="2E2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Oval 359"/>
          <p:cNvSpPr/>
          <p:nvPr/>
        </p:nvSpPr>
        <p:spPr>
          <a:xfrm>
            <a:off x="7634325" y="2504541"/>
            <a:ext cx="65836" cy="65836"/>
          </a:xfrm>
          <a:prstGeom prst="ellipse">
            <a:avLst/>
          </a:prstGeom>
          <a:solidFill>
            <a:srgbClr val="303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Oval 360"/>
          <p:cNvSpPr/>
          <p:nvPr/>
        </p:nvSpPr>
        <p:spPr>
          <a:xfrm>
            <a:off x="7739481" y="2504541"/>
            <a:ext cx="65836" cy="65836"/>
          </a:xfrm>
          <a:prstGeom prst="ellipse">
            <a:avLst/>
          </a:prstGeom>
          <a:solidFill>
            <a:srgbClr val="3131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Oval 361"/>
          <p:cNvSpPr/>
          <p:nvPr/>
        </p:nvSpPr>
        <p:spPr>
          <a:xfrm>
            <a:off x="7844637" y="2504541"/>
            <a:ext cx="65836" cy="65836"/>
          </a:xfrm>
          <a:prstGeom prst="ellipse">
            <a:avLst/>
          </a:prstGeom>
          <a:solidFill>
            <a:srgbClr val="3333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Oval 362"/>
          <p:cNvSpPr/>
          <p:nvPr/>
        </p:nvSpPr>
        <p:spPr>
          <a:xfrm>
            <a:off x="7949793" y="2504541"/>
            <a:ext cx="65836" cy="65836"/>
          </a:xfrm>
          <a:prstGeom prst="ellipse">
            <a:avLst/>
          </a:prstGeom>
          <a:solidFill>
            <a:srgbClr val="3535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Oval 363"/>
          <p:cNvSpPr/>
          <p:nvPr/>
        </p:nvSpPr>
        <p:spPr>
          <a:xfrm>
            <a:off x="8054949" y="2504541"/>
            <a:ext cx="65836" cy="65836"/>
          </a:xfrm>
          <a:prstGeom prst="ellipse">
            <a:avLst/>
          </a:prstGeom>
          <a:solidFill>
            <a:srgbClr val="3636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Oval 364"/>
          <p:cNvSpPr/>
          <p:nvPr/>
        </p:nvSpPr>
        <p:spPr>
          <a:xfrm>
            <a:off x="8160105" y="2504541"/>
            <a:ext cx="65836" cy="65836"/>
          </a:xfrm>
          <a:prstGeom prst="ellipse">
            <a:avLst/>
          </a:prstGeom>
          <a:solidFill>
            <a:srgbClr val="383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Oval 365"/>
          <p:cNvSpPr/>
          <p:nvPr/>
        </p:nvSpPr>
        <p:spPr>
          <a:xfrm>
            <a:off x="8265261" y="2504541"/>
            <a:ext cx="65836" cy="65836"/>
          </a:xfrm>
          <a:prstGeom prst="ellipse">
            <a:avLst/>
          </a:prstGeom>
          <a:solidFill>
            <a:srgbClr val="393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Oval 366"/>
          <p:cNvSpPr/>
          <p:nvPr/>
        </p:nvSpPr>
        <p:spPr>
          <a:xfrm>
            <a:off x="8370417" y="2504541"/>
            <a:ext cx="65836" cy="65836"/>
          </a:xfrm>
          <a:prstGeom prst="ellipse">
            <a:avLst/>
          </a:prstGeom>
          <a:solidFill>
            <a:srgbClr val="3B3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Oval 367"/>
          <p:cNvSpPr/>
          <p:nvPr/>
        </p:nvSpPr>
        <p:spPr>
          <a:xfrm>
            <a:off x="8475573" y="2504541"/>
            <a:ext cx="65836" cy="65836"/>
          </a:xfrm>
          <a:prstGeom prst="ellipse">
            <a:avLst/>
          </a:prstGeom>
          <a:solidFill>
            <a:srgbClr val="3C3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Oval 368"/>
          <p:cNvSpPr/>
          <p:nvPr/>
        </p:nvSpPr>
        <p:spPr>
          <a:xfrm>
            <a:off x="8580729" y="2504541"/>
            <a:ext cx="65836" cy="65836"/>
          </a:xfrm>
          <a:prstGeom prst="ellipse">
            <a:avLst/>
          </a:prstGeom>
          <a:solidFill>
            <a:srgbClr val="3E3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Oval 369"/>
          <p:cNvSpPr/>
          <p:nvPr/>
        </p:nvSpPr>
        <p:spPr>
          <a:xfrm>
            <a:off x="8685885" y="2504541"/>
            <a:ext cx="65836" cy="65836"/>
          </a:xfrm>
          <a:prstGeom prst="ellipse">
            <a:avLst/>
          </a:prstGeom>
          <a:solidFill>
            <a:srgbClr val="4040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Oval 370"/>
          <p:cNvSpPr/>
          <p:nvPr/>
        </p:nvSpPr>
        <p:spPr>
          <a:xfrm>
            <a:off x="8791041" y="2504541"/>
            <a:ext cx="65836" cy="65836"/>
          </a:xfrm>
          <a:prstGeom prst="ellipse">
            <a:avLst/>
          </a:prstGeom>
          <a:solidFill>
            <a:srgbClr val="4141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Oval 371"/>
          <p:cNvSpPr/>
          <p:nvPr/>
        </p:nvSpPr>
        <p:spPr>
          <a:xfrm>
            <a:off x="8896197" y="2504541"/>
            <a:ext cx="65836" cy="65836"/>
          </a:xfrm>
          <a:prstGeom prst="ellipse">
            <a:avLst/>
          </a:prstGeom>
          <a:solidFill>
            <a:srgbClr val="4343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Oval 372"/>
          <p:cNvSpPr/>
          <p:nvPr/>
        </p:nvSpPr>
        <p:spPr>
          <a:xfrm>
            <a:off x="9001353" y="2504541"/>
            <a:ext cx="65836" cy="65836"/>
          </a:xfrm>
          <a:prstGeom prst="ellipse">
            <a:avLst/>
          </a:prstGeom>
          <a:solidFill>
            <a:srgbClr val="444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Oval 373"/>
          <p:cNvSpPr/>
          <p:nvPr/>
        </p:nvSpPr>
        <p:spPr>
          <a:xfrm>
            <a:off x="9106509" y="2504541"/>
            <a:ext cx="65836" cy="65836"/>
          </a:xfrm>
          <a:prstGeom prst="ellipse">
            <a:avLst/>
          </a:prstGeom>
          <a:solidFill>
            <a:srgbClr val="4646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Oval 374"/>
          <p:cNvSpPr/>
          <p:nvPr/>
        </p:nvSpPr>
        <p:spPr>
          <a:xfrm>
            <a:off x="9211665" y="2504541"/>
            <a:ext cx="65836" cy="65836"/>
          </a:xfrm>
          <a:prstGeom prst="ellipse">
            <a:avLst/>
          </a:prstGeom>
          <a:solidFill>
            <a:srgbClr val="474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Oval 375"/>
          <p:cNvSpPr/>
          <p:nvPr/>
        </p:nvSpPr>
        <p:spPr>
          <a:xfrm>
            <a:off x="9316821" y="2504541"/>
            <a:ext cx="65836" cy="65836"/>
          </a:xfrm>
          <a:prstGeom prst="ellipse">
            <a:avLst/>
          </a:prstGeom>
          <a:solidFill>
            <a:srgbClr val="4949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Oval 376"/>
          <p:cNvSpPr/>
          <p:nvPr/>
        </p:nvSpPr>
        <p:spPr>
          <a:xfrm>
            <a:off x="9421977" y="2504541"/>
            <a:ext cx="65836" cy="65836"/>
          </a:xfrm>
          <a:prstGeom prst="ellipse">
            <a:avLst/>
          </a:prstGeom>
          <a:solidFill>
            <a:srgbClr val="4A4A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Oval 377"/>
          <p:cNvSpPr/>
          <p:nvPr/>
        </p:nvSpPr>
        <p:spPr>
          <a:xfrm>
            <a:off x="9527133" y="2504541"/>
            <a:ext cx="65836" cy="65836"/>
          </a:xfrm>
          <a:prstGeom prst="ellipse">
            <a:avLst/>
          </a:prstGeom>
          <a:solidFill>
            <a:srgbClr val="4C4C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Oval 378"/>
          <p:cNvSpPr/>
          <p:nvPr/>
        </p:nvSpPr>
        <p:spPr>
          <a:xfrm>
            <a:off x="9632289" y="2504541"/>
            <a:ext cx="65836" cy="65836"/>
          </a:xfrm>
          <a:prstGeom prst="ellipse">
            <a:avLst/>
          </a:prstGeom>
          <a:solidFill>
            <a:srgbClr val="4E4E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Oval 379"/>
          <p:cNvSpPr/>
          <p:nvPr/>
        </p:nvSpPr>
        <p:spPr>
          <a:xfrm>
            <a:off x="9737445" y="2504541"/>
            <a:ext cx="65836" cy="65836"/>
          </a:xfrm>
          <a:prstGeom prst="ellipse">
            <a:avLst/>
          </a:prstGeom>
          <a:solidFill>
            <a:srgbClr val="4F4F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Oval 380"/>
          <p:cNvSpPr/>
          <p:nvPr/>
        </p:nvSpPr>
        <p:spPr>
          <a:xfrm>
            <a:off x="9842601" y="2504541"/>
            <a:ext cx="65836" cy="65836"/>
          </a:xfrm>
          <a:prstGeom prst="ellipse">
            <a:avLst/>
          </a:prstGeom>
          <a:solidFill>
            <a:srgbClr val="51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Oval 381"/>
          <p:cNvSpPr/>
          <p:nvPr/>
        </p:nvSpPr>
        <p:spPr>
          <a:xfrm>
            <a:off x="9947757" y="2504541"/>
            <a:ext cx="65836" cy="65836"/>
          </a:xfrm>
          <a:prstGeom prst="ellipse">
            <a:avLst/>
          </a:prstGeom>
          <a:solidFill>
            <a:srgbClr val="525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Oval 382"/>
          <p:cNvSpPr/>
          <p:nvPr/>
        </p:nvSpPr>
        <p:spPr>
          <a:xfrm>
            <a:off x="10052913" y="2504541"/>
            <a:ext cx="65836" cy="65836"/>
          </a:xfrm>
          <a:prstGeom prst="ellipse">
            <a:avLst/>
          </a:prstGeom>
          <a:solidFill>
            <a:srgbClr val="5454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Oval 383"/>
          <p:cNvSpPr/>
          <p:nvPr/>
        </p:nvSpPr>
        <p:spPr>
          <a:xfrm>
            <a:off x="10158069" y="2504541"/>
            <a:ext cx="65836" cy="65836"/>
          </a:xfrm>
          <a:prstGeom prst="ellipse">
            <a:avLst/>
          </a:prstGeom>
          <a:solidFill>
            <a:srgbClr val="555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Oval 384"/>
          <p:cNvSpPr/>
          <p:nvPr/>
        </p:nvSpPr>
        <p:spPr>
          <a:xfrm>
            <a:off x="10263225" y="2504541"/>
            <a:ext cx="65836" cy="65836"/>
          </a:xfrm>
          <a:prstGeom prst="ellipse">
            <a:avLst/>
          </a:prstGeom>
          <a:solidFill>
            <a:srgbClr val="5757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Oval 385"/>
          <p:cNvSpPr/>
          <p:nvPr/>
        </p:nvSpPr>
        <p:spPr>
          <a:xfrm>
            <a:off x="10368381" y="2504541"/>
            <a:ext cx="65836" cy="65836"/>
          </a:xfrm>
          <a:prstGeom prst="ellipse">
            <a:avLst/>
          </a:prstGeom>
          <a:solidFill>
            <a:srgbClr val="5959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Oval 386"/>
          <p:cNvSpPr/>
          <p:nvPr/>
        </p:nvSpPr>
        <p:spPr>
          <a:xfrm>
            <a:off x="10473537" y="2504541"/>
            <a:ext cx="65836" cy="65836"/>
          </a:xfrm>
          <a:prstGeom prst="ellipse">
            <a:avLst/>
          </a:prstGeom>
          <a:solidFill>
            <a:srgbClr val="5A5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Oval 387"/>
          <p:cNvSpPr/>
          <p:nvPr/>
        </p:nvSpPr>
        <p:spPr>
          <a:xfrm>
            <a:off x="10578693" y="2504541"/>
            <a:ext cx="65836" cy="65836"/>
          </a:xfrm>
          <a:prstGeom prst="ellipse">
            <a:avLst/>
          </a:prstGeom>
          <a:solidFill>
            <a:srgbClr val="5C5C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Oval 388"/>
          <p:cNvSpPr/>
          <p:nvPr/>
        </p:nvSpPr>
        <p:spPr>
          <a:xfrm>
            <a:off x="10683849" y="2504541"/>
            <a:ext cx="65836" cy="65836"/>
          </a:xfrm>
          <a:prstGeom prst="ellipse">
            <a:avLst/>
          </a:prstGeom>
          <a:solidFill>
            <a:srgbClr val="5D5D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0" name="Oval 389"/>
          <p:cNvSpPr/>
          <p:nvPr/>
        </p:nvSpPr>
        <p:spPr>
          <a:xfrm>
            <a:off x="10789005" y="2504541"/>
            <a:ext cx="65836" cy="65836"/>
          </a:xfrm>
          <a:prstGeom prst="ellipse">
            <a:avLst/>
          </a:prstGeom>
          <a:solidFill>
            <a:srgbClr val="5F5F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1" name="Oval 390"/>
          <p:cNvSpPr/>
          <p:nvPr/>
        </p:nvSpPr>
        <p:spPr>
          <a:xfrm>
            <a:off x="10894161" y="2504541"/>
            <a:ext cx="65836" cy="65836"/>
          </a:xfrm>
          <a:prstGeom prst="ellipse">
            <a:avLst/>
          </a:prstGeom>
          <a:solidFill>
            <a:srgbClr val="6060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2" name="Oval 391"/>
          <p:cNvSpPr/>
          <p:nvPr/>
        </p:nvSpPr>
        <p:spPr>
          <a:xfrm>
            <a:off x="10999317" y="2504541"/>
            <a:ext cx="65836" cy="65836"/>
          </a:xfrm>
          <a:prstGeom prst="ellipse">
            <a:avLst/>
          </a:prstGeom>
          <a:solidFill>
            <a:srgbClr val="6262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3" name="Oval 392"/>
          <p:cNvSpPr/>
          <p:nvPr/>
        </p:nvSpPr>
        <p:spPr>
          <a:xfrm>
            <a:off x="11104473" y="2504541"/>
            <a:ext cx="65836" cy="65836"/>
          </a:xfrm>
          <a:prstGeom prst="ellipse">
            <a:avLst/>
          </a:prstGeom>
          <a:solidFill>
            <a:srgbClr val="6363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4" name="Oval 393"/>
          <p:cNvSpPr/>
          <p:nvPr/>
        </p:nvSpPr>
        <p:spPr>
          <a:xfrm>
            <a:off x="11209629" y="2504541"/>
            <a:ext cx="65836" cy="65836"/>
          </a:xfrm>
          <a:prstGeom prst="ellipse">
            <a:avLst/>
          </a:prstGeom>
          <a:solidFill>
            <a:srgbClr val="6565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5" name="Oval 394"/>
          <p:cNvSpPr/>
          <p:nvPr/>
        </p:nvSpPr>
        <p:spPr>
          <a:xfrm>
            <a:off x="11314785" y="2504541"/>
            <a:ext cx="65836" cy="65836"/>
          </a:xfrm>
          <a:prstGeom prst="ellipse">
            <a:avLst/>
          </a:prstGeom>
          <a:solidFill>
            <a:srgbClr val="6767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6" name="Oval 395"/>
          <p:cNvSpPr/>
          <p:nvPr/>
        </p:nvSpPr>
        <p:spPr>
          <a:xfrm>
            <a:off x="11419941" y="2504541"/>
            <a:ext cx="65836" cy="65836"/>
          </a:xfrm>
          <a:prstGeom prst="ellipse">
            <a:avLst/>
          </a:prstGeom>
          <a:solidFill>
            <a:srgbClr val="686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Oval 396"/>
          <p:cNvSpPr/>
          <p:nvPr/>
        </p:nvSpPr>
        <p:spPr>
          <a:xfrm>
            <a:off x="7213701" y="2609697"/>
            <a:ext cx="65836" cy="65836"/>
          </a:xfrm>
          <a:prstGeom prst="ellipse">
            <a:avLst/>
          </a:prstGeom>
          <a:solidFill>
            <a:srgbClr val="2B2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8" name="Oval 397"/>
          <p:cNvSpPr/>
          <p:nvPr/>
        </p:nvSpPr>
        <p:spPr>
          <a:xfrm>
            <a:off x="7318857" y="2609697"/>
            <a:ext cx="65836" cy="65836"/>
          </a:xfrm>
          <a:prstGeom prst="ellipse">
            <a:avLst/>
          </a:prstGeom>
          <a:solidFill>
            <a:srgbClr val="2D2D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9" name="Oval 398"/>
          <p:cNvSpPr/>
          <p:nvPr/>
        </p:nvSpPr>
        <p:spPr>
          <a:xfrm>
            <a:off x="7424013" y="2609697"/>
            <a:ext cx="65836" cy="65836"/>
          </a:xfrm>
          <a:prstGeom prst="ellipse">
            <a:avLst/>
          </a:prstGeom>
          <a:solidFill>
            <a:srgbClr val="2E2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0" name="Oval 399"/>
          <p:cNvSpPr/>
          <p:nvPr/>
        </p:nvSpPr>
        <p:spPr>
          <a:xfrm>
            <a:off x="7529169" y="2609697"/>
            <a:ext cx="65836" cy="65836"/>
          </a:xfrm>
          <a:prstGeom prst="ellipse">
            <a:avLst/>
          </a:prstGeom>
          <a:solidFill>
            <a:srgbClr val="303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1" name="Oval 400"/>
          <p:cNvSpPr/>
          <p:nvPr/>
        </p:nvSpPr>
        <p:spPr>
          <a:xfrm>
            <a:off x="7634325" y="2609697"/>
            <a:ext cx="65836" cy="65836"/>
          </a:xfrm>
          <a:prstGeom prst="ellipse">
            <a:avLst/>
          </a:prstGeom>
          <a:solidFill>
            <a:srgbClr val="323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2" name="Oval 401"/>
          <p:cNvSpPr/>
          <p:nvPr/>
        </p:nvSpPr>
        <p:spPr>
          <a:xfrm>
            <a:off x="7739481" y="2609697"/>
            <a:ext cx="65836" cy="65836"/>
          </a:xfrm>
          <a:prstGeom prst="ellipse">
            <a:avLst/>
          </a:prstGeom>
          <a:solidFill>
            <a:srgbClr val="3333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Oval 402"/>
          <p:cNvSpPr/>
          <p:nvPr/>
        </p:nvSpPr>
        <p:spPr>
          <a:xfrm>
            <a:off x="7844637" y="2609697"/>
            <a:ext cx="65836" cy="65836"/>
          </a:xfrm>
          <a:prstGeom prst="ellipse">
            <a:avLst/>
          </a:prstGeom>
          <a:solidFill>
            <a:srgbClr val="3535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Oval 403"/>
          <p:cNvSpPr/>
          <p:nvPr/>
        </p:nvSpPr>
        <p:spPr>
          <a:xfrm>
            <a:off x="7949793" y="2609697"/>
            <a:ext cx="65836" cy="65836"/>
          </a:xfrm>
          <a:prstGeom prst="ellipse">
            <a:avLst/>
          </a:prstGeom>
          <a:solidFill>
            <a:srgbClr val="3636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Oval 404"/>
          <p:cNvSpPr/>
          <p:nvPr/>
        </p:nvSpPr>
        <p:spPr>
          <a:xfrm>
            <a:off x="8054949" y="2609697"/>
            <a:ext cx="65836" cy="65836"/>
          </a:xfrm>
          <a:prstGeom prst="ellipse">
            <a:avLst/>
          </a:prstGeom>
          <a:solidFill>
            <a:srgbClr val="383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Oval 405"/>
          <p:cNvSpPr/>
          <p:nvPr/>
        </p:nvSpPr>
        <p:spPr>
          <a:xfrm>
            <a:off x="8160105" y="2609697"/>
            <a:ext cx="65836" cy="65836"/>
          </a:xfrm>
          <a:prstGeom prst="ellipse">
            <a:avLst/>
          </a:prstGeom>
          <a:solidFill>
            <a:srgbClr val="393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Oval 406"/>
          <p:cNvSpPr/>
          <p:nvPr/>
        </p:nvSpPr>
        <p:spPr>
          <a:xfrm>
            <a:off x="8265261" y="2609697"/>
            <a:ext cx="65836" cy="65836"/>
          </a:xfrm>
          <a:prstGeom prst="ellipse">
            <a:avLst/>
          </a:prstGeom>
          <a:solidFill>
            <a:srgbClr val="3B3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Oval 407"/>
          <p:cNvSpPr/>
          <p:nvPr/>
        </p:nvSpPr>
        <p:spPr>
          <a:xfrm>
            <a:off x="8370417" y="2609697"/>
            <a:ext cx="65836" cy="65836"/>
          </a:xfrm>
          <a:prstGeom prst="ellipse">
            <a:avLst/>
          </a:prstGeom>
          <a:solidFill>
            <a:srgbClr val="3C3C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Oval 408"/>
          <p:cNvSpPr/>
          <p:nvPr/>
        </p:nvSpPr>
        <p:spPr>
          <a:xfrm>
            <a:off x="8475573" y="2609697"/>
            <a:ext cx="65836" cy="65836"/>
          </a:xfrm>
          <a:prstGeom prst="ellipse">
            <a:avLst/>
          </a:prstGeom>
          <a:solidFill>
            <a:srgbClr val="3E3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Oval 409"/>
          <p:cNvSpPr/>
          <p:nvPr/>
        </p:nvSpPr>
        <p:spPr>
          <a:xfrm>
            <a:off x="8580729" y="2609697"/>
            <a:ext cx="65836" cy="65836"/>
          </a:xfrm>
          <a:prstGeom prst="ellipse">
            <a:avLst/>
          </a:prstGeom>
          <a:solidFill>
            <a:srgbClr val="4040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Oval 410"/>
          <p:cNvSpPr/>
          <p:nvPr/>
        </p:nvSpPr>
        <p:spPr>
          <a:xfrm>
            <a:off x="8685885" y="2609697"/>
            <a:ext cx="65836" cy="65836"/>
          </a:xfrm>
          <a:prstGeom prst="ellipse">
            <a:avLst/>
          </a:prstGeom>
          <a:solidFill>
            <a:srgbClr val="4141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Oval 411"/>
          <p:cNvSpPr/>
          <p:nvPr/>
        </p:nvSpPr>
        <p:spPr>
          <a:xfrm>
            <a:off x="8791041" y="2609697"/>
            <a:ext cx="65836" cy="65836"/>
          </a:xfrm>
          <a:prstGeom prst="ellipse">
            <a:avLst/>
          </a:prstGeom>
          <a:solidFill>
            <a:srgbClr val="4343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Oval 412"/>
          <p:cNvSpPr/>
          <p:nvPr/>
        </p:nvSpPr>
        <p:spPr>
          <a:xfrm>
            <a:off x="8896197" y="2609697"/>
            <a:ext cx="65836" cy="65836"/>
          </a:xfrm>
          <a:prstGeom prst="ellipse">
            <a:avLst/>
          </a:prstGeom>
          <a:solidFill>
            <a:srgbClr val="444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Oval 413"/>
          <p:cNvSpPr/>
          <p:nvPr/>
        </p:nvSpPr>
        <p:spPr>
          <a:xfrm>
            <a:off x="9001353" y="2609697"/>
            <a:ext cx="65836" cy="65836"/>
          </a:xfrm>
          <a:prstGeom prst="ellipse">
            <a:avLst/>
          </a:prstGeom>
          <a:solidFill>
            <a:srgbClr val="4646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Oval 414"/>
          <p:cNvSpPr/>
          <p:nvPr/>
        </p:nvSpPr>
        <p:spPr>
          <a:xfrm>
            <a:off x="9106509" y="2609697"/>
            <a:ext cx="65836" cy="65836"/>
          </a:xfrm>
          <a:prstGeom prst="ellipse">
            <a:avLst/>
          </a:prstGeom>
          <a:solidFill>
            <a:srgbClr val="474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Oval 415"/>
          <p:cNvSpPr/>
          <p:nvPr/>
        </p:nvSpPr>
        <p:spPr>
          <a:xfrm>
            <a:off x="9211665" y="2609697"/>
            <a:ext cx="65836" cy="65836"/>
          </a:xfrm>
          <a:prstGeom prst="ellipse">
            <a:avLst/>
          </a:prstGeom>
          <a:solidFill>
            <a:srgbClr val="4949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Oval 416"/>
          <p:cNvSpPr/>
          <p:nvPr/>
        </p:nvSpPr>
        <p:spPr>
          <a:xfrm>
            <a:off x="9316821" y="2609697"/>
            <a:ext cx="65836" cy="65836"/>
          </a:xfrm>
          <a:prstGeom prst="ellipse">
            <a:avLst/>
          </a:prstGeom>
          <a:solidFill>
            <a:srgbClr val="4B4B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Oval 417"/>
          <p:cNvSpPr/>
          <p:nvPr/>
        </p:nvSpPr>
        <p:spPr>
          <a:xfrm>
            <a:off x="9421977" y="2609697"/>
            <a:ext cx="65836" cy="65836"/>
          </a:xfrm>
          <a:prstGeom prst="ellipse">
            <a:avLst/>
          </a:prstGeom>
          <a:solidFill>
            <a:srgbClr val="4C4C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Oval 418"/>
          <p:cNvSpPr/>
          <p:nvPr/>
        </p:nvSpPr>
        <p:spPr>
          <a:xfrm>
            <a:off x="9527133" y="2609697"/>
            <a:ext cx="65836" cy="65836"/>
          </a:xfrm>
          <a:prstGeom prst="ellipse">
            <a:avLst/>
          </a:prstGeom>
          <a:solidFill>
            <a:srgbClr val="4E4E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0" name="Oval 419"/>
          <p:cNvSpPr/>
          <p:nvPr/>
        </p:nvSpPr>
        <p:spPr>
          <a:xfrm>
            <a:off x="9632289" y="2609697"/>
            <a:ext cx="65836" cy="65836"/>
          </a:xfrm>
          <a:prstGeom prst="ellipse">
            <a:avLst/>
          </a:prstGeom>
          <a:solidFill>
            <a:srgbClr val="4F4F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1" name="Oval 420"/>
          <p:cNvSpPr/>
          <p:nvPr/>
        </p:nvSpPr>
        <p:spPr>
          <a:xfrm>
            <a:off x="9737445" y="2609697"/>
            <a:ext cx="65836" cy="65836"/>
          </a:xfrm>
          <a:prstGeom prst="ellipse">
            <a:avLst/>
          </a:prstGeom>
          <a:solidFill>
            <a:srgbClr val="51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2" name="Oval 421"/>
          <p:cNvSpPr/>
          <p:nvPr/>
        </p:nvSpPr>
        <p:spPr>
          <a:xfrm>
            <a:off x="9842601" y="2609697"/>
            <a:ext cx="65836" cy="65836"/>
          </a:xfrm>
          <a:prstGeom prst="ellipse">
            <a:avLst/>
          </a:prstGeom>
          <a:solidFill>
            <a:srgbClr val="525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Oval 422"/>
          <p:cNvSpPr/>
          <p:nvPr/>
        </p:nvSpPr>
        <p:spPr>
          <a:xfrm>
            <a:off x="9947757" y="2609697"/>
            <a:ext cx="65836" cy="65836"/>
          </a:xfrm>
          <a:prstGeom prst="ellipse">
            <a:avLst/>
          </a:prstGeom>
          <a:solidFill>
            <a:srgbClr val="5454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4" name="Oval 423"/>
          <p:cNvSpPr/>
          <p:nvPr/>
        </p:nvSpPr>
        <p:spPr>
          <a:xfrm>
            <a:off x="10052913" y="2609697"/>
            <a:ext cx="65836" cy="65836"/>
          </a:xfrm>
          <a:prstGeom prst="ellipse">
            <a:avLst/>
          </a:prstGeom>
          <a:solidFill>
            <a:srgbClr val="555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Oval 424"/>
          <p:cNvSpPr/>
          <p:nvPr/>
        </p:nvSpPr>
        <p:spPr>
          <a:xfrm>
            <a:off x="10158069" y="2609697"/>
            <a:ext cx="65836" cy="65836"/>
          </a:xfrm>
          <a:prstGeom prst="ellipse">
            <a:avLst/>
          </a:prstGeom>
          <a:solidFill>
            <a:srgbClr val="5757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6" name="Oval 425"/>
          <p:cNvSpPr/>
          <p:nvPr/>
        </p:nvSpPr>
        <p:spPr>
          <a:xfrm>
            <a:off x="10263225" y="2609697"/>
            <a:ext cx="65836" cy="65836"/>
          </a:xfrm>
          <a:prstGeom prst="ellipse">
            <a:avLst/>
          </a:prstGeom>
          <a:solidFill>
            <a:srgbClr val="5959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7" name="Oval 426"/>
          <p:cNvSpPr/>
          <p:nvPr/>
        </p:nvSpPr>
        <p:spPr>
          <a:xfrm>
            <a:off x="10368381" y="2609697"/>
            <a:ext cx="65836" cy="65836"/>
          </a:xfrm>
          <a:prstGeom prst="ellipse">
            <a:avLst/>
          </a:prstGeom>
          <a:solidFill>
            <a:srgbClr val="5A5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8" name="Oval 427"/>
          <p:cNvSpPr/>
          <p:nvPr/>
        </p:nvSpPr>
        <p:spPr>
          <a:xfrm>
            <a:off x="10473537" y="2609697"/>
            <a:ext cx="65836" cy="65836"/>
          </a:xfrm>
          <a:prstGeom prst="ellipse">
            <a:avLst/>
          </a:prstGeom>
          <a:solidFill>
            <a:srgbClr val="5C5C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9" name="Oval 428"/>
          <p:cNvSpPr/>
          <p:nvPr/>
        </p:nvSpPr>
        <p:spPr>
          <a:xfrm>
            <a:off x="10578693" y="2609697"/>
            <a:ext cx="65836" cy="65836"/>
          </a:xfrm>
          <a:prstGeom prst="ellipse">
            <a:avLst/>
          </a:prstGeom>
          <a:solidFill>
            <a:srgbClr val="5D5D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0" name="Oval 429"/>
          <p:cNvSpPr/>
          <p:nvPr/>
        </p:nvSpPr>
        <p:spPr>
          <a:xfrm>
            <a:off x="10683849" y="2609697"/>
            <a:ext cx="65836" cy="65836"/>
          </a:xfrm>
          <a:prstGeom prst="ellipse">
            <a:avLst/>
          </a:prstGeom>
          <a:solidFill>
            <a:srgbClr val="5F5F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1" name="Oval 430"/>
          <p:cNvSpPr/>
          <p:nvPr/>
        </p:nvSpPr>
        <p:spPr>
          <a:xfrm>
            <a:off x="10789005" y="2609697"/>
            <a:ext cx="65836" cy="65836"/>
          </a:xfrm>
          <a:prstGeom prst="ellipse">
            <a:avLst/>
          </a:prstGeom>
          <a:solidFill>
            <a:srgbClr val="6060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2" name="Oval 431"/>
          <p:cNvSpPr/>
          <p:nvPr/>
        </p:nvSpPr>
        <p:spPr>
          <a:xfrm>
            <a:off x="10894161" y="2609697"/>
            <a:ext cx="65836" cy="65836"/>
          </a:xfrm>
          <a:prstGeom prst="ellipse">
            <a:avLst/>
          </a:prstGeom>
          <a:solidFill>
            <a:srgbClr val="6262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3" name="Oval 432"/>
          <p:cNvSpPr/>
          <p:nvPr/>
        </p:nvSpPr>
        <p:spPr>
          <a:xfrm>
            <a:off x="10999317" y="2609697"/>
            <a:ext cx="65836" cy="65836"/>
          </a:xfrm>
          <a:prstGeom prst="ellipse">
            <a:avLst/>
          </a:prstGeom>
          <a:solidFill>
            <a:srgbClr val="646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4" name="Oval 433"/>
          <p:cNvSpPr/>
          <p:nvPr/>
        </p:nvSpPr>
        <p:spPr>
          <a:xfrm>
            <a:off x="11104473" y="2609697"/>
            <a:ext cx="65836" cy="65836"/>
          </a:xfrm>
          <a:prstGeom prst="ellipse">
            <a:avLst/>
          </a:prstGeom>
          <a:solidFill>
            <a:srgbClr val="6565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5" name="Oval 434"/>
          <p:cNvSpPr/>
          <p:nvPr/>
        </p:nvSpPr>
        <p:spPr>
          <a:xfrm>
            <a:off x="11209629" y="2609697"/>
            <a:ext cx="65836" cy="65836"/>
          </a:xfrm>
          <a:prstGeom prst="ellipse">
            <a:avLst/>
          </a:prstGeom>
          <a:solidFill>
            <a:srgbClr val="6767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6" name="Oval 435"/>
          <p:cNvSpPr/>
          <p:nvPr/>
        </p:nvSpPr>
        <p:spPr>
          <a:xfrm>
            <a:off x="11314785" y="2609697"/>
            <a:ext cx="65836" cy="65836"/>
          </a:xfrm>
          <a:prstGeom prst="ellipse">
            <a:avLst/>
          </a:prstGeom>
          <a:solidFill>
            <a:srgbClr val="686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7" name="Oval 436"/>
          <p:cNvSpPr/>
          <p:nvPr/>
        </p:nvSpPr>
        <p:spPr>
          <a:xfrm>
            <a:off x="11419941" y="2609697"/>
            <a:ext cx="65836" cy="65836"/>
          </a:xfrm>
          <a:prstGeom prst="ellipse">
            <a:avLst/>
          </a:prstGeom>
          <a:solidFill>
            <a:srgbClr val="6A6A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8" name="Oval 437"/>
          <p:cNvSpPr/>
          <p:nvPr/>
        </p:nvSpPr>
        <p:spPr>
          <a:xfrm>
            <a:off x="7108545" y="2714853"/>
            <a:ext cx="65836" cy="65836"/>
          </a:xfrm>
          <a:prstGeom prst="ellipse">
            <a:avLst/>
          </a:prstGeom>
          <a:solidFill>
            <a:srgbClr val="2B2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9" name="Oval 438"/>
          <p:cNvSpPr/>
          <p:nvPr/>
        </p:nvSpPr>
        <p:spPr>
          <a:xfrm>
            <a:off x="7213701" y="2714853"/>
            <a:ext cx="65836" cy="65836"/>
          </a:xfrm>
          <a:prstGeom prst="ellipse">
            <a:avLst/>
          </a:prstGeom>
          <a:solidFill>
            <a:srgbClr val="2D2D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0" name="Oval 439"/>
          <p:cNvSpPr/>
          <p:nvPr/>
        </p:nvSpPr>
        <p:spPr>
          <a:xfrm>
            <a:off x="7318857" y="2714853"/>
            <a:ext cx="65836" cy="65836"/>
          </a:xfrm>
          <a:prstGeom prst="ellipse">
            <a:avLst/>
          </a:prstGeom>
          <a:solidFill>
            <a:srgbClr val="2E2E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1" name="Oval 440"/>
          <p:cNvSpPr/>
          <p:nvPr/>
        </p:nvSpPr>
        <p:spPr>
          <a:xfrm>
            <a:off x="7424013" y="2714853"/>
            <a:ext cx="65836" cy="65836"/>
          </a:xfrm>
          <a:prstGeom prst="ellipse">
            <a:avLst/>
          </a:prstGeom>
          <a:solidFill>
            <a:srgbClr val="303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2" name="Oval 441"/>
          <p:cNvSpPr/>
          <p:nvPr/>
        </p:nvSpPr>
        <p:spPr>
          <a:xfrm>
            <a:off x="7529169" y="2714853"/>
            <a:ext cx="65836" cy="65836"/>
          </a:xfrm>
          <a:prstGeom prst="ellipse">
            <a:avLst/>
          </a:prstGeom>
          <a:solidFill>
            <a:srgbClr val="323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3" name="Oval 442"/>
          <p:cNvSpPr/>
          <p:nvPr/>
        </p:nvSpPr>
        <p:spPr>
          <a:xfrm>
            <a:off x="7634325" y="2714853"/>
            <a:ext cx="65836" cy="65836"/>
          </a:xfrm>
          <a:prstGeom prst="ellipse">
            <a:avLst/>
          </a:prstGeom>
          <a:solidFill>
            <a:srgbClr val="3333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4" name="Oval 443"/>
          <p:cNvSpPr/>
          <p:nvPr/>
        </p:nvSpPr>
        <p:spPr>
          <a:xfrm>
            <a:off x="7739481" y="2714853"/>
            <a:ext cx="65836" cy="65836"/>
          </a:xfrm>
          <a:prstGeom prst="ellipse">
            <a:avLst/>
          </a:prstGeom>
          <a:solidFill>
            <a:srgbClr val="3535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5" name="Oval 444"/>
          <p:cNvSpPr/>
          <p:nvPr/>
        </p:nvSpPr>
        <p:spPr>
          <a:xfrm>
            <a:off x="7844637" y="2714853"/>
            <a:ext cx="65836" cy="65836"/>
          </a:xfrm>
          <a:prstGeom prst="ellipse">
            <a:avLst/>
          </a:prstGeom>
          <a:solidFill>
            <a:srgbClr val="3636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6" name="Oval 445"/>
          <p:cNvSpPr/>
          <p:nvPr/>
        </p:nvSpPr>
        <p:spPr>
          <a:xfrm>
            <a:off x="7949793" y="2714853"/>
            <a:ext cx="65836" cy="65836"/>
          </a:xfrm>
          <a:prstGeom prst="ellipse">
            <a:avLst/>
          </a:prstGeom>
          <a:solidFill>
            <a:srgbClr val="383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7" name="Oval 446"/>
          <p:cNvSpPr/>
          <p:nvPr/>
        </p:nvSpPr>
        <p:spPr>
          <a:xfrm>
            <a:off x="8054949" y="2714853"/>
            <a:ext cx="65836" cy="65836"/>
          </a:xfrm>
          <a:prstGeom prst="ellipse">
            <a:avLst/>
          </a:prstGeom>
          <a:solidFill>
            <a:srgbClr val="393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8" name="Oval 447"/>
          <p:cNvSpPr/>
          <p:nvPr/>
        </p:nvSpPr>
        <p:spPr>
          <a:xfrm>
            <a:off x="8160105" y="2714853"/>
            <a:ext cx="65836" cy="65836"/>
          </a:xfrm>
          <a:prstGeom prst="ellipse">
            <a:avLst/>
          </a:prstGeom>
          <a:solidFill>
            <a:srgbClr val="3B3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9" name="Oval 448"/>
          <p:cNvSpPr/>
          <p:nvPr/>
        </p:nvSpPr>
        <p:spPr>
          <a:xfrm>
            <a:off x="8265261" y="2714853"/>
            <a:ext cx="65836" cy="65836"/>
          </a:xfrm>
          <a:prstGeom prst="ellipse">
            <a:avLst/>
          </a:prstGeom>
          <a:solidFill>
            <a:srgbClr val="3D3D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0" name="Oval 449"/>
          <p:cNvSpPr/>
          <p:nvPr/>
        </p:nvSpPr>
        <p:spPr>
          <a:xfrm>
            <a:off x="8370417" y="2714853"/>
            <a:ext cx="65836" cy="65836"/>
          </a:xfrm>
          <a:prstGeom prst="ellipse">
            <a:avLst/>
          </a:prstGeom>
          <a:solidFill>
            <a:srgbClr val="3E3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1" name="Oval 450"/>
          <p:cNvSpPr/>
          <p:nvPr/>
        </p:nvSpPr>
        <p:spPr>
          <a:xfrm>
            <a:off x="8475573" y="2714853"/>
            <a:ext cx="65836" cy="65836"/>
          </a:xfrm>
          <a:prstGeom prst="ellipse">
            <a:avLst/>
          </a:prstGeom>
          <a:solidFill>
            <a:srgbClr val="4040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2" name="Oval 451"/>
          <p:cNvSpPr/>
          <p:nvPr/>
        </p:nvSpPr>
        <p:spPr>
          <a:xfrm>
            <a:off x="8580729" y="2714853"/>
            <a:ext cx="65836" cy="65836"/>
          </a:xfrm>
          <a:prstGeom prst="ellipse">
            <a:avLst/>
          </a:prstGeom>
          <a:solidFill>
            <a:srgbClr val="4141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3" name="Oval 452"/>
          <p:cNvSpPr/>
          <p:nvPr/>
        </p:nvSpPr>
        <p:spPr>
          <a:xfrm>
            <a:off x="8685885" y="2714853"/>
            <a:ext cx="65836" cy="65836"/>
          </a:xfrm>
          <a:prstGeom prst="ellipse">
            <a:avLst/>
          </a:prstGeom>
          <a:solidFill>
            <a:srgbClr val="4343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4" name="Oval 453"/>
          <p:cNvSpPr/>
          <p:nvPr/>
        </p:nvSpPr>
        <p:spPr>
          <a:xfrm>
            <a:off x="8791041" y="2714853"/>
            <a:ext cx="65836" cy="65836"/>
          </a:xfrm>
          <a:prstGeom prst="ellipse">
            <a:avLst/>
          </a:prstGeom>
          <a:solidFill>
            <a:srgbClr val="444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5" name="Oval 454"/>
          <p:cNvSpPr/>
          <p:nvPr/>
        </p:nvSpPr>
        <p:spPr>
          <a:xfrm>
            <a:off x="8896197" y="2714853"/>
            <a:ext cx="65836" cy="65836"/>
          </a:xfrm>
          <a:prstGeom prst="ellipse">
            <a:avLst/>
          </a:prstGeom>
          <a:solidFill>
            <a:srgbClr val="4646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6" name="Oval 455"/>
          <p:cNvSpPr/>
          <p:nvPr/>
        </p:nvSpPr>
        <p:spPr>
          <a:xfrm>
            <a:off x="9001353" y="2714853"/>
            <a:ext cx="65836" cy="65836"/>
          </a:xfrm>
          <a:prstGeom prst="ellipse">
            <a:avLst/>
          </a:prstGeom>
          <a:solidFill>
            <a:srgbClr val="474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7" name="Oval 456"/>
          <p:cNvSpPr/>
          <p:nvPr/>
        </p:nvSpPr>
        <p:spPr>
          <a:xfrm>
            <a:off x="9106509" y="2714853"/>
            <a:ext cx="65836" cy="65836"/>
          </a:xfrm>
          <a:prstGeom prst="ellipse">
            <a:avLst/>
          </a:prstGeom>
          <a:solidFill>
            <a:srgbClr val="4949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8" name="Oval 457"/>
          <p:cNvSpPr/>
          <p:nvPr/>
        </p:nvSpPr>
        <p:spPr>
          <a:xfrm>
            <a:off x="9211665" y="2714853"/>
            <a:ext cx="65836" cy="65836"/>
          </a:xfrm>
          <a:prstGeom prst="ellipse">
            <a:avLst/>
          </a:prstGeom>
          <a:solidFill>
            <a:srgbClr val="4B4B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9" name="Oval 458"/>
          <p:cNvSpPr/>
          <p:nvPr/>
        </p:nvSpPr>
        <p:spPr>
          <a:xfrm>
            <a:off x="9316821" y="2714853"/>
            <a:ext cx="65836" cy="65836"/>
          </a:xfrm>
          <a:prstGeom prst="ellipse">
            <a:avLst/>
          </a:prstGeom>
          <a:solidFill>
            <a:srgbClr val="4C4C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0" name="Oval 459"/>
          <p:cNvSpPr/>
          <p:nvPr/>
        </p:nvSpPr>
        <p:spPr>
          <a:xfrm>
            <a:off x="9421977" y="2714853"/>
            <a:ext cx="65836" cy="65836"/>
          </a:xfrm>
          <a:prstGeom prst="ellipse">
            <a:avLst/>
          </a:prstGeom>
          <a:solidFill>
            <a:srgbClr val="4E4E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1" name="Oval 460"/>
          <p:cNvSpPr/>
          <p:nvPr/>
        </p:nvSpPr>
        <p:spPr>
          <a:xfrm>
            <a:off x="9527133" y="2714853"/>
            <a:ext cx="65836" cy="65836"/>
          </a:xfrm>
          <a:prstGeom prst="ellipse">
            <a:avLst/>
          </a:prstGeom>
          <a:solidFill>
            <a:srgbClr val="4F4F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2" name="Oval 461"/>
          <p:cNvSpPr/>
          <p:nvPr/>
        </p:nvSpPr>
        <p:spPr>
          <a:xfrm>
            <a:off x="9632289" y="2714853"/>
            <a:ext cx="65836" cy="65836"/>
          </a:xfrm>
          <a:prstGeom prst="ellipse">
            <a:avLst/>
          </a:prstGeom>
          <a:solidFill>
            <a:srgbClr val="51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3" name="Oval 462"/>
          <p:cNvSpPr/>
          <p:nvPr/>
        </p:nvSpPr>
        <p:spPr>
          <a:xfrm>
            <a:off x="9737445" y="2714853"/>
            <a:ext cx="65836" cy="65836"/>
          </a:xfrm>
          <a:prstGeom prst="ellipse">
            <a:avLst/>
          </a:prstGeom>
          <a:solidFill>
            <a:srgbClr val="525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4" name="Oval 463"/>
          <p:cNvSpPr/>
          <p:nvPr/>
        </p:nvSpPr>
        <p:spPr>
          <a:xfrm>
            <a:off x="9842601" y="2714853"/>
            <a:ext cx="65836" cy="65836"/>
          </a:xfrm>
          <a:prstGeom prst="ellipse">
            <a:avLst/>
          </a:prstGeom>
          <a:solidFill>
            <a:srgbClr val="5454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5" name="Oval 464"/>
          <p:cNvSpPr/>
          <p:nvPr/>
        </p:nvSpPr>
        <p:spPr>
          <a:xfrm>
            <a:off x="9947757" y="2714853"/>
            <a:ext cx="65836" cy="65836"/>
          </a:xfrm>
          <a:prstGeom prst="ellipse">
            <a:avLst/>
          </a:prstGeom>
          <a:solidFill>
            <a:srgbClr val="5656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6" name="Oval 465"/>
          <p:cNvSpPr/>
          <p:nvPr/>
        </p:nvSpPr>
        <p:spPr>
          <a:xfrm>
            <a:off x="10052913" y="2714853"/>
            <a:ext cx="65836" cy="65836"/>
          </a:xfrm>
          <a:prstGeom prst="ellipse">
            <a:avLst/>
          </a:prstGeom>
          <a:solidFill>
            <a:srgbClr val="5757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7" name="Oval 466"/>
          <p:cNvSpPr/>
          <p:nvPr/>
        </p:nvSpPr>
        <p:spPr>
          <a:xfrm>
            <a:off x="10158069" y="2714853"/>
            <a:ext cx="65836" cy="65836"/>
          </a:xfrm>
          <a:prstGeom prst="ellipse">
            <a:avLst/>
          </a:prstGeom>
          <a:solidFill>
            <a:srgbClr val="5959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8" name="Oval 467"/>
          <p:cNvSpPr/>
          <p:nvPr/>
        </p:nvSpPr>
        <p:spPr>
          <a:xfrm>
            <a:off x="10263225" y="2714853"/>
            <a:ext cx="65836" cy="65836"/>
          </a:xfrm>
          <a:prstGeom prst="ellipse">
            <a:avLst/>
          </a:prstGeom>
          <a:solidFill>
            <a:srgbClr val="5A5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9" name="Oval 468"/>
          <p:cNvSpPr/>
          <p:nvPr/>
        </p:nvSpPr>
        <p:spPr>
          <a:xfrm>
            <a:off x="10368381" y="2714853"/>
            <a:ext cx="65836" cy="65836"/>
          </a:xfrm>
          <a:prstGeom prst="ellipse">
            <a:avLst/>
          </a:prstGeom>
          <a:solidFill>
            <a:srgbClr val="5C5C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0" name="Oval 469"/>
          <p:cNvSpPr/>
          <p:nvPr/>
        </p:nvSpPr>
        <p:spPr>
          <a:xfrm>
            <a:off x="10473537" y="2714853"/>
            <a:ext cx="65836" cy="65836"/>
          </a:xfrm>
          <a:prstGeom prst="ellipse">
            <a:avLst/>
          </a:prstGeom>
          <a:solidFill>
            <a:srgbClr val="5D5D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1" name="Oval 470"/>
          <p:cNvSpPr/>
          <p:nvPr/>
        </p:nvSpPr>
        <p:spPr>
          <a:xfrm>
            <a:off x="10578693" y="2714853"/>
            <a:ext cx="65836" cy="65836"/>
          </a:xfrm>
          <a:prstGeom prst="ellipse">
            <a:avLst/>
          </a:prstGeom>
          <a:solidFill>
            <a:srgbClr val="5F5F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2" name="Oval 471"/>
          <p:cNvSpPr/>
          <p:nvPr/>
        </p:nvSpPr>
        <p:spPr>
          <a:xfrm>
            <a:off x="10683849" y="2714853"/>
            <a:ext cx="65836" cy="65836"/>
          </a:xfrm>
          <a:prstGeom prst="ellipse">
            <a:avLst/>
          </a:prstGeom>
          <a:solidFill>
            <a:srgbClr val="6060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3" name="Oval 472"/>
          <p:cNvSpPr/>
          <p:nvPr/>
        </p:nvSpPr>
        <p:spPr>
          <a:xfrm>
            <a:off x="10789005" y="2714853"/>
            <a:ext cx="65836" cy="65836"/>
          </a:xfrm>
          <a:prstGeom prst="ellipse">
            <a:avLst/>
          </a:prstGeom>
          <a:solidFill>
            <a:srgbClr val="6262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4" name="Oval 473"/>
          <p:cNvSpPr/>
          <p:nvPr/>
        </p:nvSpPr>
        <p:spPr>
          <a:xfrm>
            <a:off x="10894161" y="2714853"/>
            <a:ext cx="65836" cy="65836"/>
          </a:xfrm>
          <a:prstGeom prst="ellipse">
            <a:avLst/>
          </a:prstGeom>
          <a:solidFill>
            <a:srgbClr val="646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5" name="Oval 474"/>
          <p:cNvSpPr/>
          <p:nvPr/>
        </p:nvSpPr>
        <p:spPr>
          <a:xfrm>
            <a:off x="10999317" y="2714853"/>
            <a:ext cx="65836" cy="65836"/>
          </a:xfrm>
          <a:prstGeom prst="ellipse">
            <a:avLst/>
          </a:prstGeom>
          <a:solidFill>
            <a:srgbClr val="6565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6" name="Oval 475"/>
          <p:cNvSpPr/>
          <p:nvPr/>
        </p:nvSpPr>
        <p:spPr>
          <a:xfrm>
            <a:off x="11104473" y="2714853"/>
            <a:ext cx="65836" cy="65836"/>
          </a:xfrm>
          <a:prstGeom prst="ellipse">
            <a:avLst/>
          </a:prstGeom>
          <a:solidFill>
            <a:srgbClr val="6767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7" name="Oval 476"/>
          <p:cNvSpPr/>
          <p:nvPr/>
        </p:nvSpPr>
        <p:spPr>
          <a:xfrm>
            <a:off x="11209629" y="2714853"/>
            <a:ext cx="65836" cy="65836"/>
          </a:xfrm>
          <a:prstGeom prst="ellipse">
            <a:avLst/>
          </a:prstGeom>
          <a:solidFill>
            <a:srgbClr val="686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8" name="Oval 477"/>
          <p:cNvSpPr/>
          <p:nvPr/>
        </p:nvSpPr>
        <p:spPr>
          <a:xfrm>
            <a:off x="11314785" y="2714853"/>
            <a:ext cx="65836" cy="65836"/>
          </a:xfrm>
          <a:prstGeom prst="ellipse">
            <a:avLst/>
          </a:prstGeom>
          <a:solidFill>
            <a:srgbClr val="6A6A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9" name="Oval 478"/>
          <p:cNvSpPr/>
          <p:nvPr/>
        </p:nvSpPr>
        <p:spPr>
          <a:xfrm>
            <a:off x="11419941" y="2714853"/>
            <a:ext cx="65836" cy="65836"/>
          </a:xfrm>
          <a:prstGeom prst="ellipse">
            <a:avLst/>
          </a:prstGeom>
          <a:solidFill>
            <a:srgbClr val="6B6B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0" name="Oval 479"/>
          <p:cNvSpPr/>
          <p:nvPr/>
        </p:nvSpPr>
        <p:spPr>
          <a:xfrm>
            <a:off x="7003389" y="2820009"/>
            <a:ext cx="65836" cy="65836"/>
          </a:xfrm>
          <a:prstGeom prst="ellipse">
            <a:avLst/>
          </a:prstGeom>
          <a:solidFill>
            <a:srgbClr val="2B2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1" name="Oval 480"/>
          <p:cNvSpPr/>
          <p:nvPr/>
        </p:nvSpPr>
        <p:spPr>
          <a:xfrm>
            <a:off x="7108545" y="2820009"/>
            <a:ext cx="65836" cy="65836"/>
          </a:xfrm>
          <a:prstGeom prst="ellipse">
            <a:avLst/>
          </a:prstGeom>
          <a:solidFill>
            <a:srgbClr val="2D2D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2" name="Oval 481"/>
          <p:cNvSpPr/>
          <p:nvPr/>
        </p:nvSpPr>
        <p:spPr>
          <a:xfrm>
            <a:off x="7213701" y="2820009"/>
            <a:ext cx="65836" cy="65836"/>
          </a:xfrm>
          <a:prstGeom prst="ellipse">
            <a:avLst/>
          </a:prstGeom>
          <a:solidFill>
            <a:srgbClr val="2F2F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3" name="Oval 482"/>
          <p:cNvSpPr/>
          <p:nvPr/>
        </p:nvSpPr>
        <p:spPr>
          <a:xfrm>
            <a:off x="7318857" y="2820009"/>
            <a:ext cx="65836" cy="65836"/>
          </a:xfrm>
          <a:prstGeom prst="ellipse">
            <a:avLst/>
          </a:prstGeom>
          <a:solidFill>
            <a:srgbClr val="303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4" name="Oval 483"/>
          <p:cNvSpPr/>
          <p:nvPr/>
        </p:nvSpPr>
        <p:spPr>
          <a:xfrm>
            <a:off x="7424013" y="2820009"/>
            <a:ext cx="65836" cy="65836"/>
          </a:xfrm>
          <a:prstGeom prst="ellipse">
            <a:avLst/>
          </a:prstGeom>
          <a:solidFill>
            <a:srgbClr val="323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5" name="Oval 484"/>
          <p:cNvSpPr/>
          <p:nvPr/>
        </p:nvSpPr>
        <p:spPr>
          <a:xfrm>
            <a:off x="7529169" y="2820009"/>
            <a:ext cx="65836" cy="65836"/>
          </a:xfrm>
          <a:prstGeom prst="ellipse">
            <a:avLst/>
          </a:prstGeom>
          <a:solidFill>
            <a:srgbClr val="3333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6" name="Oval 485"/>
          <p:cNvSpPr/>
          <p:nvPr/>
        </p:nvSpPr>
        <p:spPr>
          <a:xfrm>
            <a:off x="7634325" y="2820009"/>
            <a:ext cx="65836" cy="65836"/>
          </a:xfrm>
          <a:prstGeom prst="ellipse">
            <a:avLst/>
          </a:prstGeom>
          <a:solidFill>
            <a:srgbClr val="3535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7" name="Oval 486"/>
          <p:cNvSpPr/>
          <p:nvPr/>
        </p:nvSpPr>
        <p:spPr>
          <a:xfrm>
            <a:off x="7739481" y="2820009"/>
            <a:ext cx="65836" cy="65836"/>
          </a:xfrm>
          <a:prstGeom prst="ellipse">
            <a:avLst/>
          </a:prstGeom>
          <a:solidFill>
            <a:srgbClr val="3636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8" name="Oval 487"/>
          <p:cNvSpPr/>
          <p:nvPr/>
        </p:nvSpPr>
        <p:spPr>
          <a:xfrm>
            <a:off x="7844637" y="2820009"/>
            <a:ext cx="65836" cy="65836"/>
          </a:xfrm>
          <a:prstGeom prst="ellipse">
            <a:avLst/>
          </a:prstGeom>
          <a:solidFill>
            <a:srgbClr val="383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9" name="Oval 488"/>
          <p:cNvSpPr/>
          <p:nvPr/>
        </p:nvSpPr>
        <p:spPr>
          <a:xfrm>
            <a:off x="7949793" y="2820009"/>
            <a:ext cx="65836" cy="65836"/>
          </a:xfrm>
          <a:prstGeom prst="ellipse">
            <a:avLst/>
          </a:prstGeom>
          <a:solidFill>
            <a:srgbClr val="393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0" name="Oval 489"/>
          <p:cNvSpPr/>
          <p:nvPr/>
        </p:nvSpPr>
        <p:spPr>
          <a:xfrm>
            <a:off x="8054949" y="2820009"/>
            <a:ext cx="65836" cy="65836"/>
          </a:xfrm>
          <a:prstGeom prst="ellipse">
            <a:avLst/>
          </a:prstGeom>
          <a:solidFill>
            <a:srgbClr val="3B3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1" name="Oval 490"/>
          <p:cNvSpPr/>
          <p:nvPr/>
        </p:nvSpPr>
        <p:spPr>
          <a:xfrm>
            <a:off x="8160105" y="2820009"/>
            <a:ext cx="65836" cy="65836"/>
          </a:xfrm>
          <a:prstGeom prst="ellipse">
            <a:avLst/>
          </a:prstGeom>
          <a:solidFill>
            <a:srgbClr val="3D3D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2" name="Oval 491"/>
          <p:cNvSpPr/>
          <p:nvPr/>
        </p:nvSpPr>
        <p:spPr>
          <a:xfrm>
            <a:off x="8265261" y="2820009"/>
            <a:ext cx="65836" cy="65836"/>
          </a:xfrm>
          <a:prstGeom prst="ellipse">
            <a:avLst/>
          </a:prstGeom>
          <a:solidFill>
            <a:srgbClr val="3E3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3" name="Oval 492"/>
          <p:cNvSpPr/>
          <p:nvPr/>
        </p:nvSpPr>
        <p:spPr>
          <a:xfrm>
            <a:off x="8370417" y="2820009"/>
            <a:ext cx="65836" cy="65836"/>
          </a:xfrm>
          <a:prstGeom prst="ellipse">
            <a:avLst/>
          </a:prstGeom>
          <a:solidFill>
            <a:srgbClr val="4040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4" name="Oval 493"/>
          <p:cNvSpPr/>
          <p:nvPr/>
        </p:nvSpPr>
        <p:spPr>
          <a:xfrm>
            <a:off x="8475573" y="2820009"/>
            <a:ext cx="65836" cy="65836"/>
          </a:xfrm>
          <a:prstGeom prst="ellipse">
            <a:avLst/>
          </a:prstGeom>
          <a:solidFill>
            <a:srgbClr val="4141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5" name="Oval 494"/>
          <p:cNvSpPr/>
          <p:nvPr/>
        </p:nvSpPr>
        <p:spPr>
          <a:xfrm>
            <a:off x="8580729" y="2820009"/>
            <a:ext cx="65836" cy="65836"/>
          </a:xfrm>
          <a:prstGeom prst="ellipse">
            <a:avLst/>
          </a:prstGeom>
          <a:solidFill>
            <a:srgbClr val="4343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6" name="Oval 495"/>
          <p:cNvSpPr/>
          <p:nvPr/>
        </p:nvSpPr>
        <p:spPr>
          <a:xfrm>
            <a:off x="8685885" y="2820009"/>
            <a:ext cx="65836" cy="65836"/>
          </a:xfrm>
          <a:prstGeom prst="ellipse">
            <a:avLst/>
          </a:prstGeom>
          <a:solidFill>
            <a:srgbClr val="444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7" name="Oval 496"/>
          <p:cNvSpPr/>
          <p:nvPr/>
        </p:nvSpPr>
        <p:spPr>
          <a:xfrm>
            <a:off x="8791041" y="2820009"/>
            <a:ext cx="65836" cy="65836"/>
          </a:xfrm>
          <a:prstGeom prst="ellipse">
            <a:avLst/>
          </a:prstGeom>
          <a:solidFill>
            <a:srgbClr val="4646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8" name="Oval 497"/>
          <p:cNvSpPr/>
          <p:nvPr/>
        </p:nvSpPr>
        <p:spPr>
          <a:xfrm>
            <a:off x="8896197" y="2820009"/>
            <a:ext cx="65836" cy="65836"/>
          </a:xfrm>
          <a:prstGeom prst="ellipse">
            <a:avLst/>
          </a:prstGeom>
          <a:solidFill>
            <a:srgbClr val="484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9" name="Oval 498"/>
          <p:cNvSpPr/>
          <p:nvPr/>
        </p:nvSpPr>
        <p:spPr>
          <a:xfrm>
            <a:off x="9001353" y="2820009"/>
            <a:ext cx="65836" cy="65836"/>
          </a:xfrm>
          <a:prstGeom prst="ellipse">
            <a:avLst/>
          </a:prstGeom>
          <a:solidFill>
            <a:srgbClr val="4949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9106509" y="2820009"/>
            <a:ext cx="65836" cy="65836"/>
          </a:xfrm>
          <a:prstGeom prst="ellipse">
            <a:avLst/>
          </a:prstGeom>
          <a:solidFill>
            <a:srgbClr val="4B4B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9211665" y="2820009"/>
            <a:ext cx="65836" cy="65836"/>
          </a:xfrm>
          <a:prstGeom prst="ellipse">
            <a:avLst/>
          </a:prstGeom>
          <a:solidFill>
            <a:srgbClr val="4C4C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9316821" y="2820009"/>
            <a:ext cx="65836" cy="65836"/>
          </a:xfrm>
          <a:prstGeom prst="ellipse">
            <a:avLst/>
          </a:prstGeom>
          <a:solidFill>
            <a:srgbClr val="4E4E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9421977" y="2820009"/>
            <a:ext cx="65836" cy="65836"/>
          </a:xfrm>
          <a:prstGeom prst="ellipse">
            <a:avLst/>
          </a:prstGeom>
          <a:solidFill>
            <a:srgbClr val="4F4F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Oval 503"/>
          <p:cNvSpPr/>
          <p:nvPr/>
        </p:nvSpPr>
        <p:spPr>
          <a:xfrm>
            <a:off x="9527133" y="2820009"/>
            <a:ext cx="65836" cy="65836"/>
          </a:xfrm>
          <a:prstGeom prst="ellipse">
            <a:avLst/>
          </a:prstGeom>
          <a:solidFill>
            <a:srgbClr val="51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Oval 504"/>
          <p:cNvSpPr/>
          <p:nvPr/>
        </p:nvSpPr>
        <p:spPr>
          <a:xfrm>
            <a:off x="9632289" y="2820009"/>
            <a:ext cx="65836" cy="65836"/>
          </a:xfrm>
          <a:prstGeom prst="ellipse">
            <a:avLst/>
          </a:prstGeom>
          <a:solidFill>
            <a:srgbClr val="525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Oval 505"/>
          <p:cNvSpPr/>
          <p:nvPr/>
        </p:nvSpPr>
        <p:spPr>
          <a:xfrm>
            <a:off x="9737445" y="2820009"/>
            <a:ext cx="65836" cy="65836"/>
          </a:xfrm>
          <a:prstGeom prst="ellipse">
            <a:avLst/>
          </a:prstGeom>
          <a:solidFill>
            <a:srgbClr val="5454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Oval 506"/>
          <p:cNvSpPr/>
          <p:nvPr/>
        </p:nvSpPr>
        <p:spPr>
          <a:xfrm>
            <a:off x="9842601" y="2820009"/>
            <a:ext cx="65836" cy="65836"/>
          </a:xfrm>
          <a:prstGeom prst="ellipse">
            <a:avLst/>
          </a:prstGeom>
          <a:solidFill>
            <a:srgbClr val="5656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Oval 507"/>
          <p:cNvSpPr/>
          <p:nvPr/>
        </p:nvSpPr>
        <p:spPr>
          <a:xfrm>
            <a:off x="9947757" y="2820009"/>
            <a:ext cx="65836" cy="65836"/>
          </a:xfrm>
          <a:prstGeom prst="ellipse">
            <a:avLst/>
          </a:prstGeom>
          <a:solidFill>
            <a:srgbClr val="5757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Oval 508"/>
          <p:cNvSpPr/>
          <p:nvPr/>
        </p:nvSpPr>
        <p:spPr>
          <a:xfrm>
            <a:off x="10052913" y="2820009"/>
            <a:ext cx="65836" cy="65836"/>
          </a:xfrm>
          <a:prstGeom prst="ellipse">
            <a:avLst/>
          </a:prstGeom>
          <a:solidFill>
            <a:srgbClr val="5959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Oval 509"/>
          <p:cNvSpPr/>
          <p:nvPr/>
        </p:nvSpPr>
        <p:spPr>
          <a:xfrm>
            <a:off x="10158069" y="2820009"/>
            <a:ext cx="65836" cy="65836"/>
          </a:xfrm>
          <a:prstGeom prst="ellipse">
            <a:avLst/>
          </a:prstGeom>
          <a:solidFill>
            <a:srgbClr val="5A5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Oval 510"/>
          <p:cNvSpPr/>
          <p:nvPr/>
        </p:nvSpPr>
        <p:spPr>
          <a:xfrm>
            <a:off x="10263225" y="2820009"/>
            <a:ext cx="65836" cy="65836"/>
          </a:xfrm>
          <a:prstGeom prst="ellipse">
            <a:avLst/>
          </a:prstGeom>
          <a:solidFill>
            <a:srgbClr val="5C5C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Oval 511"/>
          <p:cNvSpPr/>
          <p:nvPr/>
        </p:nvSpPr>
        <p:spPr>
          <a:xfrm>
            <a:off x="10368381" y="2820009"/>
            <a:ext cx="65836" cy="65836"/>
          </a:xfrm>
          <a:prstGeom prst="ellipse">
            <a:avLst/>
          </a:prstGeom>
          <a:solidFill>
            <a:srgbClr val="5D5D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Oval 512"/>
          <p:cNvSpPr/>
          <p:nvPr/>
        </p:nvSpPr>
        <p:spPr>
          <a:xfrm>
            <a:off x="10473537" y="2820009"/>
            <a:ext cx="65836" cy="65836"/>
          </a:xfrm>
          <a:prstGeom prst="ellipse">
            <a:avLst/>
          </a:prstGeom>
          <a:solidFill>
            <a:srgbClr val="5F5F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Oval 513"/>
          <p:cNvSpPr/>
          <p:nvPr/>
        </p:nvSpPr>
        <p:spPr>
          <a:xfrm>
            <a:off x="10578693" y="2820009"/>
            <a:ext cx="65836" cy="65836"/>
          </a:xfrm>
          <a:prstGeom prst="ellipse">
            <a:avLst/>
          </a:prstGeom>
          <a:solidFill>
            <a:srgbClr val="6161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Oval 514"/>
          <p:cNvSpPr/>
          <p:nvPr/>
        </p:nvSpPr>
        <p:spPr>
          <a:xfrm>
            <a:off x="10683849" y="2820009"/>
            <a:ext cx="65836" cy="65836"/>
          </a:xfrm>
          <a:prstGeom prst="ellipse">
            <a:avLst/>
          </a:prstGeom>
          <a:solidFill>
            <a:srgbClr val="6262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6" name="Oval 515"/>
          <p:cNvSpPr/>
          <p:nvPr/>
        </p:nvSpPr>
        <p:spPr>
          <a:xfrm>
            <a:off x="10789005" y="2820009"/>
            <a:ext cx="65836" cy="65836"/>
          </a:xfrm>
          <a:prstGeom prst="ellipse">
            <a:avLst/>
          </a:prstGeom>
          <a:solidFill>
            <a:srgbClr val="646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7" name="Oval 516"/>
          <p:cNvSpPr/>
          <p:nvPr/>
        </p:nvSpPr>
        <p:spPr>
          <a:xfrm>
            <a:off x="10894161" y="2820009"/>
            <a:ext cx="65836" cy="65836"/>
          </a:xfrm>
          <a:prstGeom prst="ellipse">
            <a:avLst/>
          </a:prstGeom>
          <a:solidFill>
            <a:srgbClr val="6565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8" name="Oval 517"/>
          <p:cNvSpPr/>
          <p:nvPr/>
        </p:nvSpPr>
        <p:spPr>
          <a:xfrm>
            <a:off x="10999317" y="2820009"/>
            <a:ext cx="65836" cy="65836"/>
          </a:xfrm>
          <a:prstGeom prst="ellipse">
            <a:avLst/>
          </a:prstGeom>
          <a:solidFill>
            <a:srgbClr val="6767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Oval 518"/>
          <p:cNvSpPr/>
          <p:nvPr/>
        </p:nvSpPr>
        <p:spPr>
          <a:xfrm>
            <a:off x="11104473" y="2820009"/>
            <a:ext cx="65836" cy="65836"/>
          </a:xfrm>
          <a:prstGeom prst="ellipse">
            <a:avLst/>
          </a:prstGeom>
          <a:solidFill>
            <a:srgbClr val="686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0" name="Oval 519"/>
          <p:cNvSpPr/>
          <p:nvPr/>
        </p:nvSpPr>
        <p:spPr>
          <a:xfrm>
            <a:off x="11209629" y="2820009"/>
            <a:ext cx="65836" cy="65836"/>
          </a:xfrm>
          <a:prstGeom prst="ellipse">
            <a:avLst/>
          </a:prstGeom>
          <a:solidFill>
            <a:srgbClr val="6A6A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Oval 520"/>
          <p:cNvSpPr/>
          <p:nvPr/>
        </p:nvSpPr>
        <p:spPr>
          <a:xfrm>
            <a:off x="11314785" y="2820009"/>
            <a:ext cx="65836" cy="65836"/>
          </a:xfrm>
          <a:prstGeom prst="ellipse">
            <a:avLst/>
          </a:prstGeom>
          <a:solidFill>
            <a:srgbClr val="6B6B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2" name="Oval 521"/>
          <p:cNvSpPr/>
          <p:nvPr/>
        </p:nvSpPr>
        <p:spPr>
          <a:xfrm>
            <a:off x="6898233" y="2925165"/>
            <a:ext cx="65836" cy="65836"/>
          </a:xfrm>
          <a:prstGeom prst="ellipse">
            <a:avLst/>
          </a:prstGeom>
          <a:solidFill>
            <a:srgbClr val="2B2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Oval 522"/>
          <p:cNvSpPr/>
          <p:nvPr/>
        </p:nvSpPr>
        <p:spPr>
          <a:xfrm>
            <a:off x="7003389" y="2925165"/>
            <a:ext cx="65836" cy="65836"/>
          </a:xfrm>
          <a:prstGeom prst="ellipse">
            <a:avLst/>
          </a:prstGeom>
          <a:solidFill>
            <a:srgbClr val="2D2D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4" name="Oval 523"/>
          <p:cNvSpPr/>
          <p:nvPr/>
        </p:nvSpPr>
        <p:spPr>
          <a:xfrm>
            <a:off x="7108545" y="2925165"/>
            <a:ext cx="65836" cy="65836"/>
          </a:xfrm>
          <a:prstGeom prst="ellipse">
            <a:avLst/>
          </a:prstGeom>
          <a:solidFill>
            <a:srgbClr val="2F2F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5" name="Oval 524"/>
          <p:cNvSpPr/>
          <p:nvPr/>
        </p:nvSpPr>
        <p:spPr>
          <a:xfrm>
            <a:off x="7213701" y="2925165"/>
            <a:ext cx="65836" cy="65836"/>
          </a:xfrm>
          <a:prstGeom prst="ellipse">
            <a:avLst/>
          </a:prstGeom>
          <a:solidFill>
            <a:srgbClr val="3030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6" name="Oval 525"/>
          <p:cNvSpPr/>
          <p:nvPr/>
        </p:nvSpPr>
        <p:spPr>
          <a:xfrm>
            <a:off x="7318857" y="2925165"/>
            <a:ext cx="65836" cy="65836"/>
          </a:xfrm>
          <a:prstGeom prst="ellipse">
            <a:avLst/>
          </a:prstGeom>
          <a:solidFill>
            <a:srgbClr val="323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Oval 526"/>
          <p:cNvSpPr/>
          <p:nvPr/>
        </p:nvSpPr>
        <p:spPr>
          <a:xfrm>
            <a:off x="7424013" y="2925165"/>
            <a:ext cx="65836" cy="65836"/>
          </a:xfrm>
          <a:prstGeom prst="ellipse">
            <a:avLst/>
          </a:prstGeom>
          <a:solidFill>
            <a:srgbClr val="333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8" name="Oval 527"/>
          <p:cNvSpPr/>
          <p:nvPr/>
        </p:nvSpPr>
        <p:spPr>
          <a:xfrm>
            <a:off x="7529169" y="2925165"/>
            <a:ext cx="65836" cy="65836"/>
          </a:xfrm>
          <a:prstGeom prst="ellipse">
            <a:avLst/>
          </a:prstGeom>
          <a:solidFill>
            <a:srgbClr val="3535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Oval 528"/>
          <p:cNvSpPr/>
          <p:nvPr/>
        </p:nvSpPr>
        <p:spPr>
          <a:xfrm>
            <a:off x="7634325" y="2925165"/>
            <a:ext cx="65836" cy="65836"/>
          </a:xfrm>
          <a:prstGeom prst="ellipse">
            <a:avLst/>
          </a:prstGeom>
          <a:solidFill>
            <a:srgbClr val="3636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0" name="Oval 529"/>
          <p:cNvSpPr/>
          <p:nvPr/>
        </p:nvSpPr>
        <p:spPr>
          <a:xfrm>
            <a:off x="7739481" y="2925165"/>
            <a:ext cx="65836" cy="65836"/>
          </a:xfrm>
          <a:prstGeom prst="ellipse">
            <a:avLst/>
          </a:prstGeom>
          <a:solidFill>
            <a:srgbClr val="383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1" name="Oval 530"/>
          <p:cNvSpPr/>
          <p:nvPr/>
        </p:nvSpPr>
        <p:spPr>
          <a:xfrm>
            <a:off x="7844637" y="2925165"/>
            <a:ext cx="65836" cy="65836"/>
          </a:xfrm>
          <a:prstGeom prst="ellipse">
            <a:avLst/>
          </a:prstGeom>
          <a:solidFill>
            <a:srgbClr val="3A3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2" name="Oval 531"/>
          <p:cNvSpPr/>
          <p:nvPr/>
        </p:nvSpPr>
        <p:spPr>
          <a:xfrm>
            <a:off x="7949793" y="2925165"/>
            <a:ext cx="65836" cy="65836"/>
          </a:xfrm>
          <a:prstGeom prst="ellipse">
            <a:avLst/>
          </a:prstGeom>
          <a:solidFill>
            <a:srgbClr val="3B3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3" name="Oval 532"/>
          <p:cNvSpPr/>
          <p:nvPr/>
        </p:nvSpPr>
        <p:spPr>
          <a:xfrm>
            <a:off x="8054949" y="2925165"/>
            <a:ext cx="65836" cy="65836"/>
          </a:xfrm>
          <a:prstGeom prst="ellipse">
            <a:avLst/>
          </a:prstGeom>
          <a:solidFill>
            <a:srgbClr val="3D3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4" name="Oval 533"/>
          <p:cNvSpPr/>
          <p:nvPr/>
        </p:nvSpPr>
        <p:spPr>
          <a:xfrm>
            <a:off x="8160105" y="2925165"/>
            <a:ext cx="65836" cy="65836"/>
          </a:xfrm>
          <a:prstGeom prst="ellipse">
            <a:avLst/>
          </a:prstGeom>
          <a:solidFill>
            <a:srgbClr val="3E3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5" name="Oval 534"/>
          <p:cNvSpPr/>
          <p:nvPr/>
        </p:nvSpPr>
        <p:spPr>
          <a:xfrm>
            <a:off x="8265261" y="2925165"/>
            <a:ext cx="65836" cy="65836"/>
          </a:xfrm>
          <a:prstGeom prst="ellipse">
            <a:avLst/>
          </a:prstGeom>
          <a:solidFill>
            <a:srgbClr val="4040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6" name="Oval 535"/>
          <p:cNvSpPr/>
          <p:nvPr/>
        </p:nvSpPr>
        <p:spPr>
          <a:xfrm>
            <a:off x="8370417" y="2925165"/>
            <a:ext cx="65836" cy="65836"/>
          </a:xfrm>
          <a:prstGeom prst="ellipse">
            <a:avLst/>
          </a:prstGeom>
          <a:solidFill>
            <a:srgbClr val="4141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7" name="Oval 536"/>
          <p:cNvSpPr/>
          <p:nvPr/>
        </p:nvSpPr>
        <p:spPr>
          <a:xfrm>
            <a:off x="8475573" y="2925165"/>
            <a:ext cx="65836" cy="65836"/>
          </a:xfrm>
          <a:prstGeom prst="ellipse">
            <a:avLst/>
          </a:prstGeom>
          <a:solidFill>
            <a:srgbClr val="4343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8" name="Oval 537"/>
          <p:cNvSpPr/>
          <p:nvPr/>
        </p:nvSpPr>
        <p:spPr>
          <a:xfrm>
            <a:off x="8580729" y="2925165"/>
            <a:ext cx="65836" cy="65836"/>
          </a:xfrm>
          <a:prstGeom prst="ellipse">
            <a:avLst/>
          </a:prstGeom>
          <a:solidFill>
            <a:srgbClr val="444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9" name="Oval 538"/>
          <p:cNvSpPr/>
          <p:nvPr/>
        </p:nvSpPr>
        <p:spPr>
          <a:xfrm>
            <a:off x="8685885" y="2925165"/>
            <a:ext cx="65836" cy="65836"/>
          </a:xfrm>
          <a:prstGeom prst="ellipse">
            <a:avLst/>
          </a:prstGeom>
          <a:solidFill>
            <a:srgbClr val="464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0" name="Oval 539"/>
          <p:cNvSpPr/>
          <p:nvPr/>
        </p:nvSpPr>
        <p:spPr>
          <a:xfrm>
            <a:off x="8791041" y="2925165"/>
            <a:ext cx="65836" cy="65836"/>
          </a:xfrm>
          <a:prstGeom prst="ellipse">
            <a:avLst/>
          </a:prstGeom>
          <a:solidFill>
            <a:srgbClr val="484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1" name="Oval 540"/>
          <p:cNvSpPr/>
          <p:nvPr/>
        </p:nvSpPr>
        <p:spPr>
          <a:xfrm>
            <a:off x="8896197" y="2925165"/>
            <a:ext cx="65836" cy="65836"/>
          </a:xfrm>
          <a:prstGeom prst="ellipse">
            <a:avLst/>
          </a:prstGeom>
          <a:solidFill>
            <a:srgbClr val="4949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2" name="Oval 541"/>
          <p:cNvSpPr/>
          <p:nvPr/>
        </p:nvSpPr>
        <p:spPr>
          <a:xfrm>
            <a:off x="9001353" y="2925165"/>
            <a:ext cx="65836" cy="65836"/>
          </a:xfrm>
          <a:prstGeom prst="ellipse">
            <a:avLst/>
          </a:prstGeom>
          <a:solidFill>
            <a:srgbClr val="4B4B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3" name="Oval 542"/>
          <p:cNvSpPr/>
          <p:nvPr/>
        </p:nvSpPr>
        <p:spPr>
          <a:xfrm>
            <a:off x="9106509" y="2925165"/>
            <a:ext cx="65836" cy="65836"/>
          </a:xfrm>
          <a:prstGeom prst="ellipse">
            <a:avLst/>
          </a:prstGeom>
          <a:solidFill>
            <a:srgbClr val="4C4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4" name="Oval 543"/>
          <p:cNvSpPr/>
          <p:nvPr/>
        </p:nvSpPr>
        <p:spPr>
          <a:xfrm>
            <a:off x="9211665" y="2925165"/>
            <a:ext cx="65836" cy="65836"/>
          </a:xfrm>
          <a:prstGeom prst="ellipse">
            <a:avLst/>
          </a:prstGeom>
          <a:solidFill>
            <a:srgbClr val="4E4E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Oval 544"/>
          <p:cNvSpPr/>
          <p:nvPr/>
        </p:nvSpPr>
        <p:spPr>
          <a:xfrm>
            <a:off x="9316821" y="2925165"/>
            <a:ext cx="65836" cy="65836"/>
          </a:xfrm>
          <a:prstGeom prst="ellipse">
            <a:avLst/>
          </a:prstGeom>
          <a:solidFill>
            <a:srgbClr val="4F4F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Oval 545"/>
          <p:cNvSpPr/>
          <p:nvPr/>
        </p:nvSpPr>
        <p:spPr>
          <a:xfrm>
            <a:off x="9421977" y="2925165"/>
            <a:ext cx="65836" cy="65836"/>
          </a:xfrm>
          <a:prstGeom prst="ellipse">
            <a:avLst/>
          </a:prstGeom>
          <a:solidFill>
            <a:srgbClr val="51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7" name="Oval 546"/>
          <p:cNvSpPr/>
          <p:nvPr/>
        </p:nvSpPr>
        <p:spPr>
          <a:xfrm>
            <a:off x="9527133" y="2925165"/>
            <a:ext cx="65836" cy="65836"/>
          </a:xfrm>
          <a:prstGeom prst="ellipse">
            <a:avLst/>
          </a:prstGeom>
          <a:solidFill>
            <a:srgbClr val="53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Oval 547"/>
          <p:cNvSpPr/>
          <p:nvPr/>
        </p:nvSpPr>
        <p:spPr>
          <a:xfrm>
            <a:off x="9632289" y="2925165"/>
            <a:ext cx="65836" cy="65836"/>
          </a:xfrm>
          <a:prstGeom prst="ellipse">
            <a:avLst/>
          </a:prstGeom>
          <a:solidFill>
            <a:srgbClr val="5454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9" name="Oval 548"/>
          <p:cNvSpPr/>
          <p:nvPr/>
        </p:nvSpPr>
        <p:spPr>
          <a:xfrm>
            <a:off x="9737445" y="2925165"/>
            <a:ext cx="65836" cy="65836"/>
          </a:xfrm>
          <a:prstGeom prst="ellipse">
            <a:avLst/>
          </a:prstGeom>
          <a:solidFill>
            <a:srgbClr val="5656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Oval 549"/>
          <p:cNvSpPr/>
          <p:nvPr/>
        </p:nvSpPr>
        <p:spPr>
          <a:xfrm>
            <a:off x="9842601" y="2925165"/>
            <a:ext cx="65836" cy="65836"/>
          </a:xfrm>
          <a:prstGeom prst="ellipse">
            <a:avLst/>
          </a:prstGeom>
          <a:solidFill>
            <a:srgbClr val="5757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1" name="Oval 550"/>
          <p:cNvSpPr/>
          <p:nvPr/>
        </p:nvSpPr>
        <p:spPr>
          <a:xfrm>
            <a:off x="9947757" y="2925165"/>
            <a:ext cx="65836" cy="65836"/>
          </a:xfrm>
          <a:prstGeom prst="ellipse">
            <a:avLst/>
          </a:prstGeom>
          <a:solidFill>
            <a:srgbClr val="5959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Oval 551"/>
          <p:cNvSpPr/>
          <p:nvPr/>
        </p:nvSpPr>
        <p:spPr>
          <a:xfrm>
            <a:off x="10052913" y="2925165"/>
            <a:ext cx="65836" cy="65836"/>
          </a:xfrm>
          <a:prstGeom prst="ellipse">
            <a:avLst/>
          </a:prstGeom>
          <a:solidFill>
            <a:srgbClr val="5A5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3" name="Oval 552"/>
          <p:cNvSpPr/>
          <p:nvPr/>
        </p:nvSpPr>
        <p:spPr>
          <a:xfrm>
            <a:off x="10158069" y="2925165"/>
            <a:ext cx="65836" cy="65836"/>
          </a:xfrm>
          <a:prstGeom prst="ellipse">
            <a:avLst/>
          </a:prstGeom>
          <a:solidFill>
            <a:srgbClr val="5C5C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Oval 553"/>
          <p:cNvSpPr/>
          <p:nvPr/>
        </p:nvSpPr>
        <p:spPr>
          <a:xfrm>
            <a:off x="10263225" y="2925165"/>
            <a:ext cx="65836" cy="65836"/>
          </a:xfrm>
          <a:prstGeom prst="ellipse">
            <a:avLst/>
          </a:prstGeom>
          <a:solidFill>
            <a:srgbClr val="5D5D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5" name="Oval 554"/>
          <p:cNvSpPr/>
          <p:nvPr/>
        </p:nvSpPr>
        <p:spPr>
          <a:xfrm>
            <a:off x="10368381" y="2925165"/>
            <a:ext cx="65836" cy="65836"/>
          </a:xfrm>
          <a:prstGeom prst="ellipse">
            <a:avLst/>
          </a:prstGeom>
          <a:solidFill>
            <a:srgbClr val="5F5F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Oval 555"/>
          <p:cNvSpPr/>
          <p:nvPr/>
        </p:nvSpPr>
        <p:spPr>
          <a:xfrm>
            <a:off x="10473537" y="2925165"/>
            <a:ext cx="65836" cy="65836"/>
          </a:xfrm>
          <a:prstGeom prst="ellipse">
            <a:avLst/>
          </a:prstGeom>
          <a:solidFill>
            <a:srgbClr val="6161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7" name="Oval 556"/>
          <p:cNvSpPr/>
          <p:nvPr/>
        </p:nvSpPr>
        <p:spPr>
          <a:xfrm>
            <a:off x="10578693" y="2925165"/>
            <a:ext cx="65836" cy="65836"/>
          </a:xfrm>
          <a:prstGeom prst="ellipse">
            <a:avLst/>
          </a:prstGeom>
          <a:solidFill>
            <a:srgbClr val="6262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8" name="Oval 557"/>
          <p:cNvSpPr/>
          <p:nvPr/>
        </p:nvSpPr>
        <p:spPr>
          <a:xfrm>
            <a:off x="10683849" y="2925165"/>
            <a:ext cx="65836" cy="65836"/>
          </a:xfrm>
          <a:prstGeom prst="ellipse">
            <a:avLst/>
          </a:prstGeom>
          <a:solidFill>
            <a:srgbClr val="646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9" name="Oval 558"/>
          <p:cNvSpPr/>
          <p:nvPr/>
        </p:nvSpPr>
        <p:spPr>
          <a:xfrm>
            <a:off x="10789005" y="2925165"/>
            <a:ext cx="65836" cy="65836"/>
          </a:xfrm>
          <a:prstGeom prst="ellipse">
            <a:avLst/>
          </a:prstGeom>
          <a:solidFill>
            <a:srgbClr val="6565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0" name="Oval 559"/>
          <p:cNvSpPr/>
          <p:nvPr/>
        </p:nvSpPr>
        <p:spPr>
          <a:xfrm>
            <a:off x="10894161" y="2925165"/>
            <a:ext cx="65836" cy="65836"/>
          </a:xfrm>
          <a:prstGeom prst="ellipse">
            <a:avLst/>
          </a:prstGeom>
          <a:solidFill>
            <a:srgbClr val="6767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1" name="Oval 560"/>
          <p:cNvSpPr/>
          <p:nvPr/>
        </p:nvSpPr>
        <p:spPr>
          <a:xfrm>
            <a:off x="10999317" y="2925165"/>
            <a:ext cx="65836" cy="65836"/>
          </a:xfrm>
          <a:prstGeom prst="ellipse">
            <a:avLst/>
          </a:prstGeom>
          <a:solidFill>
            <a:srgbClr val="686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2" name="Oval 561"/>
          <p:cNvSpPr/>
          <p:nvPr/>
        </p:nvSpPr>
        <p:spPr>
          <a:xfrm>
            <a:off x="11104473" y="2925165"/>
            <a:ext cx="65836" cy="65836"/>
          </a:xfrm>
          <a:prstGeom prst="ellipse">
            <a:avLst/>
          </a:prstGeom>
          <a:solidFill>
            <a:srgbClr val="6A6A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3" name="Oval 562"/>
          <p:cNvSpPr/>
          <p:nvPr/>
        </p:nvSpPr>
        <p:spPr>
          <a:xfrm>
            <a:off x="11209629" y="2925165"/>
            <a:ext cx="65836" cy="65836"/>
          </a:xfrm>
          <a:prstGeom prst="ellipse">
            <a:avLst/>
          </a:prstGeom>
          <a:solidFill>
            <a:srgbClr val="6C6C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4" name="Oval 563"/>
          <p:cNvSpPr/>
          <p:nvPr/>
        </p:nvSpPr>
        <p:spPr>
          <a:xfrm>
            <a:off x="11314785" y="2925165"/>
            <a:ext cx="65836" cy="65836"/>
          </a:xfrm>
          <a:prstGeom prst="ellipse">
            <a:avLst/>
          </a:prstGeom>
          <a:solidFill>
            <a:srgbClr val="6D6D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5" name="Oval 564"/>
          <p:cNvSpPr/>
          <p:nvPr/>
        </p:nvSpPr>
        <p:spPr>
          <a:xfrm>
            <a:off x="6898233" y="3030321"/>
            <a:ext cx="65836" cy="65836"/>
          </a:xfrm>
          <a:prstGeom prst="ellipse">
            <a:avLst/>
          </a:prstGeom>
          <a:solidFill>
            <a:srgbClr val="2D2D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6" name="Oval 565"/>
          <p:cNvSpPr/>
          <p:nvPr/>
        </p:nvSpPr>
        <p:spPr>
          <a:xfrm>
            <a:off x="7003389" y="3030321"/>
            <a:ext cx="65836" cy="65836"/>
          </a:xfrm>
          <a:prstGeom prst="ellipse">
            <a:avLst/>
          </a:prstGeom>
          <a:solidFill>
            <a:srgbClr val="2F2F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7" name="Oval 566"/>
          <p:cNvSpPr/>
          <p:nvPr/>
        </p:nvSpPr>
        <p:spPr>
          <a:xfrm>
            <a:off x="7108545" y="3030321"/>
            <a:ext cx="65836" cy="65836"/>
          </a:xfrm>
          <a:prstGeom prst="ellipse">
            <a:avLst/>
          </a:prstGeom>
          <a:solidFill>
            <a:srgbClr val="3030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Oval 567"/>
          <p:cNvSpPr/>
          <p:nvPr/>
        </p:nvSpPr>
        <p:spPr>
          <a:xfrm>
            <a:off x="7213701" y="3030321"/>
            <a:ext cx="65836" cy="65836"/>
          </a:xfrm>
          <a:prstGeom prst="ellipse">
            <a:avLst/>
          </a:prstGeom>
          <a:solidFill>
            <a:srgbClr val="323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9" name="Oval 568"/>
          <p:cNvSpPr/>
          <p:nvPr/>
        </p:nvSpPr>
        <p:spPr>
          <a:xfrm>
            <a:off x="7318857" y="3030321"/>
            <a:ext cx="65836" cy="65836"/>
          </a:xfrm>
          <a:prstGeom prst="ellipse">
            <a:avLst/>
          </a:prstGeom>
          <a:solidFill>
            <a:srgbClr val="333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0" name="Oval 569"/>
          <p:cNvSpPr/>
          <p:nvPr/>
        </p:nvSpPr>
        <p:spPr>
          <a:xfrm>
            <a:off x="7424013" y="3030321"/>
            <a:ext cx="65836" cy="65836"/>
          </a:xfrm>
          <a:prstGeom prst="ellipse">
            <a:avLst/>
          </a:prstGeom>
          <a:solidFill>
            <a:srgbClr val="3535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1" name="Oval 570"/>
          <p:cNvSpPr/>
          <p:nvPr/>
        </p:nvSpPr>
        <p:spPr>
          <a:xfrm>
            <a:off x="7529169" y="3030321"/>
            <a:ext cx="65836" cy="65836"/>
          </a:xfrm>
          <a:prstGeom prst="ellipse">
            <a:avLst/>
          </a:prstGeom>
          <a:solidFill>
            <a:srgbClr val="3636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2" name="Oval 571"/>
          <p:cNvSpPr/>
          <p:nvPr/>
        </p:nvSpPr>
        <p:spPr>
          <a:xfrm>
            <a:off x="7634325" y="3030321"/>
            <a:ext cx="65836" cy="65836"/>
          </a:xfrm>
          <a:prstGeom prst="ellipse">
            <a:avLst/>
          </a:prstGeom>
          <a:solidFill>
            <a:srgbClr val="383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3" name="Oval 572"/>
          <p:cNvSpPr/>
          <p:nvPr/>
        </p:nvSpPr>
        <p:spPr>
          <a:xfrm>
            <a:off x="7739481" y="3030321"/>
            <a:ext cx="65836" cy="65836"/>
          </a:xfrm>
          <a:prstGeom prst="ellipse">
            <a:avLst/>
          </a:prstGeom>
          <a:solidFill>
            <a:srgbClr val="3A3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4" name="Oval 573"/>
          <p:cNvSpPr/>
          <p:nvPr/>
        </p:nvSpPr>
        <p:spPr>
          <a:xfrm>
            <a:off x="7844637" y="3030321"/>
            <a:ext cx="65836" cy="65836"/>
          </a:xfrm>
          <a:prstGeom prst="ellipse">
            <a:avLst/>
          </a:prstGeom>
          <a:solidFill>
            <a:srgbClr val="3B3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5" name="Oval 574"/>
          <p:cNvSpPr/>
          <p:nvPr/>
        </p:nvSpPr>
        <p:spPr>
          <a:xfrm>
            <a:off x="7949793" y="3030321"/>
            <a:ext cx="65836" cy="65836"/>
          </a:xfrm>
          <a:prstGeom prst="ellipse">
            <a:avLst/>
          </a:prstGeom>
          <a:solidFill>
            <a:srgbClr val="3D3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6" name="Oval 575"/>
          <p:cNvSpPr/>
          <p:nvPr/>
        </p:nvSpPr>
        <p:spPr>
          <a:xfrm>
            <a:off x="8054949" y="3030321"/>
            <a:ext cx="65836" cy="65836"/>
          </a:xfrm>
          <a:prstGeom prst="ellipse">
            <a:avLst/>
          </a:prstGeom>
          <a:solidFill>
            <a:srgbClr val="3E3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7" name="Oval 576"/>
          <p:cNvSpPr/>
          <p:nvPr/>
        </p:nvSpPr>
        <p:spPr>
          <a:xfrm>
            <a:off x="8160105" y="3030321"/>
            <a:ext cx="65836" cy="65836"/>
          </a:xfrm>
          <a:prstGeom prst="ellipse">
            <a:avLst/>
          </a:prstGeom>
          <a:solidFill>
            <a:srgbClr val="4040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8" name="Oval 577"/>
          <p:cNvSpPr/>
          <p:nvPr/>
        </p:nvSpPr>
        <p:spPr>
          <a:xfrm>
            <a:off x="8265261" y="3030321"/>
            <a:ext cx="65836" cy="65836"/>
          </a:xfrm>
          <a:prstGeom prst="ellipse">
            <a:avLst/>
          </a:prstGeom>
          <a:solidFill>
            <a:srgbClr val="4141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9" name="Oval 578"/>
          <p:cNvSpPr/>
          <p:nvPr/>
        </p:nvSpPr>
        <p:spPr>
          <a:xfrm>
            <a:off x="8370417" y="3030321"/>
            <a:ext cx="65836" cy="65836"/>
          </a:xfrm>
          <a:prstGeom prst="ellipse">
            <a:avLst/>
          </a:prstGeom>
          <a:solidFill>
            <a:srgbClr val="4343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0" name="Oval 579"/>
          <p:cNvSpPr/>
          <p:nvPr/>
        </p:nvSpPr>
        <p:spPr>
          <a:xfrm>
            <a:off x="8475573" y="3030321"/>
            <a:ext cx="65836" cy="65836"/>
          </a:xfrm>
          <a:prstGeom prst="ellipse">
            <a:avLst/>
          </a:prstGeom>
          <a:solidFill>
            <a:srgbClr val="4545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1" name="Oval 580"/>
          <p:cNvSpPr/>
          <p:nvPr/>
        </p:nvSpPr>
        <p:spPr>
          <a:xfrm>
            <a:off x="8580729" y="3030321"/>
            <a:ext cx="65836" cy="65836"/>
          </a:xfrm>
          <a:prstGeom prst="ellipse">
            <a:avLst/>
          </a:prstGeom>
          <a:solidFill>
            <a:srgbClr val="464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2" name="Oval 581"/>
          <p:cNvSpPr/>
          <p:nvPr/>
        </p:nvSpPr>
        <p:spPr>
          <a:xfrm>
            <a:off x="8685885" y="3030321"/>
            <a:ext cx="65836" cy="65836"/>
          </a:xfrm>
          <a:prstGeom prst="ellipse">
            <a:avLst/>
          </a:prstGeom>
          <a:solidFill>
            <a:srgbClr val="484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3" name="Oval 582"/>
          <p:cNvSpPr/>
          <p:nvPr/>
        </p:nvSpPr>
        <p:spPr>
          <a:xfrm>
            <a:off x="8791041" y="3030321"/>
            <a:ext cx="65836" cy="65836"/>
          </a:xfrm>
          <a:prstGeom prst="ellipse">
            <a:avLst/>
          </a:prstGeom>
          <a:solidFill>
            <a:srgbClr val="4949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4" name="Oval 583"/>
          <p:cNvSpPr/>
          <p:nvPr/>
        </p:nvSpPr>
        <p:spPr>
          <a:xfrm>
            <a:off x="8896197" y="3030321"/>
            <a:ext cx="65836" cy="65836"/>
          </a:xfrm>
          <a:prstGeom prst="ellipse">
            <a:avLst/>
          </a:prstGeom>
          <a:solidFill>
            <a:srgbClr val="4B4B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5" name="Oval 584"/>
          <p:cNvSpPr/>
          <p:nvPr/>
        </p:nvSpPr>
        <p:spPr>
          <a:xfrm>
            <a:off x="9001353" y="3030321"/>
            <a:ext cx="65836" cy="65836"/>
          </a:xfrm>
          <a:prstGeom prst="ellipse">
            <a:avLst/>
          </a:prstGeom>
          <a:solidFill>
            <a:srgbClr val="4C4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6" name="Oval 585"/>
          <p:cNvSpPr/>
          <p:nvPr/>
        </p:nvSpPr>
        <p:spPr>
          <a:xfrm>
            <a:off x="9106509" y="3030321"/>
            <a:ext cx="65836" cy="65836"/>
          </a:xfrm>
          <a:prstGeom prst="ellipse">
            <a:avLst/>
          </a:prstGeom>
          <a:solidFill>
            <a:srgbClr val="4E4E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7" name="Oval 586"/>
          <p:cNvSpPr/>
          <p:nvPr/>
        </p:nvSpPr>
        <p:spPr>
          <a:xfrm>
            <a:off x="9211665" y="3030321"/>
            <a:ext cx="65836" cy="65836"/>
          </a:xfrm>
          <a:prstGeom prst="ellipse">
            <a:avLst/>
          </a:prstGeom>
          <a:solidFill>
            <a:srgbClr val="4F4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8" name="Oval 587"/>
          <p:cNvSpPr/>
          <p:nvPr/>
        </p:nvSpPr>
        <p:spPr>
          <a:xfrm>
            <a:off x="9316821" y="3030321"/>
            <a:ext cx="65836" cy="65836"/>
          </a:xfrm>
          <a:prstGeom prst="ellipse">
            <a:avLst/>
          </a:prstGeom>
          <a:solidFill>
            <a:srgbClr val="51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9" name="Oval 588"/>
          <p:cNvSpPr/>
          <p:nvPr/>
        </p:nvSpPr>
        <p:spPr>
          <a:xfrm>
            <a:off x="9421977" y="3030321"/>
            <a:ext cx="65836" cy="65836"/>
          </a:xfrm>
          <a:prstGeom prst="ellipse">
            <a:avLst/>
          </a:prstGeom>
          <a:solidFill>
            <a:srgbClr val="53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0" name="Oval 589"/>
          <p:cNvSpPr/>
          <p:nvPr/>
        </p:nvSpPr>
        <p:spPr>
          <a:xfrm>
            <a:off x="9527133" y="3030321"/>
            <a:ext cx="65836" cy="65836"/>
          </a:xfrm>
          <a:prstGeom prst="ellipse">
            <a:avLst/>
          </a:prstGeom>
          <a:solidFill>
            <a:srgbClr val="5454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1" name="Oval 590"/>
          <p:cNvSpPr/>
          <p:nvPr/>
        </p:nvSpPr>
        <p:spPr>
          <a:xfrm>
            <a:off x="9632289" y="3030321"/>
            <a:ext cx="65836" cy="65836"/>
          </a:xfrm>
          <a:prstGeom prst="ellipse">
            <a:avLst/>
          </a:prstGeom>
          <a:solidFill>
            <a:srgbClr val="565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2" name="Oval 591"/>
          <p:cNvSpPr/>
          <p:nvPr/>
        </p:nvSpPr>
        <p:spPr>
          <a:xfrm>
            <a:off x="9737445" y="3030321"/>
            <a:ext cx="65836" cy="65836"/>
          </a:xfrm>
          <a:prstGeom prst="ellipse">
            <a:avLst/>
          </a:prstGeom>
          <a:solidFill>
            <a:srgbClr val="5757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3" name="Oval 592"/>
          <p:cNvSpPr/>
          <p:nvPr/>
        </p:nvSpPr>
        <p:spPr>
          <a:xfrm>
            <a:off x="9842601" y="3030321"/>
            <a:ext cx="65836" cy="65836"/>
          </a:xfrm>
          <a:prstGeom prst="ellipse">
            <a:avLst/>
          </a:prstGeom>
          <a:solidFill>
            <a:srgbClr val="5959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4" name="Oval 593"/>
          <p:cNvSpPr/>
          <p:nvPr/>
        </p:nvSpPr>
        <p:spPr>
          <a:xfrm>
            <a:off x="9947757" y="3030321"/>
            <a:ext cx="65836" cy="65836"/>
          </a:xfrm>
          <a:prstGeom prst="ellipse">
            <a:avLst/>
          </a:prstGeom>
          <a:solidFill>
            <a:srgbClr val="5A5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5" name="Oval 594"/>
          <p:cNvSpPr/>
          <p:nvPr/>
        </p:nvSpPr>
        <p:spPr>
          <a:xfrm>
            <a:off x="10052913" y="3030321"/>
            <a:ext cx="65836" cy="65836"/>
          </a:xfrm>
          <a:prstGeom prst="ellipse">
            <a:avLst/>
          </a:prstGeom>
          <a:solidFill>
            <a:srgbClr val="5C5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6" name="Oval 595"/>
          <p:cNvSpPr/>
          <p:nvPr/>
        </p:nvSpPr>
        <p:spPr>
          <a:xfrm>
            <a:off x="10158069" y="3030321"/>
            <a:ext cx="65836" cy="65836"/>
          </a:xfrm>
          <a:prstGeom prst="ellipse">
            <a:avLst/>
          </a:prstGeom>
          <a:solidFill>
            <a:srgbClr val="5E5E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7" name="Oval 596"/>
          <p:cNvSpPr/>
          <p:nvPr/>
        </p:nvSpPr>
        <p:spPr>
          <a:xfrm>
            <a:off x="10263225" y="3030321"/>
            <a:ext cx="65836" cy="65836"/>
          </a:xfrm>
          <a:prstGeom prst="ellipse">
            <a:avLst/>
          </a:prstGeom>
          <a:solidFill>
            <a:srgbClr val="5F5F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8" name="Oval 597"/>
          <p:cNvSpPr/>
          <p:nvPr/>
        </p:nvSpPr>
        <p:spPr>
          <a:xfrm>
            <a:off x="10368381" y="3030321"/>
            <a:ext cx="65836" cy="65836"/>
          </a:xfrm>
          <a:prstGeom prst="ellipse">
            <a:avLst/>
          </a:prstGeom>
          <a:solidFill>
            <a:srgbClr val="6161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9" name="Oval 598"/>
          <p:cNvSpPr/>
          <p:nvPr/>
        </p:nvSpPr>
        <p:spPr>
          <a:xfrm>
            <a:off x="10473537" y="3030321"/>
            <a:ext cx="65836" cy="65836"/>
          </a:xfrm>
          <a:prstGeom prst="ellipse">
            <a:avLst/>
          </a:prstGeom>
          <a:solidFill>
            <a:srgbClr val="6262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0" name="Oval 599"/>
          <p:cNvSpPr/>
          <p:nvPr/>
        </p:nvSpPr>
        <p:spPr>
          <a:xfrm>
            <a:off x="10578693" y="3030321"/>
            <a:ext cx="65836" cy="65836"/>
          </a:xfrm>
          <a:prstGeom prst="ellipse">
            <a:avLst/>
          </a:prstGeom>
          <a:solidFill>
            <a:srgbClr val="646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1" name="Oval 600"/>
          <p:cNvSpPr/>
          <p:nvPr/>
        </p:nvSpPr>
        <p:spPr>
          <a:xfrm>
            <a:off x="10683849" y="3030321"/>
            <a:ext cx="65836" cy="65836"/>
          </a:xfrm>
          <a:prstGeom prst="ellipse">
            <a:avLst/>
          </a:prstGeom>
          <a:solidFill>
            <a:srgbClr val="6565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2" name="Oval 601"/>
          <p:cNvSpPr/>
          <p:nvPr/>
        </p:nvSpPr>
        <p:spPr>
          <a:xfrm>
            <a:off x="10789005" y="3030321"/>
            <a:ext cx="65836" cy="65836"/>
          </a:xfrm>
          <a:prstGeom prst="ellipse">
            <a:avLst/>
          </a:prstGeom>
          <a:solidFill>
            <a:srgbClr val="6767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3" name="Oval 602"/>
          <p:cNvSpPr/>
          <p:nvPr/>
        </p:nvSpPr>
        <p:spPr>
          <a:xfrm>
            <a:off x="10894161" y="3030321"/>
            <a:ext cx="65836" cy="65836"/>
          </a:xfrm>
          <a:prstGeom prst="ellipse">
            <a:avLst/>
          </a:prstGeom>
          <a:solidFill>
            <a:srgbClr val="6868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4" name="Oval 603"/>
          <p:cNvSpPr/>
          <p:nvPr/>
        </p:nvSpPr>
        <p:spPr>
          <a:xfrm>
            <a:off x="10999317" y="3030321"/>
            <a:ext cx="65836" cy="65836"/>
          </a:xfrm>
          <a:prstGeom prst="ellipse">
            <a:avLst/>
          </a:prstGeom>
          <a:solidFill>
            <a:srgbClr val="6A6A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5" name="Oval 604"/>
          <p:cNvSpPr/>
          <p:nvPr/>
        </p:nvSpPr>
        <p:spPr>
          <a:xfrm>
            <a:off x="11104473" y="3030321"/>
            <a:ext cx="65836" cy="65836"/>
          </a:xfrm>
          <a:prstGeom prst="ellipse">
            <a:avLst/>
          </a:prstGeom>
          <a:solidFill>
            <a:srgbClr val="6C6C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6" name="Oval 605"/>
          <p:cNvSpPr/>
          <p:nvPr/>
        </p:nvSpPr>
        <p:spPr>
          <a:xfrm>
            <a:off x="11209629" y="3030321"/>
            <a:ext cx="65836" cy="65836"/>
          </a:xfrm>
          <a:prstGeom prst="ellipse">
            <a:avLst/>
          </a:prstGeom>
          <a:solidFill>
            <a:srgbClr val="6D6D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7" name="Oval 606"/>
          <p:cNvSpPr/>
          <p:nvPr/>
        </p:nvSpPr>
        <p:spPr>
          <a:xfrm>
            <a:off x="6793077" y="3135477"/>
            <a:ext cx="65836" cy="65836"/>
          </a:xfrm>
          <a:prstGeom prst="ellipse">
            <a:avLst/>
          </a:prstGeom>
          <a:solidFill>
            <a:srgbClr val="2D2D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8" name="Oval 607"/>
          <p:cNvSpPr/>
          <p:nvPr/>
        </p:nvSpPr>
        <p:spPr>
          <a:xfrm>
            <a:off x="6898233" y="3135477"/>
            <a:ext cx="65836" cy="65836"/>
          </a:xfrm>
          <a:prstGeom prst="ellipse">
            <a:avLst/>
          </a:prstGeom>
          <a:solidFill>
            <a:srgbClr val="2F2F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9" name="Oval 608"/>
          <p:cNvSpPr/>
          <p:nvPr/>
        </p:nvSpPr>
        <p:spPr>
          <a:xfrm>
            <a:off x="7003389" y="3135477"/>
            <a:ext cx="65836" cy="65836"/>
          </a:xfrm>
          <a:prstGeom prst="ellipse">
            <a:avLst/>
          </a:prstGeom>
          <a:solidFill>
            <a:srgbClr val="3030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0" name="Oval 609"/>
          <p:cNvSpPr/>
          <p:nvPr/>
        </p:nvSpPr>
        <p:spPr>
          <a:xfrm>
            <a:off x="7108545" y="3135477"/>
            <a:ext cx="65836" cy="65836"/>
          </a:xfrm>
          <a:prstGeom prst="ellipse">
            <a:avLst/>
          </a:prstGeom>
          <a:solidFill>
            <a:srgbClr val="323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1" name="Oval 610"/>
          <p:cNvSpPr/>
          <p:nvPr/>
        </p:nvSpPr>
        <p:spPr>
          <a:xfrm>
            <a:off x="7213701" y="3135477"/>
            <a:ext cx="65836" cy="65836"/>
          </a:xfrm>
          <a:prstGeom prst="ellipse">
            <a:avLst/>
          </a:prstGeom>
          <a:solidFill>
            <a:srgbClr val="333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2" name="Oval 611"/>
          <p:cNvSpPr/>
          <p:nvPr/>
        </p:nvSpPr>
        <p:spPr>
          <a:xfrm>
            <a:off x="7318857" y="3135477"/>
            <a:ext cx="65836" cy="65836"/>
          </a:xfrm>
          <a:prstGeom prst="ellipse">
            <a:avLst/>
          </a:prstGeom>
          <a:solidFill>
            <a:srgbClr val="3535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3" name="Oval 612"/>
          <p:cNvSpPr/>
          <p:nvPr/>
        </p:nvSpPr>
        <p:spPr>
          <a:xfrm>
            <a:off x="7634325" y="3135477"/>
            <a:ext cx="65836" cy="65836"/>
          </a:xfrm>
          <a:prstGeom prst="ellipse">
            <a:avLst/>
          </a:prstGeom>
          <a:solidFill>
            <a:srgbClr val="3A3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4" name="Oval 613"/>
          <p:cNvSpPr/>
          <p:nvPr/>
        </p:nvSpPr>
        <p:spPr>
          <a:xfrm>
            <a:off x="7739481" y="3135477"/>
            <a:ext cx="65836" cy="65836"/>
          </a:xfrm>
          <a:prstGeom prst="ellipse">
            <a:avLst/>
          </a:prstGeom>
          <a:solidFill>
            <a:srgbClr val="3B3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5" name="Oval 614"/>
          <p:cNvSpPr/>
          <p:nvPr/>
        </p:nvSpPr>
        <p:spPr>
          <a:xfrm>
            <a:off x="7844637" y="3135477"/>
            <a:ext cx="65836" cy="65836"/>
          </a:xfrm>
          <a:prstGeom prst="ellipse">
            <a:avLst/>
          </a:prstGeom>
          <a:solidFill>
            <a:srgbClr val="3D3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6" name="Oval 615"/>
          <p:cNvSpPr/>
          <p:nvPr/>
        </p:nvSpPr>
        <p:spPr>
          <a:xfrm>
            <a:off x="7949793" y="3135477"/>
            <a:ext cx="65836" cy="65836"/>
          </a:xfrm>
          <a:prstGeom prst="ellipse">
            <a:avLst/>
          </a:prstGeom>
          <a:solidFill>
            <a:srgbClr val="3E3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7" name="Oval 616"/>
          <p:cNvSpPr/>
          <p:nvPr/>
        </p:nvSpPr>
        <p:spPr>
          <a:xfrm>
            <a:off x="8054949" y="3135477"/>
            <a:ext cx="65836" cy="65836"/>
          </a:xfrm>
          <a:prstGeom prst="ellipse">
            <a:avLst/>
          </a:prstGeom>
          <a:solidFill>
            <a:srgbClr val="4040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8" name="Oval 617"/>
          <p:cNvSpPr/>
          <p:nvPr/>
        </p:nvSpPr>
        <p:spPr>
          <a:xfrm>
            <a:off x="8160105" y="3135477"/>
            <a:ext cx="65836" cy="65836"/>
          </a:xfrm>
          <a:prstGeom prst="ellipse">
            <a:avLst/>
          </a:prstGeom>
          <a:solidFill>
            <a:srgbClr val="4141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9" name="Oval 618"/>
          <p:cNvSpPr/>
          <p:nvPr/>
        </p:nvSpPr>
        <p:spPr>
          <a:xfrm>
            <a:off x="8265261" y="3135477"/>
            <a:ext cx="65836" cy="65836"/>
          </a:xfrm>
          <a:prstGeom prst="ellipse">
            <a:avLst/>
          </a:prstGeom>
          <a:solidFill>
            <a:srgbClr val="4343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0" name="Oval 619"/>
          <p:cNvSpPr/>
          <p:nvPr/>
        </p:nvSpPr>
        <p:spPr>
          <a:xfrm>
            <a:off x="8370417" y="3135477"/>
            <a:ext cx="65836" cy="65836"/>
          </a:xfrm>
          <a:prstGeom prst="ellipse">
            <a:avLst/>
          </a:prstGeom>
          <a:solidFill>
            <a:srgbClr val="4545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1" name="Oval 620"/>
          <p:cNvSpPr/>
          <p:nvPr/>
        </p:nvSpPr>
        <p:spPr>
          <a:xfrm>
            <a:off x="8475573" y="3135477"/>
            <a:ext cx="65836" cy="65836"/>
          </a:xfrm>
          <a:prstGeom prst="ellipse">
            <a:avLst/>
          </a:prstGeom>
          <a:solidFill>
            <a:srgbClr val="464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2" name="Oval 621"/>
          <p:cNvSpPr/>
          <p:nvPr/>
        </p:nvSpPr>
        <p:spPr>
          <a:xfrm>
            <a:off x="8580729" y="3135477"/>
            <a:ext cx="65836" cy="65836"/>
          </a:xfrm>
          <a:prstGeom prst="ellipse">
            <a:avLst/>
          </a:prstGeom>
          <a:solidFill>
            <a:srgbClr val="484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3" name="Oval 622"/>
          <p:cNvSpPr/>
          <p:nvPr/>
        </p:nvSpPr>
        <p:spPr>
          <a:xfrm>
            <a:off x="8685885" y="3135477"/>
            <a:ext cx="65836" cy="65836"/>
          </a:xfrm>
          <a:prstGeom prst="ellipse">
            <a:avLst/>
          </a:prstGeom>
          <a:solidFill>
            <a:srgbClr val="4949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4" name="Oval 623"/>
          <p:cNvSpPr/>
          <p:nvPr/>
        </p:nvSpPr>
        <p:spPr>
          <a:xfrm>
            <a:off x="8791041" y="3135477"/>
            <a:ext cx="65836" cy="65836"/>
          </a:xfrm>
          <a:prstGeom prst="ellipse">
            <a:avLst/>
          </a:prstGeom>
          <a:solidFill>
            <a:srgbClr val="4B4B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5" name="Oval 624"/>
          <p:cNvSpPr/>
          <p:nvPr/>
        </p:nvSpPr>
        <p:spPr>
          <a:xfrm>
            <a:off x="8896197" y="3135477"/>
            <a:ext cx="65836" cy="65836"/>
          </a:xfrm>
          <a:prstGeom prst="ellipse">
            <a:avLst/>
          </a:prstGeom>
          <a:solidFill>
            <a:srgbClr val="4C4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6" name="Oval 625"/>
          <p:cNvSpPr/>
          <p:nvPr/>
        </p:nvSpPr>
        <p:spPr>
          <a:xfrm>
            <a:off x="9001353" y="3135477"/>
            <a:ext cx="65836" cy="65836"/>
          </a:xfrm>
          <a:prstGeom prst="ellipse">
            <a:avLst/>
          </a:prstGeom>
          <a:solidFill>
            <a:srgbClr val="4E4E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7" name="Oval 626"/>
          <p:cNvSpPr/>
          <p:nvPr/>
        </p:nvSpPr>
        <p:spPr>
          <a:xfrm>
            <a:off x="9106509" y="3135477"/>
            <a:ext cx="65836" cy="65836"/>
          </a:xfrm>
          <a:prstGeom prst="ellipse">
            <a:avLst/>
          </a:prstGeom>
          <a:solidFill>
            <a:srgbClr val="5050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8" name="Oval 627"/>
          <p:cNvSpPr/>
          <p:nvPr/>
        </p:nvSpPr>
        <p:spPr>
          <a:xfrm>
            <a:off x="9211665" y="3135477"/>
            <a:ext cx="65836" cy="65836"/>
          </a:xfrm>
          <a:prstGeom prst="ellipse">
            <a:avLst/>
          </a:prstGeom>
          <a:solidFill>
            <a:srgbClr val="51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9" name="Oval 628"/>
          <p:cNvSpPr/>
          <p:nvPr/>
        </p:nvSpPr>
        <p:spPr>
          <a:xfrm>
            <a:off x="9316821" y="3135477"/>
            <a:ext cx="65836" cy="65836"/>
          </a:xfrm>
          <a:prstGeom prst="ellipse">
            <a:avLst/>
          </a:prstGeom>
          <a:solidFill>
            <a:srgbClr val="53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0" name="Oval 629"/>
          <p:cNvSpPr/>
          <p:nvPr/>
        </p:nvSpPr>
        <p:spPr>
          <a:xfrm>
            <a:off x="9421977" y="3135477"/>
            <a:ext cx="65836" cy="65836"/>
          </a:xfrm>
          <a:prstGeom prst="ellipse">
            <a:avLst/>
          </a:prstGeom>
          <a:solidFill>
            <a:srgbClr val="5454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1" name="Oval 630"/>
          <p:cNvSpPr/>
          <p:nvPr/>
        </p:nvSpPr>
        <p:spPr>
          <a:xfrm>
            <a:off x="9527133" y="3135477"/>
            <a:ext cx="65836" cy="65836"/>
          </a:xfrm>
          <a:prstGeom prst="ellipse">
            <a:avLst/>
          </a:prstGeom>
          <a:solidFill>
            <a:srgbClr val="565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2" name="Oval 631"/>
          <p:cNvSpPr/>
          <p:nvPr/>
        </p:nvSpPr>
        <p:spPr>
          <a:xfrm>
            <a:off x="9632289" y="3135477"/>
            <a:ext cx="65836" cy="65836"/>
          </a:xfrm>
          <a:prstGeom prst="ellipse">
            <a:avLst/>
          </a:prstGeom>
          <a:solidFill>
            <a:srgbClr val="5757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3" name="Oval 632"/>
          <p:cNvSpPr/>
          <p:nvPr/>
        </p:nvSpPr>
        <p:spPr>
          <a:xfrm>
            <a:off x="9737445" y="3135477"/>
            <a:ext cx="65836" cy="65836"/>
          </a:xfrm>
          <a:prstGeom prst="ellipse">
            <a:avLst/>
          </a:prstGeom>
          <a:solidFill>
            <a:srgbClr val="5959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4" name="Oval 633"/>
          <p:cNvSpPr/>
          <p:nvPr/>
        </p:nvSpPr>
        <p:spPr>
          <a:xfrm>
            <a:off x="9842601" y="3135477"/>
            <a:ext cx="65836" cy="65836"/>
          </a:xfrm>
          <a:prstGeom prst="ellipse">
            <a:avLst/>
          </a:prstGeom>
          <a:solidFill>
            <a:srgbClr val="5A5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5" name="Oval 634"/>
          <p:cNvSpPr/>
          <p:nvPr/>
        </p:nvSpPr>
        <p:spPr>
          <a:xfrm>
            <a:off x="9947757" y="3135477"/>
            <a:ext cx="65836" cy="65836"/>
          </a:xfrm>
          <a:prstGeom prst="ellipse">
            <a:avLst/>
          </a:prstGeom>
          <a:solidFill>
            <a:srgbClr val="5C5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6" name="Oval 635"/>
          <p:cNvSpPr/>
          <p:nvPr/>
        </p:nvSpPr>
        <p:spPr>
          <a:xfrm>
            <a:off x="10052913" y="3135477"/>
            <a:ext cx="65836" cy="65836"/>
          </a:xfrm>
          <a:prstGeom prst="ellipse">
            <a:avLst/>
          </a:prstGeom>
          <a:solidFill>
            <a:srgbClr val="5E5E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7" name="Oval 636"/>
          <p:cNvSpPr/>
          <p:nvPr/>
        </p:nvSpPr>
        <p:spPr>
          <a:xfrm>
            <a:off x="10158069" y="3135477"/>
            <a:ext cx="65836" cy="65836"/>
          </a:xfrm>
          <a:prstGeom prst="ellipse">
            <a:avLst/>
          </a:prstGeom>
          <a:solidFill>
            <a:srgbClr val="5F5F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8" name="Oval 637"/>
          <p:cNvSpPr/>
          <p:nvPr/>
        </p:nvSpPr>
        <p:spPr>
          <a:xfrm>
            <a:off x="10263225" y="3135477"/>
            <a:ext cx="65836" cy="65836"/>
          </a:xfrm>
          <a:prstGeom prst="ellipse">
            <a:avLst/>
          </a:prstGeom>
          <a:solidFill>
            <a:srgbClr val="6161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9" name="Oval 638"/>
          <p:cNvSpPr/>
          <p:nvPr/>
        </p:nvSpPr>
        <p:spPr>
          <a:xfrm>
            <a:off x="10368381" y="3135477"/>
            <a:ext cx="65836" cy="65836"/>
          </a:xfrm>
          <a:prstGeom prst="ellipse">
            <a:avLst/>
          </a:prstGeom>
          <a:solidFill>
            <a:srgbClr val="6262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0" name="Oval 639"/>
          <p:cNvSpPr/>
          <p:nvPr/>
        </p:nvSpPr>
        <p:spPr>
          <a:xfrm>
            <a:off x="10473537" y="3135477"/>
            <a:ext cx="65836" cy="65836"/>
          </a:xfrm>
          <a:prstGeom prst="ellipse">
            <a:avLst/>
          </a:prstGeom>
          <a:solidFill>
            <a:srgbClr val="646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1" name="Oval 640"/>
          <p:cNvSpPr/>
          <p:nvPr/>
        </p:nvSpPr>
        <p:spPr>
          <a:xfrm>
            <a:off x="10578693" y="3135477"/>
            <a:ext cx="65836" cy="65836"/>
          </a:xfrm>
          <a:prstGeom prst="ellipse">
            <a:avLst/>
          </a:prstGeom>
          <a:solidFill>
            <a:srgbClr val="6565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2" name="Oval 641"/>
          <p:cNvSpPr/>
          <p:nvPr/>
        </p:nvSpPr>
        <p:spPr>
          <a:xfrm>
            <a:off x="10683849" y="3135477"/>
            <a:ext cx="65836" cy="65836"/>
          </a:xfrm>
          <a:prstGeom prst="ellipse">
            <a:avLst/>
          </a:prstGeom>
          <a:solidFill>
            <a:srgbClr val="6767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3" name="Oval 642"/>
          <p:cNvSpPr/>
          <p:nvPr/>
        </p:nvSpPr>
        <p:spPr>
          <a:xfrm>
            <a:off x="10789005" y="3135477"/>
            <a:ext cx="65836" cy="65836"/>
          </a:xfrm>
          <a:prstGeom prst="ellipse">
            <a:avLst/>
          </a:prstGeom>
          <a:solidFill>
            <a:srgbClr val="696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4" name="Oval 643"/>
          <p:cNvSpPr/>
          <p:nvPr/>
        </p:nvSpPr>
        <p:spPr>
          <a:xfrm>
            <a:off x="10894161" y="3135477"/>
            <a:ext cx="65836" cy="65836"/>
          </a:xfrm>
          <a:prstGeom prst="ellipse">
            <a:avLst/>
          </a:prstGeom>
          <a:solidFill>
            <a:srgbClr val="6A6A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5" name="Oval 644"/>
          <p:cNvSpPr/>
          <p:nvPr/>
        </p:nvSpPr>
        <p:spPr>
          <a:xfrm>
            <a:off x="10999317" y="3135477"/>
            <a:ext cx="65836" cy="65836"/>
          </a:xfrm>
          <a:prstGeom prst="ellipse">
            <a:avLst/>
          </a:prstGeom>
          <a:solidFill>
            <a:srgbClr val="6C6C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6" name="Oval 645"/>
          <p:cNvSpPr/>
          <p:nvPr/>
        </p:nvSpPr>
        <p:spPr>
          <a:xfrm>
            <a:off x="11104473" y="3135477"/>
            <a:ext cx="65836" cy="65836"/>
          </a:xfrm>
          <a:prstGeom prst="ellipse">
            <a:avLst/>
          </a:prstGeom>
          <a:solidFill>
            <a:srgbClr val="6D6D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7" name="Oval 646"/>
          <p:cNvSpPr/>
          <p:nvPr/>
        </p:nvSpPr>
        <p:spPr>
          <a:xfrm>
            <a:off x="11209629" y="3135477"/>
            <a:ext cx="65836" cy="65836"/>
          </a:xfrm>
          <a:prstGeom prst="ellipse">
            <a:avLst/>
          </a:prstGeom>
          <a:solidFill>
            <a:srgbClr val="6F6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8" name="Oval 647"/>
          <p:cNvSpPr/>
          <p:nvPr/>
        </p:nvSpPr>
        <p:spPr>
          <a:xfrm>
            <a:off x="6793077" y="3240633"/>
            <a:ext cx="65836" cy="65836"/>
          </a:xfrm>
          <a:prstGeom prst="ellipse">
            <a:avLst/>
          </a:prstGeom>
          <a:solidFill>
            <a:srgbClr val="2F2F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9" name="Oval 648"/>
          <p:cNvSpPr/>
          <p:nvPr/>
        </p:nvSpPr>
        <p:spPr>
          <a:xfrm>
            <a:off x="6898233" y="3240633"/>
            <a:ext cx="65836" cy="65836"/>
          </a:xfrm>
          <a:prstGeom prst="ellipse">
            <a:avLst/>
          </a:prstGeom>
          <a:solidFill>
            <a:srgbClr val="3030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0" name="Oval 649"/>
          <p:cNvSpPr/>
          <p:nvPr/>
        </p:nvSpPr>
        <p:spPr>
          <a:xfrm>
            <a:off x="7634325" y="3240633"/>
            <a:ext cx="65836" cy="65836"/>
          </a:xfrm>
          <a:prstGeom prst="ellipse">
            <a:avLst/>
          </a:prstGeom>
          <a:solidFill>
            <a:srgbClr val="3B3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1" name="Oval 650"/>
          <p:cNvSpPr/>
          <p:nvPr/>
        </p:nvSpPr>
        <p:spPr>
          <a:xfrm>
            <a:off x="7739481" y="3240633"/>
            <a:ext cx="65836" cy="65836"/>
          </a:xfrm>
          <a:prstGeom prst="ellipse">
            <a:avLst/>
          </a:prstGeom>
          <a:solidFill>
            <a:srgbClr val="3D3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2" name="Oval 651"/>
          <p:cNvSpPr/>
          <p:nvPr/>
        </p:nvSpPr>
        <p:spPr>
          <a:xfrm>
            <a:off x="7844637" y="3240633"/>
            <a:ext cx="65836" cy="65836"/>
          </a:xfrm>
          <a:prstGeom prst="ellipse">
            <a:avLst/>
          </a:prstGeom>
          <a:solidFill>
            <a:srgbClr val="3E3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3" name="Oval 652"/>
          <p:cNvSpPr/>
          <p:nvPr/>
        </p:nvSpPr>
        <p:spPr>
          <a:xfrm>
            <a:off x="7949793" y="3240633"/>
            <a:ext cx="65836" cy="65836"/>
          </a:xfrm>
          <a:prstGeom prst="ellipse">
            <a:avLst/>
          </a:prstGeom>
          <a:solidFill>
            <a:srgbClr val="4040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4" name="Oval 653"/>
          <p:cNvSpPr/>
          <p:nvPr/>
        </p:nvSpPr>
        <p:spPr>
          <a:xfrm>
            <a:off x="8054949" y="3240633"/>
            <a:ext cx="65836" cy="65836"/>
          </a:xfrm>
          <a:prstGeom prst="ellipse">
            <a:avLst/>
          </a:prstGeom>
          <a:solidFill>
            <a:srgbClr val="4242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5" name="Oval 654"/>
          <p:cNvSpPr/>
          <p:nvPr/>
        </p:nvSpPr>
        <p:spPr>
          <a:xfrm>
            <a:off x="8160105" y="3240633"/>
            <a:ext cx="65836" cy="65836"/>
          </a:xfrm>
          <a:prstGeom prst="ellipse">
            <a:avLst/>
          </a:prstGeom>
          <a:solidFill>
            <a:srgbClr val="4343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6" name="Oval 655"/>
          <p:cNvSpPr/>
          <p:nvPr/>
        </p:nvSpPr>
        <p:spPr>
          <a:xfrm>
            <a:off x="8265261" y="3240633"/>
            <a:ext cx="65836" cy="65836"/>
          </a:xfrm>
          <a:prstGeom prst="ellipse">
            <a:avLst/>
          </a:prstGeom>
          <a:solidFill>
            <a:srgbClr val="4545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7" name="Oval 656"/>
          <p:cNvSpPr/>
          <p:nvPr/>
        </p:nvSpPr>
        <p:spPr>
          <a:xfrm>
            <a:off x="8370417" y="3240633"/>
            <a:ext cx="65836" cy="65836"/>
          </a:xfrm>
          <a:prstGeom prst="ellipse">
            <a:avLst/>
          </a:prstGeom>
          <a:solidFill>
            <a:srgbClr val="464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8" name="Oval 657"/>
          <p:cNvSpPr/>
          <p:nvPr/>
        </p:nvSpPr>
        <p:spPr>
          <a:xfrm>
            <a:off x="8475573" y="3240633"/>
            <a:ext cx="65836" cy="65836"/>
          </a:xfrm>
          <a:prstGeom prst="ellipse">
            <a:avLst/>
          </a:prstGeom>
          <a:solidFill>
            <a:srgbClr val="484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9" name="Oval 658"/>
          <p:cNvSpPr/>
          <p:nvPr/>
        </p:nvSpPr>
        <p:spPr>
          <a:xfrm>
            <a:off x="8580729" y="3240633"/>
            <a:ext cx="65836" cy="65836"/>
          </a:xfrm>
          <a:prstGeom prst="ellipse">
            <a:avLst/>
          </a:prstGeom>
          <a:solidFill>
            <a:srgbClr val="4949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0" name="Oval 659"/>
          <p:cNvSpPr/>
          <p:nvPr/>
        </p:nvSpPr>
        <p:spPr>
          <a:xfrm>
            <a:off x="8685885" y="3240633"/>
            <a:ext cx="65836" cy="65836"/>
          </a:xfrm>
          <a:prstGeom prst="ellipse">
            <a:avLst/>
          </a:prstGeom>
          <a:solidFill>
            <a:srgbClr val="4B4B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1" name="Oval 660"/>
          <p:cNvSpPr/>
          <p:nvPr/>
        </p:nvSpPr>
        <p:spPr>
          <a:xfrm>
            <a:off x="8791041" y="3240633"/>
            <a:ext cx="65836" cy="65836"/>
          </a:xfrm>
          <a:prstGeom prst="ellipse">
            <a:avLst/>
          </a:prstGeom>
          <a:solidFill>
            <a:srgbClr val="4C4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2" name="Oval 661"/>
          <p:cNvSpPr/>
          <p:nvPr/>
        </p:nvSpPr>
        <p:spPr>
          <a:xfrm>
            <a:off x="8896197" y="3240633"/>
            <a:ext cx="65836" cy="65836"/>
          </a:xfrm>
          <a:prstGeom prst="ellipse">
            <a:avLst/>
          </a:prstGeom>
          <a:solidFill>
            <a:srgbClr val="4E4E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3" name="Oval 662"/>
          <p:cNvSpPr/>
          <p:nvPr/>
        </p:nvSpPr>
        <p:spPr>
          <a:xfrm>
            <a:off x="9001353" y="3240633"/>
            <a:ext cx="65836" cy="65836"/>
          </a:xfrm>
          <a:prstGeom prst="ellipse">
            <a:avLst/>
          </a:prstGeom>
          <a:solidFill>
            <a:srgbClr val="5050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4" name="Oval 663"/>
          <p:cNvSpPr/>
          <p:nvPr/>
        </p:nvSpPr>
        <p:spPr>
          <a:xfrm>
            <a:off x="9106509" y="3240633"/>
            <a:ext cx="65836" cy="65836"/>
          </a:xfrm>
          <a:prstGeom prst="ellipse">
            <a:avLst/>
          </a:prstGeom>
          <a:solidFill>
            <a:srgbClr val="51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5" name="Oval 664"/>
          <p:cNvSpPr/>
          <p:nvPr/>
        </p:nvSpPr>
        <p:spPr>
          <a:xfrm>
            <a:off x="9211665" y="3240633"/>
            <a:ext cx="65836" cy="65836"/>
          </a:xfrm>
          <a:prstGeom prst="ellipse">
            <a:avLst/>
          </a:prstGeom>
          <a:solidFill>
            <a:srgbClr val="53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6" name="Oval 665"/>
          <p:cNvSpPr/>
          <p:nvPr/>
        </p:nvSpPr>
        <p:spPr>
          <a:xfrm>
            <a:off x="9316821" y="3240633"/>
            <a:ext cx="65836" cy="65836"/>
          </a:xfrm>
          <a:prstGeom prst="ellipse">
            <a:avLst/>
          </a:prstGeom>
          <a:solidFill>
            <a:srgbClr val="5454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7" name="Oval 666"/>
          <p:cNvSpPr/>
          <p:nvPr/>
        </p:nvSpPr>
        <p:spPr>
          <a:xfrm>
            <a:off x="9421977" y="3240633"/>
            <a:ext cx="65836" cy="65836"/>
          </a:xfrm>
          <a:prstGeom prst="ellipse">
            <a:avLst/>
          </a:prstGeom>
          <a:solidFill>
            <a:srgbClr val="565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8" name="Oval 667"/>
          <p:cNvSpPr/>
          <p:nvPr/>
        </p:nvSpPr>
        <p:spPr>
          <a:xfrm>
            <a:off x="9527133" y="3240633"/>
            <a:ext cx="65836" cy="65836"/>
          </a:xfrm>
          <a:prstGeom prst="ellipse">
            <a:avLst/>
          </a:prstGeom>
          <a:solidFill>
            <a:srgbClr val="5757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9" name="Oval 668"/>
          <p:cNvSpPr/>
          <p:nvPr/>
        </p:nvSpPr>
        <p:spPr>
          <a:xfrm>
            <a:off x="9632289" y="3240633"/>
            <a:ext cx="65836" cy="65836"/>
          </a:xfrm>
          <a:prstGeom prst="ellipse">
            <a:avLst/>
          </a:prstGeom>
          <a:solidFill>
            <a:srgbClr val="5959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0" name="Oval 669"/>
          <p:cNvSpPr/>
          <p:nvPr/>
        </p:nvSpPr>
        <p:spPr>
          <a:xfrm>
            <a:off x="9737445" y="3240633"/>
            <a:ext cx="65836" cy="65836"/>
          </a:xfrm>
          <a:prstGeom prst="ellipse">
            <a:avLst/>
          </a:prstGeom>
          <a:solidFill>
            <a:srgbClr val="5B5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1" name="Oval 670"/>
          <p:cNvSpPr/>
          <p:nvPr/>
        </p:nvSpPr>
        <p:spPr>
          <a:xfrm>
            <a:off x="9842601" y="3240633"/>
            <a:ext cx="65836" cy="65836"/>
          </a:xfrm>
          <a:prstGeom prst="ellipse">
            <a:avLst/>
          </a:prstGeom>
          <a:solidFill>
            <a:srgbClr val="5C5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2" name="Oval 671"/>
          <p:cNvSpPr/>
          <p:nvPr/>
        </p:nvSpPr>
        <p:spPr>
          <a:xfrm>
            <a:off x="9947757" y="3240633"/>
            <a:ext cx="65836" cy="65836"/>
          </a:xfrm>
          <a:prstGeom prst="ellipse">
            <a:avLst/>
          </a:prstGeom>
          <a:solidFill>
            <a:srgbClr val="5E5E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3" name="Oval 672"/>
          <p:cNvSpPr/>
          <p:nvPr/>
        </p:nvSpPr>
        <p:spPr>
          <a:xfrm>
            <a:off x="10052913" y="3240633"/>
            <a:ext cx="65836" cy="65836"/>
          </a:xfrm>
          <a:prstGeom prst="ellipse">
            <a:avLst/>
          </a:prstGeom>
          <a:solidFill>
            <a:srgbClr val="5F5F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4" name="Oval 673"/>
          <p:cNvSpPr/>
          <p:nvPr/>
        </p:nvSpPr>
        <p:spPr>
          <a:xfrm>
            <a:off x="10158069" y="3240633"/>
            <a:ext cx="65836" cy="65836"/>
          </a:xfrm>
          <a:prstGeom prst="ellipse">
            <a:avLst/>
          </a:prstGeom>
          <a:solidFill>
            <a:srgbClr val="6161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5" name="Oval 674"/>
          <p:cNvSpPr/>
          <p:nvPr/>
        </p:nvSpPr>
        <p:spPr>
          <a:xfrm>
            <a:off x="10263225" y="3240633"/>
            <a:ext cx="65836" cy="65836"/>
          </a:xfrm>
          <a:prstGeom prst="ellipse">
            <a:avLst/>
          </a:prstGeom>
          <a:solidFill>
            <a:srgbClr val="6262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6" name="Oval 675"/>
          <p:cNvSpPr/>
          <p:nvPr/>
        </p:nvSpPr>
        <p:spPr>
          <a:xfrm>
            <a:off x="10368381" y="3240633"/>
            <a:ext cx="65836" cy="65836"/>
          </a:xfrm>
          <a:prstGeom prst="ellipse">
            <a:avLst/>
          </a:prstGeom>
          <a:solidFill>
            <a:srgbClr val="646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7" name="Oval 676"/>
          <p:cNvSpPr/>
          <p:nvPr/>
        </p:nvSpPr>
        <p:spPr>
          <a:xfrm>
            <a:off x="10473537" y="3240633"/>
            <a:ext cx="65836" cy="65836"/>
          </a:xfrm>
          <a:prstGeom prst="ellipse">
            <a:avLst/>
          </a:prstGeom>
          <a:solidFill>
            <a:srgbClr val="6565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8" name="Oval 677"/>
          <p:cNvSpPr/>
          <p:nvPr/>
        </p:nvSpPr>
        <p:spPr>
          <a:xfrm>
            <a:off x="10578693" y="3240633"/>
            <a:ext cx="65836" cy="65836"/>
          </a:xfrm>
          <a:prstGeom prst="ellipse">
            <a:avLst/>
          </a:prstGeom>
          <a:solidFill>
            <a:srgbClr val="6767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9" name="Oval 678"/>
          <p:cNvSpPr/>
          <p:nvPr/>
        </p:nvSpPr>
        <p:spPr>
          <a:xfrm>
            <a:off x="10683849" y="3240633"/>
            <a:ext cx="65836" cy="65836"/>
          </a:xfrm>
          <a:prstGeom prst="ellipse">
            <a:avLst/>
          </a:prstGeom>
          <a:solidFill>
            <a:srgbClr val="696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0" name="Oval 679"/>
          <p:cNvSpPr/>
          <p:nvPr/>
        </p:nvSpPr>
        <p:spPr>
          <a:xfrm>
            <a:off x="10789005" y="3240633"/>
            <a:ext cx="65836" cy="65836"/>
          </a:xfrm>
          <a:prstGeom prst="ellipse">
            <a:avLst/>
          </a:prstGeom>
          <a:solidFill>
            <a:srgbClr val="6A6A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1" name="Oval 680"/>
          <p:cNvSpPr/>
          <p:nvPr/>
        </p:nvSpPr>
        <p:spPr>
          <a:xfrm>
            <a:off x="10894161" y="3240633"/>
            <a:ext cx="65836" cy="65836"/>
          </a:xfrm>
          <a:prstGeom prst="ellipse">
            <a:avLst/>
          </a:prstGeom>
          <a:solidFill>
            <a:srgbClr val="6C6C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2" name="Oval 681"/>
          <p:cNvSpPr/>
          <p:nvPr/>
        </p:nvSpPr>
        <p:spPr>
          <a:xfrm>
            <a:off x="10999317" y="3240633"/>
            <a:ext cx="65836" cy="65836"/>
          </a:xfrm>
          <a:prstGeom prst="ellipse">
            <a:avLst/>
          </a:prstGeom>
          <a:solidFill>
            <a:srgbClr val="6D6D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3" name="Oval 682"/>
          <p:cNvSpPr/>
          <p:nvPr/>
        </p:nvSpPr>
        <p:spPr>
          <a:xfrm>
            <a:off x="11104473" y="3240633"/>
            <a:ext cx="65836" cy="65836"/>
          </a:xfrm>
          <a:prstGeom prst="ellipse">
            <a:avLst/>
          </a:prstGeom>
          <a:solidFill>
            <a:srgbClr val="6F6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4" name="Oval 683"/>
          <p:cNvSpPr/>
          <p:nvPr/>
        </p:nvSpPr>
        <p:spPr>
          <a:xfrm>
            <a:off x="6793077" y="3345789"/>
            <a:ext cx="65836" cy="65836"/>
          </a:xfrm>
          <a:prstGeom prst="ellipse">
            <a:avLst/>
          </a:prstGeom>
          <a:solidFill>
            <a:srgbClr val="3030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5" name="Oval 684"/>
          <p:cNvSpPr/>
          <p:nvPr/>
        </p:nvSpPr>
        <p:spPr>
          <a:xfrm>
            <a:off x="6898233" y="3345789"/>
            <a:ext cx="65836" cy="65836"/>
          </a:xfrm>
          <a:prstGeom prst="ellipse">
            <a:avLst/>
          </a:prstGeom>
          <a:solidFill>
            <a:srgbClr val="323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6" name="Oval 685"/>
          <p:cNvSpPr/>
          <p:nvPr/>
        </p:nvSpPr>
        <p:spPr>
          <a:xfrm>
            <a:off x="7003389" y="3345789"/>
            <a:ext cx="65836" cy="65836"/>
          </a:xfrm>
          <a:prstGeom prst="ellipse">
            <a:avLst/>
          </a:prstGeom>
          <a:solidFill>
            <a:srgbClr val="3434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7" name="Oval 686"/>
          <p:cNvSpPr/>
          <p:nvPr/>
        </p:nvSpPr>
        <p:spPr>
          <a:xfrm>
            <a:off x="7634325" y="3345789"/>
            <a:ext cx="65836" cy="65836"/>
          </a:xfrm>
          <a:prstGeom prst="ellipse">
            <a:avLst/>
          </a:prstGeom>
          <a:solidFill>
            <a:srgbClr val="3D3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8" name="Oval 687"/>
          <p:cNvSpPr/>
          <p:nvPr/>
        </p:nvSpPr>
        <p:spPr>
          <a:xfrm>
            <a:off x="7739481" y="3345789"/>
            <a:ext cx="65836" cy="65836"/>
          </a:xfrm>
          <a:prstGeom prst="ellipse">
            <a:avLst/>
          </a:prstGeom>
          <a:solidFill>
            <a:srgbClr val="3E3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9" name="Oval 688"/>
          <p:cNvSpPr/>
          <p:nvPr/>
        </p:nvSpPr>
        <p:spPr>
          <a:xfrm>
            <a:off x="7844637" y="3345789"/>
            <a:ext cx="65836" cy="65836"/>
          </a:xfrm>
          <a:prstGeom prst="ellipse">
            <a:avLst/>
          </a:prstGeom>
          <a:solidFill>
            <a:srgbClr val="4040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0" name="Oval 689"/>
          <p:cNvSpPr/>
          <p:nvPr/>
        </p:nvSpPr>
        <p:spPr>
          <a:xfrm>
            <a:off x="7949793" y="3345789"/>
            <a:ext cx="65836" cy="65836"/>
          </a:xfrm>
          <a:prstGeom prst="ellipse">
            <a:avLst/>
          </a:prstGeom>
          <a:solidFill>
            <a:srgbClr val="4242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1" name="Oval 690"/>
          <p:cNvSpPr/>
          <p:nvPr/>
        </p:nvSpPr>
        <p:spPr>
          <a:xfrm>
            <a:off x="8054949" y="3345789"/>
            <a:ext cx="65836" cy="65836"/>
          </a:xfrm>
          <a:prstGeom prst="ellipse">
            <a:avLst/>
          </a:prstGeom>
          <a:solidFill>
            <a:srgbClr val="4343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2" name="Oval 691"/>
          <p:cNvSpPr/>
          <p:nvPr/>
        </p:nvSpPr>
        <p:spPr>
          <a:xfrm>
            <a:off x="8160105" y="3345789"/>
            <a:ext cx="65836" cy="65836"/>
          </a:xfrm>
          <a:prstGeom prst="ellipse">
            <a:avLst/>
          </a:prstGeom>
          <a:solidFill>
            <a:srgbClr val="4545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3" name="Oval 692"/>
          <p:cNvSpPr/>
          <p:nvPr/>
        </p:nvSpPr>
        <p:spPr>
          <a:xfrm>
            <a:off x="8265261" y="3345789"/>
            <a:ext cx="65836" cy="65836"/>
          </a:xfrm>
          <a:prstGeom prst="ellipse">
            <a:avLst/>
          </a:prstGeom>
          <a:solidFill>
            <a:srgbClr val="464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4" name="Oval 693"/>
          <p:cNvSpPr/>
          <p:nvPr/>
        </p:nvSpPr>
        <p:spPr>
          <a:xfrm>
            <a:off x="8370417" y="3345789"/>
            <a:ext cx="65836" cy="65836"/>
          </a:xfrm>
          <a:prstGeom prst="ellipse">
            <a:avLst/>
          </a:prstGeom>
          <a:solidFill>
            <a:srgbClr val="484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5" name="Oval 694"/>
          <p:cNvSpPr/>
          <p:nvPr/>
        </p:nvSpPr>
        <p:spPr>
          <a:xfrm>
            <a:off x="8475573" y="3345789"/>
            <a:ext cx="65836" cy="65836"/>
          </a:xfrm>
          <a:prstGeom prst="ellipse">
            <a:avLst/>
          </a:prstGeom>
          <a:solidFill>
            <a:srgbClr val="4949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6" name="Oval 695"/>
          <p:cNvSpPr/>
          <p:nvPr/>
        </p:nvSpPr>
        <p:spPr>
          <a:xfrm>
            <a:off x="8580729" y="3345789"/>
            <a:ext cx="65836" cy="65836"/>
          </a:xfrm>
          <a:prstGeom prst="ellipse">
            <a:avLst/>
          </a:prstGeom>
          <a:solidFill>
            <a:srgbClr val="4B4B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7" name="Oval 696"/>
          <p:cNvSpPr/>
          <p:nvPr/>
        </p:nvSpPr>
        <p:spPr>
          <a:xfrm>
            <a:off x="8685885" y="3345789"/>
            <a:ext cx="65836" cy="65836"/>
          </a:xfrm>
          <a:prstGeom prst="ellipse">
            <a:avLst/>
          </a:prstGeom>
          <a:solidFill>
            <a:srgbClr val="4D4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8" name="Oval 697"/>
          <p:cNvSpPr/>
          <p:nvPr/>
        </p:nvSpPr>
        <p:spPr>
          <a:xfrm>
            <a:off x="8791041" y="3345789"/>
            <a:ext cx="65836" cy="65836"/>
          </a:xfrm>
          <a:prstGeom prst="ellipse">
            <a:avLst/>
          </a:prstGeom>
          <a:solidFill>
            <a:srgbClr val="4E4E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9" name="Oval 698"/>
          <p:cNvSpPr/>
          <p:nvPr/>
        </p:nvSpPr>
        <p:spPr>
          <a:xfrm>
            <a:off x="8896197" y="3345789"/>
            <a:ext cx="65836" cy="65836"/>
          </a:xfrm>
          <a:prstGeom prst="ellipse">
            <a:avLst/>
          </a:prstGeom>
          <a:solidFill>
            <a:srgbClr val="5050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0" name="Oval 699"/>
          <p:cNvSpPr/>
          <p:nvPr/>
        </p:nvSpPr>
        <p:spPr>
          <a:xfrm>
            <a:off x="9001353" y="3345789"/>
            <a:ext cx="65836" cy="65836"/>
          </a:xfrm>
          <a:prstGeom prst="ellipse">
            <a:avLst/>
          </a:prstGeom>
          <a:solidFill>
            <a:srgbClr val="51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1" name="Oval 700"/>
          <p:cNvSpPr/>
          <p:nvPr/>
        </p:nvSpPr>
        <p:spPr>
          <a:xfrm>
            <a:off x="9106509" y="3345789"/>
            <a:ext cx="65836" cy="65836"/>
          </a:xfrm>
          <a:prstGeom prst="ellipse">
            <a:avLst/>
          </a:prstGeom>
          <a:solidFill>
            <a:srgbClr val="53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2" name="Oval 701"/>
          <p:cNvSpPr/>
          <p:nvPr/>
        </p:nvSpPr>
        <p:spPr>
          <a:xfrm>
            <a:off x="9211665" y="3345789"/>
            <a:ext cx="65836" cy="65836"/>
          </a:xfrm>
          <a:prstGeom prst="ellipse">
            <a:avLst/>
          </a:prstGeom>
          <a:solidFill>
            <a:srgbClr val="5454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3" name="Oval 702"/>
          <p:cNvSpPr/>
          <p:nvPr/>
        </p:nvSpPr>
        <p:spPr>
          <a:xfrm>
            <a:off x="9316821" y="3345789"/>
            <a:ext cx="65836" cy="65836"/>
          </a:xfrm>
          <a:prstGeom prst="ellipse">
            <a:avLst/>
          </a:prstGeom>
          <a:solidFill>
            <a:srgbClr val="565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4" name="Oval 703"/>
          <p:cNvSpPr/>
          <p:nvPr/>
        </p:nvSpPr>
        <p:spPr>
          <a:xfrm>
            <a:off x="9421977" y="3345789"/>
            <a:ext cx="65836" cy="65836"/>
          </a:xfrm>
          <a:prstGeom prst="ellipse">
            <a:avLst/>
          </a:prstGeom>
          <a:solidFill>
            <a:srgbClr val="5757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5" name="Oval 704"/>
          <p:cNvSpPr/>
          <p:nvPr/>
        </p:nvSpPr>
        <p:spPr>
          <a:xfrm>
            <a:off x="9527133" y="3345789"/>
            <a:ext cx="65836" cy="65836"/>
          </a:xfrm>
          <a:prstGeom prst="ellipse">
            <a:avLst/>
          </a:prstGeom>
          <a:solidFill>
            <a:srgbClr val="5959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6" name="Oval 705"/>
          <p:cNvSpPr/>
          <p:nvPr/>
        </p:nvSpPr>
        <p:spPr>
          <a:xfrm>
            <a:off x="9632289" y="3345789"/>
            <a:ext cx="65836" cy="65836"/>
          </a:xfrm>
          <a:prstGeom prst="ellipse">
            <a:avLst/>
          </a:prstGeom>
          <a:solidFill>
            <a:srgbClr val="5B5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7" name="Oval 706"/>
          <p:cNvSpPr/>
          <p:nvPr/>
        </p:nvSpPr>
        <p:spPr>
          <a:xfrm>
            <a:off x="9737445" y="3345789"/>
            <a:ext cx="65836" cy="65836"/>
          </a:xfrm>
          <a:prstGeom prst="ellipse">
            <a:avLst/>
          </a:prstGeom>
          <a:solidFill>
            <a:srgbClr val="5C5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8" name="Oval 707"/>
          <p:cNvSpPr/>
          <p:nvPr/>
        </p:nvSpPr>
        <p:spPr>
          <a:xfrm>
            <a:off x="9842601" y="3345789"/>
            <a:ext cx="65836" cy="65836"/>
          </a:xfrm>
          <a:prstGeom prst="ellipse">
            <a:avLst/>
          </a:prstGeom>
          <a:solidFill>
            <a:srgbClr val="5E5E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9" name="Oval 708"/>
          <p:cNvSpPr/>
          <p:nvPr/>
        </p:nvSpPr>
        <p:spPr>
          <a:xfrm>
            <a:off x="9947757" y="3345789"/>
            <a:ext cx="65836" cy="65836"/>
          </a:xfrm>
          <a:prstGeom prst="ellipse">
            <a:avLst/>
          </a:prstGeom>
          <a:solidFill>
            <a:srgbClr val="5F5F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0" name="Oval 709"/>
          <p:cNvSpPr/>
          <p:nvPr/>
        </p:nvSpPr>
        <p:spPr>
          <a:xfrm>
            <a:off x="10052913" y="3345789"/>
            <a:ext cx="65836" cy="65836"/>
          </a:xfrm>
          <a:prstGeom prst="ellipse">
            <a:avLst/>
          </a:prstGeom>
          <a:solidFill>
            <a:srgbClr val="6161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1" name="Oval 710"/>
          <p:cNvSpPr/>
          <p:nvPr/>
        </p:nvSpPr>
        <p:spPr>
          <a:xfrm>
            <a:off x="10158069" y="3345789"/>
            <a:ext cx="65836" cy="65836"/>
          </a:xfrm>
          <a:prstGeom prst="ellipse">
            <a:avLst/>
          </a:prstGeom>
          <a:solidFill>
            <a:srgbClr val="6262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2" name="Oval 711"/>
          <p:cNvSpPr/>
          <p:nvPr/>
        </p:nvSpPr>
        <p:spPr>
          <a:xfrm>
            <a:off x="10789005" y="3345789"/>
            <a:ext cx="65836" cy="65836"/>
          </a:xfrm>
          <a:prstGeom prst="ellipse">
            <a:avLst/>
          </a:prstGeom>
          <a:solidFill>
            <a:srgbClr val="6C6C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3" name="Oval 712"/>
          <p:cNvSpPr/>
          <p:nvPr/>
        </p:nvSpPr>
        <p:spPr>
          <a:xfrm>
            <a:off x="10894161" y="3345789"/>
            <a:ext cx="65836" cy="65836"/>
          </a:xfrm>
          <a:prstGeom prst="ellipse">
            <a:avLst/>
          </a:prstGeom>
          <a:solidFill>
            <a:srgbClr val="6D6D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4" name="Oval 713"/>
          <p:cNvSpPr/>
          <p:nvPr/>
        </p:nvSpPr>
        <p:spPr>
          <a:xfrm>
            <a:off x="10999317" y="3345789"/>
            <a:ext cx="65836" cy="65836"/>
          </a:xfrm>
          <a:prstGeom prst="ellipse">
            <a:avLst/>
          </a:prstGeom>
          <a:solidFill>
            <a:srgbClr val="6F6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5" name="Oval 714"/>
          <p:cNvSpPr/>
          <p:nvPr/>
        </p:nvSpPr>
        <p:spPr>
          <a:xfrm>
            <a:off x="11104473" y="3345789"/>
            <a:ext cx="65836" cy="65836"/>
          </a:xfrm>
          <a:prstGeom prst="ellipse">
            <a:avLst/>
          </a:prstGeom>
          <a:solidFill>
            <a:srgbClr val="7070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6" name="Oval 715"/>
          <p:cNvSpPr/>
          <p:nvPr/>
        </p:nvSpPr>
        <p:spPr>
          <a:xfrm>
            <a:off x="6793077" y="3450945"/>
            <a:ext cx="65836" cy="65836"/>
          </a:xfrm>
          <a:prstGeom prst="ellipse">
            <a:avLst/>
          </a:prstGeom>
          <a:solidFill>
            <a:srgbClr val="323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7" name="Oval 716"/>
          <p:cNvSpPr/>
          <p:nvPr/>
        </p:nvSpPr>
        <p:spPr>
          <a:xfrm>
            <a:off x="7634325" y="3450945"/>
            <a:ext cx="65836" cy="65836"/>
          </a:xfrm>
          <a:prstGeom prst="ellipse">
            <a:avLst/>
          </a:prstGeom>
          <a:solidFill>
            <a:srgbClr val="3F3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8" name="Oval 717"/>
          <p:cNvSpPr/>
          <p:nvPr/>
        </p:nvSpPr>
        <p:spPr>
          <a:xfrm>
            <a:off x="7739481" y="3450945"/>
            <a:ext cx="65836" cy="65836"/>
          </a:xfrm>
          <a:prstGeom prst="ellipse">
            <a:avLst/>
          </a:prstGeom>
          <a:solidFill>
            <a:srgbClr val="4040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9" name="Oval 718"/>
          <p:cNvSpPr/>
          <p:nvPr/>
        </p:nvSpPr>
        <p:spPr>
          <a:xfrm>
            <a:off x="7844637" y="3450945"/>
            <a:ext cx="65836" cy="65836"/>
          </a:xfrm>
          <a:prstGeom prst="ellipse">
            <a:avLst/>
          </a:prstGeom>
          <a:solidFill>
            <a:srgbClr val="4242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0" name="Oval 719"/>
          <p:cNvSpPr/>
          <p:nvPr/>
        </p:nvSpPr>
        <p:spPr>
          <a:xfrm>
            <a:off x="7949793" y="3450945"/>
            <a:ext cx="65836" cy="65836"/>
          </a:xfrm>
          <a:prstGeom prst="ellipse">
            <a:avLst/>
          </a:prstGeom>
          <a:solidFill>
            <a:srgbClr val="4343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1" name="Oval 720"/>
          <p:cNvSpPr/>
          <p:nvPr/>
        </p:nvSpPr>
        <p:spPr>
          <a:xfrm>
            <a:off x="8054949" y="3450945"/>
            <a:ext cx="65836" cy="65836"/>
          </a:xfrm>
          <a:prstGeom prst="ellipse">
            <a:avLst/>
          </a:prstGeom>
          <a:solidFill>
            <a:srgbClr val="4545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2" name="Oval 721"/>
          <p:cNvSpPr/>
          <p:nvPr/>
        </p:nvSpPr>
        <p:spPr>
          <a:xfrm>
            <a:off x="8160105" y="3450945"/>
            <a:ext cx="65836" cy="65836"/>
          </a:xfrm>
          <a:prstGeom prst="ellipse">
            <a:avLst/>
          </a:prstGeom>
          <a:solidFill>
            <a:srgbClr val="464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3" name="Oval 722"/>
          <p:cNvSpPr/>
          <p:nvPr/>
        </p:nvSpPr>
        <p:spPr>
          <a:xfrm>
            <a:off x="8265261" y="3450945"/>
            <a:ext cx="65836" cy="65836"/>
          </a:xfrm>
          <a:prstGeom prst="ellipse">
            <a:avLst/>
          </a:prstGeom>
          <a:solidFill>
            <a:srgbClr val="484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4" name="Oval 723"/>
          <p:cNvSpPr/>
          <p:nvPr/>
        </p:nvSpPr>
        <p:spPr>
          <a:xfrm>
            <a:off x="8370417" y="3450945"/>
            <a:ext cx="65836" cy="65836"/>
          </a:xfrm>
          <a:prstGeom prst="ellipse">
            <a:avLst/>
          </a:prstGeom>
          <a:solidFill>
            <a:srgbClr val="4949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5" name="Oval 724"/>
          <p:cNvSpPr/>
          <p:nvPr/>
        </p:nvSpPr>
        <p:spPr>
          <a:xfrm>
            <a:off x="8475573" y="3450945"/>
            <a:ext cx="65836" cy="65836"/>
          </a:xfrm>
          <a:prstGeom prst="ellipse">
            <a:avLst/>
          </a:prstGeom>
          <a:solidFill>
            <a:srgbClr val="4B4B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6" name="Oval 725"/>
          <p:cNvSpPr/>
          <p:nvPr/>
        </p:nvSpPr>
        <p:spPr>
          <a:xfrm>
            <a:off x="8580729" y="3450945"/>
            <a:ext cx="65836" cy="65836"/>
          </a:xfrm>
          <a:prstGeom prst="ellipse">
            <a:avLst/>
          </a:prstGeom>
          <a:solidFill>
            <a:srgbClr val="4D4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7" name="Oval 726"/>
          <p:cNvSpPr/>
          <p:nvPr/>
        </p:nvSpPr>
        <p:spPr>
          <a:xfrm>
            <a:off x="8685885" y="3450945"/>
            <a:ext cx="65836" cy="65836"/>
          </a:xfrm>
          <a:prstGeom prst="ellipse">
            <a:avLst/>
          </a:prstGeom>
          <a:solidFill>
            <a:srgbClr val="4E4E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8" name="Oval 727"/>
          <p:cNvSpPr/>
          <p:nvPr/>
        </p:nvSpPr>
        <p:spPr>
          <a:xfrm>
            <a:off x="8791041" y="3450945"/>
            <a:ext cx="65836" cy="65836"/>
          </a:xfrm>
          <a:prstGeom prst="ellipse">
            <a:avLst/>
          </a:prstGeom>
          <a:solidFill>
            <a:srgbClr val="5050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9" name="Oval 728"/>
          <p:cNvSpPr/>
          <p:nvPr/>
        </p:nvSpPr>
        <p:spPr>
          <a:xfrm>
            <a:off x="8896197" y="3450945"/>
            <a:ext cx="65836" cy="65836"/>
          </a:xfrm>
          <a:prstGeom prst="ellipse">
            <a:avLst/>
          </a:prstGeom>
          <a:solidFill>
            <a:srgbClr val="51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0" name="Oval 729"/>
          <p:cNvSpPr/>
          <p:nvPr/>
        </p:nvSpPr>
        <p:spPr>
          <a:xfrm>
            <a:off x="9001353" y="3450945"/>
            <a:ext cx="65836" cy="65836"/>
          </a:xfrm>
          <a:prstGeom prst="ellipse">
            <a:avLst/>
          </a:prstGeom>
          <a:solidFill>
            <a:srgbClr val="53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1" name="Oval 730"/>
          <p:cNvSpPr/>
          <p:nvPr/>
        </p:nvSpPr>
        <p:spPr>
          <a:xfrm>
            <a:off x="9106509" y="3450945"/>
            <a:ext cx="65836" cy="65836"/>
          </a:xfrm>
          <a:prstGeom prst="ellipse">
            <a:avLst/>
          </a:prstGeom>
          <a:solidFill>
            <a:srgbClr val="5454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2" name="Oval 731"/>
          <p:cNvSpPr/>
          <p:nvPr/>
        </p:nvSpPr>
        <p:spPr>
          <a:xfrm>
            <a:off x="9211665" y="3450945"/>
            <a:ext cx="65836" cy="65836"/>
          </a:xfrm>
          <a:prstGeom prst="ellipse">
            <a:avLst/>
          </a:prstGeom>
          <a:solidFill>
            <a:srgbClr val="565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3" name="Oval 732"/>
          <p:cNvSpPr/>
          <p:nvPr/>
        </p:nvSpPr>
        <p:spPr>
          <a:xfrm>
            <a:off x="9527133" y="3450945"/>
            <a:ext cx="65836" cy="65836"/>
          </a:xfrm>
          <a:prstGeom prst="ellipse">
            <a:avLst/>
          </a:prstGeom>
          <a:solidFill>
            <a:srgbClr val="5B5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4" name="Oval 733"/>
          <p:cNvSpPr/>
          <p:nvPr/>
        </p:nvSpPr>
        <p:spPr>
          <a:xfrm>
            <a:off x="9632289" y="3450945"/>
            <a:ext cx="65836" cy="65836"/>
          </a:xfrm>
          <a:prstGeom prst="ellipse">
            <a:avLst/>
          </a:prstGeom>
          <a:solidFill>
            <a:srgbClr val="5C5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5" name="Oval 734"/>
          <p:cNvSpPr/>
          <p:nvPr/>
        </p:nvSpPr>
        <p:spPr>
          <a:xfrm>
            <a:off x="9737445" y="3450945"/>
            <a:ext cx="65836" cy="65836"/>
          </a:xfrm>
          <a:prstGeom prst="ellipse">
            <a:avLst/>
          </a:prstGeom>
          <a:solidFill>
            <a:srgbClr val="5E5E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6" name="Oval 735"/>
          <p:cNvSpPr/>
          <p:nvPr/>
        </p:nvSpPr>
        <p:spPr>
          <a:xfrm>
            <a:off x="9842601" y="3450945"/>
            <a:ext cx="65836" cy="65836"/>
          </a:xfrm>
          <a:prstGeom prst="ellipse">
            <a:avLst/>
          </a:prstGeom>
          <a:solidFill>
            <a:srgbClr val="5F5F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7" name="Oval 736"/>
          <p:cNvSpPr/>
          <p:nvPr/>
        </p:nvSpPr>
        <p:spPr>
          <a:xfrm>
            <a:off x="9947757" y="3450945"/>
            <a:ext cx="65836" cy="65836"/>
          </a:xfrm>
          <a:prstGeom prst="ellipse">
            <a:avLst/>
          </a:prstGeom>
          <a:solidFill>
            <a:srgbClr val="6161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8" name="Oval 737"/>
          <p:cNvSpPr/>
          <p:nvPr/>
        </p:nvSpPr>
        <p:spPr>
          <a:xfrm>
            <a:off x="10052913" y="3450945"/>
            <a:ext cx="65836" cy="65836"/>
          </a:xfrm>
          <a:prstGeom prst="ellipse">
            <a:avLst/>
          </a:prstGeom>
          <a:solidFill>
            <a:srgbClr val="6262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9" name="Oval 738"/>
          <p:cNvSpPr/>
          <p:nvPr/>
        </p:nvSpPr>
        <p:spPr>
          <a:xfrm>
            <a:off x="10158069" y="3450945"/>
            <a:ext cx="65836" cy="65836"/>
          </a:xfrm>
          <a:prstGeom prst="ellipse">
            <a:avLst/>
          </a:prstGeom>
          <a:solidFill>
            <a:srgbClr val="646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0" name="Oval 739"/>
          <p:cNvSpPr/>
          <p:nvPr/>
        </p:nvSpPr>
        <p:spPr>
          <a:xfrm>
            <a:off x="7634325" y="3556101"/>
            <a:ext cx="65836" cy="65836"/>
          </a:xfrm>
          <a:prstGeom prst="ellipse">
            <a:avLst/>
          </a:prstGeom>
          <a:solidFill>
            <a:srgbClr val="4040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1" name="Oval 740"/>
          <p:cNvSpPr/>
          <p:nvPr/>
        </p:nvSpPr>
        <p:spPr>
          <a:xfrm>
            <a:off x="7739481" y="3556101"/>
            <a:ext cx="65836" cy="65836"/>
          </a:xfrm>
          <a:prstGeom prst="ellipse">
            <a:avLst/>
          </a:prstGeom>
          <a:solidFill>
            <a:srgbClr val="4242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2" name="Oval 741"/>
          <p:cNvSpPr/>
          <p:nvPr/>
        </p:nvSpPr>
        <p:spPr>
          <a:xfrm>
            <a:off x="7844637" y="3556101"/>
            <a:ext cx="65836" cy="65836"/>
          </a:xfrm>
          <a:prstGeom prst="ellipse">
            <a:avLst/>
          </a:prstGeom>
          <a:solidFill>
            <a:srgbClr val="4343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3" name="Oval 742"/>
          <p:cNvSpPr/>
          <p:nvPr/>
        </p:nvSpPr>
        <p:spPr>
          <a:xfrm>
            <a:off x="7949793" y="3556101"/>
            <a:ext cx="65836" cy="65836"/>
          </a:xfrm>
          <a:prstGeom prst="ellipse">
            <a:avLst/>
          </a:prstGeom>
          <a:solidFill>
            <a:srgbClr val="4545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4" name="Oval 743"/>
          <p:cNvSpPr/>
          <p:nvPr/>
        </p:nvSpPr>
        <p:spPr>
          <a:xfrm>
            <a:off x="8054949" y="3556101"/>
            <a:ext cx="65836" cy="65836"/>
          </a:xfrm>
          <a:prstGeom prst="ellipse">
            <a:avLst/>
          </a:prstGeom>
          <a:solidFill>
            <a:srgbClr val="464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5" name="Oval 744"/>
          <p:cNvSpPr/>
          <p:nvPr/>
        </p:nvSpPr>
        <p:spPr>
          <a:xfrm>
            <a:off x="8160105" y="3556101"/>
            <a:ext cx="65836" cy="65836"/>
          </a:xfrm>
          <a:prstGeom prst="ellipse">
            <a:avLst/>
          </a:prstGeom>
          <a:solidFill>
            <a:srgbClr val="484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6" name="Oval 745"/>
          <p:cNvSpPr/>
          <p:nvPr/>
        </p:nvSpPr>
        <p:spPr>
          <a:xfrm>
            <a:off x="8265261" y="3556101"/>
            <a:ext cx="65836" cy="65836"/>
          </a:xfrm>
          <a:prstGeom prst="ellipse">
            <a:avLst/>
          </a:prstGeom>
          <a:solidFill>
            <a:srgbClr val="4A4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7" name="Oval 746"/>
          <p:cNvSpPr/>
          <p:nvPr/>
        </p:nvSpPr>
        <p:spPr>
          <a:xfrm>
            <a:off x="8370417" y="3556101"/>
            <a:ext cx="65836" cy="65836"/>
          </a:xfrm>
          <a:prstGeom prst="ellipse">
            <a:avLst/>
          </a:prstGeom>
          <a:solidFill>
            <a:srgbClr val="4B4B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8" name="Oval 747"/>
          <p:cNvSpPr/>
          <p:nvPr/>
        </p:nvSpPr>
        <p:spPr>
          <a:xfrm>
            <a:off x="8475573" y="3556101"/>
            <a:ext cx="65836" cy="65836"/>
          </a:xfrm>
          <a:prstGeom prst="ellipse">
            <a:avLst/>
          </a:prstGeom>
          <a:solidFill>
            <a:srgbClr val="4D4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9" name="Oval 748"/>
          <p:cNvSpPr/>
          <p:nvPr/>
        </p:nvSpPr>
        <p:spPr>
          <a:xfrm>
            <a:off x="8580729" y="3556101"/>
            <a:ext cx="65836" cy="65836"/>
          </a:xfrm>
          <a:prstGeom prst="ellipse">
            <a:avLst/>
          </a:prstGeom>
          <a:solidFill>
            <a:srgbClr val="4E4E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0" name="Oval 749"/>
          <p:cNvSpPr/>
          <p:nvPr/>
        </p:nvSpPr>
        <p:spPr>
          <a:xfrm>
            <a:off x="8685885" y="3556101"/>
            <a:ext cx="65836" cy="65836"/>
          </a:xfrm>
          <a:prstGeom prst="ellipse">
            <a:avLst/>
          </a:prstGeom>
          <a:solidFill>
            <a:srgbClr val="5050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1" name="Oval 750"/>
          <p:cNvSpPr/>
          <p:nvPr/>
        </p:nvSpPr>
        <p:spPr>
          <a:xfrm>
            <a:off x="8791041" y="3556101"/>
            <a:ext cx="65836" cy="65836"/>
          </a:xfrm>
          <a:prstGeom prst="ellipse">
            <a:avLst/>
          </a:prstGeom>
          <a:solidFill>
            <a:srgbClr val="51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2" name="Oval 751"/>
          <p:cNvSpPr/>
          <p:nvPr/>
        </p:nvSpPr>
        <p:spPr>
          <a:xfrm>
            <a:off x="8896197" y="3556101"/>
            <a:ext cx="65836" cy="65836"/>
          </a:xfrm>
          <a:prstGeom prst="ellipse">
            <a:avLst/>
          </a:prstGeom>
          <a:solidFill>
            <a:srgbClr val="53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3" name="Oval 752"/>
          <p:cNvSpPr/>
          <p:nvPr/>
        </p:nvSpPr>
        <p:spPr>
          <a:xfrm>
            <a:off x="9001353" y="3556101"/>
            <a:ext cx="65836" cy="65836"/>
          </a:xfrm>
          <a:prstGeom prst="ellipse">
            <a:avLst/>
          </a:prstGeom>
          <a:solidFill>
            <a:srgbClr val="5454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4" name="Oval 753"/>
          <p:cNvSpPr/>
          <p:nvPr/>
        </p:nvSpPr>
        <p:spPr>
          <a:xfrm>
            <a:off x="9106509" y="3556101"/>
            <a:ext cx="65836" cy="65836"/>
          </a:xfrm>
          <a:prstGeom prst="ellipse">
            <a:avLst/>
          </a:prstGeom>
          <a:solidFill>
            <a:srgbClr val="5656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5" name="Oval 754"/>
          <p:cNvSpPr/>
          <p:nvPr/>
        </p:nvSpPr>
        <p:spPr>
          <a:xfrm>
            <a:off x="9632289" y="3556101"/>
            <a:ext cx="65836" cy="65836"/>
          </a:xfrm>
          <a:prstGeom prst="ellipse">
            <a:avLst/>
          </a:prstGeom>
          <a:solidFill>
            <a:srgbClr val="5E5E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6" name="Oval 755"/>
          <p:cNvSpPr/>
          <p:nvPr/>
        </p:nvSpPr>
        <p:spPr>
          <a:xfrm>
            <a:off x="9737445" y="3556101"/>
            <a:ext cx="65836" cy="65836"/>
          </a:xfrm>
          <a:prstGeom prst="ellipse">
            <a:avLst/>
          </a:prstGeom>
          <a:solidFill>
            <a:srgbClr val="5F5F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7" name="Oval 756"/>
          <p:cNvSpPr/>
          <p:nvPr/>
        </p:nvSpPr>
        <p:spPr>
          <a:xfrm>
            <a:off x="9842601" y="3556101"/>
            <a:ext cx="65836" cy="65836"/>
          </a:xfrm>
          <a:prstGeom prst="ellipse">
            <a:avLst/>
          </a:prstGeom>
          <a:solidFill>
            <a:srgbClr val="6161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8" name="Oval 757"/>
          <p:cNvSpPr/>
          <p:nvPr/>
        </p:nvSpPr>
        <p:spPr>
          <a:xfrm>
            <a:off x="9947757" y="3556101"/>
            <a:ext cx="65836" cy="65836"/>
          </a:xfrm>
          <a:prstGeom prst="ellipse">
            <a:avLst/>
          </a:prstGeom>
          <a:solidFill>
            <a:srgbClr val="6363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9" name="Oval 758"/>
          <p:cNvSpPr/>
          <p:nvPr/>
        </p:nvSpPr>
        <p:spPr>
          <a:xfrm>
            <a:off x="10052913" y="3556101"/>
            <a:ext cx="65836" cy="65836"/>
          </a:xfrm>
          <a:prstGeom prst="ellipse">
            <a:avLst/>
          </a:prstGeom>
          <a:solidFill>
            <a:srgbClr val="646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0" name="Oval 759"/>
          <p:cNvSpPr/>
          <p:nvPr/>
        </p:nvSpPr>
        <p:spPr>
          <a:xfrm>
            <a:off x="7739481" y="3661257"/>
            <a:ext cx="65836" cy="65836"/>
          </a:xfrm>
          <a:prstGeom prst="ellipse">
            <a:avLst/>
          </a:prstGeom>
          <a:solidFill>
            <a:srgbClr val="4343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1" name="Oval 760"/>
          <p:cNvSpPr/>
          <p:nvPr/>
        </p:nvSpPr>
        <p:spPr>
          <a:xfrm>
            <a:off x="7844637" y="3661257"/>
            <a:ext cx="65836" cy="65836"/>
          </a:xfrm>
          <a:prstGeom prst="ellipse">
            <a:avLst/>
          </a:prstGeom>
          <a:solidFill>
            <a:srgbClr val="4545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2" name="Oval 761"/>
          <p:cNvSpPr/>
          <p:nvPr/>
        </p:nvSpPr>
        <p:spPr>
          <a:xfrm>
            <a:off x="7949793" y="3661257"/>
            <a:ext cx="65836" cy="65836"/>
          </a:xfrm>
          <a:prstGeom prst="ellipse">
            <a:avLst/>
          </a:prstGeom>
          <a:solidFill>
            <a:srgbClr val="4646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3" name="Oval 762"/>
          <p:cNvSpPr/>
          <p:nvPr/>
        </p:nvSpPr>
        <p:spPr>
          <a:xfrm>
            <a:off x="8054949" y="3661257"/>
            <a:ext cx="65836" cy="65836"/>
          </a:xfrm>
          <a:prstGeom prst="ellipse">
            <a:avLst/>
          </a:prstGeom>
          <a:solidFill>
            <a:srgbClr val="484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4" name="Oval 763"/>
          <p:cNvSpPr/>
          <p:nvPr/>
        </p:nvSpPr>
        <p:spPr>
          <a:xfrm>
            <a:off x="8160105" y="3661257"/>
            <a:ext cx="65836" cy="65836"/>
          </a:xfrm>
          <a:prstGeom prst="ellipse">
            <a:avLst/>
          </a:prstGeom>
          <a:solidFill>
            <a:srgbClr val="4A4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5" name="Oval 764"/>
          <p:cNvSpPr/>
          <p:nvPr/>
        </p:nvSpPr>
        <p:spPr>
          <a:xfrm>
            <a:off x="8265261" y="3661257"/>
            <a:ext cx="65836" cy="65836"/>
          </a:xfrm>
          <a:prstGeom prst="ellipse">
            <a:avLst/>
          </a:prstGeom>
          <a:solidFill>
            <a:srgbClr val="4B4B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6" name="Oval 765"/>
          <p:cNvSpPr/>
          <p:nvPr/>
        </p:nvSpPr>
        <p:spPr>
          <a:xfrm>
            <a:off x="8370417" y="3661257"/>
            <a:ext cx="65836" cy="65836"/>
          </a:xfrm>
          <a:prstGeom prst="ellipse">
            <a:avLst/>
          </a:prstGeom>
          <a:solidFill>
            <a:srgbClr val="4D4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7" name="Oval 766"/>
          <p:cNvSpPr/>
          <p:nvPr/>
        </p:nvSpPr>
        <p:spPr>
          <a:xfrm>
            <a:off x="8475573" y="3661257"/>
            <a:ext cx="65836" cy="65836"/>
          </a:xfrm>
          <a:prstGeom prst="ellipse">
            <a:avLst/>
          </a:prstGeom>
          <a:solidFill>
            <a:srgbClr val="4E4E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8" name="Oval 767"/>
          <p:cNvSpPr/>
          <p:nvPr/>
        </p:nvSpPr>
        <p:spPr>
          <a:xfrm>
            <a:off x="8580729" y="3661257"/>
            <a:ext cx="65836" cy="65836"/>
          </a:xfrm>
          <a:prstGeom prst="ellipse">
            <a:avLst/>
          </a:prstGeom>
          <a:solidFill>
            <a:srgbClr val="5050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9" name="Oval 768"/>
          <p:cNvSpPr/>
          <p:nvPr/>
        </p:nvSpPr>
        <p:spPr>
          <a:xfrm>
            <a:off x="8685885" y="3661257"/>
            <a:ext cx="65836" cy="65836"/>
          </a:xfrm>
          <a:prstGeom prst="ellipse">
            <a:avLst/>
          </a:prstGeom>
          <a:solidFill>
            <a:srgbClr val="51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0" name="Oval 769"/>
          <p:cNvSpPr/>
          <p:nvPr/>
        </p:nvSpPr>
        <p:spPr>
          <a:xfrm>
            <a:off x="8791041" y="3661257"/>
            <a:ext cx="65836" cy="65836"/>
          </a:xfrm>
          <a:prstGeom prst="ellipse">
            <a:avLst/>
          </a:prstGeom>
          <a:solidFill>
            <a:srgbClr val="53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1" name="Oval 770"/>
          <p:cNvSpPr/>
          <p:nvPr/>
        </p:nvSpPr>
        <p:spPr>
          <a:xfrm>
            <a:off x="8896197" y="3661257"/>
            <a:ext cx="65836" cy="65836"/>
          </a:xfrm>
          <a:prstGeom prst="ellipse">
            <a:avLst/>
          </a:prstGeom>
          <a:solidFill>
            <a:srgbClr val="5555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2" name="Oval 771"/>
          <p:cNvSpPr/>
          <p:nvPr/>
        </p:nvSpPr>
        <p:spPr>
          <a:xfrm>
            <a:off x="9737445" y="3661257"/>
            <a:ext cx="65836" cy="65836"/>
          </a:xfrm>
          <a:prstGeom prst="ellipse">
            <a:avLst/>
          </a:prstGeom>
          <a:solidFill>
            <a:srgbClr val="6161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3" name="Oval 772"/>
          <p:cNvSpPr/>
          <p:nvPr/>
        </p:nvSpPr>
        <p:spPr>
          <a:xfrm>
            <a:off x="9842601" y="3661257"/>
            <a:ext cx="65836" cy="65836"/>
          </a:xfrm>
          <a:prstGeom prst="ellipse">
            <a:avLst/>
          </a:prstGeom>
          <a:solidFill>
            <a:srgbClr val="6363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4" name="Oval 773"/>
          <p:cNvSpPr/>
          <p:nvPr/>
        </p:nvSpPr>
        <p:spPr>
          <a:xfrm>
            <a:off x="9947757" y="3661257"/>
            <a:ext cx="65836" cy="65836"/>
          </a:xfrm>
          <a:prstGeom prst="ellipse">
            <a:avLst/>
          </a:prstGeom>
          <a:solidFill>
            <a:srgbClr val="646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5" name="Oval 774"/>
          <p:cNvSpPr/>
          <p:nvPr/>
        </p:nvSpPr>
        <p:spPr>
          <a:xfrm>
            <a:off x="10052913" y="3661257"/>
            <a:ext cx="65836" cy="65836"/>
          </a:xfrm>
          <a:prstGeom prst="ellipse">
            <a:avLst/>
          </a:prstGeom>
          <a:solidFill>
            <a:srgbClr val="6666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6" name="Oval 775"/>
          <p:cNvSpPr/>
          <p:nvPr/>
        </p:nvSpPr>
        <p:spPr>
          <a:xfrm>
            <a:off x="7844637" y="3766413"/>
            <a:ext cx="65836" cy="65836"/>
          </a:xfrm>
          <a:prstGeom prst="ellipse">
            <a:avLst/>
          </a:prstGeom>
          <a:solidFill>
            <a:srgbClr val="474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7" name="Oval 776"/>
          <p:cNvSpPr/>
          <p:nvPr/>
        </p:nvSpPr>
        <p:spPr>
          <a:xfrm>
            <a:off x="7949793" y="3766413"/>
            <a:ext cx="65836" cy="65836"/>
          </a:xfrm>
          <a:prstGeom prst="ellipse">
            <a:avLst/>
          </a:prstGeom>
          <a:solidFill>
            <a:srgbClr val="4848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8" name="Oval 777"/>
          <p:cNvSpPr/>
          <p:nvPr/>
        </p:nvSpPr>
        <p:spPr>
          <a:xfrm>
            <a:off x="8054949" y="3766413"/>
            <a:ext cx="65836" cy="65836"/>
          </a:xfrm>
          <a:prstGeom prst="ellipse">
            <a:avLst/>
          </a:prstGeom>
          <a:solidFill>
            <a:srgbClr val="4A4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9" name="Oval 778"/>
          <p:cNvSpPr/>
          <p:nvPr/>
        </p:nvSpPr>
        <p:spPr>
          <a:xfrm>
            <a:off x="8160105" y="3766413"/>
            <a:ext cx="65836" cy="65836"/>
          </a:xfrm>
          <a:prstGeom prst="ellipse">
            <a:avLst/>
          </a:prstGeom>
          <a:solidFill>
            <a:srgbClr val="4B4B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0" name="Oval 779"/>
          <p:cNvSpPr/>
          <p:nvPr/>
        </p:nvSpPr>
        <p:spPr>
          <a:xfrm>
            <a:off x="8265261" y="3766413"/>
            <a:ext cx="65836" cy="65836"/>
          </a:xfrm>
          <a:prstGeom prst="ellipse">
            <a:avLst/>
          </a:prstGeom>
          <a:solidFill>
            <a:srgbClr val="4D4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1" name="Oval 780"/>
          <p:cNvSpPr/>
          <p:nvPr/>
        </p:nvSpPr>
        <p:spPr>
          <a:xfrm>
            <a:off x="8370417" y="3766413"/>
            <a:ext cx="65836" cy="65836"/>
          </a:xfrm>
          <a:prstGeom prst="ellipse">
            <a:avLst/>
          </a:prstGeom>
          <a:solidFill>
            <a:srgbClr val="4E4E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2" name="Oval 781"/>
          <p:cNvSpPr/>
          <p:nvPr/>
        </p:nvSpPr>
        <p:spPr>
          <a:xfrm>
            <a:off x="8475573" y="3766413"/>
            <a:ext cx="65836" cy="65836"/>
          </a:xfrm>
          <a:prstGeom prst="ellipse">
            <a:avLst/>
          </a:prstGeom>
          <a:solidFill>
            <a:srgbClr val="5050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3" name="Oval 782"/>
          <p:cNvSpPr/>
          <p:nvPr/>
        </p:nvSpPr>
        <p:spPr>
          <a:xfrm>
            <a:off x="8580729" y="3766413"/>
            <a:ext cx="65836" cy="65836"/>
          </a:xfrm>
          <a:prstGeom prst="ellipse">
            <a:avLst/>
          </a:prstGeom>
          <a:solidFill>
            <a:srgbClr val="51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4" name="Oval 783"/>
          <p:cNvSpPr/>
          <p:nvPr/>
        </p:nvSpPr>
        <p:spPr>
          <a:xfrm>
            <a:off x="8685885" y="3766413"/>
            <a:ext cx="65836" cy="65836"/>
          </a:xfrm>
          <a:prstGeom prst="ellipse">
            <a:avLst/>
          </a:prstGeom>
          <a:solidFill>
            <a:srgbClr val="53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5" name="Oval 784"/>
          <p:cNvSpPr/>
          <p:nvPr/>
        </p:nvSpPr>
        <p:spPr>
          <a:xfrm>
            <a:off x="8791041" y="3766413"/>
            <a:ext cx="65836" cy="65836"/>
          </a:xfrm>
          <a:prstGeom prst="ellipse">
            <a:avLst/>
          </a:prstGeom>
          <a:solidFill>
            <a:srgbClr val="5555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6" name="Oval 785"/>
          <p:cNvSpPr/>
          <p:nvPr/>
        </p:nvSpPr>
        <p:spPr>
          <a:xfrm>
            <a:off x="9842601" y="3766413"/>
            <a:ext cx="65836" cy="65836"/>
          </a:xfrm>
          <a:prstGeom prst="ellipse">
            <a:avLst/>
          </a:prstGeom>
          <a:solidFill>
            <a:srgbClr val="646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7" name="Oval 786"/>
          <p:cNvSpPr/>
          <p:nvPr/>
        </p:nvSpPr>
        <p:spPr>
          <a:xfrm>
            <a:off x="9947757" y="3766413"/>
            <a:ext cx="65836" cy="65836"/>
          </a:xfrm>
          <a:prstGeom prst="ellipse">
            <a:avLst/>
          </a:prstGeom>
          <a:solidFill>
            <a:srgbClr val="6666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8" name="Oval 787"/>
          <p:cNvSpPr/>
          <p:nvPr/>
        </p:nvSpPr>
        <p:spPr>
          <a:xfrm>
            <a:off x="10052913" y="3766413"/>
            <a:ext cx="65836" cy="65836"/>
          </a:xfrm>
          <a:prstGeom prst="ellipse">
            <a:avLst/>
          </a:prstGeom>
          <a:solidFill>
            <a:srgbClr val="6767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9" name="Oval 788"/>
          <p:cNvSpPr/>
          <p:nvPr/>
        </p:nvSpPr>
        <p:spPr>
          <a:xfrm>
            <a:off x="7844637" y="3871569"/>
            <a:ext cx="65836" cy="65836"/>
          </a:xfrm>
          <a:prstGeom prst="ellipse">
            <a:avLst/>
          </a:prstGeom>
          <a:solidFill>
            <a:srgbClr val="4848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0" name="Oval 789"/>
          <p:cNvSpPr/>
          <p:nvPr/>
        </p:nvSpPr>
        <p:spPr>
          <a:xfrm>
            <a:off x="7949793" y="3871569"/>
            <a:ext cx="65836" cy="65836"/>
          </a:xfrm>
          <a:prstGeom prst="ellipse">
            <a:avLst/>
          </a:prstGeom>
          <a:solidFill>
            <a:srgbClr val="4A4A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1" name="Oval 790"/>
          <p:cNvSpPr/>
          <p:nvPr/>
        </p:nvSpPr>
        <p:spPr>
          <a:xfrm>
            <a:off x="8054949" y="3871569"/>
            <a:ext cx="65836" cy="65836"/>
          </a:xfrm>
          <a:prstGeom prst="ellipse">
            <a:avLst/>
          </a:prstGeom>
          <a:solidFill>
            <a:srgbClr val="4B4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2" name="Oval 791"/>
          <p:cNvSpPr/>
          <p:nvPr/>
        </p:nvSpPr>
        <p:spPr>
          <a:xfrm>
            <a:off x="8160105" y="3871569"/>
            <a:ext cx="65836" cy="65836"/>
          </a:xfrm>
          <a:prstGeom prst="ellipse">
            <a:avLst/>
          </a:prstGeom>
          <a:solidFill>
            <a:srgbClr val="4D4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3" name="Oval 792"/>
          <p:cNvSpPr/>
          <p:nvPr/>
        </p:nvSpPr>
        <p:spPr>
          <a:xfrm>
            <a:off x="8265261" y="3871569"/>
            <a:ext cx="65836" cy="65836"/>
          </a:xfrm>
          <a:prstGeom prst="ellipse">
            <a:avLst/>
          </a:prstGeom>
          <a:solidFill>
            <a:srgbClr val="4E4E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4" name="Oval 793"/>
          <p:cNvSpPr/>
          <p:nvPr/>
        </p:nvSpPr>
        <p:spPr>
          <a:xfrm>
            <a:off x="8370417" y="3871569"/>
            <a:ext cx="65836" cy="65836"/>
          </a:xfrm>
          <a:prstGeom prst="ellipse">
            <a:avLst/>
          </a:prstGeom>
          <a:solidFill>
            <a:srgbClr val="5050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5" name="Oval 794"/>
          <p:cNvSpPr/>
          <p:nvPr/>
        </p:nvSpPr>
        <p:spPr>
          <a:xfrm>
            <a:off x="8475573" y="3871569"/>
            <a:ext cx="65836" cy="65836"/>
          </a:xfrm>
          <a:prstGeom prst="ellipse">
            <a:avLst/>
          </a:prstGeom>
          <a:solidFill>
            <a:srgbClr val="5252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6" name="Oval 795"/>
          <p:cNvSpPr/>
          <p:nvPr/>
        </p:nvSpPr>
        <p:spPr>
          <a:xfrm>
            <a:off x="8580729" y="3871569"/>
            <a:ext cx="65836" cy="65836"/>
          </a:xfrm>
          <a:prstGeom prst="ellipse">
            <a:avLst/>
          </a:prstGeom>
          <a:solidFill>
            <a:srgbClr val="5353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7" name="Oval 796"/>
          <p:cNvSpPr/>
          <p:nvPr/>
        </p:nvSpPr>
        <p:spPr>
          <a:xfrm>
            <a:off x="8685885" y="3871569"/>
            <a:ext cx="65836" cy="65836"/>
          </a:xfrm>
          <a:prstGeom prst="ellipse">
            <a:avLst/>
          </a:prstGeom>
          <a:solidFill>
            <a:srgbClr val="555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8" name="Oval 797"/>
          <p:cNvSpPr/>
          <p:nvPr/>
        </p:nvSpPr>
        <p:spPr>
          <a:xfrm>
            <a:off x="9842601" y="3871569"/>
            <a:ext cx="65836" cy="65836"/>
          </a:xfrm>
          <a:prstGeom prst="ellipse">
            <a:avLst/>
          </a:prstGeom>
          <a:solidFill>
            <a:srgbClr val="6666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9" name="Oval 798"/>
          <p:cNvSpPr/>
          <p:nvPr/>
        </p:nvSpPr>
        <p:spPr>
          <a:xfrm>
            <a:off x="9947757" y="3871569"/>
            <a:ext cx="65836" cy="65836"/>
          </a:xfrm>
          <a:prstGeom prst="ellipse">
            <a:avLst/>
          </a:prstGeom>
          <a:solidFill>
            <a:srgbClr val="6767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0" name="Oval 799"/>
          <p:cNvSpPr/>
          <p:nvPr/>
        </p:nvSpPr>
        <p:spPr>
          <a:xfrm>
            <a:off x="9947757" y="3976725"/>
            <a:ext cx="65836" cy="65836"/>
          </a:xfrm>
          <a:prstGeom prst="ellipse">
            <a:avLst/>
          </a:prstGeom>
          <a:solidFill>
            <a:srgbClr val="6969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1" name="Oval 800"/>
          <p:cNvSpPr/>
          <p:nvPr/>
        </p:nvSpPr>
        <p:spPr>
          <a:xfrm>
            <a:off x="9878946" y="3730817"/>
            <a:ext cx="109728" cy="109728"/>
          </a:xfrm>
          <a:prstGeom prst="ellipse">
            <a:avLst/>
          </a:prstGeom>
          <a:solidFill>
            <a:srgbClr val="FFFFFF"/>
          </a:solidFill>
          <a:ln w="19050">
            <a:solidFill>
              <a:srgbClr val="0A0A0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2" name="TextBox 801"/>
          <p:cNvSpPr txBox="1"/>
          <p:nvPr/>
        </p:nvSpPr>
        <p:spPr>
          <a:xfrm>
            <a:off x="10052682" y="3675953"/>
            <a:ext cx="1097280" cy="228600"/>
          </a:xfrm>
          <a:prstGeom prst="rect">
            <a:avLst/>
          </a:prstGeom>
          <a:noFill/>
        </p:spPr>
        <p:txBody>
          <a:bodyPr wrap="square">
            <a:spAutoFit/>
          </a:bodyPr>
          <a:lstStyle/>
          <a:p>
            <a:pPr algn="l"/>
            <a:r>
              <a:rPr sz="800" b="1">
                <a:solidFill>
                  <a:srgbClr val="0A0A0A"/>
                </a:solidFill>
                <a:latin typeface="Pretendard"/>
              </a:rPr>
              <a:t>Lugano HQ</a:t>
            </a:r>
          </a:p>
        </p:txBody>
      </p:sp>
      <p:sp>
        <p:nvSpPr>
          <p:cNvPr id="803" name="Oval 802"/>
          <p:cNvSpPr/>
          <p:nvPr/>
        </p:nvSpPr>
        <p:spPr>
          <a:xfrm>
            <a:off x="519379" y="1031443"/>
            <a:ext cx="95097" cy="95097"/>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4" name="Oval 803"/>
          <p:cNvSpPr/>
          <p:nvPr/>
        </p:nvSpPr>
        <p:spPr>
          <a:xfrm>
            <a:off x="691286" y="1047902"/>
            <a:ext cx="62179" cy="62179"/>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5" name="Oval 804"/>
          <p:cNvSpPr/>
          <p:nvPr/>
        </p:nvSpPr>
        <p:spPr>
          <a:xfrm>
            <a:off x="835761" y="1036929"/>
            <a:ext cx="84124" cy="84124"/>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6" name="Oval 805"/>
          <p:cNvSpPr/>
          <p:nvPr/>
        </p:nvSpPr>
        <p:spPr>
          <a:xfrm>
            <a:off x="1005840" y="1051560"/>
            <a:ext cx="54864" cy="54864"/>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7" name="Oval 806"/>
          <p:cNvSpPr/>
          <p:nvPr/>
        </p:nvSpPr>
        <p:spPr>
          <a:xfrm>
            <a:off x="1152144" y="1042415"/>
            <a:ext cx="73152" cy="73152"/>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8" name="TextBox 807"/>
          <p:cNvSpPr txBox="1"/>
          <p:nvPr/>
        </p:nvSpPr>
        <p:spPr>
          <a:xfrm>
            <a:off x="502920" y="1371600"/>
            <a:ext cx="6035040" cy="914400"/>
          </a:xfrm>
          <a:prstGeom prst="rect">
            <a:avLst/>
          </a:prstGeom>
          <a:noFill/>
        </p:spPr>
        <p:txBody>
          <a:bodyPr wrap="square">
            <a:spAutoFit/>
          </a:bodyPr>
          <a:lstStyle/>
          <a:p>
            <a:pPr algn="l"/>
            <a:r>
              <a:rPr sz="4400" b="1">
                <a:solidFill>
                  <a:srgbClr val="0A0A0A"/>
                </a:solidFill>
                <a:latin typeface="Pretendard"/>
              </a:rPr>
              <a:t>THE BRAND BIBLE</a:t>
            </a:r>
          </a:p>
        </p:txBody>
      </p:sp>
      <p:sp>
        <p:nvSpPr>
          <p:cNvPr id="809" name="TextBox 808"/>
          <p:cNvSpPr txBox="1"/>
          <p:nvPr/>
        </p:nvSpPr>
        <p:spPr>
          <a:xfrm>
            <a:off x="521207" y="2331720"/>
            <a:ext cx="5943600" cy="548640"/>
          </a:xfrm>
          <a:prstGeom prst="rect">
            <a:avLst/>
          </a:prstGeom>
          <a:noFill/>
        </p:spPr>
        <p:txBody>
          <a:bodyPr wrap="square">
            <a:spAutoFit/>
          </a:bodyPr>
          <a:lstStyle/>
          <a:p>
            <a:pPr algn="l"/>
            <a:r>
              <a:rPr sz="2400" b="0">
                <a:solidFill>
                  <a:srgbClr val="5B5F63"/>
                </a:solidFill>
                <a:latin typeface="Pretendard"/>
              </a:rPr>
              <a:t>Prem and its products</a:t>
            </a:r>
          </a:p>
        </p:txBody>
      </p:sp>
      <p:sp>
        <p:nvSpPr>
          <p:cNvPr id="810" name="Rectangle 809"/>
          <p:cNvSpPr/>
          <p:nvPr/>
        </p:nvSpPr>
        <p:spPr>
          <a:xfrm>
            <a:off x="521207" y="3063240"/>
            <a:ext cx="2926080" cy="10972"/>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1" name="TextBox 810"/>
          <p:cNvSpPr txBox="1"/>
          <p:nvPr/>
        </p:nvSpPr>
        <p:spPr>
          <a:xfrm>
            <a:off x="521207" y="3246120"/>
            <a:ext cx="5669280" cy="365760"/>
          </a:xfrm>
          <a:prstGeom prst="rect">
            <a:avLst/>
          </a:prstGeom>
          <a:noFill/>
        </p:spPr>
        <p:txBody>
          <a:bodyPr wrap="square">
            <a:spAutoFit/>
          </a:bodyPr>
          <a:lstStyle/>
          <a:p>
            <a:pPr algn="l"/>
            <a:r>
              <a:rPr sz="1200" b="0">
                <a:solidFill>
                  <a:srgbClr val="5B5F63"/>
                </a:solidFill>
                <a:latin typeface="Pretendard"/>
              </a:rPr>
              <a:t>Private Super Intelligence, built in Lugano.</a:t>
            </a:r>
          </a:p>
        </p:txBody>
      </p:sp>
      <p:sp>
        <p:nvSpPr>
          <p:cNvPr id="812" name="TextBox 811"/>
          <p:cNvSpPr txBox="1"/>
          <p:nvPr/>
        </p:nvSpPr>
        <p:spPr>
          <a:xfrm>
            <a:off x="521207" y="3703320"/>
            <a:ext cx="6035040" cy="548640"/>
          </a:xfrm>
          <a:prstGeom prst="rect">
            <a:avLst/>
          </a:prstGeom>
          <a:noFill/>
        </p:spPr>
        <p:txBody>
          <a:bodyPr wrap="square">
            <a:spAutoFit/>
          </a:bodyPr>
          <a:lstStyle/>
          <a:p>
            <a:pPr algn="l"/>
            <a:r>
              <a:rPr sz="950" b="0">
                <a:solidFill>
                  <a:srgbClr val="B0B0AA"/>
                </a:solidFill>
                <a:latin typeface="Pretendard"/>
              </a:rPr>
              <a:t>Brand architecture  |  Digital focus  |  Voice  |  Monochrome system  |  The Swiss visual world  |  Platform playbooks</a:t>
            </a:r>
          </a:p>
        </p:txBody>
      </p:sp>
      <p:sp>
        <p:nvSpPr>
          <p:cNvPr id="813" name="TextBox 812"/>
          <p:cNvSpPr txBox="1"/>
          <p:nvPr/>
        </p:nvSpPr>
        <p:spPr>
          <a:xfrm>
            <a:off x="521207" y="4251960"/>
            <a:ext cx="5486400" cy="320040"/>
          </a:xfrm>
          <a:prstGeom prst="rect">
            <a:avLst/>
          </a:prstGeom>
          <a:noFill/>
        </p:spPr>
        <p:txBody>
          <a:bodyPr wrap="square">
            <a:spAutoFit/>
          </a:bodyPr>
          <a:lstStyle/>
          <a:p>
            <a:pPr algn="l"/>
            <a:r>
              <a:rPr sz="900" b="0">
                <a:solidFill>
                  <a:srgbClr val="B0B0AA"/>
                </a:solidFill>
                <a:latin typeface="Pretendard"/>
              </a:rPr>
              <a:t>v3.0   June 2026   Internal use only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9144000" cy="274320"/>
          </a:xfrm>
          <a:prstGeom prst="rect">
            <a:avLst/>
          </a:prstGeom>
          <a:noFill/>
        </p:spPr>
        <p:txBody>
          <a:bodyPr wrap="square">
            <a:spAutoFit/>
          </a:bodyPr>
          <a:lstStyle/>
          <a:p>
            <a:pPr algn="l"/>
            <a:r>
              <a:rPr sz="900" b="1">
                <a:solidFill>
                  <a:srgbClr val="5B5F63"/>
                </a:solidFill>
                <a:latin typeface="Pretendard"/>
              </a:rPr>
              <a:t>CONTENTS</a:t>
            </a:r>
          </a:p>
        </p:txBody>
      </p:sp>
      <p:sp>
        <p:nvSpPr>
          <p:cNvPr id="4" name="Rectangle 3"/>
          <p:cNvSpPr/>
          <p:nvPr/>
        </p:nvSpPr>
        <p:spPr>
          <a:xfrm>
            <a:off x="502920" y="713232"/>
            <a:ext cx="11183112" cy="10972"/>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051560"/>
            <a:ext cx="502920" cy="320040"/>
          </a:xfrm>
          <a:prstGeom prst="rect">
            <a:avLst/>
          </a:prstGeom>
          <a:noFill/>
        </p:spPr>
        <p:txBody>
          <a:bodyPr wrap="square">
            <a:spAutoFit/>
          </a:bodyPr>
          <a:lstStyle/>
          <a:p>
            <a:pPr algn="l"/>
            <a:r>
              <a:rPr sz="1100" b="1">
                <a:solidFill>
                  <a:srgbClr val="5B5F63"/>
                </a:solidFill>
                <a:latin typeface="Pretendard"/>
              </a:rPr>
              <a:t>01</a:t>
            </a:r>
          </a:p>
        </p:txBody>
      </p:sp>
      <p:sp>
        <p:nvSpPr>
          <p:cNvPr id="6" name="TextBox 5"/>
          <p:cNvSpPr txBox="1"/>
          <p:nvPr/>
        </p:nvSpPr>
        <p:spPr>
          <a:xfrm>
            <a:off x="1069848" y="1051560"/>
            <a:ext cx="4572000" cy="320040"/>
          </a:xfrm>
          <a:prstGeom prst="rect">
            <a:avLst/>
          </a:prstGeom>
          <a:noFill/>
        </p:spPr>
        <p:txBody>
          <a:bodyPr wrap="square">
            <a:spAutoFit/>
          </a:bodyPr>
          <a:lstStyle/>
          <a:p>
            <a:pPr algn="l"/>
            <a:r>
              <a:rPr sz="1300" b="1">
                <a:solidFill>
                  <a:srgbClr val="0A0A0A"/>
                </a:solidFill>
                <a:latin typeface="Pretendard"/>
              </a:rPr>
              <a:t>Brand architecture</a:t>
            </a:r>
          </a:p>
        </p:txBody>
      </p:sp>
      <p:sp>
        <p:nvSpPr>
          <p:cNvPr id="7" name="TextBox 6"/>
          <p:cNvSpPr txBox="1"/>
          <p:nvPr/>
        </p:nvSpPr>
        <p:spPr>
          <a:xfrm>
            <a:off x="1069848" y="1399031"/>
            <a:ext cx="4937760" cy="292608"/>
          </a:xfrm>
          <a:prstGeom prst="rect">
            <a:avLst/>
          </a:prstGeom>
          <a:noFill/>
        </p:spPr>
        <p:txBody>
          <a:bodyPr wrap="square">
            <a:spAutoFit/>
          </a:bodyPr>
          <a:lstStyle/>
          <a:p>
            <a:pPr algn="l"/>
            <a:r>
              <a:rPr sz="900" b="0">
                <a:solidFill>
                  <a:srgbClr val="B0B0AA"/>
                </a:solidFill>
                <a:latin typeface="Pretendard"/>
              </a:rPr>
              <a:t>Prem masterbrand and the product portfolio</a:t>
            </a:r>
          </a:p>
        </p:txBody>
      </p:sp>
      <p:sp>
        <p:nvSpPr>
          <p:cNvPr id="8" name="TextBox 7"/>
          <p:cNvSpPr txBox="1"/>
          <p:nvPr/>
        </p:nvSpPr>
        <p:spPr>
          <a:xfrm>
            <a:off x="502920" y="1837943"/>
            <a:ext cx="502920" cy="320040"/>
          </a:xfrm>
          <a:prstGeom prst="rect">
            <a:avLst/>
          </a:prstGeom>
          <a:noFill/>
        </p:spPr>
        <p:txBody>
          <a:bodyPr wrap="square">
            <a:spAutoFit/>
          </a:bodyPr>
          <a:lstStyle/>
          <a:p>
            <a:pPr algn="l"/>
            <a:r>
              <a:rPr sz="1100" b="1">
                <a:solidFill>
                  <a:srgbClr val="5B5F63"/>
                </a:solidFill>
                <a:latin typeface="Pretendard"/>
              </a:rPr>
              <a:t>02</a:t>
            </a:r>
          </a:p>
        </p:txBody>
      </p:sp>
      <p:sp>
        <p:nvSpPr>
          <p:cNvPr id="9" name="TextBox 8"/>
          <p:cNvSpPr txBox="1"/>
          <p:nvPr/>
        </p:nvSpPr>
        <p:spPr>
          <a:xfrm>
            <a:off x="1069848" y="1837943"/>
            <a:ext cx="4572000" cy="320040"/>
          </a:xfrm>
          <a:prstGeom prst="rect">
            <a:avLst/>
          </a:prstGeom>
          <a:noFill/>
        </p:spPr>
        <p:txBody>
          <a:bodyPr wrap="square">
            <a:spAutoFit/>
          </a:bodyPr>
          <a:lstStyle/>
          <a:p>
            <a:pPr algn="l"/>
            <a:r>
              <a:rPr sz="1300" b="1">
                <a:solidFill>
                  <a:srgbClr val="0A0A0A"/>
                </a:solidFill>
                <a:latin typeface="Pretendard"/>
              </a:rPr>
              <a:t>Digital focus</a:t>
            </a:r>
          </a:p>
        </p:txBody>
      </p:sp>
      <p:sp>
        <p:nvSpPr>
          <p:cNvPr id="10" name="TextBox 9"/>
          <p:cNvSpPr txBox="1"/>
          <p:nvPr/>
        </p:nvSpPr>
        <p:spPr>
          <a:xfrm>
            <a:off x="1069848" y="2185415"/>
            <a:ext cx="4937760" cy="292608"/>
          </a:xfrm>
          <a:prstGeom prst="rect">
            <a:avLst/>
          </a:prstGeom>
          <a:noFill/>
        </p:spPr>
        <p:txBody>
          <a:bodyPr wrap="square">
            <a:spAutoFit/>
          </a:bodyPr>
          <a:lstStyle/>
          <a:p>
            <a:pPr algn="l"/>
            <a:r>
              <a:rPr sz="900" b="0">
                <a:solidFill>
                  <a:srgbClr val="B0B0AA"/>
                </a:solidFill>
                <a:latin typeface="Pretendard"/>
              </a:rPr>
              <a:t>Fluso 40%, Prem and the rest 60%</a:t>
            </a:r>
          </a:p>
        </p:txBody>
      </p:sp>
      <p:sp>
        <p:nvSpPr>
          <p:cNvPr id="11" name="TextBox 10"/>
          <p:cNvSpPr txBox="1"/>
          <p:nvPr/>
        </p:nvSpPr>
        <p:spPr>
          <a:xfrm>
            <a:off x="502920" y="2624328"/>
            <a:ext cx="502920" cy="320040"/>
          </a:xfrm>
          <a:prstGeom prst="rect">
            <a:avLst/>
          </a:prstGeom>
          <a:noFill/>
        </p:spPr>
        <p:txBody>
          <a:bodyPr wrap="square">
            <a:spAutoFit/>
          </a:bodyPr>
          <a:lstStyle/>
          <a:p>
            <a:pPr algn="l"/>
            <a:r>
              <a:rPr sz="1100" b="1">
                <a:solidFill>
                  <a:srgbClr val="5B5F63"/>
                </a:solidFill>
                <a:latin typeface="Pretendard"/>
              </a:rPr>
              <a:t>03</a:t>
            </a:r>
          </a:p>
        </p:txBody>
      </p:sp>
      <p:sp>
        <p:nvSpPr>
          <p:cNvPr id="12" name="TextBox 11"/>
          <p:cNvSpPr txBox="1"/>
          <p:nvPr/>
        </p:nvSpPr>
        <p:spPr>
          <a:xfrm>
            <a:off x="1069848" y="2624328"/>
            <a:ext cx="4572000" cy="320040"/>
          </a:xfrm>
          <a:prstGeom prst="rect">
            <a:avLst/>
          </a:prstGeom>
          <a:noFill/>
        </p:spPr>
        <p:txBody>
          <a:bodyPr wrap="square">
            <a:spAutoFit/>
          </a:bodyPr>
          <a:lstStyle/>
          <a:p>
            <a:pPr algn="l"/>
            <a:r>
              <a:rPr sz="1300" b="1">
                <a:solidFill>
                  <a:srgbClr val="0A0A0A"/>
                </a:solidFill>
                <a:latin typeface="Pretendard"/>
              </a:rPr>
              <a:t>Positioning: Prem</a:t>
            </a:r>
          </a:p>
        </p:txBody>
      </p:sp>
      <p:sp>
        <p:nvSpPr>
          <p:cNvPr id="13" name="TextBox 12"/>
          <p:cNvSpPr txBox="1"/>
          <p:nvPr/>
        </p:nvSpPr>
        <p:spPr>
          <a:xfrm>
            <a:off x="1069848" y="2971800"/>
            <a:ext cx="4937760" cy="292608"/>
          </a:xfrm>
          <a:prstGeom prst="rect">
            <a:avLst/>
          </a:prstGeom>
          <a:noFill/>
        </p:spPr>
        <p:txBody>
          <a:bodyPr wrap="square">
            <a:spAutoFit/>
          </a:bodyPr>
          <a:lstStyle/>
          <a:p>
            <a:pPr algn="l"/>
            <a:r>
              <a:rPr sz="900" b="0">
                <a:solidFill>
                  <a:srgbClr val="B0B0AA"/>
                </a:solidFill>
                <a:latin typeface="Pretendard"/>
              </a:rPr>
              <a:t>Private Super Intelligence</a:t>
            </a:r>
          </a:p>
        </p:txBody>
      </p:sp>
      <p:sp>
        <p:nvSpPr>
          <p:cNvPr id="14" name="TextBox 13"/>
          <p:cNvSpPr txBox="1"/>
          <p:nvPr/>
        </p:nvSpPr>
        <p:spPr>
          <a:xfrm>
            <a:off x="502920" y="3410712"/>
            <a:ext cx="502920" cy="320040"/>
          </a:xfrm>
          <a:prstGeom prst="rect">
            <a:avLst/>
          </a:prstGeom>
          <a:noFill/>
        </p:spPr>
        <p:txBody>
          <a:bodyPr wrap="square">
            <a:spAutoFit/>
          </a:bodyPr>
          <a:lstStyle/>
          <a:p>
            <a:pPr algn="l"/>
            <a:r>
              <a:rPr sz="1100" b="1">
                <a:solidFill>
                  <a:srgbClr val="5B5F63"/>
                </a:solidFill>
                <a:latin typeface="Pretendard"/>
              </a:rPr>
              <a:t>04</a:t>
            </a:r>
          </a:p>
        </p:txBody>
      </p:sp>
      <p:sp>
        <p:nvSpPr>
          <p:cNvPr id="15" name="TextBox 14"/>
          <p:cNvSpPr txBox="1"/>
          <p:nvPr/>
        </p:nvSpPr>
        <p:spPr>
          <a:xfrm>
            <a:off x="1069848" y="3410712"/>
            <a:ext cx="4572000" cy="320040"/>
          </a:xfrm>
          <a:prstGeom prst="rect">
            <a:avLst/>
          </a:prstGeom>
          <a:noFill/>
        </p:spPr>
        <p:txBody>
          <a:bodyPr wrap="square">
            <a:spAutoFit/>
          </a:bodyPr>
          <a:lstStyle/>
          <a:p>
            <a:pPr algn="l"/>
            <a:r>
              <a:rPr sz="1300" b="1">
                <a:solidFill>
                  <a:srgbClr val="0A0A0A"/>
                </a:solidFill>
                <a:latin typeface="Pretendard"/>
              </a:rPr>
              <a:t>Positioning: Fluso</a:t>
            </a:r>
          </a:p>
        </p:txBody>
      </p:sp>
      <p:sp>
        <p:nvSpPr>
          <p:cNvPr id="16" name="TextBox 15"/>
          <p:cNvSpPr txBox="1"/>
          <p:nvPr/>
        </p:nvSpPr>
        <p:spPr>
          <a:xfrm>
            <a:off x="1069848" y="3758184"/>
            <a:ext cx="4937760" cy="292608"/>
          </a:xfrm>
          <a:prstGeom prst="rect">
            <a:avLst/>
          </a:prstGeom>
          <a:noFill/>
        </p:spPr>
        <p:txBody>
          <a:bodyPr wrap="square">
            <a:spAutoFit/>
          </a:bodyPr>
          <a:lstStyle/>
          <a:p>
            <a:pPr algn="l"/>
            <a:r>
              <a:rPr sz="900" b="0">
                <a:solidFill>
                  <a:srgbClr val="B0B0AA"/>
                </a:solidFill>
                <a:latin typeface="Pretendard"/>
              </a:rPr>
              <a:t>Work deeper, not longer</a:t>
            </a:r>
          </a:p>
        </p:txBody>
      </p:sp>
      <p:sp>
        <p:nvSpPr>
          <p:cNvPr id="17" name="TextBox 16"/>
          <p:cNvSpPr txBox="1"/>
          <p:nvPr/>
        </p:nvSpPr>
        <p:spPr>
          <a:xfrm>
            <a:off x="502920" y="4197096"/>
            <a:ext cx="502920" cy="320040"/>
          </a:xfrm>
          <a:prstGeom prst="rect">
            <a:avLst/>
          </a:prstGeom>
          <a:noFill/>
        </p:spPr>
        <p:txBody>
          <a:bodyPr wrap="square">
            <a:spAutoFit/>
          </a:bodyPr>
          <a:lstStyle/>
          <a:p>
            <a:pPr algn="l"/>
            <a:r>
              <a:rPr sz="1100" b="1">
                <a:solidFill>
                  <a:srgbClr val="5B5F63"/>
                </a:solidFill>
                <a:latin typeface="Pretendard"/>
              </a:rPr>
              <a:t>05</a:t>
            </a:r>
          </a:p>
        </p:txBody>
      </p:sp>
      <p:sp>
        <p:nvSpPr>
          <p:cNvPr id="18" name="TextBox 17"/>
          <p:cNvSpPr txBox="1"/>
          <p:nvPr/>
        </p:nvSpPr>
        <p:spPr>
          <a:xfrm>
            <a:off x="1069848" y="4197096"/>
            <a:ext cx="4572000" cy="320040"/>
          </a:xfrm>
          <a:prstGeom prst="rect">
            <a:avLst/>
          </a:prstGeom>
          <a:noFill/>
        </p:spPr>
        <p:txBody>
          <a:bodyPr wrap="square">
            <a:spAutoFit/>
          </a:bodyPr>
          <a:lstStyle/>
          <a:p>
            <a:pPr algn="l"/>
            <a:r>
              <a:rPr sz="1300" b="1">
                <a:solidFill>
                  <a:srgbClr val="0A0A0A"/>
                </a:solidFill>
                <a:latin typeface="Pretendard"/>
              </a:rPr>
              <a:t>The category</a:t>
            </a:r>
          </a:p>
        </p:txBody>
      </p:sp>
      <p:sp>
        <p:nvSpPr>
          <p:cNvPr id="19" name="TextBox 18"/>
          <p:cNvSpPr txBox="1"/>
          <p:nvPr/>
        </p:nvSpPr>
        <p:spPr>
          <a:xfrm>
            <a:off x="1069848" y="4544568"/>
            <a:ext cx="4937760" cy="292608"/>
          </a:xfrm>
          <a:prstGeom prst="rect">
            <a:avLst/>
          </a:prstGeom>
          <a:noFill/>
        </p:spPr>
        <p:txBody>
          <a:bodyPr wrap="square">
            <a:spAutoFit/>
          </a:bodyPr>
          <a:lstStyle/>
          <a:p>
            <a:pPr algn="l"/>
            <a:r>
              <a:rPr sz="900" b="0">
                <a:solidFill>
                  <a:srgbClr val="B0B0AA"/>
                </a:solidFill>
                <a:latin typeface="Pretendard"/>
              </a:rPr>
              <a:t>Verifiable AI</a:t>
            </a:r>
          </a:p>
        </p:txBody>
      </p:sp>
      <p:sp>
        <p:nvSpPr>
          <p:cNvPr id="20" name="TextBox 19"/>
          <p:cNvSpPr txBox="1"/>
          <p:nvPr/>
        </p:nvSpPr>
        <p:spPr>
          <a:xfrm>
            <a:off x="502920" y="4983479"/>
            <a:ext cx="502920" cy="320040"/>
          </a:xfrm>
          <a:prstGeom prst="rect">
            <a:avLst/>
          </a:prstGeom>
          <a:noFill/>
        </p:spPr>
        <p:txBody>
          <a:bodyPr wrap="square">
            <a:spAutoFit/>
          </a:bodyPr>
          <a:lstStyle/>
          <a:p>
            <a:pPr algn="l"/>
            <a:r>
              <a:rPr sz="1100" b="1">
                <a:solidFill>
                  <a:srgbClr val="5B5F63"/>
                </a:solidFill>
                <a:latin typeface="Pretendard"/>
              </a:rPr>
              <a:t>06</a:t>
            </a:r>
          </a:p>
        </p:txBody>
      </p:sp>
      <p:sp>
        <p:nvSpPr>
          <p:cNvPr id="21" name="TextBox 20"/>
          <p:cNvSpPr txBox="1"/>
          <p:nvPr/>
        </p:nvSpPr>
        <p:spPr>
          <a:xfrm>
            <a:off x="1069848" y="4983479"/>
            <a:ext cx="4572000" cy="320040"/>
          </a:xfrm>
          <a:prstGeom prst="rect">
            <a:avLst/>
          </a:prstGeom>
          <a:noFill/>
        </p:spPr>
        <p:txBody>
          <a:bodyPr wrap="square">
            <a:spAutoFit/>
          </a:bodyPr>
          <a:lstStyle/>
          <a:p>
            <a:pPr algn="l"/>
            <a:r>
              <a:rPr sz="1300" b="1">
                <a:solidFill>
                  <a:srgbClr val="0A0A0A"/>
                </a:solidFill>
                <a:latin typeface="Pretendard"/>
              </a:rPr>
              <a:t>Voice and tone</a:t>
            </a:r>
          </a:p>
        </p:txBody>
      </p:sp>
      <p:sp>
        <p:nvSpPr>
          <p:cNvPr id="22" name="TextBox 21"/>
          <p:cNvSpPr txBox="1"/>
          <p:nvPr/>
        </p:nvSpPr>
        <p:spPr>
          <a:xfrm>
            <a:off x="1069848" y="5330951"/>
            <a:ext cx="4937760" cy="292608"/>
          </a:xfrm>
          <a:prstGeom prst="rect">
            <a:avLst/>
          </a:prstGeom>
          <a:noFill/>
        </p:spPr>
        <p:txBody>
          <a:bodyPr wrap="square">
            <a:spAutoFit/>
          </a:bodyPr>
          <a:lstStyle/>
          <a:p>
            <a:pPr algn="l"/>
            <a:r>
              <a:rPr sz="900" b="0">
                <a:solidFill>
                  <a:srgbClr val="B0B0AA"/>
                </a:solidFill>
                <a:latin typeface="Pretendard"/>
              </a:rPr>
              <a:t>Four principles, one banned list</a:t>
            </a:r>
          </a:p>
        </p:txBody>
      </p:sp>
      <p:sp>
        <p:nvSpPr>
          <p:cNvPr id="23" name="TextBox 22"/>
          <p:cNvSpPr txBox="1"/>
          <p:nvPr/>
        </p:nvSpPr>
        <p:spPr>
          <a:xfrm>
            <a:off x="502920" y="5769864"/>
            <a:ext cx="502920" cy="320040"/>
          </a:xfrm>
          <a:prstGeom prst="rect">
            <a:avLst/>
          </a:prstGeom>
          <a:noFill/>
        </p:spPr>
        <p:txBody>
          <a:bodyPr wrap="square">
            <a:spAutoFit/>
          </a:bodyPr>
          <a:lstStyle/>
          <a:p>
            <a:pPr algn="l"/>
            <a:r>
              <a:rPr sz="1100" b="1">
                <a:solidFill>
                  <a:srgbClr val="5B5F63"/>
                </a:solidFill>
                <a:latin typeface="Pretendard"/>
              </a:rPr>
              <a:t>07</a:t>
            </a:r>
          </a:p>
        </p:txBody>
      </p:sp>
      <p:sp>
        <p:nvSpPr>
          <p:cNvPr id="24" name="TextBox 23"/>
          <p:cNvSpPr txBox="1"/>
          <p:nvPr/>
        </p:nvSpPr>
        <p:spPr>
          <a:xfrm>
            <a:off x="1069848" y="5769864"/>
            <a:ext cx="4572000" cy="320040"/>
          </a:xfrm>
          <a:prstGeom prst="rect">
            <a:avLst/>
          </a:prstGeom>
          <a:noFill/>
        </p:spPr>
        <p:txBody>
          <a:bodyPr wrap="square">
            <a:spAutoFit/>
          </a:bodyPr>
          <a:lstStyle/>
          <a:p>
            <a:pPr algn="l"/>
            <a:r>
              <a:rPr sz="1300" b="1">
                <a:solidFill>
                  <a:srgbClr val="0A0A0A"/>
                </a:solidFill>
                <a:latin typeface="Pretendard"/>
              </a:rPr>
              <a:t>Color</a:t>
            </a:r>
          </a:p>
        </p:txBody>
      </p:sp>
      <p:sp>
        <p:nvSpPr>
          <p:cNvPr id="25" name="TextBox 24"/>
          <p:cNvSpPr txBox="1"/>
          <p:nvPr/>
        </p:nvSpPr>
        <p:spPr>
          <a:xfrm>
            <a:off x="1069848" y="6117336"/>
            <a:ext cx="4937760" cy="292608"/>
          </a:xfrm>
          <a:prstGeom prst="rect">
            <a:avLst/>
          </a:prstGeom>
          <a:noFill/>
        </p:spPr>
        <p:txBody>
          <a:bodyPr wrap="square">
            <a:spAutoFit/>
          </a:bodyPr>
          <a:lstStyle/>
          <a:p>
            <a:pPr algn="l"/>
            <a:r>
              <a:rPr sz="900" b="0">
                <a:solidFill>
                  <a:srgbClr val="B0B0AA"/>
                </a:solidFill>
                <a:latin typeface="Pretendard"/>
              </a:rPr>
              <a:t>Monochrome, like the mark</a:t>
            </a:r>
          </a:p>
        </p:txBody>
      </p:sp>
      <p:sp>
        <p:nvSpPr>
          <p:cNvPr id="26" name="TextBox 25"/>
          <p:cNvSpPr txBox="1"/>
          <p:nvPr/>
        </p:nvSpPr>
        <p:spPr>
          <a:xfrm>
            <a:off x="6355080" y="1051560"/>
            <a:ext cx="502920" cy="320040"/>
          </a:xfrm>
          <a:prstGeom prst="rect">
            <a:avLst/>
          </a:prstGeom>
          <a:noFill/>
        </p:spPr>
        <p:txBody>
          <a:bodyPr wrap="square">
            <a:spAutoFit/>
          </a:bodyPr>
          <a:lstStyle/>
          <a:p>
            <a:pPr algn="l"/>
            <a:r>
              <a:rPr sz="1100" b="1">
                <a:solidFill>
                  <a:srgbClr val="5B5F63"/>
                </a:solidFill>
                <a:latin typeface="Pretendard"/>
              </a:rPr>
              <a:t>08</a:t>
            </a:r>
          </a:p>
        </p:txBody>
      </p:sp>
      <p:sp>
        <p:nvSpPr>
          <p:cNvPr id="27" name="TextBox 26"/>
          <p:cNvSpPr txBox="1"/>
          <p:nvPr/>
        </p:nvSpPr>
        <p:spPr>
          <a:xfrm>
            <a:off x="6922008" y="1051560"/>
            <a:ext cx="4572000" cy="320040"/>
          </a:xfrm>
          <a:prstGeom prst="rect">
            <a:avLst/>
          </a:prstGeom>
          <a:noFill/>
        </p:spPr>
        <p:txBody>
          <a:bodyPr wrap="square">
            <a:spAutoFit/>
          </a:bodyPr>
          <a:lstStyle/>
          <a:p>
            <a:pPr algn="l"/>
            <a:r>
              <a:rPr sz="1300" b="1">
                <a:solidFill>
                  <a:srgbClr val="0A0A0A"/>
                </a:solidFill>
                <a:latin typeface="Pretendard"/>
              </a:rPr>
              <a:t>Typography</a:t>
            </a:r>
          </a:p>
        </p:txBody>
      </p:sp>
      <p:sp>
        <p:nvSpPr>
          <p:cNvPr id="28" name="TextBox 27"/>
          <p:cNvSpPr txBox="1"/>
          <p:nvPr/>
        </p:nvSpPr>
        <p:spPr>
          <a:xfrm>
            <a:off x="6922008" y="1399031"/>
            <a:ext cx="4937760" cy="292608"/>
          </a:xfrm>
          <a:prstGeom prst="rect">
            <a:avLst/>
          </a:prstGeom>
          <a:noFill/>
        </p:spPr>
        <p:txBody>
          <a:bodyPr wrap="square">
            <a:spAutoFit/>
          </a:bodyPr>
          <a:lstStyle/>
          <a:p>
            <a:pPr algn="l"/>
            <a:r>
              <a:rPr sz="900" b="0">
                <a:solidFill>
                  <a:srgbClr val="B0B0AA"/>
                </a:solidFill>
                <a:latin typeface="Pretendard"/>
              </a:rPr>
              <a:t>Pretendard, the brand typeface</a:t>
            </a:r>
          </a:p>
        </p:txBody>
      </p:sp>
      <p:sp>
        <p:nvSpPr>
          <p:cNvPr id="29" name="TextBox 28"/>
          <p:cNvSpPr txBox="1"/>
          <p:nvPr/>
        </p:nvSpPr>
        <p:spPr>
          <a:xfrm>
            <a:off x="6355080" y="1837943"/>
            <a:ext cx="502920" cy="320040"/>
          </a:xfrm>
          <a:prstGeom prst="rect">
            <a:avLst/>
          </a:prstGeom>
          <a:noFill/>
        </p:spPr>
        <p:txBody>
          <a:bodyPr wrap="square">
            <a:spAutoFit/>
          </a:bodyPr>
          <a:lstStyle/>
          <a:p>
            <a:pPr algn="l"/>
            <a:r>
              <a:rPr sz="1100" b="1">
                <a:solidFill>
                  <a:srgbClr val="5B5F63"/>
                </a:solidFill>
                <a:latin typeface="Pretendard"/>
              </a:rPr>
              <a:t>09</a:t>
            </a:r>
          </a:p>
        </p:txBody>
      </p:sp>
      <p:sp>
        <p:nvSpPr>
          <p:cNvPr id="30" name="TextBox 29"/>
          <p:cNvSpPr txBox="1"/>
          <p:nvPr/>
        </p:nvSpPr>
        <p:spPr>
          <a:xfrm>
            <a:off x="6922008" y="1837943"/>
            <a:ext cx="4572000" cy="320040"/>
          </a:xfrm>
          <a:prstGeom prst="rect">
            <a:avLst/>
          </a:prstGeom>
          <a:noFill/>
        </p:spPr>
        <p:txBody>
          <a:bodyPr wrap="square">
            <a:spAutoFit/>
          </a:bodyPr>
          <a:lstStyle/>
          <a:p>
            <a:pPr algn="l"/>
            <a:r>
              <a:rPr sz="1300" b="1">
                <a:solidFill>
                  <a:srgbClr val="0A0A0A"/>
                </a:solidFill>
                <a:latin typeface="Pretendard"/>
              </a:rPr>
              <a:t>The Swiss visual world</a:t>
            </a:r>
          </a:p>
        </p:txBody>
      </p:sp>
      <p:sp>
        <p:nvSpPr>
          <p:cNvPr id="31" name="TextBox 30"/>
          <p:cNvSpPr txBox="1"/>
          <p:nvPr/>
        </p:nvSpPr>
        <p:spPr>
          <a:xfrm>
            <a:off x="6922008" y="2185415"/>
            <a:ext cx="4937760" cy="292608"/>
          </a:xfrm>
          <a:prstGeom prst="rect">
            <a:avLst/>
          </a:prstGeom>
          <a:noFill/>
        </p:spPr>
        <p:txBody>
          <a:bodyPr wrap="square">
            <a:spAutoFit/>
          </a:bodyPr>
          <a:lstStyle/>
          <a:p>
            <a:pPr algn="l"/>
            <a:r>
              <a:rPr sz="900" b="0">
                <a:solidFill>
                  <a:srgbClr val="B0B0AA"/>
                </a:solidFill>
                <a:latin typeface="Pretendard"/>
              </a:rPr>
              <a:t>Mountains, the dot map, calm space</a:t>
            </a:r>
          </a:p>
        </p:txBody>
      </p:sp>
      <p:sp>
        <p:nvSpPr>
          <p:cNvPr id="32" name="TextBox 31"/>
          <p:cNvSpPr txBox="1"/>
          <p:nvPr/>
        </p:nvSpPr>
        <p:spPr>
          <a:xfrm>
            <a:off x="6355080" y="2624328"/>
            <a:ext cx="502920" cy="320040"/>
          </a:xfrm>
          <a:prstGeom prst="rect">
            <a:avLst/>
          </a:prstGeom>
          <a:noFill/>
        </p:spPr>
        <p:txBody>
          <a:bodyPr wrap="square">
            <a:spAutoFit/>
          </a:bodyPr>
          <a:lstStyle/>
          <a:p>
            <a:pPr algn="l"/>
            <a:r>
              <a:rPr sz="1100" b="1">
                <a:solidFill>
                  <a:srgbClr val="5B5F63"/>
                </a:solidFill>
                <a:latin typeface="Pretendard"/>
              </a:rPr>
              <a:t>10</a:t>
            </a:r>
          </a:p>
        </p:txBody>
      </p:sp>
      <p:sp>
        <p:nvSpPr>
          <p:cNvPr id="33" name="TextBox 32"/>
          <p:cNvSpPr txBox="1"/>
          <p:nvPr/>
        </p:nvSpPr>
        <p:spPr>
          <a:xfrm>
            <a:off x="6922008" y="2624328"/>
            <a:ext cx="4572000" cy="320040"/>
          </a:xfrm>
          <a:prstGeom prst="rect">
            <a:avLst/>
          </a:prstGeom>
          <a:noFill/>
        </p:spPr>
        <p:txBody>
          <a:bodyPr wrap="square">
            <a:spAutoFit/>
          </a:bodyPr>
          <a:lstStyle/>
          <a:p>
            <a:pPr algn="l"/>
            <a:r>
              <a:rPr sz="1300" b="1">
                <a:solidFill>
                  <a:srgbClr val="0A0A0A"/>
                </a:solidFill>
                <a:latin typeface="Pretendard"/>
              </a:rPr>
              <a:t>Visual application</a:t>
            </a:r>
          </a:p>
        </p:txBody>
      </p:sp>
      <p:sp>
        <p:nvSpPr>
          <p:cNvPr id="34" name="TextBox 33"/>
          <p:cNvSpPr txBox="1"/>
          <p:nvPr/>
        </p:nvSpPr>
        <p:spPr>
          <a:xfrm>
            <a:off x="6922008" y="2971800"/>
            <a:ext cx="4937760" cy="292608"/>
          </a:xfrm>
          <a:prstGeom prst="rect">
            <a:avLst/>
          </a:prstGeom>
          <a:noFill/>
        </p:spPr>
        <p:txBody>
          <a:bodyPr wrap="square">
            <a:spAutoFit/>
          </a:bodyPr>
          <a:lstStyle/>
          <a:p>
            <a:pPr algn="l"/>
            <a:r>
              <a:rPr sz="900" b="0">
                <a:solidFill>
                  <a:srgbClr val="B0B0AA"/>
                </a:solidFill>
                <a:latin typeface="Pretendard"/>
              </a:rPr>
              <a:t>Social templates in practice</a:t>
            </a:r>
          </a:p>
        </p:txBody>
      </p:sp>
      <p:sp>
        <p:nvSpPr>
          <p:cNvPr id="35" name="TextBox 34"/>
          <p:cNvSpPr txBox="1"/>
          <p:nvPr/>
        </p:nvSpPr>
        <p:spPr>
          <a:xfrm>
            <a:off x="6355080" y="3410712"/>
            <a:ext cx="502920" cy="320040"/>
          </a:xfrm>
          <a:prstGeom prst="rect">
            <a:avLst/>
          </a:prstGeom>
          <a:noFill/>
        </p:spPr>
        <p:txBody>
          <a:bodyPr wrap="square">
            <a:spAutoFit/>
          </a:bodyPr>
          <a:lstStyle/>
          <a:p>
            <a:pPr algn="l"/>
            <a:r>
              <a:rPr sz="1100" b="1">
                <a:solidFill>
                  <a:srgbClr val="5B5F63"/>
                </a:solidFill>
                <a:latin typeface="Pretendard"/>
              </a:rPr>
              <a:t>11</a:t>
            </a:r>
          </a:p>
        </p:txBody>
      </p:sp>
      <p:sp>
        <p:nvSpPr>
          <p:cNvPr id="36" name="TextBox 35"/>
          <p:cNvSpPr txBox="1"/>
          <p:nvPr/>
        </p:nvSpPr>
        <p:spPr>
          <a:xfrm>
            <a:off x="6922008" y="3410712"/>
            <a:ext cx="4572000" cy="320040"/>
          </a:xfrm>
          <a:prstGeom prst="rect">
            <a:avLst/>
          </a:prstGeom>
          <a:noFill/>
        </p:spPr>
        <p:txBody>
          <a:bodyPr wrap="square">
            <a:spAutoFit/>
          </a:bodyPr>
          <a:lstStyle/>
          <a:p>
            <a:pPr algn="l"/>
            <a:r>
              <a:rPr sz="1300" b="1">
                <a:solidFill>
                  <a:srgbClr val="0A0A0A"/>
                </a:solidFill>
                <a:latin typeface="Pretendard"/>
              </a:rPr>
              <a:t>Platform playbooks</a:t>
            </a:r>
          </a:p>
        </p:txBody>
      </p:sp>
      <p:sp>
        <p:nvSpPr>
          <p:cNvPr id="37" name="TextBox 36"/>
          <p:cNvSpPr txBox="1"/>
          <p:nvPr/>
        </p:nvSpPr>
        <p:spPr>
          <a:xfrm>
            <a:off x="6922008" y="3758184"/>
            <a:ext cx="4937760" cy="292608"/>
          </a:xfrm>
          <a:prstGeom prst="rect">
            <a:avLst/>
          </a:prstGeom>
          <a:noFill/>
        </p:spPr>
        <p:txBody>
          <a:bodyPr wrap="square">
            <a:spAutoFit/>
          </a:bodyPr>
          <a:lstStyle/>
          <a:p>
            <a:pPr algn="l"/>
            <a:r>
              <a:rPr sz="900" b="0">
                <a:solidFill>
                  <a:srgbClr val="B0B0AA"/>
                </a:solidFill>
                <a:latin typeface="Pretendard"/>
              </a:rPr>
              <a:t>LinkedIn, X, Instagram, Facebook</a:t>
            </a:r>
          </a:p>
        </p:txBody>
      </p:sp>
      <p:sp>
        <p:nvSpPr>
          <p:cNvPr id="38" name="TextBox 37"/>
          <p:cNvSpPr txBox="1"/>
          <p:nvPr/>
        </p:nvSpPr>
        <p:spPr>
          <a:xfrm>
            <a:off x="6355080" y="4197096"/>
            <a:ext cx="502920" cy="320040"/>
          </a:xfrm>
          <a:prstGeom prst="rect">
            <a:avLst/>
          </a:prstGeom>
          <a:noFill/>
        </p:spPr>
        <p:txBody>
          <a:bodyPr wrap="square">
            <a:spAutoFit/>
          </a:bodyPr>
          <a:lstStyle/>
          <a:p>
            <a:pPr algn="l"/>
            <a:r>
              <a:rPr sz="1100" b="1">
                <a:solidFill>
                  <a:srgbClr val="5B5F63"/>
                </a:solidFill>
                <a:latin typeface="Pretendard"/>
              </a:rPr>
              <a:t>12</a:t>
            </a:r>
          </a:p>
        </p:txBody>
      </p:sp>
      <p:sp>
        <p:nvSpPr>
          <p:cNvPr id="39" name="TextBox 38"/>
          <p:cNvSpPr txBox="1"/>
          <p:nvPr/>
        </p:nvSpPr>
        <p:spPr>
          <a:xfrm>
            <a:off x="6922008" y="4197096"/>
            <a:ext cx="4572000" cy="320040"/>
          </a:xfrm>
          <a:prstGeom prst="rect">
            <a:avLst/>
          </a:prstGeom>
          <a:noFill/>
        </p:spPr>
        <p:txBody>
          <a:bodyPr wrap="square">
            <a:spAutoFit/>
          </a:bodyPr>
          <a:lstStyle/>
          <a:p>
            <a:pPr algn="l"/>
            <a:r>
              <a:rPr sz="1300" b="1">
                <a:solidFill>
                  <a:srgbClr val="0A0A0A"/>
                </a:solidFill>
                <a:latin typeface="Pretendard"/>
              </a:rPr>
              <a:t>Content and audience</a:t>
            </a:r>
          </a:p>
        </p:txBody>
      </p:sp>
      <p:sp>
        <p:nvSpPr>
          <p:cNvPr id="40" name="TextBox 39"/>
          <p:cNvSpPr txBox="1"/>
          <p:nvPr/>
        </p:nvSpPr>
        <p:spPr>
          <a:xfrm>
            <a:off x="6922008" y="4544568"/>
            <a:ext cx="4937760" cy="292608"/>
          </a:xfrm>
          <a:prstGeom prst="rect">
            <a:avLst/>
          </a:prstGeom>
          <a:noFill/>
        </p:spPr>
        <p:txBody>
          <a:bodyPr wrap="square">
            <a:spAutoFit/>
          </a:bodyPr>
          <a:lstStyle/>
          <a:p>
            <a:pPr algn="l"/>
            <a:r>
              <a:rPr sz="900" b="0">
                <a:solidFill>
                  <a:srgbClr val="B0B0AA"/>
                </a:solidFill>
                <a:latin typeface="Pretendard"/>
              </a:rPr>
              <a:t>Pillars and persona mapping</a:t>
            </a:r>
          </a:p>
        </p:txBody>
      </p:sp>
      <p:sp>
        <p:nvSpPr>
          <p:cNvPr id="41" name="TextBox 40"/>
          <p:cNvSpPr txBox="1"/>
          <p:nvPr/>
        </p:nvSpPr>
        <p:spPr>
          <a:xfrm>
            <a:off x="6355080" y="4983479"/>
            <a:ext cx="502920" cy="320040"/>
          </a:xfrm>
          <a:prstGeom prst="rect">
            <a:avLst/>
          </a:prstGeom>
          <a:noFill/>
        </p:spPr>
        <p:txBody>
          <a:bodyPr wrap="square">
            <a:spAutoFit/>
          </a:bodyPr>
          <a:lstStyle/>
          <a:p>
            <a:pPr algn="l"/>
            <a:r>
              <a:rPr sz="1100" b="1">
                <a:solidFill>
                  <a:srgbClr val="5B5F63"/>
                </a:solidFill>
                <a:latin typeface="Pretendard"/>
              </a:rPr>
              <a:t>13</a:t>
            </a:r>
          </a:p>
        </p:txBody>
      </p:sp>
      <p:sp>
        <p:nvSpPr>
          <p:cNvPr id="42" name="TextBox 41"/>
          <p:cNvSpPr txBox="1"/>
          <p:nvPr/>
        </p:nvSpPr>
        <p:spPr>
          <a:xfrm>
            <a:off x="6922008" y="4983479"/>
            <a:ext cx="4572000" cy="320040"/>
          </a:xfrm>
          <a:prstGeom prst="rect">
            <a:avLst/>
          </a:prstGeom>
          <a:noFill/>
        </p:spPr>
        <p:txBody>
          <a:bodyPr wrap="square">
            <a:spAutoFit/>
          </a:bodyPr>
          <a:lstStyle/>
          <a:p>
            <a:pPr algn="l"/>
            <a:r>
              <a:rPr sz="1300" b="1">
                <a:solidFill>
                  <a:srgbClr val="0A0A0A"/>
                </a:solidFill>
                <a:latin typeface="Pretendard"/>
              </a:rPr>
              <a:t>Vocabulary and governance</a:t>
            </a:r>
          </a:p>
        </p:txBody>
      </p:sp>
      <p:sp>
        <p:nvSpPr>
          <p:cNvPr id="43" name="TextBox 42"/>
          <p:cNvSpPr txBox="1"/>
          <p:nvPr/>
        </p:nvSpPr>
        <p:spPr>
          <a:xfrm>
            <a:off x="6922008" y="5330951"/>
            <a:ext cx="4937760" cy="292608"/>
          </a:xfrm>
          <a:prstGeom prst="rect">
            <a:avLst/>
          </a:prstGeom>
          <a:noFill/>
        </p:spPr>
        <p:txBody>
          <a:bodyPr wrap="square">
            <a:spAutoFit/>
          </a:bodyPr>
          <a:lstStyle/>
          <a:p>
            <a:pPr algn="l"/>
            <a:r>
              <a:rPr sz="900" b="0">
                <a:solidFill>
                  <a:srgbClr val="B0B0AA"/>
                </a:solidFill>
                <a:latin typeface="Pretendard"/>
              </a:rPr>
              <a:t>Words we own, who signs off</a:t>
            </a:r>
          </a:p>
        </p:txBody>
      </p:sp>
      <p:sp>
        <p:nvSpPr>
          <p:cNvPr id="44" name="Oval 43"/>
          <p:cNvSpPr/>
          <p:nvPr/>
        </p:nvSpPr>
        <p:spPr>
          <a:xfrm>
            <a:off x="11153851" y="6398971"/>
            <a:ext cx="95097" cy="95097"/>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1325758" y="6415430"/>
            <a:ext cx="62179" cy="62179"/>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1470233" y="6404457"/>
            <a:ext cx="84124" cy="84124"/>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1640312" y="6419088"/>
            <a:ext cx="54864" cy="54864"/>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1786616" y="6409944"/>
            <a:ext cx="73152" cy="73152"/>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9144000" cy="274320"/>
          </a:xfrm>
          <a:prstGeom prst="rect">
            <a:avLst/>
          </a:prstGeom>
          <a:noFill/>
        </p:spPr>
        <p:txBody>
          <a:bodyPr wrap="square">
            <a:spAutoFit/>
          </a:bodyPr>
          <a:lstStyle/>
          <a:p>
            <a:pPr algn="l"/>
            <a:r>
              <a:rPr sz="900" b="1">
                <a:solidFill>
                  <a:srgbClr val="5B5F63"/>
                </a:solidFill>
                <a:latin typeface="Pretendard"/>
              </a:rPr>
              <a:t>01  BRAND ARCHITECTURE</a:t>
            </a:r>
          </a:p>
        </p:txBody>
      </p:sp>
      <p:sp>
        <p:nvSpPr>
          <p:cNvPr id="4" name="Rectangle 3"/>
          <p:cNvSpPr/>
          <p:nvPr/>
        </p:nvSpPr>
        <p:spPr>
          <a:xfrm>
            <a:off x="502920" y="713232"/>
            <a:ext cx="11183112" cy="10972"/>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68680"/>
            <a:ext cx="10515600" cy="548640"/>
          </a:xfrm>
          <a:prstGeom prst="rect">
            <a:avLst/>
          </a:prstGeom>
          <a:noFill/>
        </p:spPr>
        <p:txBody>
          <a:bodyPr wrap="square">
            <a:spAutoFit/>
          </a:bodyPr>
          <a:lstStyle/>
          <a:p>
            <a:pPr algn="l"/>
            <a:r>
              <a:rPr sz="2600" b="1">
                <a:solidFill>
                  <a:srgbClr val="0A0A0A"/>
                </a:solidFill>
                <a:latin typeface="Pretendard"/>
              </a:rPr>
              <a:t>One masterbrand. A portfolio of products.</a:t>
            </a:r>
          </a:p>
        </p:txBody>
      </p:sp>
      <p:sp>
        <p:nvSpPr>
          <p:cNvPr id="6" name="Rectangle 5"/>
          <p:cNvSpPr/>
          <p:nvPr/>
        </p:nvSpPr>
        <p:spPr>
          <a:xfrm>
            <a:off x="502920" y="1554480"/>
            <a:ext cx="11183112" cy="1143000"/>
          </a:xfrm>
          <a:prstGeom prst="rect">
            <a:avLst/>
          </a:prstGeom>
          <a:solidFill>
            <a:srgbClr val="1717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55648"/>
            <a:ext cx="2286000" cy="457200"/>
          </a:xfrm>
          <a:prstGeom prst="rect">
            <a:avLst/>
          </a:prstGeom>
          <a:noFill/>
        </p:spPr>
        <p:txBody>
          <a:bodyPr wrap="square">
            <a:spAutoFit/>
          </a:bodyPr>
          <a:lstStyle/>
          <a:p>
            <a:pPr algn="l"/>
            <a:r>
              <a:rPr sz="2200" b="1">
                <a:solidFill>
                  <a:srgbClr val="FFFFFF"/>
                </a:solidFill>
                <a:latin typeface="Pretendard"/>
              </a:rPr>
              <a:t>PREM</a:t>
            </a:r>
          </a:p>
        </p:txBody>
      </p:sp>
      <p:sp>
        <p:nvSpPr>
          <p:cNvPr id="8" name="TextBox 7"/>
          <p:cNvSpPr txBox="1"/>
          <p:nvPr/>
        </p:nvSpPr>
        <p:spPr>
          <a:xfrm>
            <a:off x="2377440" y="1783080"/>
            <a:ext cx="9144000" cy="777240"/>
          </a:xfrm>
          <a:prstGeom prst="rect">
            <a:avLst/>
          </a:prstGeom>
          <a:noFill/>
        </p:spPr>
        <p:txBody>
          <a:bodyPr wrap="square">
            <a:spAutoFit/>
          </a:bodyPr>
          <a:lstStyle/>
          <a:p>
            <a:pPr algn="l"/>
            <a:r>
              <a:rPr sz="1050" b="0">
                <a:solidFill>
                  <a:srgbClr val="ECEAE1"/>
                </a:solidFill>
                <a:latin typeface="Pretendard"/>
              </a:rPr>
              <a:t>Private Super Intelligence. The enterprise identity: authoritative, precise, institutional. Carries the trust that every product borrows. LinkedIn, press, partners, investors.</a:t>
            </a:r>
          </a:p>
        </p:txBody>
      </p:sp>
      <p:sp>
        <p:nvSpPr>
          <p:cNvPr id="9" name="Rectangle 8"/>
          <p:cNvSpPr/>
          <p:nvPr/>
        </p:nvSpPr>
        <p:spPr>
          <a:xfrm>
            <a:off x="502920" y="2926080"/>
            <a:ext cx="3611880" cy="315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2926080"/>
            <a:ext cx="3611880" cy="5486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090672"/>
            <a:ext cx="2743200" cy="365760"/>
          </a:xfrm>
          <a:prstGeom prst="rect">
            <a:avLst/>
          </a:prstGeom>
          <a:noFill/>
        </p:spPr>
        <p:txBody>
          <a:bodyPr wrap="square">
            <a:spAutoFit/>
          </a:bodyPr>
          <a:lstStyle/>
          <a:p>
            <a:pPr algn="l"/>
            <a:r>
              <a:rPr sz="1500" b="1">
                <a:solidFill>
                  <a:srgbClr val="0A0A0A"/>
                </a:solidFill>
                <a:latin typeface="Pretendard"/>
              </a:rPr>
              <a:t>FLUSO</a:t>
            </a:r>
          </a:p>
        </p:txBody>
      </p:sp>
      <p:sp>
        <p:nvSpPr>
          <p:cNvPr id="12" name="TextBox 11"/>
          <p:cNvSpPr txBox="1"/>
          <p:nvPr/>
        </p:nvSpPr>
        <p:spPr>
          <a:xfrm>
            <a:off x="731520" y="3493008"/>
            <a:ext cx="3108960" cy="256032"/>
          </a:xfrm>
          <a:prstGeom prst="rect">
            <a:avLst/>
          </a:prstGeom>
          <a:noFill/>
        </p:spPr>
        <p:txBody>
          <a:bodyPr wrap="square">
            <a:spAutoFit/>
          </a:bodyPr>
          <a:lstStyle/>
          <a:p>
            <a:pPr algn="l"/>
            <a:r>
              <a:rPr sz="750" b="1">
                <a:solidFill>
                  <a:srgbClr val="5B5F63"/>
                </a:solidFill>
                <a:latin typeface="Pretendard"/>
              </a:rPr>
              <a:t>FLAGSHIP PRODUCT</a:t>
            </a:r>
          </a:p>
        </p:txBody>
      </p:sp>
      <p:sp>
        <p:nvSpPr>
          <p:cNvPr id="13" name="Rectangle 12"/>
          <p:cNvSpPr/>
          <p:nvPr/>
        </p:nvSpPr>
        <p:spPr>
          <a:xfrm>
            <a:off x="2788920" y="3127248"/>
            <a:ext cx="1143000" cy="310896"/>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88920" y="3172968"/>
            <a:ext cx="1143000" cy="237744"/>
          </a:xfrm>
          <a:prstGeom prst="rect">
            <a:avLst/>
          </a:prstGeom>
          <a:noFill/>
        </p:spPr>
        <p:txBody>
          <a:bodyPr wrap="square">
            <a:spAutoFit/>
          </a:bodyPr>
          <a:lstStyle/>
          <a:p>
            <a:pPr algn="ctr"/>
            <a:r>
              <a:rPr sz="750" b="1">
                <a:solidFill>
                  <a:srgbClr val="FFFFFF"/>
                </a:solidFill>
                <a:latin typeface="Pretendard"/>
              </a:rPr>
              <a:t>FLAGSHIP</a:t>
            </a:r>
          </a:p>
        </p:txBody>
      </p:sp>
      <p:sp>
        <p:nvSpPr>
          <p:cNvPr id="15" name="TextBox 14"/>
          <p:cNvSpPr txBox="1"/>
          <p:nvPr/>
        </p:nvSpPr>
        <p:spPr>
          <a:xfrm>
            <a:off x="731520" y="3822191"/>
            <a:ext cx="3154680" cy="1554480"/>
          </a:xfrm>
          <a:prstGeom prst="rect">
            <a:avLst/>
          </a:prstGeom>
          <a:noFill/>
        </p:spPr>
        <p:txBody>
          <a:bodyPr wrap="square">
            <a:spAutoFit/>
          </a:bodyPr>
          <a:lstStyle/>
          <a:p>
            <a:pPr algn="l"/>
            <a:r>
              <a:rPr sz="950" b="0">
                <a:solidFill>
                  <a:srgbClr val="5B5F63"/>
                </a:solidFill>
                <a:latin typeface="Pretendard"/>
              </a:rPr>
              <a:t>Private AI workspace with compounding memory, 50+ connectors and cross-silo workflows. The deep-work product for knowledge professionals. Own voice: direct, builder, honest.</a:t>
            </a:r>
          </a:p>
        </p:txBody>
      </p:sp>
      <p:sp>
        <p:nvSpPr>
          <p:cNvPr id="16" name="Rectangle 15"/>
          <p:cNvSpPr/>
          <p:nvPr/>
        </p:nvSpPr>
        <p:spPr>
          <a:xfrm>
            <a:off x="731520" y="5486400"/>
            <a:ext cx="3154680" cy="18288"/>
          </a:xfrm>
          <a:prstGeom prst="rect">
            <a:avLst/>
          </a:prstGeom>
          <a:solidFill>
            <a:srgbClr val="EC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577840"/>
            <a:ext cx="3154680" cy="457200"/>
          </a:xfrm>
          <a:prstGeom prst="rect">
            <a:avLst/>
          </a:prstGeom>
          <a:noFill/>
        </p:spPr>
        <p:txBody>
          <a:bodyPr wrap="square">
            <a:spAutoFit/>
          </a:bodyPr>
          <a:lstStyle/>
          <a:p>
            <a:pPr algn="l"/>
            <a:r>
              <a:rPr sz="850" b="0">
                <a:solidFill>
                  <a:srgbClr val="B0B0AA"/>
                </a:solidFill>
                <a:latin typeface="Pretendard"/>
              </a:rPr>
              <a:t>Lockup: "Fluso by Prem". Dot mark used exactly as provided, never recolored.</a:t>
            </a:r>
          </a:p>
        </p:txBody>
      </p:sp>
      <p:sp>
        <p:nvSpPr>
          <p:cNvPr id="18" name="Rectangle 17"/>
          <p:cNvSpPr/>
          <p:nvPr/>
        </p:nvSpPr>
        <p:spPr>
          <a:xfrm>
            <a:off x="4407407" y="2926080"/>
            <a:ext cx="3611880" cy="315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07407" y="2926080"/>
            <a:ext cx="3611880" cy="5486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36007" y="3090672"/>
            <a:ext cx="2743200" cy="365760"/>
          </a:xfrm>
          <a:prstGeom prst="rect">
            <a:avLst/>
          </a:prstGeom>
          <a:noFill/>
        </p:spPr>
        <p:txBody>
          <a:bodyPr wrap="square">
            <a:spAutoFit/>
          </a:bodyPr>
          <a:lstStyle/>
          <a:p>
            <a:pPr algn="l"/>
            <a:r>
              <a:rPr sz="1500" b="1">
                <a:solidFill>
                  <a:srgbClr val="0A0A0A"/>
                </a:solidFill>
                <a:latin typeface="Pretendard"/>
              </a:rPr>
              <a:t>PREM STUDIO</a:t>
            </a:r>
          </a:p>
        </p:txBody>
      </p:sp>
      <p:sp>
        <p:nvSpPr>
          <p:cNvPr id="21" name="TextBox 20"/>
          <p:cNvSpPr txBox="1"/>
          <p:nvPr/>
        </p:nvSpPr>
        <p:spPr>
          <a:xfrm>
            <a:off x="4636007" y="3493008"/>
            <a:ext cx="3108960" cy="256032"/>
          </a:xfrm>
          <a:prstGeom prst="rect">
            <a:avLst/>
          </a:prstGeom>
          <a:noFill/>
        </p:spPr>
        <p:txBody>
          <a:bodyPr wrap="square">
            <a:spAutoFit/>
          </a:bodyPr>
          <a:lstStyle/>
          <a:p>
            <a:pPr algn="l"/>
            <a:r>
              <a:rPr sz="750" b="1">
                <a:solidFill>
                  <a:srgbClr val="5B5F63"/>
                </a:solidFill>
                <a:latin typeface="Pretendard"/>
              </a:rPr>
              <a:t>PLATFORM PRODUCT</a:t>
            </a:r>
          </a:p>
        </p:txBody>
      </p:sp>
      <p:sp>
        <p:nvSpPr>
          <p:cNvPr id="22" name="TextBox 21"/>
          <p:cNvSpPr txBox="1"/>
          <p:nvPr/>
        </p:nvSpPr>
        <p:spPr>
          <a:xfrm>
            <a:off x="4636007" y="3822191"/>
            <a:ext cx="3154680" cy="1554480"/>
          </a:xfrm>
          <a:prstGeom prst="rect">
            <a:avLst/>
          </a:prstGeom>
          <a:noFill/>
        </p:spPr>
        <p:txBody>
          <a:bodyPr wrap="square">
            <a:spAutoFit/>
          </a:bodyPr>
          <a:lstStyle/>
          <a:p>
            <a:pPr algn="l"/>
            <a:r>
              <a:rPr sz="950" b="0">
                <a:solidFill>
                  <a:srgbClr val="5B5F63"/>
                </a:solidFill>
                <a:latin typeface="Pretendard"/>
              </a:rPr>
              <a:t>Build, fine-tune, evaluate and automate models. Marketed to developers and ML teams through docs, tutorials and engineering content under the Prem voice.</a:t>
            </a:r>
          </a:p>
        </p:txBody>
      </p:sp>
      <p:sp>
        <p:nvSpPr>
          <p:cNvPr id="23" name="Rectangle 22"/>
          <p:cNvSpPr/>
          <p:nvPr/>
        </p:nvSpPr>
        <p:spPr>
          <a:xfrm>
            <a:off x="4636007" y="5486400"/>
            <a:ext cx="3154680" cy="18288"/>
          </a:xfrm>
          <a:prstGeom prst="rect">
            <a:avLst/>
          </a:prstGeom>
          <a:solidFill>
            <a:srgbClr val="EC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36007" y="5577840"/>
            <a:ext cx="3154680" cy="457200"/>
          </a:xfrm>
          <a:prstGeom prst="rect">
            <a:avLst/>
          </a:prstGeom>
          <a:noFill/>
        </p:spPr>
        <p:txBody>
          <a:bodyPr wrap="square">
            <a:spAutoFit/>
          </a:bodyPr>
          <a:lstStyle/>
          <a:p>
            <a:pPr algn="l"/>
            <a:r>
              <a:rPr sz="850" b="0">
                <a:solidFill>
                  <a:srgbClr val="B0B0AA"/>
                </a:solidFill>
                <a:latin typeface="Pretendard"/>
              </a:rPr>
              <a:t>Always written as two words, both capitalised.</a:t>
            </a:r>
          </a:p>
        </p:txBody>
      </p:sp>
      <p:sp>
        <p:nvSpPr>
          <p:cNvPr id="25" name="Rectangle 24"/>
          <p:cNvSpPr/>
          <p:nvPr/>
        </p:nvSpPr>
        <p:spPr>
          <a:xfrm>
            <a:off x="8311896" y="2926080"/>
            <a:ext cx="3611880" cy="315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11896" y="2926080"/>
            <a:ext cx="3611880" cy="5486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40496" y="3090672"/>
            <a:ext cx="2743200" cy="365760"/>
          </a:xfrm>
          <a:prstGeom prst="rect">
            <a:avLst/>
          </a:prstGeom>
          <a:noFill/>
        </p:spPr>
        <p:txBody>
          <a:bodyPr wrap="square">
            <a:spAutoFit/>
          </a:bodyPr>
          <a:lstStyle/>
          <a:p>
            <a:pPr algn="l"/>
            <a:r>
              <a:rPr sz="1500" b="1">
                <a:solidFill>
                  <a:srgbClr val="0A0A0A"/>
                </a:solidFill>
                <a:latin typeface="Pretendard"/>
              </a:rPr>
              <a:t>RETICLE</a:t>
            </a:r>
          </a:p>
        </p:txBody>
      </p:sp>
      <p:sp>
        <p:nvSpPr>
          <p:cNvPr id="28" name="TextBox 27"/>
          <p:cNvSpPr txBox="1"/>
          <p:nvPr/>
        </p:nvSpPr>
        <p:spPr>
          <a:xfrm>
            <a:off x="8540496" y="3493008"/>
            <a:ext cx="3108960" cy="256032"/>
          </a:xfrm>
          <a:prstGeom prst="rect">
            <a:avLst/>
          </a:prstGeom>
          <a:noFill/>
        </p:spPr>
        <p:txBody>
          <a:bodyPr wrap="square">
            <a:spAutoFit/>
          </a:bodyPr>
          <a:lstStyle/>
          <a:p>
            <a:pPr algn="l"/>
            <a:r>
              <a:rPr sz="750" b="1">
                <a:solidFill>
                  <a:srgbClr val="5B5F63"/>
                </a:solidFill>
                <a:latin typeface="Pretendard"/>
              </a:rPr>
              <a:t>OPEN SOURCE</a:t>
            </a:r>
          </a:p>
        </p:txBody>
      </p:sp>
      <p:sp>
        <p:nvSpPr>
          <p:cNvPr id="29" name="TextBox 28"/>
          <p:cNvSpPr txBox="1"/>
          <p:nvPr/>
        </p:nvSpPr>
        <p:spPr>
          <a:xfrm>
            <a:off x="8540496" y="3822191"/>
            <a:ext cx="3154680" cy="1554480"/>
          </a:xfrm>
          <a:prstGeom prst="rect">
            <a:avLst/>
          </a:prstGeom>
          <a:noFill/>
        </p:spPr>
        <p:txBody>
          <a:bodyPr wrap="square">
            <a:spAutoFit/>
          </a:bodyPr>
          <a:lstStyle/>
          <a:p>
            <a:pPr algn="l"/>
            <a:r>
              <a:rPr sz="950" b="0">
                <a:solidFill>
                  <a:srgbClr val="5B5F63"/>
                </a:solidFill>
                <a:latin typeface="Pretendard"/>
              </a:rPr>
              <a:t>The attestation and verification stack behind Verifiable AI. Community-facing: GitHub, contributor content, technical posts. Credibility engine for the whole portfolio.</a:t>
            </a:r>
          </a:p>
        </p:txBody>
      </p:sp>
      <p:sp>
        <p:nvSpPr>
          <p:cNvPr id="30" name="Rectangle 29"/>
          <p:cNvSpPr/>
          <p:nvPr/>
        </p:nvSpPr>
        <p:spPr>
          <a:xfrm>
            <a:off x="8540496" y="5486400"/>
            <a:ext cx="3154680" cy="18288"/>
          </a:xfrm>
          <a:prstGeom prst="rect">
            <a:avLst/>
          </a:prstGeom>
          <a:solidFill>
            <a:srgbClr val="EC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40496" y="5577840"/>
            <a:ext cx="3154680" cy="457200"/>
          </a:xfrm>
          <a:prstGeom prst="rect">
            <a:avLst/>
          </a:prstGeom>
          <a:noFill/>
        </p:spPr>
        <p:txBody>
          <a:bodyPr wrap="square">
            <a:spAutoFit/>
          </a:bodyPr>
          <a:lstStyle/>
          <a:p>
            <a:pPr algn="l"/>
            <a:r>
              <a:rPr sz="850" b="0">
                <a:solidFill>
                  <a:srgbClr val="B0B0AA"/>
                </a:solidFill>
                <a:latin typeface="Pretendard"/>
              </a:rPr>
              <a:t>Always capitalised. Never described as a feature.</a:t>
            </a:r>
          </a:p>
        </p:txBody>
      </p:sp>
      <p:sp>
        <p:nvSpPr>
          <p:cNvPr id="32" name="TextBox 31"/>
          <p:cNvSpPr txBox="1"/>
          <p:nvPr/>
        </p:nvSpPr>
        <p:spPr>
          <a:xfrm>
            <a:off x="502920" y="6355080"/>
            <a:ext cx="11155680" cy="365760"/>
          </a:xfrm>
          <a:prstGeom prst="rect">
            <a:avLst/>
          </a:prstGeom>
          <a:noFill/>
        </p:spPr>
        <p:txBody>
          <a:bodyPr wrap="square">
            <a:spAutoFit/>
          </a:bodyPr>
          <a:lstStyle/>
          <a:p>
            <a:pPr algn="l"/>
            <a:r>
              <a:rPr sz="1000" b="0">
                <a:solidFill>
                  <a:srgbClr val="5B5F63"/>
                </a:solidFill>
                <a:latin typeface="Pretendard"/>
              </a:rPr>
              <a:t>The portfolio is marketed as one family. Fluso leads, the platform earns, Reticle proves. No product gets the whole stage.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9144000" cy="274320"/>
          </a:xfrm>
          <a:prstGeom prst="rect">
            <a:avLst/>
          </a:prstGeom>
          <a:noFill/>
        </p:spPr>
        <p:txBody>
          <a:bodyPr wrap="square">
            <a:spAutoFit/>
          </a:bodyPr>
          <a:lstStyle/>
          <a:p>
            <a:pPr algn="l"/>
            <a:r>
              <a:rPr sz="900" b="1">
                <a:solidFill>
                  <a:srgbClr val="5B5F63"/>
                </a:solidFill>
                <a:latin typeface="Pretendard"/>
              </a:rPr>
              <a:t>02  DIGITAL FOCUS  |  HOW ATTENTION IS ALLOCATED</a:t>
            </a:r>
          </a:p>
        </p:txBody>
      </p:sp>
      <p:sp>
        <p:nvSpPr>
          <p:cNvPr id="4" name="Rectangle 3"/>
          <p:cNvSpPr/>
          <p:nvPr/>
        </p:nvSpPr>
        <p:spPr>
          <a:xfrm>
            <a:off x="502920" y="713232"/>
            <a:ext cx="11183112" cy="10972"/>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68680"/>
            <a:ext cx="10972800" cy="548640"/>
          </a:xfrm>
          <a:prstGeom prst="rect">
            <a:avLst/>
          </a:prstGeom>
          <a:noFill/>
        </p:spPr>
        <p:txBody>
          <a:bodyPr wrap="square">
            <a:spAutoFit/>
          </a:bodyPr>
          <a:lstStyle/>
          <a:p>
            <a:pPr algn="l"/>
            <a:r>
              <a:rPr sz="2600" b="1">
                <a:solidFill>
                  <a:srgbClr val="0A0A0A"/>
                </a:solidFill>
                <a:latin typeface="Pretendard"/>
              </a:rPr>
              <a:t>Fluso is the flagship, not the whole stage.</a:t>
            </a:r>
          </a:p>
        </p:txBody>
      </p:sp>
      <p:sp>
        <p:nvSpPr>
          <p:cNvPr id="6" name="Rectangle 5"/>
          <p:cNvSpPr/>
          <p:nvPr/>
        </p:nvSpPr>
        <p:spPr>
          <a:xfrm>
            <a:off x="502920" y="1783080"/>
            <a:ext cx="4473244" cy="9144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976164" y="1783080"/>
            <a:ext cx="6709867" cy="914400"/>
          </a:xfrm>
          <a:prstGeom prst="rect">
            <a:avLst/>
          </a:prstGeom>
          <a:solidFill>
            <a:srgbClr val="EC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2"/>
            <a:ext cx="3657600" cy="411480"/>
          </a:xfrm>
          <a:prstGeom prst="rect">
            <a:avLst/>
          </a:prstGeom>
          <a:noFill/>
        </p:spPr>
        <p:txBody>
          <a:bodyPr wrap="square">
            <a:spAutoFit/>
          </a:bodyPr>
          <a:lstStyle/>
          <a:p>
            <a:pPr algn="l"/>
            <a:r>
              <a:rPr sz="1800" b="1">
                <a:solidFill>
                  <a:srgbClr val="FFFFFF"/>
                </a:solidFill>
                <a:latin typeface="Pretendard"/>
              </a:rPr>
              <a:t>40%  FLUSO</a:t>
            </a:r>
          </a:p>
        </p:txBody>
      </p:sp>
      <p:sp>
        <p:nvSpPr>
          <p:cNvPr id="9" name="TextBox 8"/>
          <p:cNvSpPr txBox="1"/>
          <p:nvPr/>
        </p:nvSpPr>
        <p:spPr>
          <a:xfrm>
            <a:off x="5250484" y="2039112"/>
            <a:ext cx="6400800" cy="411480"/>
          </a:xfrm>
          <a:prstGeom prst="rect">
            <a:avLst/>
          </a:prstGeom>
          <a:noFill/>
        </p:spPr>
        <p:txBody>
          <a:bodyPr wrap="square">
            <a:spAutoFit/>
          </a:bodyPr>
          <a:lstStyle/>
          <a:p>
            <a:pPr algn="l"/>
            <a:r>
              <a:rPr sz="1800" b="1">
                <a:solidFill>
                  <a:srgbClr val="0A0A0A"/>
                </a:solidFill>
                <a:latin typeface="Pretendard"/>
              </a:rPr>
              <a:t>60%  PREM, PREM STUDIO, RETICLE, RESEARCH</a:t>
            </a:r>
          </a:p>
        </p:txBody>
      </p:sp>
      <p:sp>
        <p:nvSpPr>
          <p:cNvPr id="10" name="Rectangle 9"/>
          <p:cNvSpPr/>
          <p:nvPr/>
        </p:nvSpPr>
        <p:spPr>
          <a:xfrm>
            <a:off x="502920" y="3154680"/>
            <a:ext cx="3611880"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54680"/>
            <a:ext cx="3611880" cy="5486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310128"/>
            <a:ext cx="3154680" cy="594360"/>
          </a:xfrm>
          <a:prstGeom prst="rect">
            <a:avLst/>
          </a:prstGeom>
          <a:noFill/>
        </p:spPr>
        <p:txBody>
          <a:bodyPr wrap="square">
            <a:spAutoFit/>
          </a:bodyPr>
          <a:lstStyle/>
          <a:p>
            <a:pPr algn="l"/>
            <a:r>
              <a:rPr sz="1250" b="1">
                <a:solidFill>
                  <a:srgbClr val="0A0A0A"/>
                </a:solidFill>
                <a:latin typeface="Pretendard"/>
              </a:rPr>
              <a:t>What the 40% buys Fluso</a:t>
            </a:r>
          </a:p>
        </p:txBody>
      </p:sp>
      <p:sp>
        <p:nvSpPr>
          <p:cNvPr id="13" name="TextBox 12"/>
          <p:cNvSpPr txBox="1"/>
          <p:nvPr/>
        </p:nvSpPr>
        <p:spPr>
          <a:xfrm>
            <a:off x="731520" y="3977639"/>
            <a:ext cx="3154680" cy="1828800"/>
          </a:xfrm>
          <a:prstGeom prst="rect">
            <a:avLst/>
          </a:prstGeom>
          <a:noFill/>
        </p:spPr>
        <p:txBody>
          <a:bodyPr wrap="square">
            <a:spAutoFit/>
          </a:bodyPr>
          <a:lstStyle/>
          <a:p>
            <a:pPr algn="l"/>
            <a:r>
              <a:rPr sz="1000" b="0">
                <a:solidFill>
                  <a:srgbClr val="5B5F63"/>
                </a:solidFill>
                <a:latin typeface="Pretendard"/>
              </a:rPr>
              <a:t>Full launch support, daily X presence, Instagram as its visual home, influencer program, signup-driving campaigns. Flagship treatment on every drop.</a:t>
            </a:r>
          </a:p>
        </p:txBody>
      </p:sp>
      <p:sp>
        <p:nvSpPr>
          <p:cNvPr id="14" name="Rectangle 13"/>
          <p:cNvSpPr/>
          <p:nvPr/>
        </p:nvSpPr>
        <p:spPr>
          <a:xfrm>
            <a:off x="4407407" y="3154680"/>
            <a:ext cx="3611880"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07407" y="3154680"/>
            <a:ext cx="3611880" cy="5486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7" y="3310128"/>
            <a:ext cx="3154680" cy="594360"/>
          </a:xfrm>
          <a:prstGeom prst="rect">
            <a:avLst/>
          </a:prstGeom>
          <a:noFill/>
        </p:spPr>
        <p:txBody>
          <a:bodyPr wrap="square">
            <a:spAutoFit/>
          </a:bodyPr>
          <a:lstStyle/>
          <a:p>
            <a:pPr algn="l"/>
            <a:r>
              <a:rPr sz="1250" b="1">
                <a:solidFill>
                  <a:srgbClr val="0A0A0A"/>
                </a:solidFill>
                <a:latin typeface="Pretendard"/>
              </a:rPr>
              <a:t>What the 60% covers</a:t>
            </a:r>
          </a:p>
        </p:txBody>
      </p:sp>
      <p:sp>
        <p:nvSpPr>
          <p:cNvPr id="17" name="TextBox 16"/>
          <p:cNvSpPr txBox="1"/>
          <p:nvPr/>
        </p:nvSpPr>
        <p:spPr>
          <a:xfrm>
            <a:off x="4636007" y="3977639"/>
            <a:ext cx="3154680" cy="1828800"/>
          </a:xfrm>
          <a:prstGeom prst="rect">
            <a:avLst/>
          </a:prstGeom>
          <a:noFill/>
        </p:spPr>
        <p:txBody>
          <a:bodyPr wrap="square">
            <a:spAutoFit/>
          </a:bodyPr>
          <a:lstStyle/>
          <a:p>
            <a:pPr algn="l"/>
            <a:r>
              <a:rPr sz="1000" b="0">
                <a:solidFill>
                  <a:srgbClr val="5B5F63"/>
                </a:solidFill>
                <a:latin typeface="Pretendard"/>
              </a:rPr>
              <a:t>Prem enterprise authority on LinkedIn, Prem Studio developer content and tutorials, Reticle open-source and community work, research and industry presence.</a:t>
            </a:r>
          </a:p>
        </p:txBody>
      </p:sp>
      <p:sp>
        <p:nvSpPr>
          <p:cNvPr id="18" name="Rectangle 17"/>
          <p:cNvSpPr/>
          <p:nvPr/>
        </p:nvSpPr>
        <p:spPr>
          <a:xfrm>
            <a:off x="8311896" y="3154680"/>
            <a:ext cx="3611880"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11896" y="3154680"/>
            <a:ext cx="3611880" cy="5486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40496" y="3310128"/>
            <a:ext cx="3154680" cy="594360"/>
          </a:xfrm>
          <a:prstGeom prst="rect">
            <a:avLst/>
          </a:prstGeom>
          <a:noFill/>
        </p:spPr>
        <p:txBody>
          <a:bodyPr wrap="square">
            <a:spAutoFit/>
          </a:bodyPr>
          <a:lstStyle/>
          <a:p>
            <a:pPr algn="l"/>
            <a:r>
              <a:rPr sz="1250" b="1">
                <a:solidFill>
                  <a:srgbClr val="0A0A0A"/>
                </a:solidFill>
                <a:latin typeface="Pretendard"/>
              </a:rPr>
              <a:t>The discipline</a:t>
            </a:r>
          </a:p>
        </p:txBody>
      </p:sp>
      <p:sp>
        <p:nvSpPr>
          <p:cNvPr id="21" name="TextBox 20"/>
          <p:cNvSpPr txBox="1"/>
          <p:nvPr/>
        </p:nvSpPr>
        <p:spPr>
          <a:xfrm>
            <a:off x="8540496" y="3977639"/>
            <a:ext cx="3154680" cy="1828800"/>
          </a:xfrm>
          <a:prstGeom prst="rect">
            <a:avLst/>
          </a:prstGeom>
          <a:noFill/>
        </p:spPr>
        <p:txBody>
          <a:bodyPr wrap="square">
            <a:spAutoFit/>
          </a:bodyPr>
          <a:lstStyle/>
          <a:p>
            <a:pPr algn="l"/>
            <a:r>
              <a:rPr sz="1000" b="0">
                <a:solidFill>
                  <a:srgbClr val="5B5F63"/>
                </a:solidFill>
                <a:latin typeface="Pretendard"/>
              </a:rPr>
              <a:t>Measure the split monthly across published posts, paid spend and campaign hours. If Fluso drifts past half of total output, rebalance the calendar.</a:t>
            </a:r>
          </a:p>
        </p:txBody>
      </p:sp>
      <p:sp>
        <p:nvSpPr>
          <p:cNvPr id="22" name="TextBox 21"/>
          <p:cNvSpPr txBox="1"/>
          <p:nvPr/>
        </p:nvSpPr>
        <p:spPr>
          <a:xfrm>
            <a:off x="502920" y="6172200"/>
            <a:ext cx="11155680" cy="365760"/>
          </a:xfrm>
          <a:prstGeom prst="rect">
            <a:avLst/>
          </a:prstGeom>
          <a:noFill/>
        </p:spPr>
        <p:txBody>
          <a:bodyPr wrap="square">
            <a:spAutoFit/>
          </a:bodyPr>
          <a:lstStyle/>
          <a:p>
            <a:pPr algn="l"/>
            <a:r>
              <a:rPr sz="1000" b="0">
                <a:solidFill>
                  <a:srgbClr val="5B5F63"/>
                </a:solidFill>
                <a:latin typeface="Pretendard"/>
              </a:rPr>
              <a:t>The split is about output share, not importance. Fluso gets 100% commitment inside its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9144000" cy="274320"/>
          </a:xfrm>
          <a:prstGeom prst="rect">
            <a:avLst/>
          </a:prstGeom>
          <a:noFill/>
        </p:spPr>
        <p:txBody>
          <a:bodyPr wrap="square">
            <a:spAutoFit/>
          </a:bodyPr>
          <a:lstStyle/>
          <a:p>
            <a:pPr algn="l"/>
            <a:r>
              <a:rPr sz="900" b="1">
                <a:solidFill>
                  <a:srgbClr val="5B5F63"/>
                </a:solidFill>
                <a:latin typeface="Pretendard"/>
              </a:rPr>
              <a:t>03  POSITIONING: PREM</a:t>
            </a:r>
          </a:p>
        </p:txBody>
      </p:sp>
      <p:sp>
        <p:nvSpPr>
          <p:cNvPr id="4" name="Rectangle 3"/>
          <p:cNvSpPr/>
          <p:nvPr/>
        </p:nvSpPr>
        <p:spPr>
          <a:xfrm>
            <a:off x="502920" y="713232"/>
            <a:ext cx="11183112" cy="10972"/>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914400"/>
            <a:ext cx="10972800" cy="731520"/>
          </a:xfrm>
          <a:prstGeom prst="rect">
            <a:avLst/>
          </a:prstGeom>
          <a:noFill/>
        </p:spPr>
        <p:txBody>
          <a:bodyPr wrap="square">
            <a:spAutoFit/>
          </a:bodyPr>
          <a:lstStyle/>
          <a:p>
            <a:pPr algn="l"/>
            <a:r>
              <a:rPr sz="3400" b="1">
                <a:solidFill>
                  <a:srgbClr val="0A0A0A"/>
                </a:solidFill>
                <a:latin typeface="Pretendard"/>
              </a:rPr>
              <a:t>Private Super Intelligence</a:t>
            </a:r>
          </a:p>
        </p:txBody>
      </p:sp>
      <p:sp>
        <p:nvSpPr>
          <p:cNvPr id="6" name="TextBox 5"/>
          <p:cNvSpPr txBox="1"/>
          <p:nvPr/>
        </p:nvSpPr>
        <p:spPr>
          <a:xfrm>
            <a:off x="502920" y="1691640"/>
            <a:ext cx="10789920" cy="365760"/>
          </a:xfrm>
          <a:prstGeom prst="rect">
            <a:avLst/>
          </a:prstGeom>
          <a:noFill/>
        </p:spPr>
        <p:txBody>
          <a:bodyPr wrap="square">
            <a:spAutoFit/>
          </a:bodyPr>
          <a:lstStyle/>
          <a:p>
            <a:pPr algn="l"/>
            <a:r>
              <a:rPr sz="1150" b="0">
                <a:solidFill>
                  <a:srgbClr val="5B5F63"/>
                </a:solidFill>
                <a:latin typeface="Pretendard"/>
              </a:rPr>
              <a:t>"AI is the most powerful technology of our era. Prem makes it private, verifiable, and sovereign."  (premai.io hero)</a:t>
            </a:r>
          </a:p>
        </p:txBody>
      </p:sp>
      <p:sp>
        <p:nvSpPr>
          <p:cNvPr id="7" name="Rectangle 6"/>
          <p:cNvSpPr/>
          <p:nvPr/>
        </p:nvSpPr>
        <p:spPr>
          <a:xfrm>
            <a:off x="502920" y="2331720"/>
            <a:ext cx="3611880" cy="3291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2331720"/>
            <a:ext cx="3611880" cy="5486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04672" y="2706624"/>
            <a:ext cx="164592" cy="164592"/>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035808"/>
            <a:ext cx="3108960" cy="548640"/>
          </a:xfrm>
          <a:prstGeom prst="rect">
            <a:avLst/>
          </a:prstGeom>
          <a:noFill/>
        </p:spPr>
        <p:txBody>
          <a:bodyPr wrap="square">
            <a:spAutoFit/>
          </a:bodyPr>
          <a:lstStyle/>
          <a:p>
            <a:pPr algn="l"/>
            <a:r>
              <a:rPr sz="1700" b="1">
                <a:solidFill>
                  <a:srgbClr val="0A0A0A"/>
                </a:solidFill>
                <a:latin typeface="Pretendard"/>
              </a:rPr>
              <a:t>Private</a:t>
            </a:r>
          </a:p>
        </p:txBody>
      </p:sp>
      <p:sp>
        <p:nvSpPr>
          <p:cNvPr id="11" name="TextBox 10"/>
          <p:cNvSpPr txBox="1"/>
          <p:nvPr/>
        </p:nvSpPr>
        <p:spPr>
          <a:xfrm>
            <a:off x="758952" y="3657600"/>
            <a:ext cx="3108960" cy="1828800"/>
          </a:xfrm>
          <a:prstGeom prst="rect">
            <a:avLst/>
          </a:prstGeom>
          <a:noFill/>
        </p:spPr>
        <p:txBody>
          <a:bodyPr wrap="square">
            <a:spAutoFit/>
          </a:bodyPr>
          <a:lstStyle/>
          <a:p>
            <a:pPr algn="l"/>
            <a:r>
              <a:rPr sz="1050" b="0">
                <a:solidFill>
                  <a:srgbClr val="5B5F63"/>
                </a:solidFill>
                <a:latin typeface="Pretendard"/>
              </a:rPr>
              <a:t>Runs on the customer's infrastructure. Data never leaves their VPC. No provider-side retention, no training on customer data.</a:t>
            </a:r>
          </a:p>
        </p:txBody>
      </p:sp>
      <p:sp>
        <p:nvSpPr>
          <p:cNvPr id="12" name="Rectangle 11"/>
          <p:cNvSpPr/>
          <p:nvPr/>
        </p:nvSpPr>
        <p:spPr>
          <a:xfrm>
            <a:off x="4407407" y="2331720"/>
            <a:ext cx="3611880" cy="3291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07407" y="2331720"/>
            <a:ext cx="3611880" cy="5486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709159" y="2706624"/>
            <a:ext cx="164592" cy="164592"/>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3440" y="3035808"/>
            <a:ext cx="3108960" cy="548640"/>
          </a:xfrm>
          <a:prstGeom prst="rect">
            <a:avLst/>
          </a:prstGeom>
          <a:noFill/>
        </p:spPr>
        <p:txBody>
          <a:bodyPr wrap="square">
            <a:spAutoFit/>
          </a:bodyPr>
          <a:lstStyle/>
          <a:p>
            <a:pPr algn="l"/>
            <a:r>
              <a:rPr sz="1700" b="1">
                <a:solidFill>
                  <a:srgbClr val="0A0A0A"/>
                </a:solidFill>
                <a:latin typeface="Pretendard"/>
              </a:rPr>
              <a:t>Verifiable</a:t>
            </a:r>
          </a:p>
        </p:txBody>
      </p:sp>
      <p:sp>
        <p:nvSpPr>
          <p:cNvPr id="16" name="TextBox 15"/>
          <p:cNvSpPr txBox="1"/>
          <p:nvPr/>
        </p:nvSpPr>
        <p:spPr>
          <a:xfrm>
            <a:off x="4663440" y="3657600"/>
            <a:ext cx="3108960" cy="1828800"/>
          </a:xfrm>
          <a:prstGeom prst="rect">
            <a:avLst/>
          </a:prstGeom>
          <a:noFill/>
        </p:spPr>
        <p:txBody>
          <a:bodyPr wrap="square">
            <a:spAutoFit/>
          </a:bodyPr>
          <a:lstStyle/>
          <a:p>
            <a:pPr algn="l"/>
            <a:r>
              <a:rPr sz="1050" b="0">
                <a:solidFill>
                  <a:srgbClr val="5B5F63"/>
                </a:solidFill>
                <a:latin typeface="Pretendard"/>
              </a:rPr>
              <a:t>Reticle produces a hardware-signed cryptographic attestation at the TEE layer on every inference. Checkable by any party. No competitor ships this.</a:t>
            </a:r>
          </a:p>
        </p:txBody>
      </p:sp>
      <p:sp>
        <p:nvSpPr>
          <p:cNvPr id="17" name="Rectangle 16"/>
          <p:cNvSpPr/>
          <p:nvPr/>
        </p:nvSpPr>
        <p:spPr>
          <a:xfrm>
            <a:off x="8311896" y="2331720"/>
            <a:ext cx="3611880" cy="3291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11896" y="2331720"/>
            <a:ext cx="3611880" cy="5486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13648" y="2706624"/>
            <a:ext cx="164592" cy="164592"/>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67928" y="3035808"/>
            <a:ext cx="3108960" cy="548640"/>
          </a:xfrm>
          <a:prstGeom prst="rect">
            <a:avLst/>
          </a:prstGeom>
          <a:noFill/>
        </p:spPr>
        <p:txBody>
          <a:bodyPr wrap="square">
            <a:spAutoFit/>
          </a:bodyPr>
          <a:lstStyle/>
          <a:p>
            <a:pPr algn="l"/>
            <a:r>
              <a:rPr sz="1700" b="1">
                <a:solidFill>
                  <a:srgbClr val="0A0A0A"/>
                </a:solidFill>
                <a:latin typeface="Pretendard"/>
              </a:rPr>
              <a:t>Sovereign</a:t>
            </a:r>
          </a:p>
        </p:txBody>
      </p:sp>
      <p:sp>
        <p:nvSpPr>
          <p:cNvPr id="21" name="TextBox 20"/>
          <p:cNvSpPr txBox="1"/>
          <p:nvPr/>
        </p:nvSpPr>
        <p:spPr>
          <a:xfrm>
            <a:off x="8567928" y="3657600"/>
            <a:ext cx="3108960" cy="1828800"/>
          </a:xfrm>
          <a:prstGeom prst="rect">
            <a:avLst/>
          </a:prstGeom>
          <a:noFill/>
        </p:spPr>
        <p:txBody>
          <a:bodyPr wrap="square">
            <a:spAutoFit/>
          </a:bodyPr>
          <a:lstStyle/>
          <a:p>
            <a:pPr algn="l"/>
            <a:r>
              <a:rPr sz="1050" b="0">
                <a:solidFill>
                  <a:srgbClr val="5B5F63"/>
                </a:solidFill>
                <a:latin typeface="Pretendard"/>
              </a:rPr>
              <a:t>The customer's jurisdiction governs. Any open model, portable across infrastructure, auditable by their team, their counsel, their regulator.</a:t>
            </a:r>
          </a:p>
        </p:txBody>
      </p:sp>
      <p:sp>
        <p:nvSpPr>
          <p:cNvPr id="22" name="Rectangle 21"/>
          <p:cNvSpPr/>
          <p:nvPr/>
        </p:nvSpPr>
        <p:spPr>
          <a:xfrm>
            <a:off x="502920" y="5852160"/>
            <a:ext cx="11183112" cy="685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6016752"/>
            <a:ext cx="10698480" cy="457200"/>
          </a:xfrm>
          <a:prstGeom prst="rect">
            <a:avLst/>
          </a:prstGeom>
          <a:noFill/>
        </p:spPr>
        <p:txBody>
          <a:bodyPr wrap="square">
            <a:spAutoFit/>
          </a:bodyPr>
          <a:lstStyle/>
          <a:p>
            <a:pPr algn="l"/>
            <a:r>
              <a:rPr sz="900" b="0">
                <a:solidFill>
                  <a:srgbClr val="0A0A0A"/>
                </a:solidFill>
                <a:latin typeface="Pretendard"/>
              </a:rPr>
              <a:t>PROOF BANK   The premai.io homepage shows "Trusted by" logos including Microsoft, NVIDIA, AWS, Index Ventures, Innosuisse, SUPSI, Abu Dhabi Investment Office and Plug and Play. Use them as social proof exactly as the site presents them, nothing more.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9144000" cy="274320"/>
          </a:xfrm>
          <a:prstGeom prst="rect">
            <a:avLst/>
          </a:prstGeom>
          <a:noFill/>
        </p:spPr>
        <p:txBody>
          <a:bodyPr wrap="square">
            <a:spAutoFit/>
          </a:bodyPr>
          <a:lstStyle/>
          <a:p>
            <a:pPr algn="l"/>
            <a:r>
              <a:rPr sz="900" b="1">
                <a:solidFill>
                  <a:srgbClr val="5B5F63"/>
                </a:solidFill>
                <a:latin typeface="Pretendard"/>
              </a:rPr>
              <a:t>04  POSITIONING: FLUSO</a:t>
            </a:r>
          </a:p>
        </p:txBody>
      </p:sp>
      <p:sp>
        <p:nvSpPr>
          <p:cNvPr id="4" name="Rectangle 3"/>
          <p:cNvSpPr/>
          <p:nvPr/>
        </p:nvSpPr>
        <p:spPr>
          <a:xfrm>
            <a:off x="502920" y="713232"/>
            <a:ext cx="11183112" cy="10972"/>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914400"/>
            <a:ext cx="10972800" cy="731520"/>
          </a:xfrm>
          <a:prstGeom prst="rect">
            <a:avLst/>
          </a:prstGeom>
          <a:noFill/>
        </p:spPr>
        <p:txBody>
          <a:bodyPr wrap="square">
            <a:spAutoFit/>
          </a:bodyPr>
          <a:lstStyle/>
          <a:p>
            <a:pPr algn="l"/>
            <a:r>
              <a:rPr sz="3200" b="1">
                <a:solidFill>
                  <a:srgbClr val="0A0A0A"/>
                </a:solidFill>
                <a:latin typeface="Pretendard"/>
              </a:rPr>
              <a:t>"Work deeper, not longer."</a:t>
            </a:r>
          </a:p>
        </p:txBody>
      </p:sp>
      <p:sp>
        <p:nvSpPr>
          <p:cNvPr id="6" name="TextBox 5"/>
          <p:cNvSpPr txBox="1"/>
          <p:nvPr/>
        </p:nvSpPr>
        <p:spPr>
          <a:xfrm>
            <a:off x="502920" y="1691640"/>
            <a:ext cx="10515600" cy="365760"/>
          </a:xfrm>
          <a:prstGeom prst="rect">
            <a:avLst/>
          </a:prstGeom>
          <a:noFill/>
        </p:spPr>
        <p:txBody>
          <a:bodyPr wrap="square">
            <a:spAutoFit/>
          </a:bodyPr>
          <a:lstStyle/>
          <a:p>
            <a:pPr algn="l"/>
            <a:r>
              <a:rPr sz="1200" b="0">
                <a:solidFill>
                  <a:srgbClr val="5B5F63"/>
                </a:solidFill>
                <a:latin typeface="Pretendard"/>
              </a:rPr>
              <a:t>Deep-work AI for knowledge professionals who think in 20-minute sessions, not prompt chains.</a:t>
            </a:r>
          </a:p>
        </p:txBody>
      </p:sp>
      <p:sp>
        <p:nvSpPr>
          <p:cNvPr id="7" name="Rectangle 6"/>
          <p:cNvSpPr/>
          <p:nvPr/>
        </p:nvSpPr>
        <p:spPr>
          <a:xfrm>
            <a:off x="502920" y="2286000"/>
            <a:ext cx="11183112" cy="18288"/>
          </a:xfrm>
          <a:prstGeom prst="rect">
            <a:avLst/>
          </a:prstGeom>
          <a:solidFill>
            <a:srgbClr val="EC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2514600"/>
            <a:ext cx="1463040" cy="457200"/>
          </a:xfrm>
          <a:prstGeom prst="rect">
            <a:avLst/>
          </a:prstGeom>
          <a:noFill/>
        </p:spPr>
        <p:txBody>
          <a:bodyPr wrap="square">
            <a:spAutoFit/>
          </a:bodyPr>
          <a:lstStyle/>
          <a:p>
            <a:pPr algn="l"/>
            <a:r>
              <a:rPr sz="900" b="1">
                <a:solidFill>
                  <a:srgbClr val="5B5F63"/>
                </a:solidFill>
                <a:latin typeface="Pretendard"/>
              </a:rPr>
              <a:t>FOR</a:t>
            </a:r>
          </a:p>
        </p:txBody>
      </p:sp>
      <p:sp>
        <p:nvSpPr>
          <p:cNvPr id="9" name="TextBox 8"/>
          <p:cNvSpPr txBox="1"/>
          <p:nvPr/>
        </p:nvSpPr>
        <p:spPr>
          <a:xfrm>
            <a:off x="2103120" y="2514600"/>
            <a:ext cx="9509760" cy="685800"/>
          </a:xfrm>
          <a:prstGeom prst="rect">
            <a:avLst/>
          </a:prstGeom>
          <a:noFill/>
        </p:spPr>
        <p:txBody>
          <a:bodyPr wrap="square">
            <a:spAutoFit/>
          </a:bodyPr>
          <a:lstStyle/>
          <a:p>
            <a:pPr algn="l"/>
            <a:r>
              <a:rPr sz="1150" b="0">
                <a:solidFill>
                  <a:srgbClr val="0A0A0A"/>
                </a:solidFill>
                <a:latin typeface="Pretendard"/>
              </a:rPr>
              <a:t>Lawyers, analysts, researchers and engineers doing cognitive-heavy work</a:t>
            </a:r>
          </a:p>
        </p:txBody>
      </p:sp>
      <p:sp>
        <p:nvSpPr>
          <p:cNvPr id="10" name="TextBox 9"/>
          <p:cNvSpPr txBox="1"/>
          <p:nvPr/>
        </p:nvSpPr>
        <p:spPr>
          <a:xfrm>
            <a:off x="502920" y="3300984"/>
            <a:ext cx="1463040" cy="457200"/>
          </a:xfrm>
          <a:prstGeom prst="rect">
            <a:avLst/>
          </a:prstGeom>
          <a:noFill/>
        </p:spPr>
        <p:txBody>
          <a:bodyPr wrap="square">
            <a:spAutoFit/>
          </a:bodyPr>
          <a:lstStyle/>
          <a:p>
            <a:pPr algn="l"/>
            <a:r>
              <a:rPr sz="900" b="1">
                <a:solidFill>
                  <a:srgbClr val="5B5F63"/>
                </a:solidFill>
                <a:latin typeface="Pretendard"/>
              </a:rPr>
              <a:t>WHO NEED</a:t>
            </a:r>
          </a:p>
        </p:txBody>
      </p:sp>
      <p:sp>
        <p:nvSpPr>
          <p:cNvPr id="11" name="TextBox 10"/>
          <p:cNvSpPr txBox="1"/>
          <p:nvPr/>
        </p:nvSpPr>
        <p:spPr>
          <a:xfrm>
            <a:off x="2103120" y="3300984"/>
            <a:ext cx="9509760" cy="685800"/>
          </a:xfrm>
          <a:prstGeom prst="rect">
            <a:avLst/>
          </a:prstGeom>
          <a:noFill/>
        </p:spPr>
        <p:txBody>
          <a:bodyPr wrap="square">
            <a:spAutoFit/>
          </a:bodyPr>
          <a:lstStyle/>
          <a:p>
            <a:pPr algn="l"/>
            <a:r>
              <a:rPr sz="1150" b="0">
                <a:solidFill>
                  <a:srgbClr val="0A0A0A"/>
                </a:solidFill>
                <a:latin typeface="Pretendard"/>
              </a:rPr>
              <a:t>AI that fits into deep-work sessions without breaking concentration or creating new overhead</a:t>
            </a:r>
          </a:p>
        </p:txBody>
      </p:sp>
      <p:sp>
        <p:nvSpPr>
          <p:cNvPr id="12" name="TextBox 11"/>
          <p:cNvSpPr txBox="1"/>
          <p:nvPr/>
        </p:nvSpPr>
        <p:spPr>
          <a:xfrm>
            <a:off x="502920" y="4087368"/>
            <a:ext cx="1463040" cy="457200"/>
          </a:xfrm>
          <a:prstGeom prst="rect">
            <a:avLst/>
          </a:prstGeom>
          <a:noFill/>
        </p:spPr>
        <p:txBody>
          <a:bodyPr wrap="square">
            <a:spAutoFit/>
          </a:bodyPr>
          <a:lstStyle/>
          <a:p>
            <a:pPr algn="l"/>
            <a:r>
              <a:rPr sz="900" b="1">
                <a:solidFill>
                  <a:srgbClr val="5B5F63"/>
                </a:solidFill>
                <a:latin typeface="Pretendard"/>
              </a:rPr>
              <a:t>UNLIKE</a:t>
            </a:r>
          </a:p>
        </p:txBody>
      </p:sp>
      <p:sp>
        <p:nvSpPr>
          <p:cNvPr id="13" name="TextBox 12"/>
          <p:cNvSpPr txBox="1"/>
          <p:nvPr/>
        </p:nvSpPr>
        <p:spPr>
          <a:xfrm>
            <a:off x="2103120" y="4087368"/>
            <a:ext cx="9509760" cy="685800"/>
          </a:xfrm>
          <a:prstGeom prst="rect">
            <a:avLst/>
          </a:prstGeom>
          <a:noFill/>
        </p:spPr>
        <p:txBody>
          <a:bodyPr wrap="square">
            <a:spAutoFit/>
          </a:bodyPr>
          <a:lstStyle/>
          <a:p>
            <a:pPr algn="l"/>
            <a:r>
              <a:rPr sz="1150" b="0">
                <a:solidFill>
                  <a:srgbClr val="0A0A0A"/>
                </a:solidFill>
                <a:latin typeface="Pretendard"/>
              </a:rPr>
              <a:t>Chat-first tools optimised for quick answers rather than sustained reasoning sessions</a:t>
            </a:r>
          </a:p>
        </p:txBody>
      </p:sp>
      <p:sp>
        <p:nvSpPr>
          <p:cNvPr id="14" name="TextBox 13"/>
          <p:cNvSpPr txBox="1"/>
          <p:nvPr/>
        </p:nvSpPr>
        <p:spPr>
          <a:xfrm>
            <a:off x="502920" y="4873752"/>
            <a:ext cx="1463040" cy="457200"/>
          </a:xfrm>
          <a:prstGeom prst="rect">
            <a:avLst/>
          </a:prstGeom>
          <a:noFill/>
        </p:spPr>
        <p:txBody>
          <a:bodyPr wrap="square">
            <a:spAutoFit/>
          </a:bodyPr>
          <a:lstStyle/>
          <a:p>
            <a:pPr algn="l"/>
            <a:r>
              <a:rPr sz="900" b="1">
                <a:solidFill>
                  <a:srgbClr val="5B5F63"/>
                </a:solidFill>
                <a:latin typeface="Pretendard"/>
              </a:rPr>
              <a:t>FLUSO IS</a:t>
            </a:r>
          </a:p>
        </p:txBody>
      </p:sp>
      <p:sp>
        <p:nvSpPr>
          <p:cNvPr id="15" name="TextBox 14"/>
          <p:cNvSpPr txBox="1"/>
          <p:nvPr/>
        </p:nvSpPr>
        <p:spPr>
          <a:xfrm>
            <a:off x="2103120" y="4873752"/>
            <a:ext cx="9509760" cy="685800"/>
          </a:xfrm>
          <a:prstGeom prst="rect">
            <a:avLst/>
          </a:prstGeom>
          <a:noFill/>
        </p:spPr>
        <p:txBody>
          <a:bodyPr wrap="square">
            <a:spAutoFit/>
          </a:bodyPr>
          <a:lstStyle/>
          <a:p>
            <a:pPr algn="l"/>
            <a:r>
              <a:rPr sz="1150" b="0">
                <a:solidFill>
                  <a:srgbClr val="0A0A0A"/>
                </a:solidFill>
                <a:latin typeface="Pretendard"/>
              </a:rPr>
              <a:t>A private AI workspace with compounding memory and 50+ connectors, built for 10 to 30 minute focused workflows, with session audit trail and honest accuracy reporting</a:t>
            </a:r>
          </a:p>
        </p:txBody>
      </p:sp>
      <p:sp>
        <p:nvSpPr>
          <p:cNvPr id="16" name="TextBox 15"/>
          <p:cNvSpPr txBox="1"/>
          <p:nvPr/>
        </p:nvSpPr>
        <p:spPr>
          <a:xfrm>
            <a:off x="502920" y="5660136"/>
            <a:ext cx="1463040" cy="457200"/>
          </a:xfrm>
          <a:prstGeom prst="rect">
            <a:avLst/>
          </a:prstGeom>
          <a:noFill/>
        </p:spPr>
        <p:txBody>
          <a:bodyPr wrap="square">
            <a:spAutoFit/>
          </a:bodyPr>
          <a:lstStyle/>
          <a:p>
            <a:pPr algn="l"/>
            <a:r>
              <a:rPr sz="900" b="1">
                <a:solidFill>
                  <a:srgbClr val="5B5F63"/>
                </a:solidFill>
                <a:latin typeface="Pretendard"/>
              </a:rPr>
              <a:t>THE PROOF</a:t>
            </a:r>
          </a:p>
        </p:txBody>
      </p:sp>
      <p:sp>
        <p:nvSpPr>
          <p:cNvPr id="17" name="TextBox 16"/>
          <p:cNvSpPr txBox="1"/>
          <p:nvPr/>
        </p:nvSpPr>
        <p:spPr>
          <a:xfrm>
            <a:off x="2103120" y="5660136"/>
            <a:ext cx="9509760" cy="685800"/>
          </a:xfrm>
          <a:prstGeom prst="rect">
            <a:avLst/>
          </a:prstGeom>
          <a:noFill/>
        </p:spPr>
        <p:txBody>
          <a:bodyPr wrap="square">
            <a:spAutoFit/>
          </a:bodyPr>
          <a:lstStyle/>
          <a:p>
            <a:pPr algn="l"/>
            <a:r>
              <a:rPr sz="1150" b="0">
                <a:solidFill>
                  <a:srgbClr val="0A0A0A"/>
                </a:solidFill>
                <a:latin typeface="Pretendard"/>
              </a:rPr>
              <a:t>59 minutes per day lost to information search. 60% of knowledge-worker time spent on work about work. Fluso attacks both numbers.</a:t>
            </a:r>
          </a:p>
        </p:txBody>
      </p:sp>
      <p:sp>
        <p:nvSpPr>
          <p:cNvPr id="18" name="Oval 17"/>
          <p:cNvSpPr/>
          <p:nvPr/>
        </p:nvSpPr>
        <p:spPr>
          <a:xfrm>
            <a:off x="11153851" y="6444691"/>
            <a:ext cx="95097" cy="95097"/>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325758" y="6461150"/>
            <a:ext cx="62179" cy="62179"/>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470233" y="6450177"/>
            <a:ext cx="84124" cy="84124"/>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640312" y="6464807"/>
            <a:ext cx="54864" cy="54864"/>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786616" y="6455664"/>
            <a:ext cx="73152" cy="73152"/>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9144000" cy="274320"/>
          </a:xfrm>
          <a:prstGeom prst="rect">
            <a:avLst/>
          </a:prstGeom>
          <a:noFill/>
        </p:spPr>
        <p:txBody>
          <a:bodyPr wrap="square">
            <a:spAutoFit/>
          </a:bodyPr>
          <a:lstStyle/>
          <a:p>
            <a:pPr algn="l"/>
            <a:r>
              <a:rPr sz="900" b="1">
                <a:solidFill>
                  <a:srgbClr val="5B5F63"/>
                </a:solidFill>
                <a:latin typeface="Pretendard"/>
              </a:rPr>
              <a:t>05  THE CATEGORY WE ARE CREATING</a:t>
            </a:r>
          </a:p>
        </p:txBody>
      </p:sp>
      <p:sp>
        <p:nvSpPr>
          <p:cNvPr id="4" name="Rectangle 3"/>
          <p:cNvSpPr/>
          <p:nvPr/>
        </p:nvSpPr>
        <p:spPr>
          <a:xfrm>
            <a:off x="502920" y="713232"/>
            <a:ext cx="11183112" cy="10972"/>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914400"/>
            <a:ext cx="9144000" cy="777240"/>
          </a:xfrm>
          <a:prstGeom prst="rect">
            <a:avLst/>
          </a:prstGeom>
          <a:noFill/>
        </p:spPr>
        <p:txBody>
          <a:bodyPr wrap="square">
            <a:spAutoFit/>
          </a:bodyPr>
          <a:lstStyle/>
          <a:p>
            <a:pPr algn="l"/>
            <a:r>
              <a:rPr sz="4000" b="1">
                <a:solidFill>
                  <a:srgbClr val="0A0A0A"/>
                </a:solidFill>
                <a:latin typeface="Pretendard"/>
              </a:rPr>
              <a:t>Verifiable AI</a:t>
            </a:r>
          </a:p>
        </p:txBody>
      </p:sp>
      <p:sp>
        <p:nvSpPr>
          <p:cNvPr id="6" name="TextBox 5"/>
          <p:cNvSpPr txBox="1"/>
          <p:nvPr/>
        </p:nvSpPr>
        <p:spPr>
          <a:xfrm>
            <a:off x="502920" y="1737360"/>
            <a:ext cx="10515600" cy="365760"/>
          </a:xfrm>
          <a:prstGeom prst="rect">
            <a:avLst/>
          </a:prstGeom>
          <a:noFill/>
        </p:spPr>
        <p:txBody>
          <a:bodyPr wrap="square">
            <a:spAutoFit/>
          </a:bodyPr>
          <a:lstStyle/>
          <a:p>
            <a:pPr algn="l"/>
            <a:r>
              <a:rPr sz="1200" b="0">
                <a:solidFill>
                  <a:srgbClr val="5B5F63"/>
                </a:solidFill>
                <a:latin typeface="Pretendard"/>
              </a:rPr>
              <a:t>The word is already in the company's own hero copy. The category claim makes it ours.</a:t>
            </a:r>
          </a:p>
        </p:txBody>
      </p:sp>
      <p:sp>
        <p:nvSpPr>
          <p:cNvPr id="7" name="Rectangle 6"/>
          <p:cNvSpPr/>
          <p:nvPr/>
        </p:nvSpPr>
        <p:spPr>
          <a:xfrm>
            <a:off x="502920" y="2331720"/>
            <a:ext cx="3611880" cy="397763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2331720"/>
            <a:ext cx="3611880" cy="54864"/>
          </a:xfrm>
          <a:prstGeom prst="rect">
            <a:avLst/>
          </a:prstGeom>
          <a:solidFill>
            <a:srgbClr val="B0B0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2487168"/>
            <a:ext cx="3108960" cy="594360"/>
          </a:xfrm>
          <a:prstGeom prst="rect">
            <a:avLst/>
          </a:prstGeom>
          <a:noFill/>
        </p:spPr>
        <p:txBody>
          <a:bodyPr wrap="square">
            <a:spAutoFit/>
          </a:bodyPr>
          <a:lstStyle/>
          <a:p>
            <a:pPr algn="l"/>
            <a:r>
              <a:rPr sz="1300" b="1">
                <a:solidFill>
                  <a:srgbClr val="5B5F63"/>
                </a:solidFill>
                <a:latin typeface="Pretendard"/>
              </a:rPr>
              <a:t>Policy-based "Private AI"</a:t>
            </a:r>
          </a:p>
        </p:txBody>
      </p:sp>
      <p:sp>
        <p:nvSpPr>
          <p:cNvPr id="10" name="TextBox 9"/>
          <p:cNvSpPr txBox="1"/>
          <p:nvPr/>
        </p:nvSpPr>
        <p:spPr>
          <a:xfrm>
            <a:off x="758952" y="3154680"/>
            <a:ext cx="3108960" cy="2834640"/>
          </a:xfrm>
          <a:prstGeom prst="rect">
            <a:avLst/>
          </a:prstGeom>
          <a:noFill/>
        </p:spPr>
        <p:txBody>
          <a:bodyPr wrap="square">
            <a:spAutoFit/>
          </a:bodyPr>
          <a:lstStyle/>
          <a:p>
            <a:pPr algn="l"/>
            <a:r>
              <a:rPr sz="1000" b="0">
                <a:solidFill>
                  <a:srgbClr val="5B5F63"/>
                </a:solidFill>
                <a:latin typeface="Pretendard"/>
              </a:rPr>
              <a:t>A contractual promise that the provider handles data properly.
Breaks when terms change or a subpoena arrives.
Cannot be audited. Must be trusted.</a:t>
            </a:r>
          </a:p>
        </p:txBody>
      </p:sp>
      <p:sp>
        <p:nvSpPr>
          <p:cNvPr id="11" name="Rectangle 10"/>
          <p:cNvSpPr/>
          <p:nvPr/>
        </p:nvSpPr>
        <p:spPr>
          <a:xfrm>
            <a:off x="4407407" y="2331720"/>
            <a:ext cx="3611880" cy="397763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407407" y="2331720"/>
            <a:ext cx="3611880" cy="54864"/>
          </a:xfrm>
          <a:prstGeom prst="rect">
            <a:avLst/>
          </a:prstGeom>
          <a:solidFill>
            <a:srgbClr val="B0B0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63440" y="2487168"/>
            <a:ext cx="3108960" cy="594360"/>
          </a:xfrm>
          <a:prstGeom prst="rect">
            <a:avLst/>
          </a:prstGeom>
          <a:noFill/>
        </p:spPr>
        <p:txBody>
          <a:bodyPr wrap="square">
            <a:spAutoFit/>
          </a:bodyPr>
          <a:lstStyle/>
          <a:p>
            <a:pPr algn="l"/>
            <a:r>
              <a:rPr sz="1300" b="1">
                <a:solidFill>
                  <a:srgbClr val="5B5F63"/>
                </a:solidFill>
                <a:latin typeface="Pretendard"/>
              </a:rPr>
              <a:t>Perimeter-based "Secure AI"</a:t>
            </a:r>
          </a:p>
        </p:txBody>
      </p:sp>
      <p:sp>
        <p:nvSpPr>
          <p:cNvPr id="14" name="TextBox 13"/>
          <p:cNvSpPr txBox="1"/>
          <p:nvPr/>
        </p:nvSpPr>
        <p:spPr>
          <a:xfrm>
            <a:off x="4663440" y="3154680"/>
            <a:ext cx="3108960" cy="2834640"/>
          </a:xfrm>
          <a:prstGeom prst="rect">
            <a:avLst/>
          </a:prstGeom>
          <a:noFill/>
        </p:spPr>
        <p:txBody>
          <a:bodyPr wrap="square">
            <a:spAutoFit/>
          </a:bodyPr>
          <a:lstStyle/>
          <a:p>
            <a:pPr algn="l"/>
            <a:r>
              <a:rPr sz="1000" b="0">
                <a:solidFill>
                  <a:srgbClr val="5B5F63"/>
                </a:solidFill>
                <a:latin typeface="Pretendard"/>
              </a:rPr>
              <a:t>Firewalls and access controls around the system's exterior.
Says nothing about what happened inside the model during inference.
Proves the boundary, not the behaviour.</a:t>
            </a:r>
          </a:p>
        </p:txBody>
      </p:sp>
      <p:sp>
        <p:nvSpPr>
          <p:cNvPr id="15" name="Rectangle 14"/>
          <p:cNvSpPr/>
          <p:nvPr/>
        </p:nvSpPr>
        <p:spPr>
          <a:xfrm>
            <a:off x="8311896" y="2331720"/>
            <a:ext cx="3611880" cy="3977639"/>
          </a:xfrm>
          <a:prstGeom prst="rect">
            <a:avLst/>
          </a:prstGeom>
          <a:solidFill>
            <a:srgbClr val="1717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11896" y="2331720"/>
            <a:ext cx="3611880" cy="5486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67928" y="2487168"/>
            <a:ext cx="3108960" cy="594360"/>
          </a:xfrm>
          <a:prstGeom prst="rect">
            <a:avLst/>
          </a:prstGeom>
          <a:noFill/>
        </p:spPr>
        <p:txBody>
          <a:bodyPr wrap="square">
            <a:spAutoFit/>
          </a:bodyPr>
          <a:lstStyle/>
          <a:p>
            <a:pPr algn="l"/>
            <a:r>
              <a:rPr sz="1300" b="1">
                <a:solidFill>
                  <a:srgbClr val="FFFFFF"/>
                </a:solidFill>
                <a:latin typeface="Pretendard"/>
              </a:rPr>
              <a:t>Verifiable AI</a:t>
            </a:r>
          </a:p>
        </p:txBody>
      </p:sp>
      <p:sp>
        <p:nvSpPr>
          <p:cNvPr id="18" name="TextBox 17"/>
          <p:cNvSpPr txBox="1"/>
          <p:nvPr/>
        </p:nvSpPr>
        <p:spPr>
          <a:xfrm>
            <a:off x="8567928" y="3154680"/>
            <a:ext cx="3108960" cy="2834640"/>
          </a:xfrm>
          <a:prstGeom prst="rect">
            <a:avLst/>
          </a:prstGeom>
          <a:noFill/>
        </p:spPr>
        <p:txBody>
          <a:bodyPr wrap="square">
            <a:spAutoFit/>
          </a:bodyPr>
          <a:lstStyle/>
          <a:p>
            <a:pPr algn="l"/>
            <a:r>
              <a:rPr sz="1000" b="0">
                <a:solidFill>
                  <a:srgbClr val="ECEAE1"/>
                </a:solidFill>
                <a:latin typeface="Pretendard"/>
              </a:rPr>
              <a:t>Hardware-signed cryptographic proof per inference, via the open-source Reticle stack.
Mathematically checkable by any party.
No trust required.</a:t>
            </a:r>
          </a:p>
        </p:txBody>
      </p:sp>
      <p:sp>
        <p:nvSpPr>
          <p:cNvPr id="19" name="TextBox 18"/>
          <p:cNvSpPr txBox="1"/>
          <p:nvPr/>
        </p:nvSpPr>
        <p:spPr>
          <a:xfrm>
            <a:off x="8567928" y="5943600"/>
            <a:ext cx="3108960" cy="274320"/>
          </a:xfrm>
          <a:prstGeom prst="rect">
            <a:avLst/>
          </a:prstGeom>
          <a:noFill/>
        </p:spPr>
        <p:txBody>
          <a:bodyPr wrap="square">
            <a:spAutoFit/>
          </a:bodyPr>
          <a:lstStyle/>
          <a:p>
            <a:pPr algn="l"/>
            <a:r>
              <a:rPr sz="800" b="1">
                <a:solidFill>
                  <a:srgbClr val="B0B0AA"/>
                </a:solidFill>
                <a:latin typeface="Pretendard"/>
              </a:rPr>
              <a:t>PREM OWNS THIS COLUMN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9144000" cy="274320"/>
          </a:xfrm>
          <a:prstGeom prst="rect">
            <a:avLst/>
          </a:prstGeom>
          <a:noFill/>
        </p:spPr>
        <p:txBody>
          <a:bodyPr wrap="square">
            <a:spAutoFit/>
          </a:bodyPr>
          <a:lstStyle/>
          <a:p>
            <a:pPr algn="l"/>
            <a:r>
              <a:rPr sz="900" b="1">
                <a:solidFill>
                  <a:srgbClr val="5B5F63"/>
                </a:solidFill>
                <a:latin typeface="Pretendard"/>
              </a:rPr>
              <a:t>06  VOICE AND TONE  |  FOUR PRINCIPLES, EVERY BRAND SURFACE</a:t>
            </a:r>
          </a:p>
        </p:txBody>
      </p:sp>
      <p:sp>
        <p:nvSpPr>
          <p:cNvPr id="4" name="Rectangle 3"/>
          <p:cNvSpPr/>
          <p:nvPr/>
        </p:nvSpPr>
        <p:spPr>
          <a:xfrm>
            <a:off x="502920" y="713232"/>
            <a:ext cx="11183112" cy="10972"/>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051560"/>
            <a:ext cx="5349240" cy="2468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051560"/>
            <a:ext cx="54864" cy="246888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252728"/>
            <a:ext cx="548640" cy="457200"/>
          </a:xfrm>
          <a:prstGeom prst="rect">
            <a:avLst/>
          </a:prstGeom>
          <a:noFill/>
        </p:spPr>
        <p:txBody>
          <a:bodyPr wrap="square">
            <a:spAutoFit/>
          </a:bodyPr>
          <a:lstStyle/>
          <a:p>
            <a:pPr algn="l"/>
            <a:r>
              <a:rPr sz="2200" b="1">
                <a:solidFill>
                  <a:srgbClr val="B0B0AA"/>
                </a:solidFill>
                <a:latin typeface="Pretendard"/>
              </a:rPr>
              <a:t>1</a:t>
            </a:r>
          </a:p>
        </p:txBody>
      </p:sp>
      <p:sp>
        <p:nvSpPr>
          <p:cNvPr id="8" name="TextBox 7"/>
          <p:cNvSpPr txBox="1"/>
          <p:nvPr/>
        </p:nvSpPr>
        <p:spPr>
          <a:xfrm>
            <a:off x="777240" y="1783080"/>
            <a:ext cx="4754880" cy="457200"/>
          </a:xfrm>
          <a:prstGeom prst="rect">
            <a:avLst/>
          </a:prstGeom>
          <a:noFill/>
        </p:spPr>
        <p:txBody>
          <a:bodyPr wrap="square">
            <a:spAutoFit/>
          </a:bodyPr>
          <a:lstStyle/>
          <a:p>
            <a:pPr algn="l"/>
            <a:r>
              <a:rPr sz="1700" b="1">
                <a:solidFill>
                  <a:srgbClr val="0A0A0A"/>
                </a:solidFill>
                <a:latin typeface="Pretendard"/>
              </a:rPr>
              <a:t>Precise over poetic</a:t>
            </a:r>
          </a:p>
        </p:txBody>
      </p:sp>
      <p:sp>
        <p:nvSpPr>
          <p:cNvPr id="9" name="TextBox 8"/>
          <p:cNvSpPr txBox="1"/>
          <p:nvPr/>
        </p:nvSpPr>
        <p:spPr>
          <a:xfrm>
            <a:off x="777240" y="2286000"/>
            <a:ext cx="4800600" cy="1143000"/>
          </a:xfrm>
          <a:prstGeom prst="rect">
            <a:avLst/>
          </a:prstGeom>
          <a:noFill/>
        </p:spPr>
        <p:txBody>
          <a:bodyPr wrap="square">
            <a:spAutoFit/>
          </a:bodyPr>
          <a:lstStyle/>
          <a:p>
            <a:pPr algn="l"/>
            <a:r>
              <a:rPr sz="1050" b="0">
                <a:solidFill>
                  <a:srgbClr val="5B5F63"/>
                </a:solidFill>
                <a:latin typeface="Pretendard"/>
              </a:rPr>
              <a:t>Name the exact thing. Use numbers when you have them. "Reduces audit prep from 3 weeks to 4 days" beats "dramatically accelerates compliance."</a:t>
            </a:r>
          </a:p>
        </p:txBody>
      </p:sp>
      <p:sp>
        <p:nvSpPr>
          <p:cNvPr id="10" name="Rectangle 9"/>
          <p:cNvSpPr/>
          <p:nvPr/>
        </p:nvSpPr>
        <p:spPr>
          <a:xfrm>
            <a:off x="6355080" y="1051560"/>
            <a:ext cx="5349240" cy="2468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55080" y="1051560"/>
            <a:ext cx="54864" cy="246888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1252728"/>
            <a:ext cx="548640" cy="457200"/>
          </a:xfrm>
          <a:prstGeom prst="rect">
            <a:avLst/>
          </a:prstGeom>
          <a:noFill/>
        </p:spPr>
        <p:txBody>
          <a:bodyPr wrap="square">
            <a:spAutoFit/>
          </a:bodyPr>
          <a:lstStyle/>
          <a:p>
            <a:pPr algn="l"/>
            <a:r>
              <a:rPr sz="2200" b="1">
                <a:solidFill>
                  <a:srgbClr val="B0B0AA"/>
                </a:solidFill>
                <a:latin typeface="Pretendard"/>
              </a:rPr>
              <a:t>2</a:t>
            </a:r>
          </a:p>
        </p:txBody>
      </p:sp>
      <p:sp>
        <p:nvSpPr>
          <p:cNvPr id="13" name="TextBox 12"/>
          <p:cNvSpPr txBox="1"/>
          <p:nvPr/>
        </p:nvSpPr>
        <p:spPr>
          <a:xfrm>
            <a:off x="6629400" y="1783080"/>
            <a:ext cx="4754880" cy="457200"/>
          </a:xfrm>
          <a:prstGeom prst="rect">
            <a:avLst/>
          </a:prstGeom>
          <a:noFill/>
        </p:spPr>
        <p:txBody>
          <a:bodyPr wrap="square">
            <a:spAutoFit/>
          </a:bodyPr>
          <a:lstStyle/>
          <a:p>
            <a:pPr algn="l"/>
            <a:r>
              <a:rPr sz="1700" b="1">
                <a:solidFill>
                  <a:srgbClr val="0A0A0A"/>
                </a:solidFill>
                <a:latin typeface="Pretendard"/>
              </a:rPr>
              <a:t>Useful over impressive</a:t>
            </a:r>
          </a:p>
        </p:txBody>
      </p:sp>
      <p:sp>
        <p:nvSpPr>
          <p:cNvPr id="14" name="TextBox 13"/>
          <p:cNvSpPr txBox="1"/>
          <p:nvPr/>
        </p:nvSpPr>
        <p:spPr>
          <a:xfrm>
            <a:off x="6629400" y="2286000"/>
            <a:ext cx="4800600" cy="1143000"/>
          </a:xfrm>
          <a:prstGeom prst="rect">
            <a:avLst/>
          </a:prstGeom>
          <a:noFill/>
        </p:spPr>
        <p:txBody>
          <a:bodyPr wrap="square">
            <a:spAutoFit/>
          </a:bodyPr>
          <a:lstStyle/>
          <a:p>
            <a:pPr algn="l"/>
            <a:r>
              <a:rPr sz="1050" b="0">
                <a:solidFill>
                  <a:srgbClr val="5B5F63"/>
                </a:solidFill>
                <a:latin typeface="Pretendard"/>
              </a:rPr>
              <a:t>Every piece should leave the reader able to do something they could not do before. If it reads like a capability tour, rewrite it.</a:t>
            </a:r>
          </a:p>
        </p:txBody>
      </p:sp>
      <p:sp>
        <p:nvSpPr>
          <p:cNvPr id="15" name="Rectangle 14"/>
          <p:cNvSpPr/>
          <p:nvPr/>
        </p:nvSpPr>
        <p:spPr>
          <a:xfrm>
            <a:off x="502920" y="3749039"/>
            <a:ext cx="5349240" cy="2468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3749039"/>
            <a:ext cx="54864" cy="246888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950207"/>
            <a:ext cx="548640" cy="457200"/>
          </a:xfrm>
          <a:prstGeom prst="rect">
            <a:avLst/>
          </a:prstGeom>
          <a:noFill/>
        </p:spPr>
        <p:txBody>
          <a:bodyPr wrap="square">
            <a:spAutoFit/>
          </a:bodyPr>
          <a:lstStyle/>
          <a:p>
            <a:pPr algn="l"/>
            <a:r>
              <a:rPr sz="2200" b="1">
                <a:solidFill>
                  <a:srgbClr val="B0B0AA"/>
                </a:solidFill>
                <a:latin typeface="Pretendard"/>
              </a:rPr>
              <a:t>3</a:t>
            </a:r>
          </a:p>
        </p:txBody>
      </p:sp>
      <p:sp>
        <p:nvSpPr>
          <p:cNvPr id="18" name="TextBox 17"/>
          <p:cNvSpPr txBox="1"/>
          <p:nvPr/>
        </p:nvSpPr>
        <p:spPr>
          <a:xfrm>
            <a:off x="777240" y="4480559"/>
            <a:ext cx="4754880" cy="457200"/>
          </a:xfrm>
          <a:prstGeom prst="rect">
            <a:avLst/>
          </a:prstGeom>
          <a:noFill/>
        </p:spPr>
        <p:txBody>
          <a:bodyPr wrap="square">
            <a:spAutoFit/>
          </a:bodyPr>
          <a:lstStyle/>
          <a:p>
            <a:pPr algn="l"/>
            <a:r>
              <a:rPr sz="1700" b="1">
                <a:solidFill>
                  <a:srgbClr val="0A0A0A"/>
                </a:solidFill>
                <a:latin typeface="Pretendard"/>
              </a:rPr>
              <a:t>Specific over sweeping</a:t>
            </a:r>
          </a:p>
        </p:txBody>
      </p:sp>
      <p:sp>
        <p:nvSpPr>
          <p:cNvPr id="19" name="TextBox 18"/>
          <p:cNvSpPr txBox="1"/>
          <p:nvPr/>
        </p:nvSpPr>
        <p:spPr>
          <a:xfrm>
            <a:off x="777240" y="4983479"/>
            <a:ext cx="4800600" cy="1143000"/>
          </a:xfrm>
          <a:prstGeom prst="rect">
            <a:avLst/>
          </a:prstGeom>
          <a:noFill/>
        </p:spPr>
        <p:txBody>
          <a:bodyPr wrap="square">
            <a:spAutoFit/>
          </a:bodyPr>
          <a:lstStyle/>
          <a:p>
            <a:pPr algn="l"/>
            <a:r>
              <a:rPr sz="1050" b="0">
                <a:solidFill>
                  <a:srgbClr val="5B5F63"/>
                </a:solidFill>
                <a:latin typeface="Pretendard"/>
              </a:rPr>
              <a:t>No "many companies". No "most organisations". Say who, where, how many. If you cannot source it, do not claim it.</a:t>
            </a:r>
          </a:p>
        </p:txBody>
      </p:sp>
      <p:sp>
        <p:nvSpPr>
          <p:cNvPr id="20" name="Rectangle 19"/>
          <p:cNvSpPr/>
          <p:nvPr/>
        </p:nvSpPr>
        <p:spPr>
          <a:xfrm>
            <a:off x="6355080" y="3749039"/>
            <a:ext cx="5349240" cy="2468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3749039"/>
            <a:ext cx="54864" cy="246888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3950207"/>
            <a:ext cx="548640" cy="457200"/>
          </a:xfrm>
          <a:prstGeom prst="rect">
            <a:avLst/>
          </a:prstGeom>
          <a:noFill/>
        </p:spPr>
        <p:txBody>
          <a:bodyPr wrap="square">
            <a:spAutoFit/>
          </a:bodyPr>
          <a:lstStyle/>
          <a:p>
            <a:pPr algn="l"/>
            <a:r>
              <a:rPr sz="2200" b="1">
                <a:solidFill>
                  <a:srgbClr val="B0B0AA"/>
                </a:solidFill>
                <a:latin typeface="Pretendard"/>
              </a:rPr>
              <a:t>4</a:t>
            </a:r>
          </a:p>
        </p:txBody>
      </p:sp>
      <p:sp>
        <p:nvSpPr>
          <p:cNvPr id="23" name="TextBox 22"/>
          <p:cNvSpPr txBox="1"/>
          <p:nvPr/>
        </p:nvSpPr>
        <p:spPr>
          <a:xfrm>
            <a:off x="6629400" y="4480559"/>
            <a:ext cx="4754880" cy="457200"/>
          </a:xfrm>
          <a:prstGeom prst="rect">
            <a:avLst/>
          </a:prstGeom>
          <a:noFill/>
        </p:spPr>
        <p:txBody>
          <a:bodyPr wrap="square">
            <a:spAutoFit/>
          </a:bodyPr>
          <a:lstStyle/>
          <a:p>
            <a:pPr algn="l"/>
            <a:r>
              <a:rPr sz="1700" b="1">
                <a:solidFill>
                  <a:srgbClr val="0A0A0A"/>
                </a:solidFill>
                <a:latin typeface="Pretendard"/>
              </a:rPr>
              <a:t>Honest about limits</a:t>
            </a:r>
          </a:p>
        </p:txBody>
      </p:sp>
      <p:sp>
        <p:nvSpPr>
          <p:cNvPr id="24" name="TextBox 23"/>
          <p:cNvSpPr txBox="1"/>
          <p:nvPr/>
        </p:nvSpPr>
        <p:spPr>
          <a:xfrm>
            <a:off x="6629400" y="4983479"/>
            <a:ext cx="4800600" cy="1143000"/>
          </a:xfrm>
          <a:prstGeom prst="rect">
            <a:avLst/>
          </a:prstGeom>
          <a:noFill/>
        </p:spPr>
        <p:txBody>
          <a:bodyPr wrap="square">
            <a:spAutoFit/>
          </a:bodyPr>
          <a:lstStyle/>
          <a:p>
            <a:pPr algn="l"/>
            <a:r>
              <a:rPr sz="1050" b="0">
                <a:solidFill>
                  <a:srgbClr val="5B5F63"/>
                </a:solidFill>
                <a:latin typeface="Pretendard"/>
              </a:rPr>
              <a:t>State what the product does not do. Admit what the data does not show. Readers trust brands that acknowledge constraints.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9144000" cy="274320"/>
          </a:xfrm>
          <a:prstGeom prst="rect">
            <a:avLst/>
          </a:prstGeom>
          <a:noFill/>
        </p:spPr>
        <p:txBody>
          <a:bodyPr wrap="square">
            <a:spAutoFit/>
          </a:bodyPr>
          <a:lstStyle/>
          <a:p>
            <a:pPr algn="l"/>
            <a:r>
              <a:rPr sz="900" b="1">
                <a:solidFill>
                  <a:srgbClr val="5B5F63"/>
                </a:solidFill>
                <a:latin typeface="Pretendard"/>
              </a:rPr>
              <a:t>06  VOICE AND TONE  |  THE BANNED LIST</a:t>
            </a:r>
          </a:p>
        </p:txBody>
      </p:sp>
      <p:sp>
        <p:nvSpPr>
          <p:cNvPr id="4" name="Rectangle 3"/>
          <p:cNvSpPr/>
          <p:nvPr/>
        </p:nvSpPr>
        <p:spPr>
          <a:xfrm>
            <a:off x="502920" y="713232"/>
            <a:ext cx="11183112" cy="10972"/>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68680"/>
            <a:ext cx="10972800" cy="320040"/>
          </a:xfrm>
          <a:prstGeom prst="rect">
            <a:avLst/>
          </a:prstGeom>
          <a:noFill/>
        </p:spPr>
        <p:txBody>
          <a:bodyPr wrap="square">
            <a:spAutoFit/>
          </a:bodyPr>
          <a:lstStyle/>
          <a:p>
            <a:pPr algn="l"/>
            <a:r>
              <a:rPr sz="1100" b="0">
                <a:solidFill>
                  <a:srgbClr val="5B5F63"/>
                </a:solidFill>
                <a:latin typeface="Pretendard"/>
              </a:rPr>
              <a:t>Prohibited across all Prem and Fluso content. No exceptions.</a:t>
            </a:r>
          </a:p>
        </p:txBody>
      </p:sp>
      <p:sp>
        <p:nvSpPr>
          <p:cNvPr id="6" name="Rectangle 5"/>
          <p:cNvSpPr/>
          <p:nvPr/>
        </p:nvSpPr>
        <p:spPr>
          <a:xfrm>
            <a:off x="502920" y="1280160"/>
            <a:ext cx="3611880" cy="5212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80160"/>
            <a:ext cx="3611880" cy="54864"/>
          </a:xfrm>
          <a:prstGeom prst="rect">
            <a:avLst/>
          </a:prstGeom>
          <a:solidFill>
            <a:srgbClr val="BA3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417320"/>
            <a:ext cx="3200400" cy="320040"/>
          </a:xfrm>
          <a:prstGeom prst="rect">
            <a:avLst/>
          </a:prstGeom>
          <a:noFill/>
        </p:spPr>
        <p:txBody>
          <a:bodyPr wrap="square">
            <a:spAutoFit/>
          </a:bodyPr>
          <a:lstStyle/>
          <a:p>
            <a:pPr algn="l"/>
            <a:r>
              <a:rPr sz="950" b="1">
                <a:solidFill>
                  <a:srgbClr val="BA3C3C"/>
                </a:solidFill>
                <a:latin typeface="Pretendard"/>
              </a:rPr>
              <a:t>BANNED WORDS</a:t>
            </a:r>
          </a:p>
        </p:txBody>
      </p:sp>
      <p:sp>
        <p:nvSpPr>
          <p:cNvPr id="9" name="TextBox 8"/>
          <p:cNvSpPr txBox="1"/>
          <p:nvPr/>
        </p:nvSpPr>
        <p:spPr>
          <a:xfrm>
            <a:off x="731520" y="1874519"/>
            <a:ext cx="274320" cy="320040"/>
          </a:xfrm>
          <a:prstGeom prst="rect">
            <a:avLst/>
          </a:prstGeom>
          <a:noFill/>
        </p:spPr>
        <p:txBody>
          <a:bodyPr wrap="square">
            <a:spAutoFit/>
          </a:bodyPr>
          <a:lstStyle/>
          <a:p>
            <a:pPr algn="l"/>
            <a:r>
              <a:rPr sz="1200" b="1">
                <a:solidFill>
                  <a:srgbClr val="BA3C3C"/>
                </a:solidFill>
                <a:latin typeface="Pretendard"/>
              </a:rPr>
              <a:t>×</a:t>
            </a:r>
          </a:p>
        </p:txBody>
      </p:sp>
      <p:sp>
        <p:nvSpPr>
          <p:cNvPr id="10" name="TextBox 9"/>
          <p:cNvSpPr txBox="1"/>
          <p:nvPr/>
        </p:nvSpPr>
        <p:spPr>
          <a:xfrm>
            <a:off x="1051560" y="1874519"/>
            <a:ext cx="2880360" cy="685800"/>
          </a:xfrm>
          <a:prstGeom prst="rect">
            <a:avLst/>
          </a:prstGeom>
          <a:noFill/>
        </p:spPr>
        <p:txBody>
          <a:bodyPr wrap="square">
            <a:spAutoFit/>
          </a:bodyPr>
          <a:lstStyle/>
          <a:p>
            <a:pPr algn="l"/>
            <a:r>
              <a:rPr sz="950" b="0">
                <a:solidFill>
                  <a:srgbClr val="0A0A0A"/>
                </a:solidFill>
                <a:latin typeface="Pretendard"/>
              </a:rPr>
              <a:t>Revolutionary, game-changing, effortless</a:t>
            </a:r>
          </a:p>
        </p:txBody>
      </p:sp>
      <p:sp>
        <p:nvSpPr>
          <p:cNvPr id="11" name="TextBox 10"/>
          <p:cNvSpPr txBox="1"/>
          <p:nvPr/>
        </p:nvSpPr>
        <p:spPr>
          <a:xfrm>
            <a:off x="731520" y="2633472"/>
            <a:ext cx="274320" cy="320040"/>
          </a:xfrm>
          <a:prstGeom prst="rect">
            <a:avLst/>
          </a:prstGeom>
          <a:noFill/>
        </p:spPr>
        <p:txBody>
          <a:bodyPr wrap="square">
            <a:spAutoFit/>
          </a:bodyPr>
          <a:lstStyle/>
          <a:p>
            <a:pPr algn="l"/>
            <a:r>
              <a:rPr sz="1200" b="1">
                <a:solidFill>
                  <a:srgbClr val="BA3C3C"/>
                </a:solidFill>
                <a:latin typeface="Pretendard"/>
              </a:rPr>
              <a:t>×</a:t>
            </a:r>
          </a:p>
        </p:txBody>
      </p:sp>
      <p:sp>
        <p:nvSpPr>
          <p:cNvPr id="12" name="TextBox 11"/>
          <p:cNvSpPr txBox="1"/>
          <p:nvPr/>
        </p:nvSpPr>
        <p:spPr>
          <a:xfrm>
            <a:off x="1051560" y="2633472"/>
            <a:ext cx="2880360" cy="685800"/>
          </a:xfrm>
          <a:prstGeom prst="rect">
            <a:avLst/>
          </a:prstGeom>
          <a:noFill/>
        </p:spPr>
        <p:txBody>
          <a:bodyPr wrap="square">
            <a:spAutoFit/>
          </a:bodyPr>
          <a:lstStyle/>
          <a:p>
            <a:pPr algn="l"/>
            <a:r>
              <a:rPr sz="950" b="0">
                <a:solidFill>
                  <a:srgbClr val="0A0A0A"/>
                </a:solidFill>
                <a:latin typeface="Pretendard"/>
              </a:rPr>
              <a:t>Unlock your potential, empower your team</a:t>
            </a:r>
          </a:p>
        </p:txBody>
      </p:sp>
      <p:sp>
        <p:nvSpPr>
          <p:cNvPr id="13" name="TextBox 12"/>
          <p:cNvSpPr txBox="1"/>
          <p:nvPr/>
        </p:nvSpPr>
        <p:spPr>
          <a:xfrm>
            <a:off x="731520" y="3392424"/>
            <a:ext cx="274320" cy="320040"/>
          </a:xfrm>
          <a:prstGeom prst="rect">
            <a:avLst/>
          </a:prstGeom>
          <a:noFill/>
        </p:spPr>
        <p:txBody>
          <a:bodyPr wrap="square">
            <a:spAutoFit/>
          </a:bodyPr>
          <a:lstStyle/>
          <a:p>
            <a:pPr algn="l"/>
            <a:r>
              <a:rPr sz="1200" b="1">
                <a:solidFill>
                  <a:srgbClr val="BA3C3C"/>
                </a:solidFill>
                <a:latin typeface="Pretendard"/>
              </a:rPr>
              <a:t>×</a:t>
            </a:r>
          </a:p>
        </p:txBody>
      </p:sp>
      <p:sp>
        <p:nvSpPr>
          <p:cNvPr id="14" name="TextBox 13"/>
          <p:cNvSpPr txBox="1"/>
          <p:nvPr/>
        </p:nvSpPr>
        <p:spPr>
          <a:xfrm>
            <a:off x="1051560" y="3392424"/>
            <a:ext cx="2880360" cy="685800"/>
          </a:xfrm>
          <a:prstGeom prst="rect">
            <a:avLst/>
          </a:prstGeom>
          <a:noFill/>
        </p:spPr>
        <p:txBody>
          <a:bodyPr wrap="square">
            <a:spAutoFit/>
          </a:bodyPr>
          <a:lstStyle/>
          <a:p>
            <a:pPr algn="l"/>
            <a:r>
              <a:rPr sz="950" b="0">
                <a:solidFill>
                  <a:srgbClr val="0A0A0A"/>
                </a:solidFill>
                <a:latin typeface="Pretendard"/>
              </a:rPr>
              <a:t>"AI-powered" (everything is AI-powered)</a:t>
            </a:r>
          </a:p>
        </p:txBody>
      </p:sp>
      <p:sp>
        <p:nvSpPr>
          <p:cNvPr id="15" name="TextBox 14"/>
          <p:cNvSpPr txBox="1"/>
          <p:nvPr/>
        </p:nvSpPr>
        <p:spPr>
          <a:xfrm>
            <a:off x="731520" y="4151375"/>
            <a:ext cx="274320" cy="320040"/>
          </a:xfrm>
          <a:prstGeom prst="rect">
            <a:avLst/>
          </a:prstGeom>
          <a:noFill/>
        </p:spPr>
        <p:txBody>
          <a:bodyPr wrap="square">
            <a:spAutoFit/>
          </a:bodyPr>
          <a:lstStyle/>
          <a:p>
            <a:pPr algn="l"/>
            <a:r>
              <a:rPr sz="1200" b="1">
                <a:solidFill>
                  <a:srgbClr val="BA3C3C"/>
                </a:solidFill>
                <a:latin typeface="Pretendard"/>
              </a:rPr>
              <a:t>×</a:t>
            </a:r>
          </a:p>
        </p:txBody>
      </p:sp>
      <p:sp>
        <p:nvSpPr>
          <p:cNvPr id="16" name="TextBox 15"/>
          <p:cNvSpPr txBox="1"/>
          <p:nvPr/>
        </p:nvSpPr>
        <p:spPr>
          <a:xfrm>
            <a:off x="1051560" y="4151375"/>
            <a:ext cx="2880360" cy="685800"/>
          </a:xfrm>
          <a:prstGeom prst="rect">
            <a:avLst/>
          </a:prstGeom>
          <a:noFill/>
        </p:spPr>
        <p:txBody>
          <a:bodyPr wrap="square">
            <a:spAutoFit/>
          </a:bodyPr>
          <a:lstStyle/>
          <a:p>
            <a:pPr algn="l"/>
            <a:r>
              <a:rPr sz="950" b="0">
                <a:solidFill>
                  <a:srgbClr val="0A0A0A"/>
                </a:solidFill>
                <a:latin typeface="Pretendard"/>
              </a:rPr>
              <a:t>"The future of work"</a:t>
            </a:r>
          </a:p>
        </p:txBody>
      </p:sp>
      <p:sp>
        <p:nvSpPr>
          <p:cNvPr id="17" name="TextBox 16"/>
          <p:cNvSpPr txBox="1"/>
          <p:nvPr/>
        </p:nvSpPr>
        <p:spPr>
          <a:xfrm>
            <a:off x="731520" y="4910327"/>
            <a:ext cx="274320" cy="320040"/>
          </a:xfrm>
          <a:prstGeom prst="rect">
            <a:avLst/>
          </a:prstGeom>
          <a:noFill/>
        </p:spPr>
        <p:txBody>
          <a:bodyPr wrap="square">
            <a:spAutoFit/>
          </a:bodyPr>
          <a:lstStyle/>
          <a:p>
            <a:pPr algn="l"/>
            <a:r>
              <a:rPr sz="1200" b="1">
                <a:solidFill>
                  <a:srgbClr val="BA3C3C"/>
                </a:solidFill>
                <a:latin typeface="Pretendard"/>
              </a:rPr>
              <a:t>×</a:t>
            </a:r>
          </a:p>
        </p:txBody>
      </p:sp>
      <p:sp>
        <p:nvSpPr>
          <p:cNvPr id="18" name="TextBox 17"/>
          <p:cNvSpPr txBox="1"/>
          <p:nvPr/>
        </p:nvSpPr>
        <p:spPr>
          <a:xfrm>
            <a:off x="1051560" y="4910327"/>
            <a:ext cx="2880360" cy="685800"/>
          </a:xfrm>
          <a:prstGeom prst="rect">
            <a:avLst/>
          </a:prstGeom>
          <a:noFill/>
        </p:spPr>
        <p:txBody>
          <a:bodyPr wrap="square">
            <a:spAutoFit/>
          </a:bodyPr>
          <a:lstStyle/>
          <a:p>
            <a:pPr algn="l"/>
            <a:r>
              <a:rPr sz="950" b="0">
                <a:solidFill>
                  <a:srgbClr val="0A0A0A"/>
                </a:solidFill>
                <a:latin typeface="Pretendard"/>
              </a:rPr>
              <a:t>"We're excited to announce"</a:t>
            </a:r>
          </a:p>
        </p:txBody>
      </p:sp>
      <p:sp>
        <p:nvSpPr>
          <p:cNvPr id="19" name="TextBox 18"/>
          <p:cNvSpPr txBox="1"/>
          <p:nvPr/>
        </p:nvSpPr>
        <p:spPr>
          <a:xfrm>
            <a:off x="731520" y="5669279"/>
            <a:ext cx="274320" cy="320040"/>
          </a:xfrm>
          <a:prstGeom prst="rect">
            <a:avLst/>
          </a:prstGeom>
          <a:noFill/>
        </p:spPr>
        <p:txBody>
          <a:bodyPr wrap="square">
            <a:spAutoFit/>
          </a:bodyPr>
          <a:lstStyle/>
          <a:p>
            <a:pPr algn="l"/>
            <a:r>
              <a:rPr sz="1200" b="1">
                <a:solidFill>
                  <a:srgbClr val="BA3C3C"/>
                </a:solidFill>
                <a:latin typeface="Pretendard"/>
              </a:rPr>
              <a:t>×</a:t>
            </a:r>
          </a:p>
        </p:txBody>
      </p:sp>
      <p:sp>
        <p:nvSpPr>
          <p:cNvPr id="20" name="TextBox 19"/>
          <p:cNvSpPr txBox="1"/>
          <p:nvPr/>
        </p:nvSpPr>
        <p:spPr>
          <a:xfrm>
            <a:off x="1051560" y="5669279"/>
            <a:ext cx="2880360" cy="685800"/>
          </a:xfrm>
          <a:prstGeom prst="rect">
            <a:avLst/>
          </a:prstGeom>
          <a:noFill/>
        </p:spPr>
        <p:txBody>
          <a:bodyPr wrap="square">
            <a:spAutoFit/>
          </a:bodyPr>
          <a:lstStyle/>
          <a:p>
            <a:pPr algn="l"/>
            <a:r>
              <a:rPr sz="950" b="0">
                <a:solidFill>
                  <a:srgbClr val="0A0A0A"/>
                </a:solidFill>
                <a:latin typeface="Pretendard"/>
              </a:rPr>
              <a:t>"Industry-leading" and other unverifiable superlatives</a:t>
            </a:r>
          </a:p>
        </p:txBody>
      </p:sp>
      <p:sp>
        <p:nvSpPr>
          <p:cNvPr id="21" name="Rectangle 20"/>
          <p:cNvSpPr/>
          <p:nvPr/>
        </p:nvSpPr>
        <p:spPr>
          <a:xfrm>
            <a:off x="4407407" y="1280160"/>
            <a:ext cx="3611880" cy="5212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07407" y="1280160"/>
            <a:ext cx="3611880" cy="54864"/>
          </a:xfrm>
          <a:prstGeom prst="rect">
            <a:avLst/>
          </a:prstGeom>
          <a:solidFill>
            <a:srgbClr val="BA3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36007" y="1417320"/>
            <a:ext cx="3200400" cy="320040"/>
          </a:xfrm>
          <a:prstGeom prst="rect">
            <a:avLst/>
          </a:prstGeom>
          <a:noFill/>
        </p:spPr>
        <p:txBody>
          <a:bodyPr wrap="square">
            <a:spAutoFit/>
          </a:bodyPr>
          <a:lstStyle/>
          <a:p>
            <a:pPr algn="l"/>
            <a:r>
              <a:rPr sz="950" b="1">
                <a:solidFill>
                  <a:srgbClr val="BA3C3C"/>
                </a:solidFill>
                <a:latin typeface="Pretendard"/>
              </a:rPr>
              <a:t>BANNED STRUCTURES</a:t>
            </a:r>
          </a:p>
        </p:txBody>
      </p:sp>
      <p:sp>
        <p:nvSpPr>
          <p:cNvPr id="24" name="TextBox 23"/>
          <p:cNvSpPr txBox="1"/>
          <p:nvPr/>
        </p:nvSpPr>
        <p:spPr>
          <a:xfrm>
            <a:off x="4636007" y="1874519"/>
            <a:ext cx="274320" cy="320040"/>
          </a:xfrm>
          <a:prstGeom prst="rect">
            <a:avLst/>
          </a:prstGeom>
          <a:noFill/>
        </p:spPr>
        <p:txBody>
          <a:bodyPr wrap="square">
            <a:spAutoFit/>
          </a:bodyPr>
          <a:lstStyle/>
          <a:p>
            <a:pPr algn="l"/>
            <a:r>
              <a:rPr sz="1200" b="1">
                <a:solidFill>
                  <a:srgbClr val="BA3C3C"/>
                </a:solidFill>
                <a:latin typeface="Pretendard"/>
              </a:rPr>
              <a:t>×</a:t>
            </a:r>
          </a:p>
        </p:txBody>
      </p:sp>
      <p:sp>
        <p:nvSpPr>
          <p:cNvPr id="25" name="TextBox 24"/>
          <p:cNvSpPr txBox="1"/>
          <p:nvPr/>
        </p:nvSpPr>
        <p:spPr>
          <a:xfrm>
            <a:off x="4956047" y="1874519"/>
            <a:ext cx="2880360" cy="685800"/>
          </a:xfrm>
          <a:prstGeom prst="rect">
            <a:avLst/>
          </a:prstGeom>
          <a:noFill/>
        </p:spPr>
        <p:txBody>
          <a:bodyPr wrap="square">
            <a:spAutoFit/>
          </a:bodyPr>
          <a:lstStyle/>
          <a:p>
            <a:pPr algn="l"/>
            <a:r>
              <a:rPr sz="950" b="0">
                <a:solidFill>
                  <a:srgbClr val="0A0A0A"/>
                </a:solidFill>
                <a:latin typeface="Pretendard"/>
              </a:rPr>
              <a:t>Em dashes anywhere in copy</a:t>
            </a:r>
          </a:p>
        </p:txBody>
      </p:sp>
      <p:sp>
        <p:nvSpPr>
          <p:cNvPr id="26" name="TextBox 25"/>
          <p:cNvSpPr txBox="1"/>
          <p:nvPr/>
        </p:nvSpPr>
        <p:spPr>
          <a:xfrm>
            <a:off x="4636007" y="2633472"/>
            <a:ext cx="274320" cy="320040"/>
          </a:xfrm>
          <a:prstGeom prst="rect">
            <a:avLst/>
          </a:prstGeom>
          <a:noFill/>
        </p:spPr>
        <p:txBody>
          <a:bodyPr wrap="square">
            <a:spAutoFit/>
          </a:bodyPr>
          <a:lstStyle/>
          <a:p>
            <a:pPr algn="l"/>
            <a:r>
              <a:rPr sz="1200" b="1">
                <a:solidFill>
                  <a:srgbClr val="BA3C3C"/>
                </a:solidFill>
                <a:latin typeface="Pretendard"/>
              </a:rPr>
              <a:t>×</a:t>
            </a:r>
          </a:p>
        </p:txBody>
      </p:sp>
      <p:sp>
        <p:nvSpPr>
          <p:cNvPr id="27" name="TextBox 26"/>
          <p:cNvSpPr txBox="1"/>
          <p:nvPr/>
        </p:nvSpPr>
        <p:spPr>
          <a:xfrm>
            <a:off x="4956047" y="2633472"/>
            <a:ext cx="2880360" cy="685800"/>
          </a:xfrm>
          <a:prstGeom prst="rect">
            <a:avLst/>
          </a:prstGeom>
          <a:noFill/>
        </p:spPr>
        <p:txBody>
          <a:bodyPr wrap="square">
            <a:spAutoFit/>
          </a:bodyPr>
          <a:lstStyle/>
          <a:p>
            <a:pPr algn="l"/>
            <a:r>
              <a:rPr sz="950" b="0">
                <a:solidFill>
                  <a:srgbClr val="0A0A0A"/>
                </a:solidFill>
                <a:latin typeface="Pretendard"/>
              </a:rPr>
              <a:t>Rhetorical hooks: "What if your AI could..."</a:t>
            </a:r>
          </a:p>
        </p:txBody>
      </p:sp>
      <p:sp>
        <p:nvSpPr>
          <p:cNvPr id="28" name="TextBox 27"/>
          <p:cNvSpPr txBox="1"/>
          <p:nvPr/>
        </p:nvSpPr>
        <p:spPr>
          <a:xfrm>
            <a:off x="4636007" y="3392424"/>
            <a:ext cx="274320" cy="320040"/>
          </a:xfrm>
          <a:prstGeom prst="rect">
            <a:avLst/>
          </a:prstGeom>
          <a:noFill/>
        </p:spPr>
        <p:txBody>
          <a:bodyPr wrap="square">
            <a:spAutoFit/>
          </a:bodyPr>
          <a:lstStyle/>
          <a:p>
            <a:pPr algn="l"/>
            <a:r>
              <a:rPr sz="1200" b="1">
                <a:solidFill>
                  <a:srgbClr val="BA3C3C"/>
                </a:solidFill>
                <a:latin typeface="Pretendard"/>
              </a:rPr>
              <a:t>×</a:t>
            </a:r>
          </a:p>
        </p:txBody>
      </p:sp>
      <p:sp>
        <p:nvSpPr>
          <p:cNvPr id="29" name="TextBox 28"/>
          <p:cNvSpPr txBox="1"/>
          <p:nvPr/>
        </p:nvSpPr>
        <p:spPr>
          <a:xfrm>
            <a:off x="4956047" y="3392424"/>
            <a:ext cx="2880360" cy="685800"/>
          </a:xfrm>
          <a:prstGeom prst="rect">
            <a:avLst/>
          </a:prstGeom>
          <a:noFill/>
        </p:spPr>
        <p:txBody>
          <a:bodyPr wrap="square">
            <a:spAutoFit/>
          </a:bodyPr>
          <a:lstStyle/>
          <a:p>
            <a:pPr algn="l"/>
            <a:r>
              <a:rPr sz="950" b="0">
                <a:solidFill>
                  <a:srgbClr val="0A0A0A"/>
                </a:solidFill>
                <a:latin typeface="Pretendard"/>
              </a:rPr>
              <a:t>Fragment staccato: "Faster. Smarter. Better."</a:t>
            </a:r>
          </a:p>
        </p:txBody>
      </p:sp>
      <p:sp>
        <p:nvSpPr>
          <p:cNvPr id="30" name="TextBox 29"/>
          <p:cNvSpPr txBox="1"/>
          <p:nvPr/>
        </p:nvSpPr>
        <p:spPr>
          <a:xfrm>
            <a:off x="4636007" y="4151375"/>
            <a:ext cx="274320" cy="320040"/>
          </a:xfrm>
          <a:prstGeom prst="rect">
            <a:avLst/>
          </a:prstGeom>
          <a:noFill/>
        </p:spPr>
        <p:txBody>
          <a:bodyPr wrap="square">
            <a:spAutoFit/>
          </a:bodyPr>
          <a:lstStyle/>
          <a:p>
            <a:pPr algn="l"/>
            <a:r>
              <a:rPr sz="1200" b="1">
                <a:solidFill>
                  <a:srgbClr val="BA3C3C"/>
                </a:solidFill>
                <a:latin typeface="Pretendard"/>
              </a:rPr>
              <a:t>×</a:t>
            </a:r>
          </a:p>
        </p:txBody>
      </p:sp>
      <p:sp>
        <p:nvSpPr>
          <p:cNvPr id="31" name="TextBox 30"/>
          <p:cNvSpPr txBox="1"/>
          <p:nvPr/>
        </p:nvSpPr>
        <p:spPr>
          <a:xfrm>
            <a:off x="4956047" y="4151375"/>
            <a:ext cx="2880360" cy="685800"/>
          </a:xfrm>
          <a:prstGeom prst="rect">
            <a:avLst/>
          </a:prstGeom>
          <a:noFill/>
        </p:spPr>
        <p:txBody>
          <a:bodyPr wrap="square">
            <a:spAutoFit/>
          </a:bodyPr>
          <a:lstStyle/>
          <a:p>
            <a:pPr algn="l"/>
            <a:r>
              <a:rPr sz="950" b="0">
                <a:solidFill>
                  <a:srgbClr val="0A0A0A"/>
                </a:solidFill>
                <a:latin typeface="Pretendard"/>
              </a:rPr>
              <a:t>The "not X, but Y" construction</a:t>
            </a:r>
          </a:p>
        </p:txBody>
      </p:sp>
      <p:sp>
        <p:nvSpPr>
          <p:cNvPr id="32" name="TextBox 31"/>
          <p:cNvSpPr txBox="1"/>
          <p:nvPr/>
        </p:nvSpPr>
        <p:spPr>
          <a:xfrm>
            <a:off x="4636007" y="4910327"/>
            <a:ext cx="274320" cy="320040"/>
          </a:xfrm>
          <a:prstGeom prst="rect">
            <a:avLst/>
          </a:prstGeom>
          <a:noFill/>
        </p:spPr>
        <p:txBody>
          <a:bodyPr wrap="square">
            <a:spAutoFit/>
          </a:bodyPr>
          <a:lstStyle/>
          <a:p>
            <a:pPr algn="l"/>
            <a:r>
              <a:rPr sz="1200" b="1">
                <a:solidFill>
                  <a:srgbClr val="BA3C3C"/>
                </a:solidFill>
                <a:latin typeface="Pretendard"/>
              </a:rPr>
              <a:t>×</a:t>
            </a:r>
          </a:p>
        </p:txBody>
      </p:sp>
      <p:sp>
        <p:nvSpPr>
          <p:cNvPr id="33" name="TextBox 32"/>
          <p:cNvSpPr txBox="1"/>
          <p:nvPr/>
        </p:nvSpPr>
        <p:spPr>
          <a:xfrm>
            <a:off x="4956047" y="4910327"/>
            <a:ext cx="2880360" cy="685800"/>
          </a:xfrm>
          <a:prstGeom prst="rect">
            <a:avLst/>
          </a:prstGeom>
          <a:noFill/>
        </p:spPr>
        <p:txBody>
          <a:bodyPr wrap="square">
            <a:spAutoFit/>
          </a:bodyPr>
          <a:lstStyle/>
          <a:p>
            <a:pPr algn="l"/>
            <a:r>
              <a:rPr sz="950" b="0">
                <a:solidFill>
                  <a:srgbClr val="0A0A0A"/>
                </a:solidFill>
                <a:latin typeface="Pretendard"/>
              </a:rPr>
              <a:t>Aphoristic closers: "That's the future we're building."</a:t>
            </a:r>
          </a:p>
        </p:txBody>
      </p:sp>
      <p:sp>
        <p:nvSpPr>
          <p:cNvPr id="34" name="TextBox 33"/>
          <p:cNvSpPr txBox="1"/>
          <p:nvPr/>
        </p:nvSpPr>
        <p:spPr>
          <a:xfrm>
            <a:off x="4636007" y="5669279"/>
            <a:ext cx="274320" cy="320040"/>
          </a:xfrm>
          <a:prstGeom prst="rect">
            <a:avLst/>
          </a:prstGeom>
          <a:noFill/>
        </p:spPr>
        <p:txBody>
          <a:bodyPr wrap="square">
            <a:spAutoFit/>
          </a:bodyPr>
          <a:lstStyle/>
          <a:p>
            <a:pPr algn="l"/>
            <a:r>
              <a:rPr sz="1200" b="1">
                <a:solidFill>
                  <a:srgbClr val="BA3C3C"/>
                </a:solidFill>
                <a:latin typeface="Pretendard"/>
              </a:rPr>
              <a:t>×</a:t>
            </a:r>
          </a:p>
        </p:txBody>
      </p:sp>
      <p:sp>
        <p:nvSpPr>
          <p:cNvPr id="35" name="TextBox 34"/>
          <p:cNvSpPr txBox="1"/>
          <p:nvPr/>
        </p:nvSpPr>
        <p:spPr>
          <a:xfrm>
            <a:off x="4956047" y="5669279"/>
            <a:ext cx="2880360" cy="685800"/>
          </a:xfrm>
          <a:prstGeom prst="rect">
            <a:avLst/>
          </a:prstGeom>
          <a:noFill/>
        </p:spPr>
        <p:txBody>
          <a:bodyPr wrap="square">
            <a:spAutoFit/>
          </a:bodyPr>
          <a:lstStyle/>
          <a:p>
            <a:pPr algn="l"/>
            <a:r>
              <a:rPr sz="950" b="0">
                <a:solidFill>
                  <a:srgbClr val="0A0A0A"/>
                </a:solidFill>
                <a:latin typeface="Pretendard"/>
              </a:rPr>
              <a:t>Ending posts with "What do you think?"</a:t>
            </a:r>
          </a:p>
        </p:txBody>
      </p:sp>
      <p:sp>
        <p:nvSpPr>
          <p:cNvPr id="36" name="Rectangle 35"/>
          <p:cNvSpPr/>
          <p:nvPr/>
        </p:nvSpPr>
        <p:spPr>
          <a:xfrm>
            <a:off x="8311896" y="1280160"/>
            <a:ext cx="3611880" cy="5212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311896" y="1280160"/>
            <a:ext cx="3611880" cy="54864"/>
          </a:xfrm>
          <a:prstGeom prst="rect">
            <a:avLst/>
          </a:prstGeom>
          <a:solidFill>
            <a:srgbClr val="BA3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40496" y="1417320"/>
            <a:ext cx="3200400" cy="320040"/>
          </a:xfrm>
          <a:prstGeom prst="rect">
            <a:avLst/>
          </a:prstGeom>
          <a:noFill/>
        </p:spPr>
        <p:txBody>
          <a:bodyPr wrap="square">
            <a:spAutoFit/>
          </a:bodyPr>
          <a:lstStyle/>
          <a:p>
            <a:pPr algn="l"/>
            <a:r>
              <a:rPr sz="950" b="1">
                <a:solidFill>
                  <a:srgbClr val="BA3C3C"/>
                </a:solidFill>
                <a:latin typeface="Pretendard"/>
              </a:rPr>
              <a:t>BANNED CLAIMS</a:t>
            </a:r>
          </a:p>
        </p:txBody>
      </p:sp>
      <p:sp>
        <p:nvSpPr>
          <p:cNvPr id="39" name="TextBox 38"/>
          <p:cNvSpPr txBox="1"/>
          <p:nvPr/>
        </p:nvSpPr>
        <p:spPr>
          <a:xfrm>
            <a:off x="8540496" y="1874519"/>
            <a:ext cx="274320" cy="320040"/>
          </a:xfrm>
          <a:prstGeom prst="rect">
            <a:avLst/>
          </a:prstGeom>
          <a:noFill/>
        </p:spPr>
        <p:txBody>
          <a:bodyPr wrap="square">
            <a:spAutoFit/>
          </a:bodyPr>
          <a:lstStyle/>
          <a:p>
            <a:pPr algn="l"/>
            <a:r>
              <a:rPr sz="1200" b="1">
                <a:solidFill>
                  <a:srgbClr val="BA3C3C"/>
                </a:solidFill>
                <a:latin typeface="Pretendard"/>
              </a:rPr>
              <a:t>×</a:t>
            </a:r>
          </a:p>
        </p:txBody>
      </p:sp>
      <p:sp>
        <p:nvSpPr>
          <p:cNvPr id="40" name="TextBox 39"/>
          <p:cNvSpPr txBox="1"/>
          <p:nvPr/>
        </p:nvSpPr>
        <p:spPr>
          <a:xfrm>
            <a:off x="8860536" y="1874519"/>
            <a:ext cx="2880360" cy="685800"/>
          </a:xfrm>
          <a:prstGeom prst="rect">
            <a:avLst/>
          </a:prstGeom>
          <a:noFill/>
        </p:spPr>
        <p:txBody>
          <a:bodyPr wrap="square">
            <a:spAutoFit/>
          </a:bodyPr>
          <a:lstStyle/>
          <a:p>
            <a:pPr algn="l"/>
            <a:r>
              <a:rPr sz="950" b="0">
                <a:solidFill>
                  <a:srgbClr val="0A0A0A"/>
                </a:solidFill>
                <a:latin typeface="Pretendard"/>
              </a:rPr>
              <a:t>"Swiss jurisdiction" for customer-VPC deployments</a:t>
            </a:r>
          </a:p>
        </p:txBody>
      </p:sp>
      <p:sp>
        <p:nvSpPr>
          <p:cNvPr id="41" name="TextBox 40"/>
          <p:cNvSpPr txBox="1"/>
          <p:nvPr/>
        </p:nvSpPr>
        <p:spPr>
          <a:xfrm>
            <a:off x="8540496" y="2633472"/>
            <a:ext cx="274320" cy="320040"/>
          </a:xfrm>
          <a:prstGeom prst="rect">
            <a:avLst/>
          </a:prstGeom>
          <a:noFill/>
        </p:spPr>
        <p:txBody>
          <a:bodyPr wrap="square">
            <a:spAutoFit/>
          </a:bodyPr>
          <a:lstStyle/>
          <a:p>
            <a:pPr algn="l"/>
            <a:r>
              <a:rPr sz="1200" b="1">
                <a:solidFill>
                  <a:srgbClr val="BA3C3C"/>
                </a:solidFill>
                <a:latin typeface="Pretendard"/>
              </a:rPr>
              <a:t>×</a:t>
            </a:r>
          </a:p>
        </p:txBody>
      </p:sp>
      <p:sp>
        <p:nvSpPr>
          <p:cNvPr id="42" name="TextBox 41"/>
          <p:cNvSpPr txBox="1"/>
          <p:nvPr/>
        </p:nvSpPr>
        <p:spPr>
          <a:xfrm>
            <a:off x="8860536" y="2633472"/>
            <a:ext cx="2880360" cy="685800"/>
          </a:xfrm>
          <a:prstGeom prst="rect">
            <a:avLst/>
          </a:prstGeom>
          <a:noFill/>
        </p:spPr>
        <p:txBody>
          <a:bodyPr wrap="square">
            <a:spAutoFit/>
          </a:bodyPr>
          <a:lstStyle/>
          <a:p>
            <a:pPr algn="l"/>
            <a:r>
              <a:rPr sz="950" b="0">
                <a:solidFill>
                  <a:srgbClr val="0A0A0A"/>
                </a:solidFill>
                <a:latin typeface="Pretendard"/>
              </a:rPr>
              <a:t>"Privacy-first" as the lead positioning claim</a:t>
            </a:r>
          </a:p>
        </p:txBody>
      </p:sp>
      <p:sp>
        <p:nvSpPr>
          <p:cNvPr id="43" name="TextBox 42"/>
          <p:cNvSpPr txBox="1"/>
          <p:nvPr/>
        </p:nvSpPr>
        <p:spPr>
          <a:xfrm>
            <a:off x="8540496" y="3392424"/>
            <a:ext cx="274320" cy="320040"/>
          </a:xfrm>
          <a:prstGeom prst="rect">
            <a:avLst/>
          </a:prstGeom>
          <a:noFill/>
        </p:spPr>
        <p:txBody>
          <a:bodyPr wrap="square">
            <a:spAutoFit/>
          </a:bodyPr>
          <a:lstStyle/>
          <a:p>
            <a:pPr algn="l"/>
            <a:r>
              <a:rPr sz="1200" b="1">
                <a:solidFill>
                  <a:srgbClr val="BA3C3C"/>
                </a:solidFill>
                <a:latin typeface="Pretendard"/>
              </a:rPr>
              <a:t>×</a:t>
            </a:r>
          </a:p>
        </p:txBody>
      </p:sp>
      <p:sp>
        <p:nvSpPr>
          <p:cNvPr id="44" name="TextBox 43"/>
          <p:cNvSpPr txBox="1"/>
          <p:nvPr/>
        </p:nvSpPr>
        <p:spPr>
          <a:xfrm>
            <a:off x="8860536" y="3392424"/>
            <a:ext cx="2880360" cy="685800"/>
          </a:xfrm>
          <a:prstGeom prst="rect">
            <a:avLst/>
          </a:prstGeom>
          <a:noFill/>
        </p:spPr>
        <p:txBody>
          <a:bodyPr wrap="square">
            <a:spAutoFit/>
          </a:bodyPr>
          <a:lstStyle/>
          <a:p>
            <a:pPr algn="l"/>
            <a:r>
              <a:rPr sz="950" b="0">
                <a:solidFill>
                  <a:srgbClr val="0A0A0A"/>
                </a:solidFill>
                <a:latin typeface="Pretendard"/>
              </a:rPr>
              <a:t>Any accuracy figure without a named source</a:t>
            </a:r>
          </a:p>
        </p:txBody>
      </p:sp>
      <p:sp>
        <p:nvSpPr>
          <p:cNvPr id="45" name="TextBox 44"/>
          <p:cNvSpPr txBox="1"/>
          <p:nvPr/>
        </p:nvSpPr>
        <p:spPr>
          <a:xfrm>
            <a:off x="8540496" y="4151375"/>
            <a:ext cx="274320" cy="320040"/>
          </a:xfrm>
          <a:prstGeom prst="rect">
            <a:avLst/>
          </a:prstGeom>
          <a:noFill/>
        </p:spPr>
        <p:txBody>
          <a:bodyPr wrap="square">
            <a:spAutoFit/>
          </a:bodyPr>
          <a:lstStyle/>
          <a:p>
            <a:pPr algn="l"/>
            <a:r>
              <a:rPr sz="1200" b="1">
                <a:solidFill>
                  <a:srgbClr val="BA3C3C"/>
                </a:solidFill>
                <a:latin typeface="Pretendard"/>
              </a:rPr>
              <a:t>×</a:t>
            </a:r>
          </a:p>
        </p:txBody>
      </p:sp>
      <p:sp>
        <p:nvSpPr>
          <p:cNvPr id="46" name="TextBox 45"/>
          <p:cNvSpPr txBox="1"/>
          <p:nvPr/>
        </p:nvSpPr>
        <p:spPr>
          <a:xfrm>
            <a:off x="8860536" y="4151375"/>
            <a:ext cx="2880360" cy="685800"/>
          </a:xfrm>
          <a:prstGeom prst="rect">
            <a:avLst/>
          </a:prstGeom>
          <a:noFill/>
        </p:spPr>
        <p:txBody>
          <a:bodyPr wrap="square">
            <a:spAutoFit/>
          </a:bodyPr>
          <a:lstStyle/>
          <a:p>
            <a:pPr algn="l"/>
            <a:r>
              <a:rPr sz="950" b="0">
                <a:solidFill>
                  <a:srgbClr val="0A0A0A"/>
                </a:solidFill>
                <a:latin typeface="Pretendard"/>
              </a:rPr>
              <a:t>Implying competitors are dishonest. Show data instead.</a:t>
            </a:r>
          </a:p>
        </p:txBody>
      </p:sp>
      <p:sp>
        <p:nvSpPr>
          <p:cNvPr id="47" name="TextBox 46"/>
          <p:cNvSpPr txBox="1"/>
          <p:nvPr/>
        </p:nvSpPr>
        <p:spPr>
          <a:xfrm>
            <a:off x="8540496" y="4910327"/>
            <a:ext cx="274320" cy="320040"/>
          </a:xfrm>
          <a:prstGeom prst="rect">
            <a:avLst/>
          </a:prstGeom>
          <a:noFill/>
        </p:spPr>
        <p:txBody>
          <a:bodyPr wrap="square">
            <a:spAutoFit/>
          </a:bodyPr>
          <a:lstStyle/>
          <a:p>
            <a:pPr algn="l"/>
            <a:r>
              <a:rPr sz="1200" b="1">
                <a:solidFill>
                  <a:srgbClr val="BA3C3C"/>
                </a:solidFill>
                <a:latin typeface="Pretendard"/>
              </a:rPr>
              <a:t>×</a:t>
            </a:r>
          </a:p>
        </p:txBody>
      </p:sp>
      <p:sp>
        <p:nvSpPr>
          <p:cNvPr id="48" name="TextBox 47"/>
          <p:cNvSpPr txBox="1"/>
          <p:nvPr/>
        </p:nvSpPr>
        <p:spPr>
          <a:xfrm>
            <a:off x="8860536" y="4910327"/>
            <a:ext cx="2880360" cy="685800"/>
          </a:xfrm>
          <a:prstGeom prst="rect">
            <a:avLst/>
          </a:prstGeom>
          <a:noFill/>
        </p:spPr>
        <p:txBody>
          <a:bodyPr wrap="square">
            <a:spAutoFit/>
          </a:bodyPr>
          <a:lstStyle/>
          <a:p>
            <a:pPr algn="l"/>
            <a:r>
              <a:rPr sz="950" b="0">
                <a:solidFill>
                  <a:srgbClr val="0A0A0A"/>
                </a:solidFill>
                <a:latin typeface="Pretendard"/>
              </a:rPr>
              <a:t>Any certification the company does not currently hold</a:t>
            </a:r>
          </a:p>
        </p:txBody>
      </p:sp>
      <p:sp>
        <p:nvSpPr>
          <p:cNvPr id="49" name="TextBox 48"/>
          <p:cNvSpPr txBox="1"/>
          <p:nvPr/>
        </p:nvSpPr>
        <p:spPr>
          <a:xfrm>
            <a:off x="8540496" y="5669279"/>
            <a:ext cx="274320" cy="320040"/>
          </a:xfrm>
          <a:prstGeom prst="rect">
            <a:avLst/>
          </a:prstGeom>
          <a:noFill/>
        </p:spPr>
        <p:txBody>
          <a:bodyPr wrap="square">
            <a:spAutoFit/>
          </a:bodyPr>
          <a:lstStyle/>
          <a:p>
            <a:pPr algn="l"/>
            <a:r>
              <a:rPr sz="1200" b="1">
                <a:solidFill>
                  <a:srgbClr val="BA3C3C"/>
                </a:solidFill>
                <a:latin typeface="Pretendard"/>
              </a:rPr>
              <a:t>×</a:t>
            </a:r>
          </a:p>
        </p:txBody>
      </p:sp>
      <p:sp>
        <p:nvSpPr>
          <p:cNvPr id="50" name="TextBox 49"/>
          <p:cNvSpPr txBox="1"/>
          <p:nvPr/>
        </p:nvSpPr>
        <p:spPr>
          <a:xfrm>
            <a:off x="8860536" y="5669279"/>
            <a:ext cx="2880360" cy="685800"/>
          </a:xfrm>
          <a:prstGeom prst="rect">
            <a:avLst/>
          </a:prstGeom>
          <a:noFill/>
        </p:spPr>
        <p:txBody>
          <a:bodyPr wrap="square">
            <a:spAutoFit/>
          </a:bodyPr>
          <a:lstStyle/>
          <a:p>
            <a:pPr algn="l"/>
            <a:r>
              <a:rPr sz="950" b="0">
                <a:solidFill>
                  <a:srgbClr val="0A0A0A"/>
                </a:solidFill>
                <a:latin typeface="Pretendard"/>
              </a:rPr>
              <a:t>Statements about our own website or product UI no one has checked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9144000" cy="274320"/>
          </a:xfrm>
          <a:prstGeom prst="rect">
            <a:avLst/>
          </a:prstGeom>
          <a:noFill/>
        </p:spPr>
        <p:txBody>
          <a:bodyPr wrap="square">
            <a:spAutoFit/>
          </a:bodyPr>
          <a:lstStyle/>
          <a:p>
            <a:pPr algn="l"/>
            <a:r>
              <a:rPr sz="900" b="1">
                <a:solidFill>
                  <a:srgbClr val="5B5F63"/>
                </a:solidFill>
                <a:latin typeface="Pretendard"/>
              </a:rPr>
              <a:t>06  VOICE AND TONE  |  IN PRACTICE</a:t>
            </a:r>
          </a:p>
        </p:txBody>
      </p:sp>
      <p:sp>
        <p:nvSpPr>
          <p:cNvPr id="4" name="Rectangle 3"/>
          <p:cNvSpPr/>
          <p:nvPr/>
        </p:nvSpPr>
        <p:spPr>
          <a:xfrm>
            <a:off x="502920" y="713232"/>
            <a:ext cx="11183112" cy="10972"/>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051560"/>
            <a:ext cx="10972800" cy="256032"/>
          </a:xfrm>
          <a:prstGeom prst="rect">
            <a:avLst/>
          </a:prstGeom>
          <a:noFill/>
        </p:spPr>
        <p:txBody>
          <a:bodyPr wrap="square">
            <a:spAutoFit/>
          </a:bodyPr>
          <a:lstStyle/>
          <a:p>
            <a:pPr algn="l"/>
            <a:r>
              <a:rPr sz="800" b="1">
                <a:solidFill>
                  <a:srgbClr val="5B5F63"/>
                </a:solidFill>
                <a:latin typeface="Pretendard"/>
              </a:rPr>
              <a:t>LINKEDIN PRODUCT INTRO</a:t>
            </a:r>
          </a:p>
        </p:txBody>
      </p:sp>
      <p:sp>
        <p:nvSpPr>
          <p:cNvPr id="6" name="Rectangle 5"/>
          <p:cNvSpPr/>
          <p:nvPr/>
        </p:nvSpPr>
        <p:spPr>
          <a:xfrm>
            <a:off x="502920" y="1344168"/>
            <a:ext cx="5486400" cy="1389888"/>
          </a:xfrm>
          <a:prstGeom prst="rect">
            <a:avLst/>
          </a:prstGeom>
          <a:solidFill>
            <a:srgbClr val="FA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435607"/>
            <a:ext cx="914400" cy="228600"/>
          </a:xfrm>
          <a:prstGeom prst="rect">
            <a:avLst/>
          </a:prstGeom>
          <a:noFill/>
        </p:spPr>
        <p:txBody>
          <a:bodyPr wrap="square">
            <a:spAutoFit/>
          </a:bodyPr>
          <a:lstStyle/>
          <a:p>
            <a:pPr algn="l"/>
            <a:r>
              <a:rPr sz="750" b="1">
                <a:solidFill>
                  <a:srgbClr val="BA3C3C"/>
                </a:solidFill>
                <a:latin typeface="Pretendard"/>
              </a:rPr>
              <a:t>DON'T</a:t>
            </a:r>
          </a:p>
        </p:txBody>
      </p:sp>
      <p:sp>
        <p:nvSpPr>
          <p:cNvPr id="8" name="TextBox 7"/>
          <p:cNvSpPr txBox="1"/>
          <p:nvPr/>
        </p:nvSpPr>
        <p:spPr>
          <a:xfrm>
            <a:off x="713232" y="1691639"/>
            <a:ext cx="5074920" cy="960120"/>
          </a:xfrm>
          <a:prstGeom prst="rect">
            <a:avLst/>
          </a:prstGeom>
          <a:noFill/>
        </p:spPr>
        <p:txBody>
          <a:bodyPr wrap="square">
            <a:spAutoFit/>
          </a:bodyPr>
          <a:lstStyle/>
          <a:p>
            <a:pPr algn="l"/>
            <a:r>
              <a:rPr sz="950" b="0">
                <a:solidFill>
                  <a:srgbClr val="0A0A0A"/>
                </a:solidFill>
                <a:latin typeface="Pretendard"/>
              </a:rPr>
              <a:t>Introducing Prem, the revolutionary AI platform that empowers your team to unlock new levels of productivity while keeping data safe.</a:t>
            </a:r>
          </a:p>
        </p:txBody>
      </p:sp>
      <p:sp>
        <p:nvSpPr>
          <p:cNvPr id="9" name="Rectangle 8"/>
          <p:cNvSpPr/>
          <p:nvPr/>
        </p:nvSpPr>
        <p:spPr>
          <a:xfrm>
            <a:off x="6199632" y="1344168"/>
            <a:ext cx="5486400" cy="1389888"/>
          </a:xfrm>
          <a:prstGeom prst="rect">
            <a:avLst/>
          </a:prstGeom>
          <a:solidFill>
            <a:srgbClr val="E9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435607"/>
            <a:ext cx="914400" cy="228600"/>
          </a:xfrm>
          <a:prstGeom prst="rect">
            <a:avLst/>
          </a:prstGeom>
          <a:noFill/>
        </p:spPr>
        <p:txBody>
          <a:bodyPr wrap="square">
            <a:spAutoFit/>
          </a:bodyPr>
          <a:lstStyle/>
          <a:p>
            <a:pPr algn="l"/>
            <a:r>
              <a:rPr sz="750" b="1">
                <a:solidFill>
                  <a:srgbClr val="2E7D50"/>
                </a:solidFill>
                <a:latin typeface="Pretendard"/>
              </a:rPr>
              <a:t>DO</a:t>
            </a:r>
          </a:p>
        </p:txBody>
      </p:sp>
      <p:sp>
        <p:nvSpPr>
          <p:cNvPr id="11" name="TextBox 10"/>
          <p:cNvSpPr txBox="1"/>
          <p:nvPr/>
        </p:nvSpPr>
        <p:spPr>
          <a:xfrm>
            <a:off x="6400800" y="1691639"/>
            <a:ext cx="5074920" cy="960120"/>
          </a:xfrm>
          <a:prstGeom prst="rect">
            <a:avLst/>
          </a:prstGeom>
          <a:noFill/>
        </p:spPr>
        <p:txBody>
          <a:bodyPr wrap="square">
            <a:spAutoFit/>
          </a:bodyPr>
          <a:lstStyle/>
          <a:p>
            <a:pPr algn="l"/>
            <a:r>
              <a:rPr sz="950" b="0">
                <a:solidFill>
                  <a:srgbClr val="0A0A0A"/>
                </a:solidFill>
                <a:latin typeface="Pretendard"/>
              </a:rPr>
              <a:t>Prem runs on your infrastructure. Every inference produces a cryptographic proof via Reticle. Your compliance team can audit what ran, when, and on which model.</a:t>
            </a:r>
          </a:p>
        </p:txBody>
      </p:sp>
      <p:sp>
        <p:nvSpPr>
          <p:cNvPr id="12" name="TextBox 11"/>
          <p:cNvSpPr txBox="1"/>
          <p:nvPr/>
        </p:nvSpPr>
        <p:spPr>
          <a:xfrm>
            <a:off x="502920" y="2880360"/>
            <a:ext cx="10972800" cy="256032"/>
          </a:xfrm>
          <a:prstGeom prst="rect">
            <a:avLst/>
          </a:prstGeom>
          <a:noFill/>
        </p:spPr>
        <p:txBody>
          <a:bodyPr wrap="square">
            <a:spAutoFit/>
          </a:bodyPr>
          <a:lstStyle/>
          <a:p>
            <a:pPr algn="l"/>
            <a:r>
              <a:rPr sz="800" b="1">
                <a:solidFill>
                  <a:srgbClr val="5B5F63"/>
                </a:solidFill>
                <a:latin typeface="Pretendard"/>
              </a:rPr>
              <a:t>X / FLUSO POST</a:t>
            </a:r>
          </a:p>
        </p:txBody>
      </p:sp>
      <p:sp>
        <p:nvSpPr>
          <p:cNvPr id="13" name="Rectangle 12"/>
          <p:cNvSpPr/>
          <p:nvPr/>
        </p:nvSpPr>
        <p:spPr>
          <a:xfrm>
            <a:off x="502920" y="3172968"/>
            <a:ext cx="5486400" cy="1389888"/>
          </a:xfrm>
          <a:prstGeom prst="rect">
            <a:avLst/>
          </a:prstGeom>
          <a:solidFill>
            <a:srgbClr val="FA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264408"/>
            <a:ext cx="914400" cy="228600"/>
          </a:xfrm>
          <a:prstGeom prst="rect">
            <a:avLst/>
          </a:prstGeom>
          <a:noFill/>
        </p:spPr>
        <p:txBody>
          <a:bodyPr wrap="square">
            <a:spAutoFit/>
          </a:bodyPr>
          <a:lstStyle/>
          <a:p>
            <a:pPr algn="l"/>
            <a:r>
              <a:rPr sz="750" b="1">
                <a:solidFill>
                  <a:srgbClr val="BA3C3C"/>
                </a:solidFill>
                <a:latin typeface="Pretendard"/>
              </a:rPr>
              <a:t>DON'T</a:t>
            </a:r>
          </a:p>
        </p:txBody>
      </p:sp>
      <p:sp>
        <p:nvSpPr>
          <p:cNvPr id="15" name="TextBox 14"/>
          <p:cNvSpPr txBox="1"/>
          <p:nvPr/>
        </p:nvSpPr>
        <p:spPr>
          <a:xfrm>
            <a:off x="713232" y="3520439"/>
            <a:ext cx="5074920" cy="960120"/>
          </a:xfrm>
          <a:prstGeom prst="rect">
            <a:avLst/>
          </a:prstGeom>
          <a:noFill/>
        </p:spPr>
        <p:txBody>
          <a:bodyPr wrap="square">
            <a:spAutoFit/>
          </a:bodyPr>
          <a:lstStyle/>
          <a:p>
            <a:pPr algn="l"/>
            <a:r>
              <a:rPr sz="950" b="0">
                <a:solidFill>
                  <a:srgbClr val="0A0A0A"/>
                </a:solidFill>
                <a:latin typeface="Pretendard"/>
              </a:rPr>
              <a:t>What if your AI could actually prove it's private? That's not a dream. That's Fluso.</a:t>
            </a:r>
          </a:p>
        </p:txBody>
      </p:sp>
      <p:sp>
        <p:nvSpPr>
          <p:cNvPr id="16" name="Rectangle 15"/>
          <p:cNvSpPr/>
          <p:nvPr/>
        </p:nvSpPr>
        <p:spPr>
          <a:xfrm>
            <a:off x="6199632" y="3172968"/>
            <a:ext cx="5486400" cy="1389888"/>
          </a:xfrm>
          <a:prstGeom prst="rect">
            <a:avLst/>
          </a:prstGeom>
          <a:solidFill>
            <a:srgbClr val="E9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3264408"/>
            <a:ext cx="914400" cy="228600"/>
          </a:xfrm>
          <a:prstGeom prst="rect">
            <a:avLst/>
          </a:prstGeom>
          <a:noFill/>
        </p:spPr>
        <p:txBody>
          <a:bodyPr wrap="square">
            <a:spAutoFit/>
          </a:bodyPr>
          <a:lstStyle/>
          <a:p>
            <a:pPr algn="l"/>
            <a:r>
              <a:rPr sz="750" b="1">
                <a:solidFill>
                  <a:srgbClr val="2E7D50"/>
                </a:solidFill>
                <a:latin typeface="Pretendard"/>
              </a:rPr>
              <a:t>DO</a:t>
            </a:r>
          </a:p>
        </p:txBody>
      </p:sp>
      <p:sp>
        <p:nvSpPr>
          <p:cNvPr id="18" name="TextBox 17"/>
          <p:cNvSpPr txBox="1"/>
          <p:nvPr/>
        </p:nvSpPr>
        <p:spPr>
          <a:xfrm>
            <a:off x="6400800" y="3520439"/>
            <a:ext cx="5074920" cy="960120"/>
          </a:xfrm>
          <a:prstGeom prst="rect">
            <a:avLst/>
          </a:prstGeom>
          <a:noFill/>
        </p:spPr>
        <p:txBody>
          <a:bodyPr wrap="square">
            <a:spAutoFit/>
          </a:bodyPr>
          <a:lstStyle/>
          <a:p>
            <a:pPr algn="l"/>
            <a:r>
              <a:rPr sz="950" b="0">
                <a:solidFill>
                  <a:srgbClr val="0A0A0A"/>
                </a:solidFill>
                <a:latin typeface="Pretendard"/>
              </a:rPr>
              <a:t>Fluso produced a hardware-signed audit trail for every session in our legal workflow. Our CISO asked how. I sent the Reticle docs.</a:t>
            </a:r>
          </a:p>
        </p:txBody>
      </p:sp>
      <p:sp>
        <p:nvSpPr>
          <p:cNvPr id="19" name="TextBox 18"/>
          <p:cNvSpPr txBox="1"/>
          <p:nvPr/>
        </p:nvSpPr>
        <p:spPr>
          <a:xfrm>
            <a:off x="502920" y="4709160"/>
            <a:ext cx="10972800" cy="256032"/>
          </a:xfrm>
          <a:prstGeom prst="rect">
            <a:avLst/>
          </a:prstGeom>
          <a:noFill/>
        </p:spPr>
        <p:txBody>
          <a:bodyPr wrap="square">
            <a:spAutoFit/>
          </a:bodyPr>
          <a:lstStyle/>
          <a:p>
            <a:pPr algn="l"/>
            <a:r>
              <a:rPr sz="800" b="1">
                <a:solidFill>
                  <a:srgbClr val="5B5F63"/>
                </a:solidFill>
                <a:latin typeface="Pretendard"/>
              </a:rPr>
              <a:t>PARTNERSHIP ANNOUNCEMENT</a:t>
            </a:r>
          </a:p>
        </p:txBody>
      </p:sp>
      <p:sp>
        <p:nvSpPr>
          <p:cNvPr id="20" name="Rectangle 19"/>
          <p:cNvSpPr/>
          <p:nvPr/>
        </p:nvSpPr>
        <p:spPr>
          <a:xfrm>
            <a:off x="502920" y="5001768"/>
            <a:ext cx="5486400" cy="1389888"/>
          </a:xfrm>
          <a:prstGeom prst="rect">
            <a:avLst/>
          </a:prstGeom>
          <a:solidFill>
            <a:srgbClr val="FA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3232" y="5093208"/>
            <a:ext cx="914400" cy="228600"/>
          </a:xfrm>
          <a:prstGeom prst="rect">
            <a:avLst/>
          </a:prstGeom>
          <a:noFill/>
        </p:spPr>
        <p:txBody>
          <a:bodyPr wrap="square">
            <a:spAutoFit/>
          </a:bodyPr>
          <a:lstStyle/>
          <a:p>
            <a:pPr algn="l"/>
            <a:r>
              <a:rPr sz="750" b="1">
                <a:solidFill>
                  <a:srgbClr val="BA3C3C"/>
                </a:solidFill>
                <a:latin typeface="Pretendard"/>
              </a:rPr>
              <a:t>DON'T</a:t>
            </a:r>
          </a:p>
        </p:txBody>
      </p:sp>
      <p:sp>
        <p:nvSpPr>
          <p:cNvPr id="22" name="TextBox 21"/>
          <p:cNvSpPr txBox="1"/>
          <p:nvPr/>
        </p:nvSpPr>
        <p:spPr>
          <a:xfrm>
            <a:off x="713232" y="5349240"/>
            <a:ext cx="5074920" cy="960120"/>
          </a:xfrm>
          <a:prstGeom prst="rect">
            <a:avLst/>
          </a:prstGeom>
          <a:noFill/>
        </p:spPr>
        <p:txBody>
          <a:bodyPr wrap="square">
            <a:spAutoFit/>
          </a:bodyPr>
          <a:lstStyle/>
          <a:p>
            <a:pPr algn="l"/>
            <a:r>
              <a:rPr sz="950" b="0">
                <a:solidFill>
                  <a:srgbClr val="0A0A0A"/>
                </a:solidFill>
                <a:latin typeface="Pretendard"/>
              </a:rPr>
              <a:t>We're excited to announce our partnership with [Partner]. Together we're shaping the future of enterprise AI.</a:t>
            </a:r>
          </a:p>
        </p:txBody>
      </p:sp>
      <p:sp>
        <p:nvSpPr>
          <p:cNvPr id="23" name="Rectangle 22"/>
          <p:cNvSpPr/>
          <p:nvPr/>
        </p:nvSpPr>
        <p:spPr>
          <a:xfrm>
            <a:off x="6199632" y="5001768"/>
            <a:ext cx="5486400" cy="1389888"/>
          </a:xfrm>
          <a:prstGeom prst="rect">
            <a:avLst/>
          </a:prstGeom>
          <a:solidFill>
            <a:srgbClr val="E9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5093208"/>
            <a:ext cx="914400" cy="228600"/>
          </a:xfrm>
          <a:prstGeom prst="rect">
            <a:avLst/>
          </a:prstGeom>
          <a:noFill/>
        </p:spPr>
        <p:txBody>
          <a:bodyPr wrap="square">
            <a:spAutoFit/>
          </a:bodyPr>
          <a:lstStyle/>
          <a:p>
            <a:pPr algn="l"/>
            <a:r>
              <a:rPr sz="750" b="1">
                <a:solidFill>
                  <a:srgbClr val="2E7D50"/>
                </a:solidFill>
                <a:latin typeface="Pretendard"/>
              </a:rPr>
              <a:t>DO</a:t>
            </a:r>
          </a:p>
        </p:txBody>
      </p:sp>
      <p:sp>
        <p:nvSpPr>
          <p:cNvPr id="25" name="TextBox 24"/>
          <p:cNvSpPr txBox="1"/>
          <p:nvPr/>
        </p:nvSpPr>
        <p:spPr>
          <a:xfrm>
            <a:off x="6400800" y="5349240"/>
            <a:ext cx="5074920" cy="960120"/>
          </a:xfrm>
          <a:prstGeom prst="rect">
            <a:avLst/>
          </a:prstGeom>
          <a:noFill/>
        </p:spPr>
        <p:txBody>
          <a:bodyPr wrap="square">
            <a:spAutoFit/>
          </a:bodyPr>
          <a:lstStyle/>
          <a:p>
            <a:pPr algn="l"/>
            <a:r>
              <a:rPr sz="950" b="0">
                <a:solidFill>
                  <a:srgbClr val="0A0A0A"/>
                </a:solidFill>
                <a:latin typeface="Pretendard"/>
              </a:rPr>
              <a:t>[Partner] is deploying Prem across 400 compliance workflows, the first regulated-industry deployment at this scale with full attestation. Implementation notes on the blog.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9144000" cy="274320"/>
          </a:xfrm>
          <a:prstGeom prst="rect">
            <a:avLst/>
          </a:prstGeom>
          <a:noFill/>
        </p:spPr>
        <p:txBody>
          <a:bodyPr wrap="square">
            <a:spAutoFit/>
          </a:bodyPr>
          <a:lstStyle/>
          <a:p>
            <a:pPr algn="l"/>
            <a:r>
              <a:rPr sz="900" b="1">
                <a:solidFill>
                  <a:srgbClr val="5B5F63"/>
                </a:solidFill>
                <a:latin typeface="Pretendard"/>
              </a:rPr>
              <a:t>07  COLOR  |  MONOCHROME, LIKE THE MARK</a:t>
            </a:r>
          </a:p>
        </p:txBody>
      </p:sp>
      <p:sp>
        <p:nvSpPr>
          <p:cNvPr id="4" name="Rectangle 3"/>
          <p:cNvSpPr/>
          <p:nvPr/>
        </p:nvSpPr>
        <p:spPr>
          <a:xfrm>
            <a:off x="502920" y="713232"/>
            <a:ext cx="11183112" cy="10972"/>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68680"/>
            <a:ext cx="10972800" cy="365760"/>
          </a:xfrm>
          <a:prstGeom prst="rect">
            <a:avLst/>
          </a:prstGeom>
          <a:noFill/>
        </p:spPr>
        <p:txBody>
          <a:bodyPr wrap="square">
            <a:spAutoFit/>
          </a:bodyPr>
          <a:lstStyle/>
          <a:p>
            <a:pPr algn="l"/>
            <a:r>
              <a:rPr sz="1300" b="1">
                <a:solidFill>
                  <a:srgbClr val="0A0A0A"/>
                </a:solidFill>
                <a:latin typeface="Pretendard"/>
              </a:rPr>
              <a:t>The Prem logo is black dots on white. The brand follows the logo.</a:t>
            </a:r>
          </a:p>
        </p:txBody>
      </p:sp>
      <p:sp>
        <p:nvSpPr>
          <p:cNvPr id="6" name="TextBox 5"/>
          <p:cNvSpPr txBox="1"/>
          <p:nvPr/>
        </p:nvSpPr>
        <p:spPr>
          <a:xfrm>
            <a:off x="502920" y="1280160"/>
            <a:ext cx="10972800" cy="292608"/>
          </a:xfrm>
          <a:prstGeom prst="rect">
            <a:avLst/>
          </a:prstGeom>
          <a:noFill/>
        </p:spPr>
        <p:txBody>
          <a:bodyPr wrap="square">
            <a:spAutoFit/>
          </a:bodyPr>
          <a:lstStyle/>
          <a:p>
            <a:pPr algn="l"/>
            <a:r>
              <a:rPr sz="950" b="0">
                <a:solidFill>
                  <a:srgbClr val="5B5F63"/>
                </a:solidFill>
                <a:latin typeface="Pretendard"/>
              </a:rPr>
              <a:t>Verified from the live premai.io site. Photography carries the atmosphere; the identity itself stays monochrome.</a:t>
            </a:r>
          </a:p>
        </p:txBody>
      </p:sp>
      <p:sp>
        <p:nvSpPr>
          <p:cNvPr id="7" name="Rectangle 6"/>
          <p:cNvSpPr/>
          <p:nvPr/>
        </p:nvSpPr>
        <p:spPr>
          <a:xfrm>
            <a:off x="502920" y="1783080"/>
            <a:ext cx="2084831" cy="210312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4005072"/>
            <a:ext cx="2084831" cy="320040"/>
          </a:xfrm>
          <a:prstGeom prst="rect">
            <a:avLst/>
          </a:prstGeom>
          <a:noFill/>
        </p:spPr>
        <p:txBody>
          <a:bodyPr wrap="square">
            <a:spAutoFit/>
          </a:bodyPr>
          <a:lstStyle/>
          <a:p>
            <a:pPr algn="l"/>
            <a:r>
              <a:rPr sz="1200" b="1">
                <a:solidFill>
                  <a:srgbClr val="0A0A0A"/>
                </a:solidFill>
                <a:latin typeface="Pretendard"/>
              </a:rPr>
              <a:t>Ink</a:t>
            </a:r>
          </a:p>
        </p:txBody>
      </p:sp>
      <p:sp>
        <p:nvSpPr>
          <p:cNvPr id="9" name="TextBox 8"/>
          <p:cNvSpPr txBox="1"/>
          <p:nvPr/>
        </p:nvSpPr>
        <p:spPr>
          <a:xfrm>
            <a:off x="502920" y="4334256"/>
            <a:ext cx="2084831" cy="274320"/>
          </a:xfrm>
          <a:prstGeom prst="rect">
            <a:avLst/>
          </a:prstGeom>
          <a:noFill/>
        </p:spPr>
        <p:txBody>
          <a:bodyPr wrap="square">
            <a:spAutoFit/>
          </a:bodyPr>
          <a:lstStyle/>
          <a:p>
            <a:pPr algn="l"/>
            <a:r>
              <a:rPr sz="950" b="0">
                <a:solidFill>
                  <a:srgbClr val="5B5F63"/>
                </a:solidFill>
                <a:latin typeface="Pretendard"/>
              </a:rPr>
              <a:t>#0A0A0A</a:t>
            </a:r>
          </a:p>
        </p:txBody>
      </p:sp>
      <p:sp>
        <p:nvSpPr>
          <p:cNvPr id="10" name="TextBox 9"/>
          <p:cNvSpPr txBox="1"/>
          <p:nvPr/>
        </p:nvSpPr>
        <p:spPr>
          <a:xfrm>
            <a:off x="502920" y="4645152"/>
            <a:ext cx="2084831" cy="777240"/>
          </a:xfrm>
          <a:prstGeom prst="rect">
            <a:avLst/>
          </a:prstGeom>
          <a:noFill/>
        </p:spPr>
        <p:txBody>
          <a:bodyPr wrap="square">
            <a:spAutoFit/>
          </a:bodyPr>
          <a:lstStyle/>
          <a:p>
            <a:pPr algn="l"/>
            <a:r>
              <a:rPr sz="850" b="0">
                <a:solidFill>
                  <a:srgbClr val="5B5F63"/>
                </a:solidFill>
                <a:latin typeface="Pretendard"/>
              </a:rPr>
              <a:t>The logo color.
All marks, all headlines.</a:t>
            </a:r>
          </a:p>
        </p:txBody>
      </p:sp>
      <p:sp>
        <p:nvSpPr>
          <p:cNvPr id="11" name="Rectangle 10"/>
          <p:cNvSpPr/>
          <p:nvPr/>
        </p:nvSpPr>
        <p:spPr>
          <a:xfrm>
            <a:off x="2807208" y="1783080"/>
            <a:ext cx="2084831" cy="2103120"/>
          </a:xfrm>
          <a:prstGeom prst="rect">
            <a:avLst/>
          </a:prstGeom>
          <a:solidFill>
            <a:srgbClr val="1717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07208" y="4005072"/>
            <a:ext cx="2084831" cy="320040"/>
          </a:xfrm>
          <a:prstGeom prst="rect">
            <a:avLst/>
          </a:prstGeom>
          <a:noFill/>
        </p:spPr>
        <p:txBody>
          <a:bodyPr wrap="square">
            <a:spAutoFit/>
          </a:bodyPr>
          <a:lstStyle/>
          <a:p>
            <a:pPr algn="l"/>
            <a:r>
              <a:rPr sz="1200" b="1">
                <a:solidFill>
                  <a:srgbClr val="0A0A0A"/>
                </a:solidFill>
                <a:latin typeface="Pretendard"/>
              </a:rPr>
              <a:t>Dark</a:t>
            </a:r>
          </a:p>
        </p:txBody>
      </p:sp>
      <p:sp>
        <p:nvSpPr>
          <p:cNvPr id="13" name="TextBox 12"/>
          <p:cNvSpPr txBox="1"/>
          <p:nvPr/>
        </p:nvSpPr>
        <p:spPr>
          <a:xfrm>
            <a:off x="2807208" y="4334256"/>
            <a:ext cx="2084831" cy="274320"/>
          </a:xfrm>
          <a:prstGeom prst="rect">
            <a:avLst/>
          </a:prstGeom>
          <a:noFill/>
        </p:spPr>
        <p:txBody>
          <a:bodyPr wrap="square">
            <a:spAutoFit/>
          </a:bodyPr>
          <a:lstStyle/>
          <a:p>
            <a:pPr algn="l"/>
            <a:r>
              <a:rPr sz="950" b="0">
                <a:solidFill>
                  <a:srgbClr val="5B5F63"/>
                </a:solidFill>
                <a:latin typeface="Pretendard"/>
              </a:rPr>
              <a:t>#17171B</a:t>
            </a:r>
          </a:p>
        </p:txBody>
      </p:sp>
      <p:sp>
        <p:nvSpPr>
          <p:cNvPr id="14" name="TextBox 13"/>
          <p:cNvSpPr txBox="1"/>
          <p:nvPr/>
        </p:nvSpPr>
        <p:spPr>
          <a:xfrm>
            <a:off x="2807208" y="4645152"/>
            <a:ext cx="2084831" cy="777240"/>
          </a:xfrm>
          <a:prstGeom prst="rect">
            <a:avLst/>
          </a:prstGeom>
          <a:noFill/>
        </p:spPr>
        <p:txBody>
          <a:bodyPr wrap="square">
            <a:spAutoFit/>
          </a:bodyPr>
          <a:lstStyle/>
          <a:p>
            <a:pPr algn="l"/>
            <a:r>
              <a:rPr sz="850" b="0">
                <a:solidFill>
                  <a:srgbClr val="5B5F63"/>
                </a:solidFill>
                <a:latin typeface="Pretendard"/>
              </a:rPr>
              <a:t>Dark surfaces,
quote cards, hero blocks.</a:t>
            </a:r>
          </a:p>
        </p:txBody>
      </p:sp>
      <p:sp>
        <p:nvSpPr>
          <p:cNvPr id="15" name="Rectangle 14"/>
          <p:cNvSpPr/>
          <p:nvPr/>
        </p:nvSpPr>
        <p:spPr>
          <a:xfrm>
            <a:off x="5111496" y="1783080"/>
            <a:ext cx="2084831" cy="2103120"/>
          </a:xfrm>
          <a:prstGeom prst="rect">
            <a:avLst/>
          </a:prstGeom>
          <a:solidFill>
            <a:srgbClr val="5B5F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11496" y="4005072"/>
            <a:ext cx="2084831" cy="320040"/>
          </a:xfrm>
          <a:prstGeom prst="rect">
            <a:avLst/>
          </a:prstGeom>
          <a:noFill/>
        </p:spPr>
        <p:txBody>
          <a:bodyPr wrap="square">
            <a:spAutoFit/>
          </a:bodyPr>
          <a:lstStyle/>
          <a:p>
            <a:pPr algn="l"/>
            <a:r>
              <a:rPr sz="1200" b="1">
                <a:solidFill>
                  <a:srgbClr val="0A0A0A"/>
                </a:solidFill>
                <a:latin typeface="Pretendard"/>
              </a:rPr>
              <a:t>Gray</a:t>
            </a:r>
          </a:p>
        </p:txBody>
      </p:sp>
      <p:sp>
        <p:nvSpPr>
          <p:cNvPr id="17" name="TextBox 16"/>
          <p:cNvSpPr txBox="1"/>
          <p:nvPr/>
        </p:nvSpPr>
        <p:spPr>
          <a:xfrm>
            <a:off x="5111496" y="4334256"/>
            <a:ext cx="2084831" cy="274320"/>
          </a:xfrm>
          <a:prstGeom prst="rect">
            <a:avLst/>
          </a:prstGeom>
          <a:noFill/>
        </p:spPr>
        <p:txBody>
          <a:bodyPr wrap="square">
            <a:spAutoFit/>
          </a:bodyPr>
          <a:lstStyle/>
          <a:p>
            <a:pPr algn="l"/>
            <a:r>
              <a:rPr sz="950" b="0">
                <a:solidFill>
                  <a:srgbClr val="5B5F63"/>
                </a:solidFill>
                <a:latin typeface="Pretendard"/>
              </a:rPr>
              <a:t>#5B5F63</a:t>
            </a:r>
          </a:p>
        </p:txBody>
      </p:sp>
      <p:sp>
        <p:nvSpPr>
          <p:cNvPr id="18" name="TextBox 17"/>
          <p:cNvSpPr txBox="1"/>
          <p:nvPr/>
        </p:nvSpPr>
        <p:spPr>
          <a:xfrm>
            <a:off x="5111496" y="4645152"/>
            <a:ext cx="2084831" cy="777240"/>
          </a:xfrm>
          <a:prstGeom prst="rect">
            <a:avLst/>
          </a:prstGeom>
          <a:noFill/>
        </p:spPr>
        <p:txBody>
          <a:bodyPr wrap="square">
            <a:spAutoFit/>
          </a:bodyPr>
          <a:lstStyle/>
          <a:p>
            <a:pPr algn="l"/>
            <a:r>
              <a:rPr sz="850" b="0">
                <a:solidFill>
                  <a:srgbClr val="5B5F63"/>
                </a:solidFill>
                <a:latin typeface="Pretendard"/>
              </a:rPr>
              <a:t>Secondary text,
labels, captions.</a:t>
            </a:r>
          </a:p>
        </p:txBody>
      </p:sp>
      <p:sp>
        <p:nvSpPr>
          <p:cNvPr id="19" name="Rectangle 18"/>
          <p:cNvSpPr/>
          <p:nvPr/>
        </p:nvSpPr>
        <p:spPr>
          <a:xfrm>
            <a:off x="7415784" y="1783080"/>
            <a:ext cx="2084831" cy="2103120"/>
          </a:xfrm>
          <a:prstGeom prst="rect">
            <a:avLst/>
          </a:prstGeom>
          <a:solidFill>
            <a:srgbClr val="B0B0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15784" y="4005072"/>
            <a:ext cx="2084831" cy="320040"/>
          </a:xfrm>
          <a:prstGeom prst="rect">
            <a:avLst/>
          </a:prstGeom>
          <a:noFill/>
        </p:spPr>
        <p:txBody>
          <a:bodyPr wrap="square">
            <a:spAutoFit/>
          </a:bodyPr>
          <a:lstStyle/>
          <a:p>
            <a:pPr algn="l"/>
            <a:r>
              <a:rPr sz="1200" b="1">
                <a:solidFill>
                  <a:srgbClr val="0A0A0A"/>
                </a:solidFill>
                <a:latin typeface="Pretendard"/>
              </a:rPr>
              <a:t>Light gray</a:t>
            </a:r>
          </a:p>
        </p:txBody>
      </p:sp>
      <p:sp>
        <p:nvSpPr>
          <p:cNvPr id="21" name="TextBox 20"/>
          <p:cNvSpPr txBox="1"/>
          <p:nvPr/>
        </p:nvSpPr>
        <p:spPr>
          <a:xfrm>
            <a:off x="7415784" y="4334256"/>
            <a:ext cx="2084831" cy="274320"/>
          </a:xfrm>
          <a:prstGeom prst="rect">
            <a:avLst/>
          </a:prstGeom>
          <a:noFill/>
        </p:spPr>
        <p:txBody>
          <a:bodyPr wrap="square">
            <a:spAutoFit/>
          </a:bodyPr>
          <a:lstStyle/>
          <a:p>
            <a:pPr algn="l"/>
            <a:r>
              <a:rPr sz="950" b="0">
                <a:solidFill>
                  <a:srgbClr val="5B5F63"/>
                </a:solidFill>
                <a:latin typeface="Pretendard"/>
              </a:rPr>
              <a:t>#B0B0AA</a:t>
            </a:r>
          </a:p>
        </p:txBody>
      </p:sp>
      <p:sp>
        <p:nvSpPr>
          <p:cNvPr id="22" name="TextBox 21"/>
          <p:cNvSpPr txBox="1"/>
          <p:nvPr/>
        </p:nvSpPr>
        <p:spPr>
          <a:xfrm>
            <a:off x="7415784" y="4645152"/>
            <a:ext cx="2084831" cy="777240"/>
          </a:xfrm>
          <a:prstGeom prst="rect">
            <a:avLst/>
          </a:prstGeom>
          <a:noFill/>
        </p:spPr>
        <p:txBody>
          <a:bodyPr wrap="square">
            <a:spAutoFit/>
          </a:bodyPr>
          <a:lstStyle/>
          <a:p>
            <a:pPr algn="l"/>
            <a:r>
              <a:rPr sz="850" b="0">
                <a:solidFill>
                  <a:srgbClr val="5B5F63"/>
                </a:solidFill>
                <a:latin typeface="Pretendard"/>
              </a:rPr>
              <a:t>Rules, footnotes,
halftone shading.</a:t>
            </a:r>
          </a:p>
        </p:txBody>
      </p:sp>
      <p:sp>
        <p:nvSpPr>
          <p:cNvPr id="23" name="Rectangle 22"/>
          <p:cNvSpPr/>
          <p:nvPr/>
        </p:nvSpPr>
        <p:spPr>
          <a:xfrm>
            <a:off x="9720072" y="1783080"/>
            <a:ext cx="2084831" cy="2103120"/>
          </a:xfrm>
          <a:prstGeom prst="rect">
            <a:avLst/>
          </a:prstGeom>
          <a:solidFill>
            <a:srgbClr val="FAFAF8"/>
          </a:solidFill>
          <a:ln w="12700">
            <a:solidFill>
              <a:srgbClr val="ECE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20072" y="4005072"/>
            <a:ext cx="2084831" cy="320040"/>
          </a:xfrm>
          <a:prstGeom prst="rect">
            <a:avLst/>
          </a:prstGeom>
          <a:noFill/>
        </p:spPr>
        <p:txBody>
          <a:bodyPr wrap="square">
            <a:spAutoFit/>
          </a:bodyPr>
          <a:lstStyle/>
          <a:p>
            <a:pPr algn="l"/>
            <a:r>
              <a:rPr sz="1200" b="1">
                <a:solidFill>
                  <a:srgbClr val="0A0A0A"/>
                </a:solidFill>
                <a:latin typeface="Pretendard"/>
              </a:rPr>
              <a:t>Paper</a:t>
            </a:r>
          </a:p>
        </p:txBody>
      </p:sp>
      <p:sp>
        <p:nvSpPr>
          <p:cNvPr id="25" name="TextBox 24"/>
          <p:cNvSpPr txBox="1"/>
          <p:nvPr/>
        </p:nvSpPr>
        <p:spPr>
          <a:xfrm>
            <a:off x="9720072" y="4334256"/>
            <a:ext cx="2084831" cy="274320"/>
          </a:xfrm>
          <a:prstGeom prst="rect">
            <a:avLst/>
          </a:prstGeom>
          <a:noFill/>
        </p:spPr>
        <p:txBody>
          <a:bodyPr wrap="square">
            <a:spAutoFit/>
          </a:bodyPr>
          <a:lstStyle/>
          <a:p>
            <a:pPr algn="l"/>
            <a:r>
              <a:rPr sz="950" b="0">
                <a:solidFill>
                  <a:srgbClr val="5B5F63"/>
                </a:solidFill>
                <a:latin typeface="Pretendard"/>
              </a:rPr>
              <a:t>#FAFAF8</a:t>
            </a:r>
          </a:p>
        </p:txBody>
      </p:sp>
      <p:sp>
        <p:nvSpPr>
          <p:cNvPr id="26" name="TextBox 25"/>
          <p:cNvSpPr txBox="1"/>
          <p:nvPr/>
        </p:nvSpPr>
        <p:spPr>
          <a:xfrm>
            <a:off x="9720072" y="4645152"/>
            <a:ext cx="2084831" cy="777240"/>
          </a:xfrm>
          <a:prstGeom prst="rect">
            <a:avLst/>
          </a:prstGeom>
          <a:noFill/>
        </p:spPr>
        <p:txBody>
          <a:bodyPr wrap="square">
            <a:spAutoFit/>
          </a:bodyPr>
          <a:lstStyle/>
          <a:p>
            <a:pPr algn="l"/>
            <a:r>
              <a:rPr sz="850" b="0">
                <a:solidFill>
                  <a:srgbClr val="5B5F63"/>
                </a:solidFill>
                <a:latin typeface="Pretendard"/>
              </a:rPr>
              <a:t>Default ground.
The Swiss white space.</a:t>
            </a:r>
          </a:p>
        </p:txBody>
      </p:sp>
      <p:sp>
        <p:nvSpPr>
          <p:cNvPr id="27" name="Rectangle 26"/>
          <p:cNvSpPr/>
          <p:nvPr/>
        </p:nvSpPr>
        <p:spPr>
          <a:xfrm>
            <a:off x="502920" y="5577840"/>
            <a:ext cx="11183112"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02920" y="5577840"/>
            <a:ext cx="54864" cy="9144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5687568"/>
            <a:ext cx="1828800" cy="274320"/>
          </a:xfrm>
          <a:prstGeom prst="rect">
            <a:avLst/>
          </a:prstGeom>
          <a:noFill/>
        </p:spPr>
        <p:txBody>
          <a:bodyPr wrap="square">
            <a:spAutoFit/>
          </a:bodyPr>
          <a:lstStyle/>
          <a:p>
            <a:pPr algn="l"/>
            <a:r>
              <a:rPr sz="800" b="1">
                <a:solidFill>
                  <a:srgbClr val="5B5F63"/>
                </a:solidFill>
                <a:latin typeface="Pretendard"/>
              </a:rPr>
              <a:t>TWO RULES</a:t>
            </a:r>
          </a:p>
        </p:txBody>
      </p:sp>
      <p:sp>
        <p:nvSpPr>
          <p:cNvPr id="30" name="TextBox 29"/>
          <p:cNvSpPr txBox="1"/>
          <p:nvPr/>
        </p:nvSpPr>
        <p:spPr>
          <a:xfrm>
            <a:off x="777240" y="5943600"/>
            <a:ext cx="10698480" cy="502920"/>
          </a:xfrm>
          <a:prstGeom prst="rect">
            <a:avLst/>
          </a:prstGeom>
          <a:noFill/>
        </p:spPr>
        <p:txBody>
          <a:bodyPr wrap="square">
            <a:spAutoFit/>
          </a:bodyPr>
          <a:lstStyle/>
          <a:p>
            <a:pPr algn="l"/>
            <a:r>
              <a:rPr sz="950" b="0">
                <a:solidFill>
                  <a:srgbClr val="0A0A0A"/>
                </a:solidFill>
                <a:latin typeface="Pretendard"/>
              </a:rPr>
              <a:t>1. Color in the feed comes from photography (the Alps, real product screens), never from the identity itself.   2. Fluso accent colors, if any, are lifted from the Fluso logo file exactly as provided. Nothing is approximated, tinted, or recolored. Until that file is checked, Fluso is monochrome too.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9144000" cy="274320"/>
          </a:xfrm>
          <a:prstGeom prst="rect">
            <a:avLst/>
          </a:prstGeom>
          <a:noFill/>
        </p:spPr>
        <p:txBody>
          <a:bodyPr wrap="square">
            <a:spAutoFit/>
          </a:bodyPr>
          <a:lstStyle/>
          <a:p>
            <a:pPr algn="l"/>
            <a:r>
              <a:rPr sz="900" b="1">
                <a:solidFill>
                  <a:srgbClr val="5B5F63"/>
                </a:solidFill>
                <a:latin typeface="Pretendard"/>
              </a:rPr>
              <a:t>08  TYPOGRAPHY  |  PRETENDARD</a:t>
            </a:r>
          </a:p>
        </p:txBody>
      </p:sp>
      <p:sp>
        <p:nvSpPr>
          <p:cNvPr id="4" name="Rectangle 3"/>
          <p:cNvSpPr/>
          <p:nvPr/>
        </p:nvSpPr>
        <p:spPr>
          <a:xfrm>
            <a:off x="502920" y="713232"/>
            <a:ext cx="11183112" cy="10972"/>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914400"/>
            <a:ext cx="7315200" cy="822960"/>
          </a:xfrm>
          <a:prstGeom prst="rect">
            <a:avLst/>
          </a:prstGeom>
          <a:noFill/>
        </p:spPr>
        <p:txBody>
          <a:bodyPr wrap="square">
            <a:spAutoFit/>
          </a:bodyPr>
          <a:lstStyle/>
          <a:p>
            <a:pPr algn="l"/>
            <a:r>
              <a:rPr sz="4400" b="1">
                <a:solidFill>
                  <a:srgbClr val="0A0A0A"/>
                </a:solidFill>
                <a:latin typeface="Pretendard"/>
              </a:rPr>
              <a:t>Pretendard</a:t>
            </a:r>
          </a:p>
        </p:txBody>
      </p:sp>
      <p:sp>
        <p:nvSpPr>
          <p:cNvPr id="6" name="TextBox 5"/>
          <p:cNvSpPr txBox="1"/>
          <p:nvPr/>
        </p:nvSpPr>
        <p:spPr>
          <a:xfrm>
            <a:off x="502920" y="1828800"/>
            <a:ext cx="6400800" cy="685800"/>
          </a:xfrm>
          <a:prstGeom prst="rect">
            <a:avLst/>
          </a:prstGeom>
          <a:noFill/>
        </p:spPr>
        <p:txBody>
          <a:bodyPr wrap="square">
            <a:spAutoFit/>
          </a:bodyPr>
          <a:lstStyle/>
          <a:p>
            <a:pPr algn="l"/>
            <a:r>
              <a:rPr sz="1150" b="0">
                <a:solidFill>
                  <a:srgbClr val="5B5F63"/>
                </a:solidFill>
                <a:latin typeface="Pretendard"/>
              </a:rPr>
              <a:t>The verified brand typeface. Prem self-hosts Pretendard Regular, SemiBold and Bold at static.premai.io/fonts, and the live site is set in a matching grotesque. One family, every brand surface.</a:t>
            </a:r>
          </a:p>
        </p:txBody>
      </p:sp>
      <p:sp>
        <p:nvSpPr>
          <p:cNvPr id="7" name="TextBox 6"/>
          <p:cNvSpPr txBox="1"/>
          <p:nvPr/>
        </p:nvSpPr>
        <p:spPr>
          <a:xfrm>
            <a:off x="502920" y="2743200"/>
            <a:ext cx="1920240" cy="457200"/>
          </a:xfrm>
          <a:prstGeom prst="rect">
            <a:avLst/>
          </a:prstGeom>
          <a:noFill/>
        </p:spPr>
        <p:txBody>
          <a:bodyPr wrap="square">
            <a:spAutoFit/>
          </a:bodyPr>
          <a:lstStyle/>
          <a:p>
            <a:pPr algn="l"/>
            <a:r>
              <a:rPr sz="1000" b="1">
                <a:solidFill>
                  <a:srgbClr val="0A0A0A"/>
                </a:solidFill>
                <a:latin typeface="Pretendard"/>
              </a:rPr>
              <a:t>Display / H1</a:t>
            </a:r>
          </a:p>
        </p:txBody>
      </p:sp>
      <p:sp>
        <p:nvSpPr>
          <p:cNvPr id="8" name="TextBox 7"/>
          <p:cNvSpPr txBox="1"/>
          <p:nvPr/>
        </p:nvSpPr>
        <p:spPr>
          <a:xfrm>
            <a:off x="2514600" y="2743200"/>
            <a:ext cx="4389120" cy="457200"/>
          </a:xfrm>
          <a:prstGeom prst="rect">
            <a:avLst/>
          </a:prstGeom>
          <a:noFill/>
        </p:spPr>
        <p:txBody>
          <a:bodyPr wrap="square">
            <a:spAutoFit/>
          </a:bodyPr>
          <a:lstStyle/>
          <a:p>
            <a:pPr algn="l"/>
            <a:r>
              <a:rPr sz="950" b="0">
                <a:solidFill>
                  <a:srgbClr val="5B5F63"/>
                </a:solidFill>
                <a:latin typeface="Pretendard"/>
              </a:rPr>
              <a:t>Pretendard Bold, 36 to 48pt, tight leading (1.2x)</a:t>
            </a:r>
          </a:p>
        </p:txBody>
      </p:sp>
      <p:sp>
        <p:nvSpPr>
          <p:cNvPr id="9" name="TextBox 8"/>
          <p:cNvSpPr txBox="1"/>
          <p:nvPr/>
        </p:nvSpPr>
        <p:spPr>
          <a:xfrm>
            <a:off x="502920" y="3310128"/>
            <a:ext cx="1920240" cy="457200"/>
          </a:xfrm>
          <a:prstGeom prst="rect">
            <a:avLst/>
          </a:prstGeom>
          <a:noFill/>
        </p:spPr>
        <p:txBody>
          <a:bodyPr wrap="square">
            <a:spAutoFit/>
          </a:bodyPr>
          <a:lstStyle/>
          <a:p>
            <a:pPr algn="l"/>
            <a:r>
              <a:rPr sz="1000" b="1">
                <a:solidFill>
                  <a:srgbClr val="0A0A0A"/>
                </a:solidFill>
                <a:latin typeface="Pretendard"/>
              </a:rPr>
              <a:t>Section head</a:t>
            </a:r>
          </a:p>
        </p:txBody>
      </p:sp>
      <p:sp>
        <p:nvSpPr>
          <p:cNvPr id="10" name="TextBox 9"/>
          <p:cNvSpPr txBox="1"/>
          <p:nvPr/>
        </p:nvSpPr>
        <p:spPr>
          <a:xfrm>
            <a:off x="2514600" y="3310128"/>
            <a:ext cx="4389120" cy="457200"/>
          </a:xfrm>
          <a:prstGeom prst="rect">
            <a:avLst/>
          </a:prstGeom>
          <a:noFill/>
        </p:spPr>
        <p:txBody>
          <a:bodyPr wrap="square">
            <a:spAutoFit/>
          </a:bodyPr>
          <a:lstStyle/>
          <a:p>
            <a:pPr algn="l"/>
            <a:r>
              <a:rPr sz="950" b="0">
                <a:solidFill>
                  <a:srgbClr val="5B5F63"/>
                </a:solidFill>
                <a:latin typeface="Pretendard"/>
              </a:rPr>
              <a:t>Pretendard SemiBold, 20 to 28pt</a:t>
            </a:r>
          </a:p>
        </p:txBody>
      </p:sp>
      <p:sp>
        <p:nvSpPr>
          <p:cNvPr id="11" name="TextBox 10"/>
          <p:cNvSpPr txBox="1"/>
          <p:nvPr/>
        </p:nvSpPr>
        <p:spPr>
          <a:xfrm>
            <a:off x="502920" y="3877056"/>
            <a:ext cx="1920240" cy="457200"/>
          </a:xfrm>
          <a:prstGeom prst="rect">
            <a:avLst/>
          </a:prstGeom>
          <a:noFill/>
        </p:spPr>
        <p:txBody>
          <a:bodyPr wrap="square">
            <a:spAutoFit/>
          </a:bodyPr>
          <a:lstStyle/>
          <a:p>
            <a:pPr algn="l"/>
            <a:r>
              <a:rPr sz="1000" b="1">
                <a:solidFill>
                  <a:srgbClr val="0A0A0A"/>
                </a:solidFill>
                <a:latin typeface="Pretendard"/>
              </a:rPr>
              <a:t>Body copy</a:t>
            </a:r>
          </a:p>
        </p:txBody>
      </p:sp>
      <p:sp>
        <p:nvSpPr>
          <p:cNvPr id="12" name="TextBox 11"/>
          <p:cNvSpPr txBox="1"/>
          <p:nvPr/>
        </p:nvSpPr>
        <p:spPr>
          <a:xfrm>
            <a:off x="2514600" y="3877056"/>
            <a:ext cx="4389120" cy="457200"/>
          </a:xfrm>
          <a:prstGeom prst="rect">
            <a:avLst/>
          </a:prstGeom>
          <a:noFill/>
        </p:spPr>
        <p:txBody>
          <a:bodyPr wrap="square">
            <a:spAutoFit/>
          </a:bodyPr>
          <a:lstStyle/>
          <a:p>
            <a:pPr algn="l"/>
            <a:r>
              <a:rPr sz="950" b="0">
                <a:solidFill>
                  <a:srgbClr val="5B5F63"/>
                </a:solidFill>
                <a:latin typeface="Pretendard"/>
              </a:rPr>
              <a:t>Pretendard Regular, 10 to 12pt, leading 1.6x</a:t>
            </a:r>
          </a:p>
        </p:txBody>
      </p:sp>
      <p:sp>
        <p:nvSpPr>
          <p:cNvPr id="13" name="TextBox 12"/>
          <p:cNvSpPr txBox="1"/>
          <p:nvPr/>
        </p:nvSpPr>
        <p:spPr>
          <a:xfrm>
            <a:off x="502920" y="4443983"/>
            <a:ext cx="1920240" cy="457200"/>
          </a:xfrm>
          <a:prstGeom prst="rect">
            <a:avLst/>
          </a:prstGeom>
          <a:noFill/>
        </p:spPr>
        <p:txBody>
          <a:bodyPr wrap="square">
            <a:spAutoFit/>
          </a:bodyPr>
          <a:lstStyle/>
          <a:p>
            <a:pPr algn="l"/>
            <a:r>
              <a:rPr sz="1000" b="1">
                <a:solidFill>
                  <a:srgbClr val="0A0A0A"/>
                </a:solidFill>
                <a:latin typeface="Pretendard"/>
              </a:rPr>
              <a:t>Labels</a:t>
            </a:r>
          </a:p>
        </p:txBody>
      </p:sp>
      <p:sp>
        <p:nvSpPr>
          <p:cNvPr id="14" name="TextBox 13"/>
          <p:cNvSpPr txBox="1"/>
          <p:nvPr/>
        </p:nvSpPr>
        <p:spPr>
          <a:xfrm>
            <a:off x="2514600" y="4443983"/>
            <a:ext cx="4389120" cy="457200"/>
          </a:xfrm>
          <a:prstGeom prst="rect">
            <a:avLst/>
          </a:prstGeom>
          <a:noFill/>
        </p:spPr>
        <p:txBody>
          <a:bodyPr wrap="square">
            <a:spAutoFit/>
          </a:bodyPr>
          <a:lstStyle/>
          <a:p>
            <a:pPr algn="l"/>
            <a:r>
              <a:rPr sz="950" b="0">
                <a:solidFill>
                  <a:srgbClr val="5B5F63"/>
                </a:solidFill>
                <a:latin typeface="Pretendard"/>
              </a:rPr>
              <a:t>Pretendard SemiBold, 8 to 9pt, all caps, letterspaced</a:t>
            </a:r>
          </a:p>
        </p:txBody>
      </p:sp>
      <p:sp>
        <p:nvSpPr>
          <p:cNvPr id="15" name="TextBox 14"/>
          <p:cNvSpPr txBox="1"/>
          <p:nvPr/>
        </p:nvSpPr>
        <p:spPr>
          <a:xfrm>
            <a:off x="502920" y="5010912"/>
            <a:ext cx="1920240" cy="457200"/>
          </a:xfrm>
          <a:prstGeom prst="rect">
            <a:avLst/>
          </a:prstGeom>
          <a:noFill/>
        </p:spPr>
        <p:txBody>
          <a:bodyPr wrap="square">
            <a:spAutoFit/>
          </a:bodyPr>
          <a:lstStyle/>
          <a:p>
            <a:pPr algn="l"/>
            <a:r>
              <a:rPr sz="1000" b="1">
                <a:solidFill>
                  <a:srgbClr val="0A0A0A"/>
                </a:solidFill>
                <a:latin typeface="Pretendard"/>
              </a:rPr>
              <a:t>Data callout</a:t>
            </a:r>
          </a:p>
        </p:txBody>
      </p:sp>
      <p:sp>
        <p:nvSpPr>
          <p:cNvPr id="16" name="TextBox 15"/>
          <p:cNvSpPr txBox="1"/>
          <p:nvPr/>
        </p:nvSpPr>
        <p:spPr>
          <a:xfrm>
            <a:off x="2514600" y="5010912"/>
            <a:ext cx="4389120" cy="457200"/>
          </a:xfrm>
          <a:prstGeom prst="rect">
            <a:avLst/>
          </a:prstGeom>
          <a:noFill/>
        </p:spPr>
        <p:txBody>
          <a:bodyPr wrap="square">
            <a:spAutoFit/>
          </a:bodyPr>
          <a:lstStyle/>
          <a:p>
            <a:pPr algn="l"/>
            <a:r>
              <a:rPr sz="950" b="0">
                <a:solidFill>
                  <a:srgbClr val="5B5F63"/>
                </a:solidFill>
                <a:latin typeface="Pretendard"/>
              </a:rPr>
              <a:t>Pretendard Bold at display scale, ink on paper</a:t>
            </a:r>
          </a:p>
        </p:txBody>
      </p:sp>
      <p:sp>
        <p:nvSpPr>
          <p:cNvPr id="17" name="Rectangle 16"/>
          <p:cNvSpPr/>
          <p:nvPr/>
        </p:nvSpPr>
        <p:spPr>
          <a:xfrm>
            <a:off x="7315200" y="914400"/>
            <a:ext cx="4370832" cy="4663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35240" y="1097280"/>
            <a:ext cx="3657600" cy="1371600"/>
          </a:xfrm>
          <a:prstGeom prst="rect">
            <a:avLst/>
          </a:prstGeom>
          <a:noFill/>
        </p:spPr>
        <p:txBody>
          <a:bodyPr wrap="square">
            <a:spAutoFit/>
          </a:bodyPr>
          <a:lstStyle/>
          <a:p>
            <a:pPr algn="l"/>
            <a:r>
              <a:rPr sz="8000" b="1">
                <a:solidFill>
                  <a:srgbClr val="0A0A0A"/>
                </a:solidFill>
                <a:latin typeface="Pretendard"/>
              </a:rPr>
              <a:t>Aa</a:t>
            </a:r>
          </a:p>
        </p:txBody>
      </p:sp>
      <p:sp>
        <p:nvSpPr>
          <p:cNvPr id="19" name="TextBox 18"/>
          <p:cNvSpPr txBox="1"/>
          <p:nvPr/>
        </p:nvSpPr>
        <p:spPr>
          <a:xfrm>
            <a:off x="7635240" y="2697480"/>
            <a:ext cx="3657600" cy="320040"/>
          </a:xfrm>
          <a:prstGeom prst="rect">
            <a:avLst/>
          </a:prstGeom>
          <a:noFill/>
        </p:spPr>
        <p:txBody>
          <a:bodyPr wrap="square">
            <a:spAutoFit/>
          </a:bodyPr>
          <a:lstStyle/>
          <a:p>
            <a:pPr algn="l"/>
            <a:r>
              <a:rPr sz="1100" b="1">
                <a:solidFill>
                  <a:srgbClr val="0A0A0A"/>
                </a:solidFill>
                <a:latin typeface="Pretendard"/>
              </a:rPr>
              <a:t>Pretendard Bold</a:t>
            </a:r>
          </a:p>
        </p:txBody>
      </p:sp>
      <p:sp>
        <p:nvSpPr>
          <p:cNvPr id="20" name="TextBox 19"/>
          <p:cNvSpPr txBox="1"/>
          <p:nvPr/>
        </p:nvSpPr>
        <p:spPr>
          <a:xfrm>
            <a:off x="7635240" y="3063240"/>
            <a:ext cx="3749039" cy="1188720"/>
          </a:xfrm>
          <a:prstGeom prst="rect">
            <a:avLst/>
          </a:prstGeom>
          <a:noFill/>
        </p:spPr>
        <p:txBody>
          <a:bodyPr wrap="square">
            <a:spAutoFit/>
          </a:bodyPr>
          <a:lstStyle/>
          <a:p>
            <a:pPr algn="l"/>
            <a:r>
              <a:rPr sz="1400" b="0">
                <a:solidFill>
                  <a:srgbClr val="5B5F63"/>
                </a:solidFill>
                <a:latin typeface="Pretendard"/>
              </a:rPr>
              <a:t>ABCDEFGHIJKLM
abcdefghijklm
0123456789</a:t>
            </a:r>
          </a:p>
        </p:txBody>
      </p:sp>
      <p:sp>
        <p:nvSpPr>
          <p:cNvPr id="21" name="TextBox 20"/>
          <p:cNvSpPr txBox="1"/>
          <p:nvPr/>
        </p:nvSpPr>
        <p:spPr>
          <a:xfrm>
            <a:off x="7635240" y="4526280"/>
            <a:ext cx="3749039" cy="822960"/>
          </a:xfrm>
          <a:prstGeom prst="rect">
            <a:avLst/>
          </a:prstGeom>
          <a:noFill/>
        </p:spPr>
        <p:txBody>
          <a:bodyPr wrap="square">
            <a:spAutoFit/>
          </a:bodyPr>
          <a:lstStyle/>
          <a:p>
            <a:pPr algn="l"/>
            <a:r>
              <a:rPr sz="850" b="0">
                <a:solidFill>
                  <a:srgbClr val="B0B0AA"/>
                </a:solidFill>
                <a:latin typeface="Pretendard"/>
              </a:rPr>
              <a:t>Files: Pretendard-Regular.woff2, Pretendard-SemiBold.woff2, Pretendard-Bold.woff2</a:t>
            </a:r>
          </a:p>
        </p:txBody>
      </p:sp>
      <p:sp>
        <p:nvSpPr>
          <p:cNvPr id="22" name="Rectangle 21"/>
          <p:cNvSpPr/>
          <p:nvPr/>
        </p:nvSpPr>
        <p:spPr>
          <a:xfrm>
            <a:off x="502920" y="5760720"/>
            <a:ext cx="11183112"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943600"/>
            <a:ext cx="10698480" cy="411480"/>
          </a:xfrm>
          <a:prstGeom prst="rect">
            <a:avLst/>
          </a:prstGeom>
          <a:noFill/>
        </p:spPr>
        <p:txBody>
          <a:bodyPr wrap="square">
            <a:spAutoFit/>
          </a:bodyPr>
          <a:lstStyle/>
          <a:p>
            <a:pPr algn="l"/>
            <a:r>
              <a:rPr sz="950" b="0">
                <a:solidFill>
                  <a:srgbClr val="0A0A0A"/>
                </a:solidFill>
                <a:latin typeface="Pretendard"/>
              </a:rPr>
              <a:t>RULES   Bold for emphasis, never italics.  Minimum 10pt digital.  Max 70 characters per line.  Sentence case in product and social.  Mono (JetBrains Mono) only for code.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9144000" cy="274320"/>
          </a:xfrm>
          <a:prstGeom prst="rect">
            <a:avLst/>
          </a:prstGeom>
          <a:noFill/>
        </p:spPr>
        <p:txBody>
          <a:bodyPr wrap="square">
            <a:spAutoFit/>
          </a:bodyPr>
          <a:lstStyle/>
          <a:p>
            <a:pPr algn="l"/>
            <a:r>
              <a:rPr sz="900" b="1">
                <a:solidFill>
                  <a:srgbClr val="5B5F63"/>
                </a:solidFill>
                <a:latin typeface="Pretendard"/>
              </a:rPr>
              <a:t>09  THE SWISS VISUAL WORLD</a:t>
            </a:r>
          </a:p>
        </p:txBody>
      </p:sp>
      <p:sp>
        <p:nvSpPr>
          <p:cNvPr id="4" name="Rectangle 3"/>
          <p:cNvSpPr/>
          <p:nvPr/>
        </p:nvSpPr>
        <p:spPr>
          <a:xfrm>
            <a:off x="502920" y="713232"/>
            <a:ext cx="11183112" cy="10972"/>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68680"/>
            <a:ext cx="11155680" cy="548640"/>
          </a:xfrm>
          <a:prstGeom prst="rect">
            <a:avLst/>
          </a:prstGeom>
          <a:noFill/>
        </p:spPr>
        <p:txBody>
          <a:bodyPr wrap="square">
            <a:spAutoFit/>
          </a:bodyPr>
          <a:lstStyle/>
          <a:p>
            <a:pPr algn="l"/>
            <a:r>
              <a:rPr sz="2200" b="1">
                <a:solidFill>
                  <a:srgbClr val="0A0A0A"/>
                </a:solidFill>
                <a:latin typeface="Pretendard"/>
              </a:rPr>
              <a:t>The website already lives in the Alps. Social extends it.</a:t>
            </a:r>
          </a:p>
        </p:txBody>
      </p:sp>
      <p:sp>
        <p:nvSpPr>
          <p:cNvPr id="6" name="Rectangle 5"/>
          <p:cNvSpPr/>
          <p:nvPr/>
        </p:nvSpPr>
        <p:spPr>
          <a:xfrm>
            <a:off x="502920" y="1645920"/>
            <a:ext cx="5349240" cy="1600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45920"/>
            <a:ext cx="54864" cy="16002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 y="1792224"/>
            <a:ext cx="4846320" cy="365760"/>
          </a:xfrm>
          <a:prstGeom prst="rect">
            <a:avLst/>
          </a:prstGeom>
          <a:noFill/>
        </p:spPr>
        <p:txBody>
          <a:bodyPr wrap="square">
            <a:spAutoFit/>
          </a:bodyPr>
          <a:lstStyle/>
          <a:p>
            <a:pPr algn="l"/>
            <a:r>
              <a:rPr sz="1300" b="1">
                <a:solidFill>
                  <a:srgbClr val="0A0A0A"/>
                </a:solidFill>
                <a:latin typeface="Pretendard"/>
              </a:rPr>
              <a:t>Alpine photography</a:t>
            </a:r>
          </a:p>
        </p:txBody>
      </p:sp>
      <p:sp>
        <p:nvSpPr>
          <p:cNvPr id="9" name="TextBox 8"/>
          <p:cNvSpPr txBox="1"/>
          <p:nvPr/>
        </p:nvSpPr>
        <p:spPr>
          <a:xfrm>
            <a:off x="758952" y="2194560"/>
            <a:ext cx="4846320" cy="960120"/>
          </a:xfrm>
          <a:prstGeom prst="rect">
            <a:avLst/>
          </a:prstGeom>
          <a:noFill/>
        </p:spPr>
        <p:txBody>
          <a:bodyPr wrap="square">
            <a:spAutoFit/>
          </a:bodyPr>
          <a:lstStyle/>
          <a:p>
            <a:pPr algn="l"/>
            <a:r>
              <a:rPr sz="950" b="0">
                <a:solidFill>
                  <a:srgbClr val="5B5F63"/>
                </a:solidFill>
                <a:latin typeface="Pretendard"/>
              </a:rPr>
              <a:t>The premai.io hero sets the standard: dark, monumental peaks, mist, muted light. Social photography matches that exact mood. No saturated stock, no postcard blue skies.</a:t>
            </a:r>
          </a:p>
        </p:txBody>
      </p:sp>
      <p:sp>
        <p:nvSpPr>
          <p:cNvPr id="10" name="Rectangle 9"/>
          <p:cNvSpPr/>
          <p:nvPr/>
        </p:nvSpPr>
        <p:spPr>
          <a:xfrm>
            <a:off x="6355080" y="1645920"/>
            <a:ext cx="5349240" cy="1600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55080" y="1645920"/>
            <a:ext cx="54864" cy="16002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11112" y="1792224"/>
            <a:ext cx="4846320" cy="365760"/>
          </a:xfrm>
          <a:prstGeom prst="rect">
            <a:avLst/>
          </a:prstGeom>
          <a:noFill/>
        </p:spPr>
        <p:txBody>
          <a:bodyPr wrap="square">
            <a:spAutoFit/>
          </a:bodyPr>
          <a:lstStyle/>
          <a:p>
            <a:pPr algn="l"/>
            <a:r>
              <a:rPr sz="1300" b="1">
                <a:solidFill>
                  <a:srgbClr val="0A0A0A"/>
                </a:solidFill>
                <a:latin typeface="Pretendard"/>
              </a:rPr>
              <a:t>The dot map</a:t>
            </a:r>
          </a:p>
        </p:txBody>
      </p:sp>
      <p:sp>
        <p:nvSpPr>
          <p:cNvPr id="13" name="TextBox 12"/>
          <p:cNvSpPr txBox="1"/>
          <p:nvPr/>
        </p:nvSpPr>
        <p:spPr>
          <a:xfrm>
            <a:off x="6611112" y="2194560"/>
            <a:ext cx="4846320" cy="960120"/>
          </a:xfrm>
          <a:prstGeom prst="rect">
            <a:avLst/>
          </a:prstGeom>
          <a:noFill/>
        </p:spPr>
        <p:txBody>
          <a:bodyPr wrap="square">
            <a:spAutoFit/>
          </a:bodyPr>
          <a:lstStyle/>
          <a:p>
            <a:pPr algn="l"/>
            <a:r>
              <a:rPr sz="950" b="0">
                <a:solidFill>
                  <a:srgbClr val="5B5F63"/>
                </a:solidFill>
                <a:latin typeface="Pretendard"/>
              </a:rPr>
              <a:t>Switzerland drawn in the logo's own black-dot language. Our most ownable graphic: the country and the mark in one image.</a:t>
            </a:r>
          </a:p>
        </p:txBody>
      </p:sp>
      <p:sp>
        <p:nvSpPr>
          <p:cNvPr id="14" name="Rectangle 13"/>
          <p:cNvSpPr/>
          <p:nvPr/>
        </p:nvSpPr>
        <p:spPr>
          <a:xfrm>
            <a:off x="502920" y="3429000"/>
            <a:ext cx="5349240" cy="1600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3429000"/>
            <a:ext cx="54864" cy="16002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3575304"/>
            <a:ext cx="4846320" cy="365760"/>
          </a:xfrm>
          <a:prstGeom prst="rect">
            <a:avLst/>
          </a:prstGeom>
          <a:noFill/>
        </p:spPr>
        <p:txBody>
          <a:bodyPr wrap="square">
            <a:spAutoFit/>
          </a:bodyPr>
          <a:lstStyle/>
          <a:p>
            <a:pPr algn="l"/>
            <a:r>
              <a:rPr sz="1300" b="1">
                <a:solidFill>
                  <a:srgbClr val="0A0A0A"/>
                </a:solidFill>
                <a:latin typeface="Pretendard"/>
              </a:rPr>
              <a:t>Ridgelines</a:t>
            </a:r>
          </a:p>
        </p:txBody>
      </p:sp>
      <p:sp>
        <p:nvSpPr>
          <p:cNvPr id="17" name="TextBox 16"/>
          <p:cNvSpPr txBox="1"/>
          <p:nvPr/>
        </p:nvSpPr>
        <p:spPr>
          <a:xfrm>
            <a:off x="758952" y="3977639"/>
            <a:ext cx="4846320" cy="960120"/>
          </a:xfrm>
          <a:prstGeom prst="rect">
            <a:avLst/>
          </a:prstGeom>
          <a:noFill/>
        </p:spPr>
        <p:txBody>
          <a:bodyPr wrap="square">
            <a:spAutoFit/>
          </a:bodyPr>
          <a:lstStyle/>
          <a:p>
            <a:pPr algn="l"/>
            <a:r>
              <a:rPr sz="950" b="0">
                <a:solidFill>
                  <a:srgbClr val="5B5F63"/>
                </a:solidFill>
                <a:latin typeface="Pretendard"/>
              </a:rPr>
              <a:t>Grayscale mountain silhouettes as footers, section breaks and Reel cover frames. Quiet geometry, never decoration.</a:t>
            </a:r>
          </a:p>
        </p:txBody>
      </p:sp>
      <p:sp>
        <p:nvSpPr>
          <p:cNvPr id="18" name="Rectangle 17"/>
          <p:cNvSpPr/>
          <p:nvPr/>
        </p:nvSpPr>
        <p:spPr>
          <a:xfrm>
            <a:off x="6355080" y="3429000"/>
            <a:ext cx="5349240" cy="1600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55080" y="3429000"/>
            <a:ext cx="54864" cy="160020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11112" y="3575304"/>
            <a:ext cx="4846320" cy="365760"/>
          </a:xfrm>
          <a:prstGeom prst="rect">
            <a:avLst/>
          </a:prstGeom>
          <a:noFill/>
        </p:spPr>
        <p:txBody>
          <a:bodyPr wrap="square">
            <a:spAutoFit/>
          </a:bodyPr>
          <a:lstStyle/>
          <a:p>
            <a:pPr algn="l"/>
            <a:r>
              <a:rPr sz="1300" b="1">
                <a:solidFill>
                  <a:srgbClr val="0A0A0A"/>
                </a:solidFill>
                <a:latin typeface="Pretendard"/>
              </a:rPr>
              <a:t>Swiss grid</a:t>
            </a:r>
          </a:p>
        </p:txBody>
      </p:sp>
      <p:sp>
        <p:nvSpPr>
          <p:cNvPr id="21" name="TextBox 20"/>
          <p:cNvSpPr txBox="1"/>
          <p:nvPr/>
        </p:nvSpPr>
        <p:spPr>
          <a:xfrm>
            <a:off x="6611112" y="3977639"/>
            <a:ext cx="4846320" cy="960120"/>
          </a:xfrm>
          <a:prstGeom prst="rect">
            <a:avLst/>
          </a:prstGeom>
          <a:noFill/>
        </p:spPr>
        <p:txBody>
          <a:bodyPr wrap="square">
            <a:spAutoFit/>
          </a:bodyPr>
          <a:lstStyle/>
          <a:p>
            <a:pPr algn="l"/>
            <a:r>
              <a:rPr sz="950" b="0">
                <a:solidFill>
                  <a:srgbClr val="5B5F63"/>
                </a:solidFill>
                <a:latin typeface="Pretendard"/>
              </a:rPr>
              <a:t>The International Typographic Style is literally Swiss: strict grid, flush-left type, white space doing the work. We inherit it by birthright.</a:t>
            </a:r>
          </a:p>
        </p:txBody>
      </p:sp>
      <p:sp>
        <p:nvSpPr>
          <p:cNvPr id="22" name="Rectangle 21"/>
          <p:cNvSpPr/>
          <p:nvPr/>
        </p:nvSpPr>
        <p:spPr>
          <a:xfrm>
            <a:off x="502920" y="5303520"/>
            <a:ext cx="11183112" cy="1188720"/>
          </a:xfrm>
          <a:prstGeom prst="rect">
            <a:avLst/>
          </a:prstGeom>
          <a:solidFill>
            <a:srgbClr val="1717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440680"/>
            <a:ext cx="1828800" cy="274320"/>
          </a:xfrm>
          <a:prstGeom prst="rect">
            <a:avLst/>
          </a:prstGeom>
          <a:noFill/>
        </p:spPr>
        <p:txBody>
          <a:bodyPr wrap="square">
            <a:spAutoFit/>
          </a:bodyPr>
          <a:lstStyle/>
          <a:p>
            <a:pPr algn="l"/>
            <a:r>
              <a:rPr sz="800" b="1">
                <a:solidFill>
                  <a:srgbClr val="B0B0AA"/>
                </a:solidFill>
                <a:latin typeface="Pretendard"/>
              </a:rPr>
              <a:t>RULES</a:t>
            </a:r>
          </a:p>
        </p:txBody>
      </p:sp>
      <p:sp>
        <p:nvSpPr>
          <p:cNvPr id="24" name="TextBox 23"/>
          <p:cNvSpPr txBox="1"/>
          <p:nvPr/>
        </p:nvSpPr>
        <p:spPr>
          <a:xfrm>
            <a:off x="777240" y="5715000"/>
            <a:ext cx="10698480" cy="685800"/>
          </a:xfrm>
          <a:prstGeom prst="rect">
            <a:avLst/>
          </a:prstGeom>
          <a:noFill/>
        </p:spPr>
        <p:txBody>
          <a:bodyPr wrap="square">
            <a:spAutoFit/>
          </a:bodyPr>
          <a:lstStyle/>
          <a:p>
            <a:pPr algn="l"/>
            <a:r>
              <a:rPr sz="1000" b="0">
                <a:solidFill>
                  <a:srgbClr val="FAFAF8"/>
                </a:solidFill>
                <a:latin typeface="Pretendard"/>
              </a:rPr>
              <a:t>Never use the Swiss flag or cross: protected mark, and a cliche.  One motif per asset; they support the message, never carry it.  Color enters only through photography and product screens.  Every asset passes the calm test: if it shouts, it ships nowhere.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9144000" cy="274320"/>
          </a:xfrm>
          <a:prstGeom prst="rect">
            <a:avLst/>
          </a:prstGeom>
          <a:noFill/>
        </p:spPr>
        <p:txBody>
          <a:bodyPr wrap="square">
            <a:spAutoFit/>
          </a:bodyPr>
          <a:lstStyle/>
          <a:p>
            <a:pPr algn="l"/>
            <a:r>
              <a:rPr sz="900" b="1">
                <a:solidFill>
                  <a:srgbClr val="5B5F63"/>
                </a:solidFill>
                <a:latin typeface="Pretendard"/>
              </a:rPr>
              <a:t>10  VISUAL APPLICATION  |  SOCIAL TEMPLATES</a:t>
            </a:r>
          </a:p>
        </p:txBody>
      </p:sp>
      <p:sp>
        <p:nvSpPr>
          <p:cNvPr id="4" name="Rectangle 3"/>
          <p:cNvSpPr/>
          <p:nvPr/>
        </p:nvSpPr>
        <p:spPr>
          <a:xfrm>
            <a:off x="502920" y="713232"/>
            <a:ext cx="11183112" cy="10972"/>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88720"/>
            <a:ext cx="2377440" cy="4224528"/>
          </a:xfrm>
          <a:prstGeom prst="rect">
            <a:avLst/>
          </a:prstGeom>
          <a:solidFill>
            <a:srgbClr val="FAFAF8"/>
          </a:solidFill>
          <a:ln w="15240">
            <a:solidFill>
              <a:srgbClr val="ECE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777240" y="3767328"/>
            <a:ext cx="2377440" cy="3090672"/>
          </a:xfrm>
          <a:custGeom>
            <a:avLst/>
            <a:gdLst/>
            <a:ahLst/>
            <a:cxnLst/>
            <a:rect l="l" t="t" r="r" b="b"/>
            <a:pathLst>
              <a:path w="2377440" h="3090672">
                <a:moveTo>
                  <a:pt x="0" y="3090672"/>
                </a:moveTo>
                <a:lnTo>
                  <a:pt x="0" y="640080"/>
                </a:lnTo>
                <a:lnTo>
                  <a:pt x="640079" y="91440"/>
                </a:lnTo>
                <a:lnTo>
                  <a:pt x="1280160" y="548640"/>
                </a:lnTo>
                <a:lnTo>
                  <a:pt x="1828800" y="0"/>
                </a:lnTo>
                <a:lnTo>
                  <a:pt x="2377440" y="502920"/>
                </a:lnTo>
                <a:lnTo>
                  <a:pt x="2377440" y="3090672"/>
                </a:lnTo>
                <a:close/>
              </a:path>
            </a:pathLst>
          </a:custGeom>
          <a:solidFill>
            <a:srgbClr val="CFCE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58952" y="5413248"/>
            <a:ext cx="2414016" cy="1444752"/>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45920"/>
            <a:ext cx="2011680" cy="548640"/>
          </a:xfrm>
          <a:prstGeom prst="rect">
            <a:avLst/>
          </a:prstGeom>
          <a:noFill/>
        </p:spPr>
        <p:txBody>
          <a:bodyPr wrap="square">
            <a:spAutoFit/>
          </a:bodyPr>
          <a:lstStyle/>
          <a:p>
            <a:pPr algn="l"/>
            <a:r>
              <a:rPr sz="2800" b="1">
                <a:solidFill>
                  <a:srgbClr val="0A0A0A"/>
                </a:solidFill>
                <a:latin typeface="Pretendard"/>
              </a:rPr>
              <a:t>23 MIN</a:t>
            </a:r>
          </a:p>
        </p:txBody>
      </p:sp>
      <p:sp>
        <p:nvSpPr>
          <p:cNvPr id="9" name="TextBox 8"/>
          <p:cNvSpPr txBox="1"/>
          <p:nvPr/>
        </p:nvSpPr>
        <p:spPr>
          <a:xfrm>
            <a:off x="960120" y="2240280"/>
            <a:ext cx="2011680" cy="640080"/>
          </a:xfrm>
          <a:prstGeom prst="rect">
            <a:avLst/>
          </a:prstGeom>
          <a:noFill/>
        </p:spPr>
        <p:txBody>
          <a:bodyPr wrap="square">
            <a:spAutoFit/>
          </a:bodyPr>
          <a:lstStyle/>
          <a:p>
            <a:pPr algn="l"/>
            <a:r>
              <a:rPr sz="1000" b="0">
                <a:solidFill>
                  <a:srgbClr val="5B5F63"/>
                </a:solidFill>
                <a:latin typeface="Pretendard"/>
              </a:rPr>
              <a:t>contract review,
every clause sourced</a:t>
            </a:r>
          </a:p>
        </p:txBody>
      </p:sp>
      <p:sp>
        <p:nvSpPr>
          <p:cNvPr id="10" name="Oval 9"/>
          <p:cNvSpPr/>
          <p:nvPr/>
        </p:nvSpPr>
        <p:spPr>
          <a:xfrm>
            <a:off x="1022299" y="5073091"/>
            <a:ext cx="95097" cy="95097"/>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94206" y="5089550"/>
            <a:ext cx="62179" cy="62179"/>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338681" y="5078577"/>
            <a:ext cx="84124" cy="84124"/>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508759" y="5093207"/>
            <a:ext cx="54864" cy="54864"/>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655063" y="5084064"/>
            <a:ext cx="73152" cy="73152"/>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522976"/>
            <a:ext cx="2377440" cy="274320"/>
          </a:xfrm>
          <a:prstGeom prst="rect">
            <a:avLst/>
          </a:prstGeom>
          <a:noFill/>
        </p:spPr>
        <p:txBody>
          <a:bodyPr wrap="square">
            <a:spAutoFit/>
          </a:bodyPr>
          <a:lstStyle/>
          <a:p>
            <a:pPr algn="l"/>
            <a:r>
              <a:rPr sz="800" b="1">
                <a:solidFill>
                  <a:srgbClr val="5B5F63"/>
                </a:solidFill>
                <a:latin typeface="Pretendard"/>
              </a:rPr>
              <a:t>REEL COVER  9:16</a:t>
            </a:r>
          </a:p>
        </p:txBody>
      </p:sp>
      <p:sp>
        <p:nvSpPr>
          <p:cNvPr id="16" name="TextBox 15"/>
          <p:cNvSpPr txBox="1"/>
          <p:nvPr/>
        </p:nvSpPr>
        <p:spPr>
          <a:xfrm>
            <a:off x="777240" y="5797296"/>
            <a:ext cx="2377440" cy="457200"/>
          </a:xfrm>
          <a:prstGeom prst="rect">
            <a:avLst/>
          </a:prstGeom>
          <a:noFill/>
        </p:spPr>
        <p:txBody>
          <a:bodyPr wrap="square">
            <a:spAutoFit/>
          </a:bodyPr>
          <a:lstStyle/>
          <a:p>
            <a:pPr algn="l"/>
            <a:r>
              <a:rPr sz="850" b="0">
                <a:solidFill>
                  <a:srgbClr val="B0B0AA"/>
                </a:solidFill>
                <a:latin typeface="Pretendard"/>
              </a:rPr>
              <a:t>Big number, one claim,
ridge footer, dot row</a:t>
            </a:r>
          </a:p>
        </p:txBody>
      </p:sp>
      <p:sp>
        <p:nvSpPr>
          <p:cNvPr id="17" name="Rectangle 16"/>
          <p:cNvSpPr/>
          <p:nvPr/>
        </p:nvSpPr>
        <p:spPr>
          <a:xfrm>
            <a:off x="4160520" y="1188720"/>
            <a:ext cx="3291840" cy="3291840"/>
          </a:xfrm>
          <a:prstGeom prst="rect">
            <a:avLst/>
          </a:prstGeom>
          <a:solidFill>
            <a:srgbClr val="FFFFFF"/>
          </a:solidFill>
          <a:ln w="15240">
            <a:solidFill>
              <a:srgbClr val="ECEA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89120" y="1463040"/>
            <a:ext cx="2834640" cy="914400"/>
          </a:xfrm>
          <a:prstGeom prst="rect">
            <a:avLst/>
          </a:prstGeom>
          <a:noFill/>
        </p:spPr>
        <p:txBody>
          <a:bodyPr wrap="square">
            <a:spAutoFit/>
          </a:bodyPr>
          <a:lstStyle/>
          <a:p>
            <a:pPr algn="l"/>
            <a:r>
              <a:rPr sz="1800" b="1">
                <a:solidFill>
                  <a:srgbClr val="0A0A0A"/>
                </a:solidFill>
                <a:latin typeface="Pretendard"/>
              </a:rPr>
              <a:t>The 20-minute
agent test</a:t>
            </a:r>
          </a:p>
        </p:txBody>
      </p:sp>
      <p:sp>
        <p:nvSpPr>
          <p:cNvPr id="19" name="TextBox 18"/>
          <p:cNvSpPr txBox="1"/>
          <p:nvPr/>
        </p:nvSpPr>
        <p:spPr>
          <a:xfrm>
            <a:off x="4389120" y="2514600"/>
            <a:ext cx="2834640" cy="548640"/>
          </a:xfrm>
          <a:prstGeom prst="rect">
            <a:avLst/>
          </a:prstGeom>
          <a:noFill/>
        </p:spPr>
        <p:txBody>
          <a:bodyPr wrap="square">
            <a:spAutoFit/>
          </a:bodyPr>
          <a:lstStyle/>
          <a:p>
            <a:pPr algn="l"/>
            <a:r>
              <a:rPr sz="1000" b="0">
                <a:solidFill>
                  <a:srgbClr val="5B5F63"/>
                </a:solidFill>
                <a:latin typeface="Pretendard"/>
              </a:rPr>
              <a:t>One task. One timer.
Receipts inside.</a:t>
            </a:r>
          </a:p>
        </p:txBody>
      </p:sp>
      <p:sp>
        <p:nvSpPr>
          <p:cNvPr id="20" name="Oval 19"/>
          <p:cNvSpPr/>
          <p:nvPr/>
        </p:nvSpPr>
        <p:spPr>
          <a:xfrm>
            <a:off x="6412687" y="3166567"/>
            <a:ext cx="40233" cy="40233"/>
          </a:xfrm>
          <a:prstGeom prst="ellipse">
            <a:avLst/>
          </a:prstGeom>
          <a:solidFill>
            <a:srgbClr val="9C9C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90411" y="3166567"/>
            <a:ext cx="40233" cy="40233"/>
          </a:xfrm>
          <a:prstGeom prst="ellipse">
            <a:avLst/>
          </a:prstGeom>
          <a:solidFill>
            <a:srgbClr val="9B9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568135" y="3166567"/>
            <a:ext cx="40233" cy="40233"/>
          </a:xfrm>
          <a:prstGeom prst="ellipse">
            <a:avLst/>
          </a:prstGeom>
          <a:solidFill>
            <a:srgbClr val="9999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645859" y="3166567"/>
            <a:ext cx="40233" cy="40233"/>
          </a:xfrm>
          <a:prstGeom prst="ellipse">
            <a:avLst/>
          </a:prstGeom>
          <a:solidFill>
            <a:srgbClr val="9898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179515" y="3244291"/>
            <a:ext cx="40233" cy="40233"/>
          </a:xfrm>
          <a:prstGeom prst="ellipse">
            <a:avLst/>
          </a:prstGeom>
          <a:solidFill>
            <a:srgbClr val="A0A0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257239" y="3244291"/>
            <a:ext cx="40233" cy="40233"/>
          </a:xfrm>
          <a:prstGeom prst="ellipse">
            <a:avLst/>
          </a:prstGeom>
          <a:solidFill>
            <a:srgbClr val="9E9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34963" y="3244291"/>
            <a:ext cx="40233" cy="40233"/>
          </a:xfrm>
          <a:prstGeom prst="ellipse">
            <a:avLst/>
          </a:prstGeom>
          <a:solidFill>
            <a:srgbClr val="9C9C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12687" y="3244291"/>
            <a:ext cx="40233" cy="40233"/>
          </a:xfrm>
          <a:prstGeom prst="ellipse">
            <a:avLst/>
          </a:prstGeom>
          <a:solidFill>
            <a:srgbClr val="9B9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490411" y="3244291"/>
            <a:ext cx="40233" cy="40233"/>
          </a:xfrm>
          <a:prstGeom prst="ellipse">
            <a:avLst/>
          </a:prstGeom>
          <a:solidFill>
            <a:srgbClr val="9999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568135" y="3244291"/>
            <a:ext cx="40233" cy="40233"/>
          </a:xfrm>
          <a:prstGeom prst="ellipse">
            <a:avLst/>
          </a:prstGeom>
          <a:solidFill>
            <a:srgbClr val="9898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45859" y="3244291"/>
            <a:ext cx="40233" cy="40233"/>
          </a:xfrm>
          <a:prstGeom prst="ellipse">
            <a:avLst/>
          </a:prstGeom>
          <a:solidFill>
            <a:srgbClr val="9696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723583" y="3244291"/>
            <a:ext cx="40233" cy="40233"/>
          </a:xfrm>
          <a:prstGeom prst="ellipse">
            <a:avLst/>
          </a:prstGeom>
          <a:solidFill>
            <a:srgbClr val="9494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801307" y="3244291"/>
            <a:ext cx="40233" cy="40233"/>
          </a:xfrm>
          <a:prstGeom prst="ellipse">
            <a:avLst/>
          </a:prstGeom>
          <a:solidFill>
            <a:srgbClr val="9393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024067" y="3322015"/>
            <a:ext cx="40233" cy="40233"/>
          </a:xfrm>
          <a:prstGeom prst="ellipse">
            <a:avLst/>
          </a:prstGeom>
          <a:solidFill>
            <a:srgbClr val="A1A1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101791" y="3322015"/>
            <a:ext cx="40233" cy="40233"/>
          </a:xfrm>
          <a:prstGeom prst="ellipse">
            <a:avLst/>
          </a:prstGeom>
          <a:solidFill>
            <a:srgbClr val="9F9F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179515" y="3322015"/>
            <a:ext cx="40233" cy="40233"/>
          </a:xfrm>
          <a:prstGeom prst="ellipse">
            <a:avLst/>
          </a:prstGeom>
          <a:solidFill>
            <a:srgbClr val="9E9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257239" y="3322015"/>
            <a:ext cx="40233" cy="40233"/>
          </a:xfrm>
          <a:prstGeom prst="ellipse">
            <a:avLst/>
          </a:prstGeom>
          <a:solidFill>
            <a:srgbClr val="9C9C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334963" y="3322015"/>
            <a:ext cx="40233" cy="40233"/>
          </a:xfrm>
          <a:prstGeom prst="ellipse">
            <a:avLst/>
          </a:prstGeom>
          <a:solidFill>
            <a:srgbClr val="9B9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412687" y="3322015"/>
            <a:ext cx="40233" cy="40233"/>
          </a:xfrm>
          <a:prstGeom prst="ellipse">
            <a:avLst/>
          </a:prstGeom>
          <a:solidFill>
            <a:srgbClr val="9999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490411" y="3322015"/>
            <a:ext cx="40233" cy="40233"/>
          </a:xfrm>
          <a:prstGeom prst="ellipse">
            <a:avLst/>
          </a:prstGeom>
          <a:solidFill>
            <a:srgbClr val="9898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568135" y="3322015"/>
            <a:ext cx="40233" cy="40233"/>
          </a:xfrm>
          <a:prstGeom prst="ellipse">
            <a:avLst/>
          </a:prstGeom>
          <a:solidFill>
            <a:srgbClr val="9696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645859" y="3322015"/>
            <a:ext cx="40233" cy="40233"/>
          </a:xfrm>
          <a:prstGeom prst="ellipse">
            <a:avLst/>
          </a:prstGeom>
          <a:solidFill>
            <a:srgbClr val="9494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723583" y="3322015"/>
            <a:ext cx="40233" cy="40233"/>
          </a:xfrm>
          <a:prstGeom prst="ellipse">
            <a:avLst/>
          </a:prstGeom>
          <a:solidFill>
            <a:srgbClr val="9393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6801307" y="3322015"/>
            <a:ext cx="40233" cy="40233"/>
          </a:xfrm>
          <a:prstGeom prst="ellipse">
            <a:avLst/>
          </a:prstGeom>
          <a:solidFill>
            <a:srgbClr val="9191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879031" y="3322015"/>
            <a:ext cx="40233" cy="40233"/>
          </a:xfrm>
          <a:prstGeom prst="ellipse">
            <a:avLst/>
          </a:prstGeom>
          <a:solidFill>
            <a:srgbClr val="9090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5946343" y="3399739"/>
            <a:ext cx="40233" cy="40233"/>
          </a:xfrm>
          <a:prstGeom prst="ellipse">
            <a:avLst/>
          </a:prstGeom>
          <a:solidFill>
            <a:srgbClr val="A1A1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6024067" y="3399739"/>
            <a:ext cx="40233" cy="40233"/>
          </a:xfrm>
          <a:prstGeom prst="ellipse">
            <a:avLst/>
          </a:prstGeom>
          <a:solidFill>
            <a:srgbClr val="9F9F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101791" y="3399739"/>
            <a:ext cx="40233" cy="40233"/>
          </a:xfrm>
          <a:prstGeom prst="ellipse">
            <a:avLst/>
          </a:prstGeom>
          <a:solidFill>
            <a:srgbClr val="9E9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6179515" y="3399739"/>
            <a:ext cx="40233" cy="40233"/>
          </a:xfrm>
          <a:prstGeom prst="ellipse">
            <a:avLst/>
          </a:prstGeom>
          <a:solidFill>
            <a:srgbClr val="9C9C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6257239" y="3399739"/>
            <a:ext cx="40233" cy="40233"/>
          </a:xfrm>
          <a:prstGeom prst="ellipse">
            <a:avLst/>
          </a:prstGeom>
          <a:solidFill>
            <a:srgbClr val="9B9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334963" y="3399739"/>
            <a:ext cx="40233" cy="40233"/>
          </a:xfrm>
          <a:prstGeom prst="ellipse">
            <a:avLst/>
          </a:prstGeom>
          <a:solidFill>
            <a:srgbClr val="9999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6412687" y="3399739"/>
            <a:ext cx="40233" cy="40233"/>
          </a:xfrm>
          <a:prstGeom prst="ellipse">
            <a:avLst/>
          </a:prstGeom>
          <a:solidFill>
            <a:srgbClr val="9797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490411" y="3399739"/>
            <a:ext cx="40233" cy="40233"/>
          </a:xfrm>
          <a:prstGeom prst="ellipse">
            <a:avLst/>
          </a:prstGeom>
          <a:solidFill>
            <a:srgbClr val="9696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568135" y="3399739"/>
            <a:ext cx="40233" cy="40233"/>
          </a:xfrm>
          <a:prstGeom prst="ellipse">
            <a:avLst/>
          </a:prstGeom>
          <a:solidFill>
            <a:srgbClr val="9494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6645859" y="3399739"/>
            <a:ext cx="40233" cy="40233"/>
          </a:xfrm>
          <a:prstGeom prst="ellipse">
            <a:avLst/>
          </a:prstGeom>
          <a:solidFill>
            <a:srgbClr val="9393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6723583" y="3399739"/>
            <a:ext cx="40233" cy="40233"/>
          </a:xfrm>
          <a:prstGeom prst="ellipse">
            <a:avLst/>
          </a:prstGeom>
          <a:solidFill>
            <a:srgbClr val="9191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6801307" y="3399739"/>
            <a:ext cx="40233" cy="40233"/>
          </a:xfrm>
          <a:prstGeom prst="ellipse">
            <a:avLst/>
          </a:prstGeom>
          <a:solidFill>
            <a:srgbClr val="9090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6879031" y="3399739"/>
            <a:ext cx="40233" cy="40233"/>
          </a:xfrm>
          <a:prstGeom prst="ellipse">
            <a:avLst/>
          </a:prstGeom>
          <a:solidFill>
            <a:srgbClr val="8E8E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5868619" y="3477463"/>
            <a:ext cx="40233" cy="40233"/>
          </a:xfrm>
          <a:prstGeom prst="ellipse">
            <a:avLst/>
          </a:prstGeom>
          <a:solidFill>
            <a:srgbClr val="A1A1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5946343" y="3477463"/>
            <a:ext cx="40233" cy="40233"/>
          </a:xfrm>
          <a:prstGeom prst="ellipse">
            <a:avLst/>
          </a:prstGeom>
          <a:solidFill>
            <a:srgbClr val="9F9F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6024067" y="3477463"/>
            <a:ext cx="40233" cy="40233"/>
          </a:xfrm>
          <a:prstGeom prst="ellipse">
            <a:avLst/>
          </a:prstGeom>
          <a:solidFill>
            <a:srgbClr val="9E9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6101791" y="3477463"/>
            <a:ext cx="40233" cy="40233"/>
          </a:xfrm>
          <a:prstGeom prst="ellipse">
            <a:avLst/>
          </a:prstGeom>
          <a:solidFill>
            <a:srgbClr val="9C9C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6179515" y="3477463"/>
            <a:ext cx="40233" cy="40233"/>
          </a:xfrm>
          <a:prstGeom prst="ellipse">
            <a:avLst/>
          </a:prstGeom>
          <a:solidFill>
            <a:srgbClr val="9B9B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6257239" y="3477463"/>
            <a:ext cx="40233" cy="40233"/>
          </a:xfrm>
          <a:prstGeom prst="ellipse">
            <a:avLst/>
          </a:prstGeom>
          <a:solidFill>
            <a:srgbClr val="9999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6334963" y="3477463"/>
            <a:ext cx="40233" cy="40233"/>
          </a:xfrm>
          <a:prstGeom prst="ellipse">
            <a:avLst/>
          </a:prstGeom>
          <a:solidFill>
            <a:srgbClr val="9797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6412687" y="3477463"/>
            <a:ext cx="40233" cy="40233"/>
          </a:xfrm>
          <a:prstGeom prst="ellipse">
            <a:avLst/>
          </a:prstGeom>
          <a:solidFill>
            <a:srgbClr val="9696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6490411" y="3477463"/>
            <a:ext cx="40233" cy="40233"/>
          </a:xfrm>
          <a:prstGeom prst="ellipse">
            <a:avLst/>
          </a:prstGeom>
          <a:solidFill>
            <a:srgbClr val="9494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6568135" y="3477463"/>
            <a:ext cx="40233" cy="40233"/>
          </a:xfrm>
          <a:prstGeom prst="ellipse">
            <a:avLst/>
          </a:prstGeom>
          <a:solidFill>
            <a:srgbClr val="9393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6645859" y="3477463"/>
            <a:ext cx="40233" cy="40233"/>
          </a:xfrm>
          <a:prstGeom prst="ellipse">
            <a:avLst/>
          </a:prstGeom>
          <a:solidFill>
            <a:srgbClr val="9191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6723583" y="3477463"/>
            <a:ext cx="40233" cy="40233"/>
          </a:xfrm>
          <a:prstGeom prst="ellipse">
            <a:avLst/>
          </a:prstGeom>
          <a:solidFill>
            <a:srgbClr val="8F8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6801307" y="3477463"/>
            <a:ext cx="40233" cy="40233"/>
          </a:xfrm>
          <a:prstGeom prst="ellipse">
            <a:avLst/>
          </a:prstGeom>
          <a:solidFill>
            <a:srgbClr val="8E8E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6879031" y="3477463"/>
            <a:ext cx="40233" cy="40233"/>
          </a:xfrm>
          <a:prstGeom prst="ellipse">
            <a:avLst/>
          </a:prstGeom>
          <a:solidFill>
            <a:srgbClr val="8C8C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790895" y="3555187"/>
            <a:ext cx="40233" cy="40233"/>
          </a:xfrm>
          <a:prstGeom prst="ellipse">
            <a:avLst/>
          </a:prstGeom>
          <a:solidFill>
            <a:srgbClr val="A1A1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868619" y="3555187"/>
            <a:ext cx="40233" cy="40233"/>
          </a:xfrm>
          <a:prstGeom prst="ellipse">
            <a:avLst/>
          </a:prstGeom>
          <a:solidFill>
            <a:srgbClr val="9F9F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946343" y="3555187"/>
            <a:ext cx="40233" cy="40233"/>
          </a:xfrm>
          <a:prstGeom prst="ellipse">
            <a:avLst/>
          </a:prstGeom>
          <a:solidFill>
            <a:srgbClr val="9E9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6024067" y="3555187"/>
            <a:ext cx="40233" cy="40233"/>
          </a:xfrm>
          <a:prstGeom prst="ellipse">
            <a:avLst/>
          </a:prstGeom>
          <a:solidFill>
            <a:srgbClr val="9C9C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01791" y="3555187"/>
            <a:ext cx="40233" cy="40233"/>
          </a:xfrm>
          <a:prstGeom prst="ellipse">
            <a:avLst/>
          </a:prstGeom>
          <a:solidFill>
            <a:srgbClr val="9A9A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179515" y="3555187"/>
            <a:ext cx="40233" cy="40233"/>
          </a:xfrm>
          <a:prstGeom prst="ellipse">
            <a:avLst/>
          </a:prstGeom>
          <a:solidFill>
            <a:srgbClr val="9999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6257239" y="3555187"/>
            <a:ext cx="40233" cy="40233"/>
          </a:xfrm>
          <a:prstGeom prst="ellipse">
            <a:avLst/>
          </a:prstGeom>
          <a:solidFill>
            <a:srgbClr val="9797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6334963" y="3555187"/>
            <a:ext cx="40233" cy="40233"/>
          </a:xfrm>
          <a:prstGeom prst="ellipse">
            <a:avLst/>
          </a:prstGeom>
          <a:solidFill>
            <a:srgbClr val="9696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6412687" y="3555187"/>
            <a:ext cx="40233" cy="40233"/>
          </a:xfrm>
          <a:prstGeom prst="ellipse">
            <a:avLst/>
          </a:prstGeom>
          <a:solidFill>
            <a:srgbClr val="9494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6490411" y="3555187"/>
            <a:ext cx="40233" cy="40233"/>
          </a:xfrm>
          <a:prstGeom prst="ellipse">
            <a:avLst/>
          </a:prstGeom>
          <a:solidFill>
            <a:srgbClr val="9393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6568135" y="3555187"/>
            <a:ext cx="40233" cy="40233"/>
          </a:xfrm>
          <a:prstGeom prst="ellipse">
            <a:avLst/>
          </a:prstGeom>
          <a:solidFill>
            <a:srgbClr val="9191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6645859" y="3555187"/>
            <a:ext cx="40233" cy="40233"/>
          </a:xfrm>
          <a:prstGeom prst="ellipse">
            <a:avLst/>
          </a:prstGeom>
          <a:solidFill>
            <a:srgbClr val="8F8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6723583" y="3555187"/>
            <a:ext cx="40233" cy="40233"/>
          </a:xfrm>
          <a:prstGeom prst="ellipse">
            <a:avLst/>
          </a:prstGeom>
          <a:solidFill>
            <a:srgbClr val="8E8E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6801307" y="3555187"/>
            <a:ext cx="40233" cy="40233"/>
          </a:xfrm>
          <a:prstGeom prst="ellipse">
            <a:avLst/>
          </a:prstGeom>
          <a:solidFill>
            <a:srgbClr val="8C8C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6879031" y="3555187"/>
            <a:ext cx="40233" cy="40233"/>
          </a:xfrm>
          <a:prstGeom prst="ellipse">
            <a:avLst/>
          </a:prstGeom>
          <a:solidFill>
            <a:srgbClr val="8B8B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6956755" y="3555187"/>
            <a:ext cx="40233" cy="40233"/>
          </a:xfrm>
          <a:prstGeom prst="ellipse">
            <a:avLst/>
          </a:prstGeom>
          <a:solidFill>
            <a:srgbClr val="8989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7034479" y="3555187"/>
            <a:ext cx="40233" cy="40233"/>
          </a:xfrm>
          <a:prstGeom prst="ellipse">
            <a:avLst/>
          </a:prstGeom>
          <a:solidFill>
            <a:srgbClr val="8787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5790895" y="3632911"/>
            <a:ext cx="40233" cy="40233"/>
          </a:xfrm>
          <a:prstGeom prst="ellipse">
            <a:avLst/>
          </a:prstGeom>
          <a:solidFill>
            <a:srgbClr val="9F9F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868619" y="3632911"/>
            <a:ext cx="40233" cy="40233"/>
          </a:xfrm>
          <a:prstGeom prst="ellipse">
            <a:avLst/>
          </a:prstGeom>
          <a:solidFill>
            <a:srgbClr val="9E9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5946343" y="3632911"/>
            <a:ext cx="40233" cy="40233"/>
          </a:xfrm>
          <a:prstGeom prst="ellipse">
            <a:avLst/>
          </a:prstGeom>
          <a:solidFill>
            <a:srgbClr val="9C9C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6024067" y="3632911"/>
            <a:ext cx="40233" cy="40233"/>
          </a:xfrm>
          <a:prstGeom prst="ellipse">
            <a:avLst/>
          </a:prstGeom>
          <a:solidFill>
            <a:srgbClr val="9A9A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6101791" y="3632911"/>
            <a:ext cx="40233" cy="40233"/>
          </a:xfrm>
          <a:prstGeom prst="ellipse">
            <a:avLst/>
          </a:prstGeom>
          <a:solidFill>
            <a:srgbClr val="9999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6179515" y="3632911"/>
            <a:ext cx="40233" cy="40233"/>
          </a:xfrm>
          <a:prstGeom prst="ellipse">
            <a:avLst/>
          </a:prstGeom>
          <a:solidFill>
            <a:srgbClr val="9797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257239" y="3632911"/>
            <a:ext cx="40233" cy="40233"/>
          </a:xfrm>
          <a:prstGeom prst="ellipse">
            <a:avLst/>
          </a:prstGeom>
          <a:solidFill>
            <a:srgbClr val="9696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6334963" y="3632911"/>
            <a:ext cx="40233" cy="40233"/>
          </a:xfrm>
          <a:prstGeom prst="ellipse">
            <a:avLst/>
          </a:prstGeom>
          <a:solidFill>
            <a:srgbClr val="9494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6412687" y="3632911"/>
            <a:ext cx="40233" cy="40233"/>
          </a:xfrm>
          <a:prstGeom prst="ellipse">
            <a:avLst/>
          </a:prstGeom>
          <a:solidFill>
            <a:srgbClr val="9393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6490411" y="3632911"/>
            <a:ext cx="40233" cy="40233"/>
          </a:xfrm>
          <a:prstGeom prst="ellipse">
            <a:avLst/>
          </a:prstGeom>
          <a:solidFill>
            <a:srgbClr val="9191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6568135" y="3632911"/>
            <a:ext cx="40233" cy="40233"/>
          </a:xfrm>
          <a:prstGeom prst="ellipse">
            <a:avLst/>
          </a:prstGeom>
          <a:solidFill>
            <a:srgbClr val="8F8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645859" y="3632911"/>
            <a:ext cx="40233" cy="40233"/>
          </a:xfrm>
          <a:prstGeom prst="ellipse">
            <a:avLst/>
          </a:prstGeom>
          <a:solidFill>
            <a:srgbClr val="8E8E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723583" y="3632911"/>
            <a:ext cx="40233" cy="40233"/>
          </a:xfrm>
          <a:prstGeom prst="ellipse">
            <a:avLst/>
          </a:prstGeom>
          <a:solidFill>
            <a:srgbClr val="8C8C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6801307" y="3632911"/>
            <a:ext cx="40233" cy="40233"/>
          </a:xfrm>
          <a:prstGeom prst="ellipse">
            <a:avLst/>
          </a:prstGeom>
          <a:solidFill>
            <a:srgbClr val="8B8B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6879031" y="3632911"/>
            <a:ext cx="40233" cy="40233"/>
          </a:xfrm>
          <a:prstGeom prst="ellipse">
            <a:avLst/>
          </a:prstGeom>
          <a:solidFill>
            <a:srgbClr val="8989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6956755" y="3632911"/>
            <a:ext cx="40233" cy="40233"/>
          </a:xfrm>
          <a:prstGeom prst="ellipse">
            <a:avLst/>
          </a:prstGeom>
          <a:solidFill>
            <a:srgbClr val="8787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7034479" y="3632911"/>
            <a:ext cx="40233" cy="40233"/>
          </a:xfrm>
          <a:prstGeom prst="ellipse">
            <a:avLst/>
          </a:prstGeom>
          <a:solidFill>
            <a:srgbClr val="86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7112203" y="3632911"/>
            <a:ext cx="40233" cy="40233"/>
          </a:xfrm>
          <a:prstGeom prst="ellipse">
            <a:avLst/>
          </a:prstGeom>
          <a:solidFill>
            <a:srgbClr val="8484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189927" y="3632911"/>
            <a:ext cx="40233" cy="40233"/>
          </a:xfrm>
          <a:prstGeom prst="ellipse">
            <a:avLst/>
          </a:prstGeom>
          <a:solidFill>
            <a:srgbClr val="8383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5713171" y="3710635"/>
            <a:ext cx="40233" cy="40233"/>
          </a:xfrm>
          <a:prstGeom prst="ellipse">
            <a:avLst/>
          </a:prstGeom>
          <a:solidFill>
            <a:srgbClr val="9F9F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5790895" y="3710635"/>
            <a:ext cx="40233" cy="40233"/>
          </a:xfrm>
          <a:prstGeom prst="ellipse">
            <a:avLst/>
          </a:prstGeom>
          <a:solidFill>
            <a:srgbClr val="9E9E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5868619" y="3710635"/>
            <a:ext cx="40233" cy="40233"/>
          </a:xfrm>
          <a:prstGeom prst="ellipse">
            <a:avLst/>
          </a:prstGeom>
          <a:solidFill>
            <a:srgbClr val="9C9C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5946343" y="3710635"/>
            <a:ext cx="40233" cy="40233"/>
          </a:xfrm>
          <a:prstGeom prst="ellipse">
            <a:avLst/>
          </a:prstGeom>
          <a:solidFill>
            <a:srgbClr val="9A9A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6024067" y="3710635"/>
            <a:ext cx="40233" cy="40233"/>
          </a:xfrm>
          <a:prstGeom prst="ellipse">
            <a:avLst/>
          </a:prstGeom>
          <a:solidFill>
            <a:srgbClr val="9999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6101791" y="3710635"/>
            <a:ext cx="40233" cy="40233"/>
          </a:xfrm>
          <a:prstGeom prst="ellipse">
            <a:avLst/>
          </a:prstGeom>
          <a:solidFill>
            <a:srgbClr val="9797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6179515" y="3710635"/>
            <a:ext cx="40233" cy="40233"/>
          </a:xfrm>
          <a:prstGeom prst="ellipse">
            <a:avLst/>
          </a:prstGeom>
          <a:solidFill>
            <a:srgbClr val="9696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6257239" y="3710635"/>
            <a:ext cx="40233" cy="40233"/>
          </a:xfrm>
          <a:prstGeom prst="ellipse">
            <a:avLst/>
          </a:prstGeom>
          <a:solidFill>
            <a:srgbClr val="9494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6334963" y="3710635"/>
            <a:ext cx="40233" cy="40233"/>
          </a:xfrm>
          <a:prstGeom prst="ellipse">
            <a:avLst/>
          </a:prstGeom>
          <a:solidFill>
            <a:srgbClr val="9292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6412687" y="3710635"/>
            <a:ext cx="40233" cy="40233"/>
          </a:xfrm>
          <a:prstGeom prst="ellipse">
            <a:avLst/>
          </a:prstGeom>
          <a:solidFill>
            <a:srgbClr val="9191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6490411" y="3710635"/>
            <a:ext cx="40233" cy="40233"/>
          </a:xfrm>
          <a:prstGeom prst="ellipse">
            <a:avLst/>
          </a:prstGeom>
          <a:solidFill>
            <a:srgbClr val="8F8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6568135" y="3710635"/>
            <a:ext cx="40233" cy="40233"/>
          </a:xfrm>
          <a:prstGeom prst="ellipse">
            <a:avLst/>
          </a:prstGeom>
          <a:solidFill>
            <a:srgbClr val="8E8E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6645859" y="3710635"/>
            <a:ext cx="40233" cy="40233"/>
          </a:xfrm>
          <a:prstGeom prst="ellipse">
            <a:avLst/>
          </a:prstGeom>
          <a:solidFill>
            <a:srgbClr val="8C8C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6723583" y="3710635"/>
            <a:ext cx="40233" cy="40233"/>
          </a:xfrm>
          <a:prstGeom prst="ellipse">
            <a:avLst/>
          </a:prstGeom>
          <a:solidFill>
            <a:srgbClr val="8B8B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6801307" y="3710635"/>
            <a:ext cx="40233" cy="40233"/>
          </a:xfrm>
          <a:prstGeom prst="ellipse">
            <a:avLst/>
          </a:prstGeom>
          <a:solidFill>
            <a:srgbClr val="8989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6879031" y="3710635"/>
            <a:ext cx="40233" cy="40233"/>
          </a:xfrm>
          <a:prstGeom prst="ellipse">
            <a:avLst/>
          </a:prstGeom>
          <a:solidFill>
            <a:srgbClr val="8787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956755" y="3710635"/>
            <a:ext cx="40233" cy="40233"/>
          </a:xfrm>
          <a:prstGeom prst="ellipse">
            <a:avLst/>
          </a:prstGeom>
          <a:solidFill>
            <a:srgbClr val="8686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7034479" y="3710635"/>
            <a:ext cx="40233" cy="40233"/>
          </a:xfrm>
          <a:prstGeom prst="ellipse">
            <a:avLst/>
          </a:prstGeom>
          <a:solidFill>
            <a:srgbClr val="8484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7112203" y="3710635"/>
            <a:ext cx="40233" cy="40233"/>
          </a:xfrm>
          <a:prstGeom prst="ellipse">
            <a:avLst/>
          </a:prstGeom>
          <a:solidFill>
            <a:srgbClr val="8383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5635447" y="3788359"/>
            <a:ext cx="40233" cy="40233"/>
          </a:xfrm>
          <a:prstGeom prst="ellipse">
            <a:avLst/>
          </a:prstGeom>
          <a:solidFill>
            <a:srgbClr val="9F9F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5713171" y="3788359"/>
            <a:ext cx="40233" cy="40233"/>
          </a:xfrm>
          <a:prstGeom prst="ellipse">
            <a:avLst/>
          </a:prstGeom>
          <a:solidFill>
            <a:srgbClr val="9D9D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5790895" y="3788359"/>
            <a:ext cx="40233" cy="40233"/>
          </a:xfrm>
          <a:prstGeom prst="ellipse">
            <a:avLst/>
          </a:prstGeom>
          <a:solidFill>
            <a:srgbClr val="9C9C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5868619" y="3788359"/>
            <a:ext cx="40233" cy="40233"/>
          </a:xfrm>
          <a:prstGeom prst="ellipse">
            <a:avLst/>
          </a:prstGeom>
          <a:solidFill>
            <a:srgbClr val="9A9A9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5946343" y="3788359"/>
            <a:ext cx="40233" cy="40233"/>
          </a:xfrm>
          <a:prstGeom prst="ellipse">
            <a:avLst/>
          </a:prstGeom>
          <a:solidFill>
            <a:srgbClr val="9999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6024067" y="3788359"/>
            <a:ext cx="40233" cy="40233"/>
          </a:xfrm>
          <a:prstGeom prst="ellipse">
            <a:avLst/>
          </a:prstGeom>
          <a:solidFill>
            <a:srgbClr val="9797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6101791" y="3788359"/>
            <a:ext cx="40233" cy="40233"/>
          </a:xfrm>
          <a:prstGeom prst="ellipse">
            <a:avLst/>
          </a:prstGeom>
          <a:solidFill>
            <a:srgbClr val="9696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6179515" y="3788359"/>
            <a:ext cx="40233" cy="40233"/>
          </a:xfrm>
          <a:prstGeom prst="ellipse">
            <a:avLst/>
          </a:prstGeom>
          <a:solidFill>
            <a:srgbClr val="9494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6257239" y="3788359"/>
            <a:ext cx="40233" cy="40233"/>
          </a:xfrm>
          <a:prstGeom prst="ellipse">
            <a:avLst/>
          </a:prstGeom>
          <a:solidFill>
            <a:srgbClr val="9292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6334963" y="3788359"/>
            <a:ext cx="40233" cy="40233"/>
          </a:xfrm>
          <a:prstGeom prst="ellipse">
            <a:avLst/>
          </a:prstGeom>
          <a:solidFill>
            <a:srgbClr val="9191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6412687" y="3788359"/>
            <a:ext cx="40233" cy="40233"/>
          </a:xfrm>
          <a:prstGeom prst="ellipse">
            <a:avLst/>
          </a:prstGeom>
          <a:solidFill>
            <a:srgbClr val="8F8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6490411" y="3788359"/>
            <a:ext cx="40233" cy="40233"/>
          </a:xfrm>
          <a:prstGeom prst="ellipse">
            <a:avLst/>
          </a:prstGeom>
          <a:solidFill>
            <a:srgbClr val="8E8E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6568135" y="3788359"/>
            <a:ext cx="40233" cy="40233"/>
          </a:xfrm>
          <a:prstGeom prst="ellipse">
            <a:avLst/>
          </a:prstGeom>
          <a:solidFill>
            <a:srgbClr val="8C8C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6645859" y="3788359"/>
            <a:ext cx="40233" cy="40233"/>
          </a:xfrm>
          <a:prstGeom prst="ellipse">
            <a:avLst/>
          </a:prstGeom>
          <a:solidFill>
            <a:srgbClr val="8A8A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6723583" y="3788359"/>
            <a:ext cx="40233" cy="40233"/>
          </a:xfrm>
          <a:prstGeom prst="ellipse">
            <a:avLst/>
          </a:prstGeom>
          <a:solidFill>
            <a:srgbClr val="8989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6801307" y="3788359"/>
            <a:ext cx="40233" cy="40233"/>
          </a:xfrm>
          <a:prstGeom prst="ellipse">
            <a:avLst/>
          </a:prstGeom>
          <a:solidFill>
            <a:srgbClr val="8787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6879031" y="3788359"/>
            <a:ext cx="40233" cy="40233"/>
          </a:xfrm>
          <a:prstGeom prst="ellipse">
            <a:avLst/>
          </a:prstGeom>
          <a:solidFill>
            <a:srgbClr val="8686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6956755" y="3788359"/>
            <a:ext cx="40233" cy="40233"/>
          </a:xfrm>
          <a:prstGeom prst="ellipse">
            <a:avLst/>
          </a:prstGeom>
          <a:solidFill>
            <a:srgbClr val="8484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7034479" y="3788359"/>
            <a:ext cx="40233" cy="40233"/>
          </a:xfrm>
          <a:prstGeom prst="ellipse">
            <a:avLst/>
          </a:prstGeom>
          <a:solidFill>
            <a:srgbClr val="8383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7112203" y="3788359"/>
            <a:ext cx="40233" cy="40233"/>
          </a:xfrm>
          <a:prstGeom prst="ellipse">
            <a:avLst/>
          </a:prstGeom>
          <a:solidFill>
            <a:srgbClr val="8181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635447" y="3866083"/>
            <a:ext cx="40233" cy="40233"/>
          </a:xfrm>
          <a:prstGeom prst="ellipse">
            <a:avLst/>
          </a:prstGeom>
          <a:solidFill>
            <a:srgbClr val="9D9D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5868619" y="3866083"/>
            <a:ext cx="40233" cy="40233"/>
          </a:xfrm>
          <a:prstGeom prst="ellipse">
            <a:avLst/>
          </a:prstGeom>
          <a:solidFill>
            <a:srgbClr val="9999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Oval 148"/>
          <p:cNvSpPr/>
          <p:nvPr/>
        </p:nvSpPr>
        <p:spPr>
          <a:xfrm>
            <a:off x="5946343" y="3866083"/>
            <a:ext cx="40233" cy="40233"/>
          </a:xfrm>
          <a:prstGeom prst="ellipse">
            <a:avLst/>
          </a:prstGeom>
          <a:solidFill>
            <a:srgbClr val="9797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Oval 149"/>
          <p:cNvSpPr/>
          <p:nvPr/>
        </p:nvSpPr>
        <p:spPr>
          <a:xfrm>
            <a:off x="6024067" y="3866083"/>
            <a:ext cx="40233" cy="40233"/>
          </a:xfrm>
          <a:prstGeom prst="ellipse">
            <a:avLst/>
          </a:prstGeom>
          <a:solidFill>
            <a:srgbClr val="9595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Oval 150"/>
          <p:cNvSpPr/>
          <p:nvPr/>
        </p:nvSpPr>
        <p:spPr>
          <a:xfrm>
            <a:off x="6101791" y="3866083"/>
            <a:ext cx="40233" cy="40233"/>
          </a:xfrm>
          <a:prstGeom prst="ellipse">
            <a:avLst/>
          </a:prstGeom>
          <a:solidFill>
            <a:srgbClr val="9494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Oval 151"/>
          <p:cNvSpPr/>
          <p:nvPr/>
        </p:nvSpPr>
        <p:spPr>
          <a:xfrm>
            <a:off x="6179515" y="3866083"/>
            <a:ext cx="40233" cy="40233"/>
          </a:xfrm>
          <a:prstGeom prst="ellipse">
            <a:avLst/>
          </a:prstGeom>
          <a:solidFill>
            <a:srgbClr val="9292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Oval 152"/>
          <p:cNvSpPr/>
          <p:nvPr/>
        </p:nvSpPr>
        <p:spPr>
          <a:xfrm>
            <a:off x="6257239" y="3866083"/>
            <a:ext cx="40233" cy="40233"/>
          </a:xfrm>
          <a:prstGeom prst="ellipse">
            <a:avLst/>
          </a:prstGeom>
          <a:solidFill>
            <a:srgbClr val="9191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Oval 153"/>
          <p:cNvSpPr/>
          <p:nvPr/>
        </p:nvSpPr>
        <p:spPr>
          <a:xfrm>
            <a:off x="6334963" y="3866083"/>
            <a:ext cx="40233" cy="40233"/>
          </a:xfrm>
          <a:prstGeom prst="ellipse">
            <a:avLst/>
          </a:prstGeom>
          <a:solidFill>
            <a:srgbClr val="8F8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Oval 154"/>
          <p:cNvSpPr/>
          <p:nvPr/>
        </p:nvSpPr>
        <p:spPr>
          <a:xfrm>
            <a:off x="6412687" y="3866083"/>
            <a:ext cx="40233" cy="40233"/>
          </a:xfrm>
          <a:prstGeom prst="ellipse">
            <a:avLst/>
          </a:prstGeom>
          <a:solidFill>
            <a:srgbClr val="8E8E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Oval 155"/>
          <p:cNvSpPr/>
          <p:nvPr/>
        </p:nvSpPr>
        <p:spPr>
          <a:xfrm>
            <a:off x="6490411" y="3866083"/>
            <a:ext cx="40233" cy="40233"/>
          </a:xfrm>
          <a:prstGeom prst="ellipse">
            <a:avLst/>
          </a:prstGeom>
          <a:solidFill>
            <a:srgbClr val="8C8C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Oval 156"/>
          <p:cNvSpPr/>
          <p:nvPr/>
        </p:nvSpPr>
        <p:spPr>
          <a:xfrm>
            <a:off x="6568135" y="3866083"/>
            <a:ext cx="40233" cy="40233"/>
          </a:xfrm>
          <a:prstGeom prst="ellipse">
            <a:avLst/>
          </a:prstGeom>
          <a:solidFill>
            <a:srgbClr val="8A8A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Oval 157"/>
          <p:cNvSpPr/>
          <p:nvPr/>
        </p:nvSpPr>
        <p:spPr>
          <a:xfrm>
            <a:off x="6645859" y="3866083"/>
            <a:ext cx="40233" cy="40233"/>
          </a:xfrm>
          <a:prstGeom prst="ellipse">
            <a:avLst/>
          </a:prstGeom>
          <a:solidFill>
            <a:srgbClr val="8989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Oval 158"/>
          <p:cNvSpPr/>
          <p:nvPr/>
        </p:nvSpPr>
        <p:spPr>
          <a:xfrm>
            <a:off x="6723583" y="3866083"/>
            <a:ext cx="40233" cy="40233"/>
          </a:xfrm>
          <a:prstGeom prst="ellipse">
            <a:avLst/>
          </a:prstGeom>
          <a:solidFill>
            <a:srgbClr val="8787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Oval 159"/>
          <p:cNvSpPr/>
          <p:nvPr/>
        </p:nvSpPr>
        <p:spPr>
          <a:xfrm>
            <a:off x="6801307" y="3866083"/>
            <a:ext cx="40233" cy="40233"/>
          </a:xfrm>
          <a:prstGeom prst="ellipse">
            <a:avLst/>
          </a:prstGeom>
          <a:solidFill>
            <a:srgbClr val="8686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Oval 160"/>
          <p:cNvSpPr/>
          <p:nvPr/>
        </p:nvSpPr>
        <p:spPr>
          <a:xfrm>
            <a:off x="6879031" y="3866083"/>
            <a:ext cx="40233" cy="40233"/>
          </a:xfrm>
          <a:prstGeom prst="ellipse">
            <a:avLst/>
          </a:prstGeom>
          <a:solidFill>
            <a:srgbClr val="8484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Oval 161"/>
          <p:cNvSpPr/>
          <p:nvPr/>
        </p:nvSpPr>
        <p:spPr>
          <a:xfrm>
            <a:off x="6956755" y="3866083"/>
            <a:ext cx="40233" cy="40233"/>
          </a:xfrm>
          <a:prstGeom prst="ellipse">
            <a:avLst/>
          </a:prstGeom>
          <a:solidFill>
            <a:srgbClr val="8282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Oval 162"/>
          <p:cNvSpPr/>
          <p:nvPr/>
        </p:nvSpPr>
        <p:spPr>
          <a:xfrm>
            <a:off x="7034479" y="3866083"/>
            <a:ext cx="40233" cy="40233"/>
          </a:xfrm>
          <a:prstGeom prst="ellipse">
            <a:avLst/>
          </a:prstGeom>
          <a:solidFill>
            <a:srgbClr val="8181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Oval 163"/>
          <p:cNvSpPr/>
          <p:nvPr/>
        </p:nvSpPr>
        <p:spPr>
          <a:xfrm>
            <a:off x="5868619" y="3943807"/>
            <a:ext cx="40233" cy="40233"/>
          </a:xfrm>
          <a:prstGeom prst="ellipse">
            <a:avLst/>
          </a:prstGeom>
          <a:solidFill>
            <a:srgbClr val="9797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Oval 164"/>
          <p:cNvSpPr/>
          <p:nvPr/>
        </p:nvSpPr>
        <p:spPr>
          <a:xfrm>
            <a:off x="5946343" y="3943807"/>
            <a:ext cx="40233" cy="40233"/>
          </a:xfrm>
          <a:prstGeom prst="ellipse">
            <a:avLst/>
          </a:prstGeom>
          <a:solidFill>
            <a:srgbClr val="9595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Oval 165"/>
          <p:cNvSpPr/>
          <p:nvPr/>
        </p:nvSpPr>
        <p:spPr>
          <a:xfrm>
            <a:off x="6024067" y="3943807"/>
            <a:ext cx="40233" cy="40233"/>
          </a:xfrm>
          <a:prstGeom prst="ellipse">
            <a:avLst/>
          </a:prstGeom>
          <a:solidFill>
            <a:srgbClr val="9494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Oval 166"/>
          <p:cNvSpPr/>
          <p:nvPr/>
        </p:nvSpPr>
        <p:spPr>
          <a:xfrm>
            <a:off x="6101791" y="3943807"/>
            <a:ext cx="40233" cy="40233"/>
          </a:xfrm>
          <a:prstGeom prst="ellipse">
            <a:avLst/>
          </a:prstGeom>
          <a:solidFill>
            <a:srgbClr val="9292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Oval 167"/>
          <p:cNvSpPr/>
          <p:nvPr/>
        </p:nvSpPr>
        <p:spPr>
          <a:xfrm>
            <a:off x="6179515" y="3943807"/>
            <a:ext cx="40233" cy="40233"/>
          </a:xfrm>
          <a:prstGeom prst="ellipse">
            <a:avLst/>
          </a:prstGeom>
          <a:solidFill>
            <a:srgbClr val="9191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Oval 168"/>
          <p:cNvSpPr/>
          <p:nvPr/>
        </p:nvSpPr>
        <p:spPr>
          <a:xfrm>
            <a:off x="6257239" y="3943807"/>
            <a:ext cx="40233" cy="40233"/>
          </a:xfrm>
          <a:prstGeom prst="ellipse">
            <a:avLst/>
          </a:prstGeom>
          <a:solidFill>
            <a:srgbClr val="8F8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Oval 169"/>
          <p:cNvSpPr/>
          <p:nvPr/>
        </p:nvSpPr>
        <p:spPr>
          <a:xfrm>
            <a:off x="6334963" y="3943807"/>
            <a:ext cx="40233" cy="40233"/>
          </a:xfrm>
          <a:prstGeom prst="ellipse">
            <a:avLst/>
          </a:prstGeom>
          <a:solidFill>
            <a:srgbClr val="8D8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Oval 170"/>
          <p:cNvSpPr/>
          <p:nvPr/>
        </p:nvSpPr>
        <p:spPr>
          <a:xfrm>
            <a:off x="6412687" y="3943807"/>
            <a:ext cx="40233" cy="40233"/>
          </a:xfrm>
          <a:prstGeom prst="ellipse">
            <a:avLst/>
          </a:prstGeom>
          <a:solidFill>
            <a:srgbClr val="8C8C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Oval 171"/>
          <p:cNvSpPr/>
          <p:nvPr/>
        </p:nvSpPr>
        <p:spPr>
          <a:xfrm>
            <a:off x="6490411" y="3943807"/>
            <a:ext cx="40233" cy="40233"/>
          </a:xfrm>
          <a:prstGeom prst="ellipse">
            <a:avLst/>
          </a:prstGeom>
          <a:solidFill>
            <a:srgbClr val="8A8A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Oval 172"/>
          <p:cNvSpPr/>
          <p:nvPr/>
        </p:nvSpPr>
        <p:spPr>
          <a:xfrm>
            <a:off x="6568135" y="3943807"/>
            <a:ext cx="40233" cy="40233"/>
          </a:xfrm>
          <a:prstGeom prst="ellipse">
            <a:avLst/>
          </a:prstGeom>
          <a:solidFill>
            <a:srgbClr val="8989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Oval 173"/>
          <p:cNvSpPr/>
          <p:nvPr/>
        </p:nvSpPr>
        <p:spPr>
          <a:xfrm>
            <a:off x="6645859" y="3943807"/>
            <a:ext cx="40233" cy="40233"/>
          </a:xfrm>
          <a:prstGeom prst="ellipse">
            <a:avLst/>
          </a:prstGeom>
          <a:solidFill>
            <a:srgbClr val="8787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Oval 174"/>
          <p:cNvSpPr/>
          <p:nvPr/>
        </p:nvSpPr>
        <p:spPr>
          <a:xfrm>
            <a:off x="6723583" y="3943807"/>
            <a:ext cx="40233" cy="40233"/>
          </a:xfrm>
          <a:prstGeom prst="ellipse">
            <a:avLst/>
          </a:prstGeom>
          <a:solidFill>
            <a:srgbClr val="8686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Oval 175"/>
          <p:cNvSpPr/>
          <p:nvPr/>
        </p:nvSpPr>
        <p:spPr>
          <a:xfrm>
            <a:off x="5946343" y="4021531"/>
            <a:ext cx="40233" cy="40233"/>
          </a:xfrm>
          <a:prstGeom prst="ellipse">
            <a:avLst/>
          </a:prstGeom>
          <a:solidFill>
            <a:srgbClr val="9494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Oval 176"/>
          <p:cNvSpPr/>
          <p:nvPr/>
        </p:nvSpPr>
        <p:spPr>
          <a:xfrm>
            <a:off x="6024067" y="4021531"/>
            <a:ext cx="40233" cy="40233"/>
          </a:xfrm>
          <a:prstGeom prst="ellipse">
            <a:avLst/>
          </a:prstGeom>
          <a:solidFill>
            <a:srgbClr val="9292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Oval 177"/>
          <p:cNvSpPr/>
          <p:nvPr/>
        </p:nvSpPr>
        <p:spPr>
          <a:xfrm>
            <a:off x="6101791" y="4021531"/>
            <a:ext cx="40233" cy="40233"/>
          </a:xfrm>
          <a:prstGeom prst="ellipse">
            <a:avLst/>
          </a:prstGeom>
          <a:solidFill>
            <a:srgbClr val="9191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Oval 178"/>
          <p:cNvSpPr/>
          <p:nvPr/>
        </p:nvSpPr>
        <p:spPr>
          <a:xfrm>
            <a:off x="6179515" y="4021531"/>
            <a:ext cx="40233" cy="40233"/>
          </a:xfrm>
          <a:prstGeom prst="ellipse">
            <a:avLst/>
          </a:prstGeom>
          <a:solidFill>
            <a:srgbClr val="8F8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Oval 179"/>
          <p:cNvSpPr/>
          <p:nvPr/>
        </p:nvSpPr>
        <p:spPr>
          <a:xfrm>
            <a:off x="6257239" y="4021531"/>
            <a:ext cx="40233" cy="40233"/>
          </a:xfrm>
          <a:prstGeom prst="ellipse">
            <a:avLst/>
          </a:prstGeom>
          <a:solidFill>
            <a:srgbClr val="8D8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Oval 180"/>
          <p:cNvSpPr/>
          <p:nvPr/>
        </p:nvSpPr>
        <p:spPr>
          <a:xfrm>
            <a:off x="6568135" y="4021531"/>
            <a:ext cx="40233" cy="40233"/>
          </a:xfrm>
          <a:prstGeom prst="ellipse">
            <a:avLst/>
          </a:prstGeom>
          <a:solidFill>
            <a:srgbClr val="8787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Oval 181"/>
          <p:cNvSpPr/>
          <p:nvPr/>
        </p:nvSpPr>
        <p:spPr>
          <a:xfrm>
            <a:off x="6645859" y="4021531"/>
            <a:ext cx="40233" cy="40233"/>
          </a:xfrm>
          <a:prstGeom prst="ellipse">
            <a:avLst/>
          </a:prstGeom>
          <a:solidFill>
            <a:srgbClr val="8585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Oval 182"/>
          <p:cNvSpPr/>
          <p:nvPr/>
        </p:nvSpPr>
        <p:spPr>
          <a:xfrm>
            <a:off x="6645859" y="4099255"/>
            <a:ext cx="40233" cy="40233"/>
          </a:xfrm>
          <a:prstGeom prst="ellipse">
            <a:avLst/>
          </a:prstGeom>
          <a:solidFill>
            <a:srgbClr val="8484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4160520" y="4590288"/>
            <a:ext cx="3291840" cy="274320"/>
          </a:xfrm>
          <a:prstGeom prst="rect">
            <a:avLst/>
          </a:prstGeom>
          <a:noFill/>
        </p:spPr>
        <p:txBody>
          <a:bodyPr wrap="square">
            <a:spAutoFit/>
          </a:bodyPr>
          <a:lstStyle/>
          <a:p>
            <a:pPr algn="l"/>
            <a:r>
              <a:rPr sz="800" b="1">
                <a:solidFill>
                  <a:srgbClr val="5B5F63"/>
                </a:solidFill>
                <a:latin typeface="Pretendard"/>
              </a:rPr>
              <a:t>CAROUSEL  1:1</a:t>
            </a:r>
          </a:p>
        </p:txBody>
      </p:sp>
      <p:sp>
        <p:nvSpPr>
          <p:cNvPr id="185" name="TextBox 184"/>
          <p:cNvSpPr txBox="1"/>
          <p:nvPr/>
        </p:nvSpPr>
        <p:spPr>
          <a:xfrm>
            <a:off x="4160520" y="4864608"/>
            <a:ext cx="3291840" cy="502920"/>
          </a:xfrm>
          <a:prstGeom prst="rect">
            <a:avLst/>
          </a:prstGeom>
          <a:noFill/>
        </p:spPr>
        <p:txBody>
          <a:bodyPr wrap="square">
            <a:spAutoFit/>
          </a:bodyPr>
          <a:lstStyle/>
          <a:p>
            <a:pPr algn="l"/>
            <a:r>
              <a:rPr sz="850" b="0">
                <a:solidFill>
                  <a:srgbClr val="B0B0AA"/>
                </a:solidFill>
                <a:latin typeface="Pretendard"/>
              </a:rPr>
              <a:t>Standalone claim on slide 1, dot-map watermark, summary close (never a CTA slide)</a:t>
            </a:r>
          </a:p>
        </p:txBody>
      </p:sp>
      <p:sp>
        <p:nvSpPr>
          <p:cNvPr id="186" name="Rectangle 185"/>
          <p:cNvSpPr/>
          <p:nvPr/>
        </p:nvSpPr>
        <p:spPr>
          <a:xfrm>
            <a:off x="8229600" y="1188720"/>
            <a:ext cx="3474720" cy="1956816"/>
          </a:xfrm>
          <a:prstGeom prst="rect">
            <a:avLst/>
          </a:prstGeom>
          <a:solidFill>
            <a:srgbClr val="1717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8458200" y="1463040"/>
            <a:ext cx="3017520" cy="777240"/>
          </a:xfrm>
          <a:prstGeom prst="rect">
            <a:avLst/>
          </a:prstGeom>
          <a:noFill/>
        </p:spPr>
        <p:txBody>
          <a:bodyPr wrap="square">
            <a:spAutoFit/>
          </a:bodyPr>
          <a:lstStyle/>
          <a:p>
            <a:pPr algn="l"/>
            <a:r>
              <a:rPr sz="1200" b="1">
                <a:solidFill>
                  <a:srgbClr val="FFFFFF"/>
                </a:solidFill>
                <a:latin typeface="Pretendard"/>
              </a:rPr>
              <a:t>"Our CISO asked how.
I sent the Reticle docs."</a:t>
            </a:r>
          </a:p>
        </p:txBody>
      </p:sp>
      <p:sp>
        <p:nvSpPr>
          <p:cNvPr id="188" name="TextBox 187"/>
          <p:cNvSpPr txBox="1"/>
          <p:nvPr/>
        </p:nvSpPr>
        <p:spPr>
          <a:xfrm>
            <a:off x="8458200" y="2514600"/>
            <a:ext cx="3017520" cy="274320"/>
          </a:xfrm>
          <a:prstGeom prst="rect">
            <a:avLst/>
          </a:prstGeom>
          <a:noFill/>
        </p:spPr>
        <p:txBody>
          <a:bodyPr wrap="square">
            <a:spAutoFit/>
          </a:bodyPr>
          <a:lstStyle/>
          <a:p>
            <a:pPr algn="l"/>
            <a:r>
              <a:rPr sz="850" b="0">
                <a:solidFill>
                  <a:srgbClr val="B0B0AA"/>
                </a:solidFill>
                <a:latin typeface="Pretendard"/>
              </a:rPr>
              <a:t>Fluso session audit trail</a:t>
            </a:r>
          </a:p>
        </p:txBody>
      </p:sp>
      <p:sp>
        <p:nvSpPr>
          <p:cNvPr id="189" name="Oval 188"/>
          <p:cNvSpPr/>
          <p:nvPr/>
        </p:nvSpPr>
        <p:spPr>
          <a:xfrm>
            <a:off x="8520379" y="2841955"/>
            <a:ext cx="95097" cy="95097"/>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Oval 189"/>
          <p:cNvSpPr/>
          <p:nvPr/>
        </p:nvSpPr>
        <p:spPr>
          <a:xfrm>
            <a:off x="8692286" y="2858414"/>
            <a:ext cx="62179" cy="62179"/>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Oval 190"/>
          <p:cNvSpPr/>
          <p:nvPr/>
        </p:nvSpPr>
        <p:spPr>
          <a:xfrm>
            <a:off x="8836761" y="2847441"/>
            <a:ext cx="84124" cy="84124"/>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Oval 191"/>
          <p:cNvSpPr/>
          <p:nvPr/>
        </p:nvSpPr>
        <p:spPr>
          <a:xfrm>
            <a:off x="9006840" y="2862072"/>
            <a:ext cx="54864" cy="54864"/>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Oval 192"/>
          <p:cNvSpPr/>
          <p:nvPr/>
        </p:nvSpPr>
        <p:spPr>
          <a:xfrm>
            <a:off x="9153144" y="2852928"/>
            <a:ext cx="73152" cy="73152"/>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TextBox 193"/>
          <p:cNvSpPr txBox="1"/>
          <p:nvPr/>
        </p:nvSpPr>
        <p:spPr>
          <a:xfrm>
            <a:off x="8229600" y="3255264"/>
            <a:ext cx="3474720" cy="274320"/>
          </a:xfrm>
          <a:prstGeom prst="rect">
            <a:avLst/>
          </a:prstGeom>
          <a:noFill/>
        </p:spPr>
        <p:txBody>
          <a:bodyPr wrap="square">
            <a:spAutoFit/>
          </a:bodyPr>
          <a:lstStyle/>
          <a:p>
            <a:pPr algn="l"/>
            <a:r>
              <a:rPr sz="800" b="1">
                <a:solidFill>
                  <a:srgbClr val="5B5F63"/>
                </a:solidFill>
                <a:latin typeface="Pretendard"/>
              </a:rPr>
              <a:t>QUOTE CARD  16:9</a:t>
            </a:r>
          </a:p>
        </p:txBody>
      </p:sp>
      <p:sp>
        <p:nvSpPr>
          <p:cNvPr id="195" name="TextBox 194"/>
          <p:cNvSpPr txBox="1"/>
          <p:nvPr/>
        </p:nvSpPr>
        <p:spPr>
          <a:xfrm>
            <a:off x="8229600" y="3529584"/>
            <a:ext cx="3474720" cy="457200"/>
          </a:xfrm>
          <a:prstGeom prst="rect">
            <a:avLst/>
          </a:prstGeom>
          <a:noFill/>
        </p:spPr>
        <p:txBody>
          <a:bodyPr wrap="square">
            <a:spAutoFit/>
          </a:bodyPr>
          <a:lstStyle/>
          <a:p>
            <a:pPr algn="l"/>
            <a:r>
              <a:rPr sz="850" b="0">
                <a:solidFill>
                  <a:srgbClr val="B0B0AA"/>
                </a:solidFill>
                <a:latin typeface="Pretendard"/>
              </a:rPr>
              <a:t>Dark ground, white type, dot row as signature</a:t>
            </a:r>
          </a:p>
        </p:txBody>
      </p:sp>
      <p:sp>
        <p:nvSpPr>
          <p:cNvPr id="196" name="Rectangle 195"/>
          <p:cNvSpPr/>
          <p:nvPr/>
        </p:nvSpPr>
        <p:spPr>
          <a:xfrm>
            <a:off x="8229600" y="4206240"/>
            <a:ext cx="3474720" cy="2103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8458200" y="4343400"/>
            <a:ext cx="3017520" cy="274320"/>
          </a:xfrm>
          <a:prstGeom prst="rect">
            <a:avLst/>
          </a:prstGeom>
          <a:noFill/>
        </p:spPr>
        <p:txBody>
          <a:bodyPr wrap="square">
            <a:spAutoFit/>
          </a:bodyPr>
          <a:lstStyle/>
          <a:p>
            <a:pPr algn="l"/>
            <a:r>
              <a:rPr sz="800" b="1">
                <a:solidFill>
                  <a:srgbClr val="5B5F63"/>
                </a:solidFill>
                <a:latin typeface="Pretendard"/>
              </a:rPr>
              <a:t>SYSTEM RULES</a:t>
            </a:r>
          </a:p>
        </p:txBody>
      </p:sp>
      <p:sp>
        <p:nvSpPr>
          <p:cNvPr id="198" name="TextBox 197"/>
          <p:cNvSpPr txBox="1"/>
          <p:nvPr/>
        </p:nvSpPr>
        <p:spPr>
          <a:xfrm>
            <a:off x="8458200" y="4617720"/>
            <a:ext cx="3063240" cy="1554480"/>
          </a:xfrm>
          <a:prstGeom prst="rect">
            <a:avLst/>
          </a:prstGeom>
          <a:noFill/>
        </p:spPr>
        <p:txBody>
          <a:bodyPr wrap="square">
            <a:spAutoFit/>
          </a:bodyPr>
          <a:lstStyle/>
          <a:p>
            <a:pPr algn="l"/>
            <a:r>
              <a:rPr sz="950" b="0">
                <a:solidFill>
                  <a:srgbClr val="0A0A0A"/>
                </a:solidFill>
                <a:latin typeface="Pretendard"/>
              </a:rPr>
              <a:t>Paper or dark grounds only. One motif per asset. Type does the talking. The varied-size dot row is the family signature on every template, straight from the logo.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9144000" cy="274320"/>
          </a:xfrm>
          <a:prstGeom prst="rect">
            <a:avLst/>
          </a:prstGeom>
          <a:noFill/>
        </p:spPr>
        <p:txBody>
          <a:bodyPr wrap="square">
            <a:spAutoFit/>
          </a:bodyPr>
          <a:lstStyle/>
          <a:p>
            <a:pPr algn="l"/>
            <a:r>
              <a:rPr sz="900" b="1">
                <a:solidFill>
                  <a:srgbClr val="5B5F63"/>
                </a:solidFill>
                <a:latin typeface="Pretendard"/>
              </a:rPr>
              <a:t>11  PLATFORM PLAYBOOKS  |  LINKEDIN  (PREM-LED, 60% SIDE)</a:t>
            </a:r>
          </a:p>
        </p:txBody>
      </p:sp>
      <p:sp>
        <p:nvSpPr>
          <p:cNvPr id="4" name="Rectangle 3"/>
          <p:cNvSpPr/>
          <p:nvPr/>
        </p:nvSpPr>
        <p:spPr>
          <a:xfrm>
            <a:off x="502920" y="713232"/>
            <a:ext cx="11183112" cy="10972"/>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960120"/>
            <a:ext cx="3749039" cy="5532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960120"/>
            <a:ext cx="3749039" cy="5486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078992"/>
            <a:ext cx="3291840" cy="274320"/>
          </a:xfrm>
          <a:prstGeom prst="rect">
            <a:avLst/>
          </a:prstGeom>
          <a:noFill/>
        </p:spPr>
        <p:txBody>
          <a:bodyPr wrap="square">
            <a:spAutoFit/>
          </a:bodyPr>
          <a:lstStyle/>
          <a:p>
            <a:pPr algn="l"/>
            <a:r>
              <a:rPr sz="850" b="1">
                <a:solidFill>
                  <a:srgbClr val="5B5F63"/>
                </a:solidFill>
                <a:latin typeface="Pretendard"/>
              </a:rPr>
              <a:t>STRATEGY</a:t>
            </a:r>
          </a:p>
        </p:txBody>
      </p:sp>
      <p:sp>
        <p:nvSpPr>
          <p:cNvPr id="8" name="TextBox 7"/>
          <p:cNvSpPr txBox="1"/>
          <p:nvPr/>
        </p:nvSpPr>
        <p:spPr>
          <a:xfrm>
            <a:off x="731520" y="1463040"/>
            <a:ext cx="3200400" cy="256032"/>
          </a:xfrm>
          <a:prstGeom prst="rect">
            <a:avLst/>
          </a:prstGeom>
          <a:noFill/>
        </p:spPr>
        <p:txBody>
          <a:bodyPr wrap="square">
            <a:spAutoFit/>
          </a:bodyPr>
          <a:lstStyle/>
          <a:p>
            <a:pPr algn="l"/>
            <a:r>
              <a:rPr sz="750" b="1">
                <a:solidFill>
                  <a:srgbClr val="5B5F63"/>
                </a:solidFill>
                <a:latin typeface="Pretendard"/>
              </a:rPr>
              <a:t>AUDIENCE</a:t>
            </a:r>
          </a:p>
        </p:txBody>
      </p:sp>
      <p:sp>
        <p:nvSpPr>
          <p:cNvPr id="9" name="TextBox 8"/>
          <p:cNvSpPr txBox="1"/>
          <p:nvPr/>
        </p:nvSpPr>
        <p:spPr>
          <a:xfrm>
            <a:off x="731520" y="1719072"/>
            <a:ext cx="3291840" cy="713232"/>
          </a:xfrm>
          <a:prstGeom prst="rect">
            <a:avLst/>
          </a:prstGeom>
          <a:noFill/>
        </p:spPr>
        <p:txBody>
          <a:bodyPr wrap="square">
            <a:spAutoFit/>
          </a:bodyPr>
          <a:lstStyle/>
          <a:p>
            <a:pPr algn="l"/>
            <a:r>
              <a:rPr sz="900" b="0">
                <a:solidFill>
                  <a:srgbClr val="0A0A0A"/>
                </a:solidFill>
                <a:latin typeface="Pretendard"/>
              </a:rPr>
              <a:t>CISOs, CTOs, compliance officers, legal ops, investors</a:t>
            </a:r>
          </a:p>
        </p:txBody>
      </p:sp>
      <p:sp>
        <p:nvSpPr>
          <p:cNvPr id="10" name="TextBox 9"/>
          <p:cNvSpPr txBox="1"/>
          <p:nvPr/>
        </p:nvSpPr>
        <p:spPr>
          <a:xfrm>
            <a:off x="731520" y="2450592"/>
            <a:ext cx="3200400" cy="256032"/>
          </a:xfrm>
          <a:prstGeom prst="rect">
            <a:avLst/>
          </a:prstGeom>
          <a:noFill/>
        </p:spPr>
        <p:txBody>
          <a:bodyPr wrap="square">
            <a:spAutoFit/>
          </a:bodyPr>
          <a:lstStyle/>
          <a:p>
            <a:pPr algn="l"/>
            <a:r>
              <a:rPr sz="750" b="1">
                <a:solidFill>
                  <a:srgbClr val="5B5F63"/>
                </a:solidFill>
                <a:latin typeface="Pretendard"/>
              </a:rPr>
              <a:t>GOAL</a:t>
            </a:r>
          </a:p>
        </p:txBody>
      </p:sp>
      <p:sp>
        <p:nvSpPr>
          <p:cNvPr id="11" name="TextBox 10"/>
          <p:cNvSpPr txBox="1"/>
          <p:nvPr/>
        </p:nvSpPr>
        <p:spPr>
          <a:xfrm>
            <a:off x="731520" y="2706624"/>
            <a:ext cx="3291840" cy="713232"/>
          </a:xfrm>
          <a:prstGeom prst="rect">
            <a:avLst/>
          </a:prstGeom>
          <a:noFill/>
        </p:spPr>
        <p:txBody>
          <a:bodyPr wrap="square">
            <a:spAutoFit/>
          </a:bodyPr>
          <a:lstStyle/>
          <a:p>
            <a:pPr algn="l"/>
            <a:r>
              <a:rPr sz="900" b="0">
                <a:solidFill>
                  <a:srgbClr val="0A0A0A"/>
                </a:solidFill>
                <a:latin typeface="Pretendard"/>
              </a:rPr>
              <a:t>Become the default answer to "which enterprise AI survives a regulator's questions?"</a:t>
            </a:r>
          </a:p>
        </p:txBody>
      </p:sp>
      <p:sp>
        <p:nvSpPr>
          <p:cNvPr id="12" name="TextBox 11"/>
          <p:cNvSpPr txBox="1"/>
          <p:nvPr/>
        </p:nvSpPr>
        <p:spPr>
          <a:xfrm>
            <a:off x="731520" y="3438144"/>
            <a:ext cx="3200400" cy="256032"/>
          </a:xfrm>
          <a:prstGeom prst="rect">
            <a:avLst/>
          </a:prstGeom>
          <a:noFill/>
        </p:spPr>
        <p:txBody>
          <a:bodyPr wrap="square">
            <a:spAutoFit/>
          </a:bodyPr>
          <a:lstStyle/>
          <a:p>
            <a:pPr algn="l"/>
            <a:r>
              <a:rPr sz="750" b="1">
                <a:solidFill>
                  <a:srgbClr val="5B5F63"/>
                </a:solidFill>
                <a:latin typeface="Pretendard"/>
              </a:rPr>
              <a:t>MIX</a:t>
            </a:r>
          </a:p>
        </p:txBody>
      </p:sp>
      <p:sp>
        <p:nvSpPr>
          <p:cNvPr id="13" name="TextBox 12"/>
          <p:cNvSpPr txBox="1"/>
          <p:nvPr/>
        </p:nvSpPr>
        <p:spPr>
          <a:xfrm>
            <a:off x="731520" y="3694176"/>
            <a:ext cx="3291840" cy="713232"/>
          </a:xfrm>
          <a:prstGeom prst="rect">
            <a:avLst/>
          </a:prstGeom>
          <a:noFill/>
        </p:spPr>
        <p:txBody>
          <a:bodyPr wrap="square">
            <a:spAutoFit/>
          </a:bodyPr>
          <a:lstStyle/>
          <a:p>
            <a:pPr algn="l"/>
            <a:r>
              <a:rPr sz="900" b="0">
                <a:solidFill>
                  <a:srgbClr val="0A0A0A"/>
                </a:solidFill>
                <a:latin typeface="Pretendard"/>
              </a:rPr>
              <a:t>Prem authority, Prem Studio engineering content and Reticle open-source carry this channel. Fluso appears as proof, not as the program.</a:t>
            </a:r>
          </a:p>
        </p:txBody>
      </p:sp>
      <p:sp>
        <p:nvSpPr>
          <p:cNvPr id="14" name="TextBox 13"/>
          <p:cNvSpPr txBox="1"/>
          <p:nvPr/>
        </p:nvSpPr>
        <p:spPr>
          <a:xfrm>
            <a:off x="731520" y="4425696"/>
            <a:ext cx="3200400" cy="256032"/>
          </a:xfrm>
          <a:prstGeom prst="rect">
            <a:avLst/>
          </a:prstGeom>
          <a:noFill/>
        </p:spPr>
        <p:txBody>
          <a:bodyPr wrap="square">
            <a:spAutoFit/>
          </a:bodyPr>
          <a:lstStyle/>
          <a:p>
            <a:pPr algn="l"/>
            <a:r>
              <a:rPr sz="750" b="1">
                <a:solidFill>
                  <a:srgbClr val="5B5F63"/>
                </a:solidFill>
                <a:latin typeface="Pretendard"/>
              </a:rPr>
              <a:t>CADENCE</a:t>
            </a:r>
          </a:p>
        </p:txBody>
      </p:sp>
      <p:sp>
        <p:nvSpPr>
          <p:cNvPr id="15" name="TextBox 14"/>
          <p:cNvSpPr txBox="1"/>
          <p:nvPr/>
        </p:nvSpPr>
        <p:spPr>
          <a:xfrm>
            <a:off x="731520" y="4681728"/>
            <a:ext cx="3291840" cy="713232"/>
          </a:xfrm>
          <a:prstGeom prst="rect">
            <a:avLst/>
          </a:prstGeom>
          <a:noFill/>
        </p:spPr>
        <p:txBody>
          <a:bodyPr wrap="square">
            <a:spAutoFit/>
          </a:bodyPr>
          <a:lstStyle/>
          <a:p>
            <a:pPr algn="l"/>
            <a:r>
              <a:rPr sz="900" b="0">
                <a:solidFill>
                  <a:srgbClr val="0A0A0A"/>
                </a:solidFill>
                <a:latin typeface="Pretendard"/>
              </a:rPr>
              <a:t>3 to 4 posts per week, maximum. Quality over volume.</a:t>
            </a:r>
          </a:p>
        </p:txBody>
      </p:sp>
      <p:sp>
        <p:nvSpPr>
          <p:cNvPr id="16" name="TextBox 15"/>
          <p:cNvSpPr txBox="1"/>
          <p:nvPr/>
        </p:nvSpPr>
        <p:spPr>
          <a:xfrm>
            <a:off x="731520" y="5413248"/>
            <a:ext cx="3200400" cy="256032"/>
          </a:xfrm>
          <a:prstGeom prst="rect">
            <a:avLst/>
          </a:prstGeom>
          <a:noFill/>
        </p:spPr>
        <p:txBody>
          <a:bodyPr wrap="square">
            <a:spAutoFit/>
          </a:bodyPr>
          <a:lstStyle/>
          <a:p>
            <a:pPr algn="l"/>
            <a:r>
              <a:rPr sz="750" b="1">
                <a:solidFill>
                  <a:srgbClr val="5B5F63"/>
                </a:solidFill>
                <a:latin typeface="Pretendard"/>
              </a:rPr>
              <a:t>KPI</a:t>
            </a:r>
          </a:p>
        </p:txBody>
      </p:sp>
      <p:sp>
        <p:nvSpPr>
          <p:cNvPr id="17" name="TextBox 16"/>
          <p:cNvSpPr txBox="1"/>
          <p:nvPr/>
        </p:nvSpPr>
        <p:spPr>
          <a:xfrm>
            <a:off x="731520" y="5669280"/>
            <a:ext cx="3291840" cy="713232"/>
          </a:xfrm>
          <a:prstGeom prst="rect">
            <a:avLst/>
          </a:prstGeom>
          <a:noFill/>
        </p:spPr>
        <p:txBody>
          <a:bodyPr wrap="square">
            <a:spAutoFit/>
          </a:bodyPr>
          <a:lstStyle/>
          <a:p>
            <a:pPr algn="l"/>
            <a:r>
              <a:rPr sz="900" b="0">
                <a:solidFill>
                  <a:srgbClr val="0A0A0A"/>
                </a:solidFill>
                <a:latin typeface="Pretendard"/>
              </a:rPr>
              <a:t>Branded search growth, qualified inbound, SQL mentions. Never followers or likes.</a:t>
            </a:r>
          </a:p>
        </p:txBody>
      </p:sp>
      <p:sp>
        <p:nvSpPr>
          <p:cNvPr id="18" name="Rectangle 17"/>
          <p:cNvSpPr/>
          <p:nvPr/>
        </p:nvSpPr>
        <p:spPr>
          <a:xfrm>
            <a:off x="4434840" y="960120"/>
            <a:ext cx="7251192" cy="5532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34840" y="960120"/>
            <a:ext cx="7251192" cy="5486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63440" y="1078992"/>
            <a:ext cx="6766560" cy="274320"/>
          </a:xfrm>
          <a:prstGeom prst="rect">
            <a:avLst/>
          </a:prstGeom>
          <a:noFill/>
        </p:spPr>
        <p:txBody>
          <a:bodyPr wrap="square">
            <a:spAutoFit/>
          </a:bodyPr>
          <a:lstStyle/>
          <a:p>
            <a:pPr algn="l"/>
            <a:r>
              <a:rPr sz="850" b="1">
                <a:solidFill>
                  <a:srgbClr val="5B5F63"/>
                </a:solidFill>
                <a:latin typeface="Pretendard"/>
              </a:rPr>
              <a:t>FIVE POST ARCHETYPES  (rotate, never repeat two in a row)</a:t>
            </a:r>
          </a:p>
        </p:txBody>
      </p:sp>
      <p:sp>
        <p:nvSpPr>
          <p:cNvPr id="21" name="TextBox 20"/>
          <p:cNvSpPr txBox="1"/>
          <p:nvPr/>
        </p:nvSpPr>
        <p:spPr>
          <a:xfrm>
            <a:off x="4663440" y="1463040"/>
            <a:ext cx="2377440" cy="868680"/>
          </a:xfrm>
          <a:prstGeom prst="rect">
            <a:avLst/>
          </a:prstGeom>
          <a:noFill/>
        </p:spPr>
        <p:txBody>
          <a:bodyPr wrap="square">
            <a:spAutoFit/>
          </a:bodyPr>
          <a:lstStyle/>
          <a:p>
            <a:pPr algn="l"/>
            <a:r>
              <a:rPr sz="1000" b="1">
                <a:solidFill>
                  <a:srgbClr val="0A0A0A"/>
                </a:solidFill>
                <a:latin typeface="Pretendard"/>
              </a:rPr>
              <a:t>1  Regulation, decoded</a:t>
            </a:r>
          </a:p>
        </p:txBody>
      </p:sp>
      <p:sp>
        <p:nvSpPr>
          <p:cNvPr id="22" name="TextBox 21"/>
          <p:cNvSpPr txBox="1"/>
          <p:nvPr/>
        </p:nvSpPr>
        <p:spPr>
          <a:xfrm>
            <a:off x="6903720" y="1463040"/>
            <a:ext cx="2743200" cy="914400"/>
          </a:xfrm>
          <a:prstGeom prst="rect">
            <a:avLst/>
          </a:prstGeom>
          <a:noFill/>
        </p:spPr>
        <p:txBody>
          <a:bodyPr wrap="square">
            <a:spAutoFit/>
          </a:bodyPr>
          <a:lstStyle/>
          <a:p>
            <a:pPr algn="l"/>
            <a:r>
              <a:rPr sz="800" b="0">
                <a:solidFill>
                  <a:srgbClr val="5B5F63"/>
                </a:solidFill>
                <a:latin typeface="Pretendard"/>
              </a:rPr>
              <a:t>Quote the clause. Plain-English requirement. The gap most deployers miss. One action step.</a:t>
            </a:r>
          </a:p>
        </p:txBody>
      </p:sp>
      <p:sp>
        <p:nvSpPr>
          <p:cNvPr id="23" name="TextBox 22"/>
          <p:cNvSpPr txBox="1"/>
          <p:nvPr/>
        </p:nvSpPr>
        <p:spPr>
          <a:xfrm>
            <a:off x="9601200" y="1463040"/>
            <a:ext cx="1920240" cy="914400"/>
          </a:xfrm>
          <a:prstGeom prst="rect">
            <a:avLst/>
          </a:prstGeom>
          <a:noFill/>
        </p:spPr>
        <p:txBody>
          <a:bodyPr wrap="square">
            <a:spAutoFit/>
          </a:bodyPr>
          <a:lstStyle/>
          <a:p>
            <a:pPr algn="l"/>
            <a:r>
              <a:rPr sz="800" b="0">
                <a:solidFill>
                  <a:srgbClr val="8C8C88"/>
                </a:solidFill>
                <a:latin typeface="Pretendard"/>
              </a:rPr>
              <a:t>"Article 26 of the EU AI Act contains one sentence most deployers have not read."</a:t>
            </a:r>
          </a:p>
        </p:txBody>
      </p:sp>
      <p:sp>
        <p:nvSpPr>
          <p:cNvPr id="24" name="TextBox 23"/>
          <p:cNvSpPr txBox="1"/>
          <p:nvPr/>
        </p:nvSpPr>
        <p:spPr>
          <a:xfrm>
            <a:off x="4663440" y="2450592"/>
            <a:ext cx="2377440" cy="868680"/>
          </a:xfrm>
          <a:prstGeom prst="rect">
            <a:avLst/>
          </a:prstGeom>
          <a:noFill/>
        </p:spPr>
        <p:txBody>
          <a:bodyPr wrap="square">
            <a:spAutoFit/>
          </a:bodyPr>
          <a:lstStyle/>
          <a:p>
            <a:pPr algn="l"/>
            <a:r>
              <a:rPr sz="1000" b="1">
                <a:solidFill>
                  <a:srgbClr val="0A0A0A"/>
                </a:solidFill>
                <a:latin typeface="Pretendard"/>
              </a:rPr>
              <a:t>2  Architecture teardown</a:t>
            </a:r>
          </a:p>
        </p:txBody>
      </p:sp>
      <p:sp>
        <p:nvSpPr>
          <p:cNvPr id="25" name="TextBox 24"/>
          <p:cNvSpPr txBox="1"/>
          <p:nvPr/>
        </p:nvSpPr>
        <p:spPr>
          <a:xfrm>
            <a:off x="6903720" y="2450592"/>
            <a:ext cx="2743200" cy="914400"/>
          </a:xfrm>
          <a:prstGeom prst="rect">
            <a:avLst/>
          </a:prstGeom>
          <a:noFill/>
        </p:spPr>
        <p:txBody>
          <a:bodyPr wrap="square">
            <a:spAutoFit/>
          </a:bodyPr>
          <a:lstStyle/>
          <a:p>
            <a:pPr algn="l"/>
            <a:r>
              <a:rPr sz="800" b="0">
                <a:solidFill>
                  <a:srgbClr val="5B5F63"/>
                </a:solidFill>
                <a:latin typeface="Pretendard"/>
              </a:rPr>
              <a:t>A real problem, a diagram or screenshot, how attestation works in 4 steps, what to ask any vendor.</a:t>
            </a:r>
          </a:p>
        </p:txBody>
      </p:sp>
      <p:sp>
        <p:nvSpPr>
          <p:cNvPr id="26" name="TextBox 25"/>
          <p:cNvSpPr txBox="1"/>
          <p:nvPr/>
        </p:nvSpPr>
        <p:spPr>
          <a:xfrm>
            <a:off x="9601200" y="2450592"/>
            <a:ext cx="1920240" cy="914400"/>
          </a:xfrm>
          <a:prstGeom prst="rect">
            <a:avLst/>
          </a:prstGeom>
          <a:noFill/>
        </p:spPr>
        <p:txBody>
          <a:bodyPr wrap="square">
            <a:spAutoFit/>
          </a:bodyPr>
          <a:lstStyle/>
          <a:p>
            <a:pPr algn="l"/>
            <a:r>
              <a:rPr sz="800" b="0">
                <a:solidFill>
                  <a:srgbClr val="8C8C88"/>
                </a:solidFill>
                <a:latin typeface="Pretendard"/>
              </a:rPr>
              <a:t>"Here is what happens in the 300ms after you hit enter on a Prem inference."</a:t>
            </a:r>
          </a:p>
        </p:txBody>
      </p:sp>
      <p:sp>
        <p:nvSpPr>
          <p:cNvPr id="27" name="TextBox 26"/>
          <p:cNvSpPr txBox="1"/>
          <p:nvPr/>
        </p:nvSpPr>
        <p:spPr>
          <a:xfrm>
            <a:off x="4663440" y="3438144"/>
            <a:ext cx="2377440" cy="868680"/>
          </a:xfrm>
          <a:prstGeom prst="rect">
            <a:avLst/>
          </a:prstGeom>
          <a:noFill/>
        </p:spPr>
        <p:txBody>
          <a:bodyPr wrap="square">
            <a:spAutoFit/>
          </a:bodyPr>
          <a:lstStyle/>
          <a:p>
            <a:pPr algn="l"/>
            <a:r>
              <a:rPr sz="1000" b="1">
                <a:solidFill>
                  <a:srgbClr val="0A0A0A"/>
                </a:solidFill>
                <a:latin typeface="Pretendard"/>
              </a:rPr>
              <a:t>3  Named evidence</a:t>
            </a:r>
          </a:p>
        </p:txBody>
      </p:sp>
      <p:sp>
        <p:nvSpPr>
          <p:cNvPr id="28" name="TextBox 27"/>
          <p:cNvSpPr txBox="1"/>
          <p:nvPr/>
        </p:nvSpPr>
        <p:spPr>
          <a:xfrm>
            <a:off x="6903720" y="3438144"/>
            <a:ext cx="2743200" cy="914400"/>
          </a:xfrm>
          <a:prstGeom prst="rect">
            <a:avLst/>
          </a:prstGeom>
          <a:noFill/>
        </p:spPr>
        <p:txBody>
          <a:bodyPr wrap="square">
            <a:spAutoFit/>
          </a:bodyPr>
          <a:lstStyle/>
          <a:p>
            <a:pPr algn="l"/>
            <a:r>
              <a:rPr sz="800" b="0">
                <a:solidFill>
                  <a:srgbClr val="5B5F63"/>
                </a:solidFill>
                <a:latin typeface="Pretendard"/>
              </a:rPr>
              <a:t>Customer, workload, before-and-after numbers, a quote with name and title. No anonymous case studies.</a:t>
            </a:r>
          </a:p>
        </p:txBody>
      </p:sp>
      <p:sp>
        <p:nvSpPr>
          <p:cNvPr id="29" name="TextBox 28"/>
          <p:cNvSpPr txBox="1"/>
          <p:nvPr/>
        </p:nvSpPr>
        <p:spPr>
          <a:xfrm>
            <a:off x="9601200" y="3438144"/>
            <a:ext cx="1920240" cy="914400"/>
          </a:xfrm>
          <a:prstGeom prst="rect">
            <a:avLst/>
          </a:prstGeom>
          <a:noFill/>
        </p:spPr>
        <p:txBody>
          <a:bodyPr wrap="square">
            <a:spAutoFit/>
          </a:bodyPr>
          <a:lstStyle/>
          <a:p>
            <a:pPr algn="l"/>
            <a:r>
              <a:rPr sz="800" b="0">
                <a:solidFill>
                  <a:srgbClr val="8C8C88"/>
                </a:solidFill>
                <a:latin typeface="Pretendard"/>
              </a:rPr>
              <a:t>"A 400-workflow compliance deployment, measured."</a:t>
            </a:r>
          </a:p>
        </p:txBody>
      </p:sp>
      <p:sp>
        <p:nvSpPr>
          <p:cNvPr id="30" name="TextBox 29"/>
          <p:cNvSpPr txBox="1"/>
          <p:nvPr/>
        </p:nvSpPr>
        <p:spPr>
          <a:xfrm>
            <a:off x="4663440" y="4425696"/>
            <a:ext cx="2377440" cy="868680"/>
          </a:xfrm>
          <a:prstGeom prst="rect">
            <a:avLst/>
          </a:prstGeom>
          <a:noFill/>
        </p:spPr>
        <p:txBody>
          <a:bodyPr wrap="square">
            <a:spAutoFit/>
          </a:bodyPr>
          <a:lstStyle/>
          <a:p>
            <a:pPr algn="l"/>
            <a:r>
              <a:rPr sz="1000" b="1">
                <a:solidFill>
                  <a:srgbClr val="0A0A0A"/>
                </a:solidFill>
                <a:latin typeface="Pretendard"/>
              </a:rPr>
              <a:t>4  The data take</a:t>
            </a:r>
          </a:p>
        </p:txBody>
      </p:sp>
      <p:sp>
        <p:nvSpPr>
          <p:cNvPr id="31" name="TextBox 30"/>
          <p:cNvSpPr txBox="1"/>
          <p:nvPr/>
        </p:nvSpPr>
        <p:spPr>
          <a:xfrm>
            <a:off x="6903720" y="4425696"/>
            <a:ext cx="2743200" cy="914400"/>
          </a:xfrm>
          <a:prstGeom prst="rect">
            <a:avLst/>
          </a:prstGeom>
          <a:noFill/>
        </p:spPr>
        <p:txBody>
          <a:bodyPr wrap="square">
            <a:spAutoFit/>
          </a:bodyPr>
          <a:lstStyle/>
          <a:p>
            <a:pPr algn="l"/>
            <a:r>
              <a:rPr sz="800" b="0">
                <a:solidFill>
                  <a:srgbClr val="5B5F63"/>
                </a:solidFill>
                <a:latin typeface="Pretendard"/>
              </a:rPr>
              <a:t>A common belief, the dataset that contradicts it, what it changes for buyers.</a:t>
            </a:r>
          </a:p>
        </p:txBody>
      </p:sp>
      <p:sp>
        <p:nvSpPr>
          <p:cNvPr id="32" name="TextBox 31"/>
          <p:cNvSpPr txBox="1"/>
          <p:nvPr/>
        </p:nvSpPr>
        <p:spPr>
          <a:xfrm>
            <a:off x="9601200" y="4425696"/>
            <a:ext cx="1920240" cy="914400"/>
          </a:xfrm>
          <a:prstGeom prst="rect">
            <a:avLst/>
          </a:prstGeom>
          <a:noFill/>
        </p:spPr>
        <p:txBody>
          <a:bodyPr wrap="square">
            <a:spAutoFit/>
          </a:bodyPr>
          <a:lstStyle/>
          <a:p>
            <a:pPr algn="l"/>
            <a:r>
              <a:rPr sz="800" b="0">
                <a:solidFill>
                  <a:srgbClr val="8C8C88"/>
                </a:solidFill>
                <a:latin typeface="Pretendard"/>
              </a:rPr>
              <a:t>"42% of companies abandoned most AI initiatives in 2025. Model quality is not the reason."</a:t>
            </a:r>
          </a:p>
        </p:txBody>
      </p:sp>
      <p:sp>
        <p:nvSpPr>
          <p:cNvPr id="33" name="TextBox 32"/>
          <p:cNvSpPr txBox="1"/>
          <p:nvPr/>
        </p:nvSpPr>
        <p:spPr>
          <a:xfrm>
            <a:off x="4663440" y="5413248"/>
            <a:ext cx="2377440" cy="868680"/>
          </a:xfrm>
          <a:prstGeom prst="rect">
            <a:avLst/>
          </a:prstGeom>
          <a:noFill/>
        </p:spPr>
        <p:txBody>
          <a:bodyPr wrap="square">
            <a:spAutoFit/>
          </a:bodyPr>
          <a:lstStyle/>
          <a:p>
            <a:pPr algn="l"/>
            <a:r>
              <a:rPr sz="1000" b="1">
                <a:solidFill>
                  <a:srgbClr val="0A0A0A"/>
                </a:solidFill>
                <a:latin typeface="Pretendard"/>
              </a:rPr>
              <a:t>5  Operator memo</a:t>
            </a:r>
          </a:p>
        </p:txBody>
      </p:sp>
      <p:sp>
        <p:nvSpPr>
          <p:cNvPr id="34" name="TextBox 33"/>
          <p:cNvSpPr txBox="1"/>
          <p:nvPr/>
        </p:nvSpPr>
        <p:spPr>
          <a:xfrm>
            <a:off x="6903720" y="5413248"/>
            <a:ext cx="2743200" cy="914400"/>
          </a:xfrm>
          <a:prstGeom prst="rect">
            <a:avLst/>
          </a:prstGeom>
          <a:noFill/>
        </p:spPr>
        <p:txBody>
          <a:bodyPr wrap="square">
            <a:spAutoFit/>
          </a:bodyPr>
          <a:lstStyle/>
          <a:p>
            <a:pPr algn="l"/>
            <a:r>
              <a:rPr sz="800" b="0">
                <a:solidFill>
                  <a:srgbClr val="5B5F63"/>
                </a:solidFill>
                <a:latin typeface="Pretendard"/>
              </a:rPr>
              <a:t>A decision we faced, the options, what we chose, what it cost us. Builds trust no ad can buy.</a:t>
            </a:r>
          </a:p>
        </p:txBody>
      </p:sp>
      <p:sp>
        <p:nvSpPr>
          <p:cNvPr id="35" name="TextBox 34"/>
          <p:cNvSpPr txBox="1"/>
          <p:nvPr/>
        </p:nvSpPr>
        <p:spPr>
          <a:xfrm>
            <a:off x="9601200" y="5413248"/>
            <a:ext cx="1920240" cy="914400"/>
          </a:xfrm>
          <a:prstGeom prst="rect">
            <a:avLst/>
          </a:prstGeom>
          <a:noFill/>
        </p:spPr>
        <p:txBody>
          <a:bodyPr wrap="square">
            <a:spAutoFit/>
          </a:bodyPr>
          <a:lstStyle/>
          <a:p>
            <a:pPr algn="l"/>
            <a:r>
              <a:rPr sz="800" b="0">
                <a:solidFill>
                  <a:srgbClr val="8C8C88"/>
                </a:solidFill>
                <a:latin typeface="Pretendard"/>
              </a:rPr>
              <a:t>"We turned down a seven-figure deal last quarter. The reason matters."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9144000" cy="274320"/>
          </a:xfrm>
          <a:prstGeom prst="rect">
            <a:avLst/>
          </a:prstGeom>
          <a:noFill/>
        </p:spPr>
        <p:txBody>
          <a:bodyPr wrap="square">
            <a:spAutoFit/>
          </a:bodyPr>
          <a:lstStyle/>
          <a:p>
            <a:pPr algn="l"/>
            <a:r>
              <a:rPr sz="900" b="1">
                <a:solidFill>
                  <a:srgbClr val="5B5F63"/>
                </a:solidFill>
                <a:latin typeface="Pretendard"/>
              </a:rPr>
              <a:t>11  PLATFORM PLAYBOOKS  |  X  (FLUSO-LED, INSIDE THE 40%)</a:t>
            </a:r>
          </a:p>
        </p:txBody>
      </p:sp>
      <p:sp>
        <p:nvSpPr>
          <p:cNvPr id="4" name="Rectangle 3"/>
          <p:cNvSpPr/>
          <p:nvPr/>
        </p:nvSpPr>
        <p:spPr>
          <a:xfrm>
            <a:off x="502920" y="713232"/>
            <a:ext cx="11183112" cy="10972"/>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960120"/>
            <a:ext cx="3749039" cy="5532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960120"/>
            <a:ext cx="3749039" cy="5486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078992"/>
            <a:ext cx="3291840" cy="274320"/>
          </a:xfrm>
          <a:prstGeom prst="rect">
            <a:avLst/>
          </a:prstGeom>
          <a:noFill/>
        </p:spPr>
        <p:txBody>
          <a:bodyPr wrap="square">
            <a:spAutoFit/>
          </a:bodyPr>
          <a:lstStyle/>
          <a:p>
            <a:pPr algn="l"/>
            <a:r>
              <a:rPr sz="850" b="1">
                <a:solidFill>
                  <a:srgbClr val="5B5F63"/>
                </a:solidFill>
                <a:latin typeface="Pretendard"/>
              </a:rPr>
              <a:t>STRATEGY</a:t>
            </a:r>
          </a:p>
        </p:txBody>
      </p:sp>
      <p:sp>
        <p:nvSpPr>
          <p:cNvPr id="8" name="TextBox 7"/>
          <p:cNvSpPr txBox="1"/>
          <p:nvPr/>
        </p:nvSpPr>
        <p:spPr>
          <a:xfrm>
            <a:off x="731520" y="1463040"/>
            <a:ext cx="3200400" cy="256032"/>
          </a:xfrm>
          <a:prstGeom prst="rect">
            <a:avLst/>
          </a:prstGeom>
          <a:noFill/>
        </p:spPr>
        <p:txBody>
          <a:bodyPr wrap="square">
            <a:spAutoFit/>
          </a:bodyPr>
          <a:lstStyle/>
          <a:p>
            <a:pPr algn="l"/>
            <a:r>
              <a:rPr sz="750" b="1">
                <a:solidFill>
                  <a:srgbClr val="5B5F63"/>
                </a:solidFill>
                <a:latin typeface="Pretendard"/>
              </a:rPr>
              <a:t>AUDIENCE</a:t>
            </a:r>
          </a:p>
        </p:txBody>
      </p:sp>
      <p:sp>
        <p:nvSpPr>
          <p:cNvPr id="9" name="TextBox 8"/>
          <p:cNvSpPr txBox="1"/>
          <p:nvPr/>
        </p:nvSpPr>
        <p:spPr>
          <a:xfrm>
            <a:off x="731520" y="1719072"/>
            <a:ext cx="3291840" cy="713232"/>
          </a:xfrm>
          <a:prstGeom prst="rect">
            <a:avLst/>
          </a:prstGeom>
          <a:noFill/>
        </p:spPr>
        <p:txBody>
          <a:bodyPr wrap="square">
            <a:spAutoFit/>
          </a:bodyPr>
          <a:lstStyle/>
          <a:p>
            <a:pPr algn="l"/>
            <a:r>
              <a:rPr sz="900" b="0">
                <a:solidFill>
                  <a:srgbClr val="0A0A0A"/>
                </a:solidFill>
                <a:latin typeface="Pretendard"/>
              </a:rPr>
              <a:t>Builders, developers, AI researchers, power users already debating open models and privacy</a:t>
            </a:r>
          </a:p>
        </p:txBody>
      </p:sp>
      <p:sp>
        <p:nvSpPr>
          <p:cNvPr id="10" name="TextBox 9"/>
          <p:cNvSpPr txBox="1"/>
          <p:nvPr/>
        </p:nvSpPr>
        <p:spPr>
          <a:xfrm>
            <a:off x="731520" y="2450592"/>
            <a:ext cx="3200400" cy="256032"/>
          </a:xfrm>
          <a:prstGeom prst="rect">
            <a:avLst/>
          </a:prstGeom>
          <a:noFill/>
        </p:spPr>
        <p:txBody>
          <a:bodyPr wrap="square">
            <a:spAutoFit/>
          </a:bodyPr>
          <a:lstStyle/>
          <a:p>
            <a:pPr algn="l"/>
            <a:r>
              <a:rPr sz="750" b="1">
                <a:solidFill>
                  <a:srgbClr val="5B5F63"/>
                </a:solidFill>
                <a:latin typeface="Pretendard"/>
              </a:rPr>
              <a:t>GOAL</a:t>
            </a:r>
          </a:p>
        </p:txBody>
      </p:sp>
      <p:sp>
        <p:nvSpPr>
          <p:cNvPr id="11" name="TextBox 10"/>
          <p:cNvSpPr txBox="1"/>
          <p:nvPr/>
        </p:nvSpPr>
        <p:spPr>
          <a:xfrm>
            <a:off x="731520" y="2706624"/>
            <a:ext cx="3291840" cy="713232"/>
          </a:xfrm>
          <a:prstGeom prst="rect">
            <a:avLst/>
          </a:prstGeom>
          <a:noFill/>
        </p:spPr>
        <p:txBody>
          <a:bodyPr wrap="square">
            <a:spAutoFit/>
          </a:bodyPr>
          <a:lstStyle/>
          <a:p>
            <a:pPr algn="l"/>
            <a:r>
              <a:rPr sz="900" b="0">
                <a:solidFill>
                  <a:srgbClr val="0A0A0A"/>
                </a:solidFill>
                <a:latin typeface="Pretendard"/>
              </a:rPr>
              <a:t>Be the product builders recommend to each other. Credibility earned, not bought.</a:t>
            </a:r>
          </a:p>
        </p:txBody>
      </p:sp>
      <p:sp>
        <p:nvSpPr>
          <p:cNvPr id="12" name="TextBox 11"/>
          <p:cNvSpPr txBox="1"/>
          <p:nvPr/>
        </p:nvSpPr>
        <p:spPr>
          <a:xfrm>
            <a:off x="731520" y="3438144"/>
            <a:ext cx="3200400" cy="256032"/>
          </a:xfrm>
          <a:prstGeom prst="rect">
            <a:avLst/>
          </a:prstGeom>
          <a:noFill/>
        </p:spPr>
        <p:txBody>
          <a:bodyPr wrap="square">
            <a:spAutoFit/>
          </a:bodyPr>
          <a:lstStyle/>
          <a:p>
            <a:pPr algn="l"/>
            <a:r>
              <a:rPr sz="750" b="1">
                <a:solidFill>
                  <a:srgbClr val="5B5F63"/>
                </a:solidFill>
                <a:latin typeface="Pretendard"/>
              </a:rPr>
              <a:t>VOICE</a:t>
            </a:r>
          </a:p>
        </p:txBody>
      </p:sp>
      <p:sp>
        <p:nvSpPr>
          <p:cNvPr id="13" name="TextBox 12"/>
          <p:cNvSpPr txBox="1"/>
          <p:nvPr/>
        </p:nvSpPr>
        <p:spPr>
          <a:xfrm>
            <a:off x="731520" y="3694176"/>
            <a:ext cx="3291840" cy="713232"/>
          </a:xfrm>
          <a:prstGeom prst="rect">
            <a:avLst/>
          </a:prstGeom>
          <a:noFill/>
        </p:spPr>
        <p:txBody>
          <a:bodyPr wrap="square">
            <a:spAutoFit/>
          </a:bodyPr>
          <a:lstStyle/>
          <a:p>
            <a:pPr algn="l"/>
            <a:r>
              <a:rPr sz="900" b="0">
                <a:solidFill>
                  <a:srgbClr val="0A0A0A"/>
                </a:solidFill>
                <a:latin typeface="Pretendard"/>
              </a:rPr>
              <a:t>A person who uses Fluso daily. Never a brand account voice.</a:t>
            </a:r>
          </a:p>
        </p:txBody>
      </p:sp>
      <p:sp>
        <p:nvSpPr>
          <p:cNvPr id="14" name="TextBox 13"/>
          <p:cNvSpPr txBox="1"/>
          <p:nvPr/>
        </p:nvSpPr>
        <p:spPr>
          <a:xfrm>
            <a:off x="731520" y="4425696"/>
            <a:ext cx="3200400" cy="256032"/>
          </a:xfrm>
          <a:prstGeom prst="rect">
            <a:avLst/>
          </a:prstGeom>
          <a:noFill/>
        </p:spPr>
        <p:txBody>
          <a:bodyPr wrap="square">
            <a:spAutoFit/>
          </a:bodyPr>
          <a:lstStyle/>
          <a:p>
            <a:pPr algn="l"/>
            <a:r>
              <a:rPr sz="750" b="1">
                <a:solidFill>
                  <a:srgbClr val="5B5F63"/>
                </a:solidFill>
                <a:latin typeface="Pretendard"/>
              </a:rPr>
              <a:t>CADENCE</a:t>
            </a:r>
          </a:p>
        </p:txBody>
      </p:sp>
      <p:sp>
        <p:nvSpPr>
          <p:cNvPr id="15" name="TextBox 14"/>
          <p:cNvSpPr txBox="1"/>
          <p:nvPr/>
        </p:nvSpPr>
        <p:spPr>
          <a:xfrm>
            <a:off x="731520" y="4681728"/>
            <a:ext cx="3291840" cy="713232"/>
          </a:xfrm>
          <a:prstGeom prst="rect">
            <a:avLst/>
          </a:prstGeom>
          <a:noFill/>
        </p:spPr>
        <p:txBody>
          <a:bodyPr wrap="square">
            <a:spAutoFit/>
          </a:bodyPr>
          <a:lstStyle/>
          <a:p>
            <a:pPr algn="l"/>
            <a:r>
              <a:rPr sz="900" b="0">
                <a:solidFill>
                  <a:srgbClr val="0A0A0A"/>
                </a:solidFill>
                <a:latin typeface="Pretendard"/>
              </a:rPr>
              <a:t>1 to 2 posts per day max. Replies outgrow posts; spend half the time in other people's threads.</a:t>
            </a:r>
          </a:p>
        </p:txBody>
      </p:sp>
      <p:sp>
        <p:nvSpPr>
          <p:cNvPr id="16" name="TextBox 15"/>
          <p:cNvSpPr txBox="1"/>
          <p:nvPr/>
        </p:nvSpPr>
        <p:spPr>
          <a:xfrm>
            <a:off x="731520" y="5413248"/>
            <a:ext cx="3200400" cy="256032"/>
          </a:xfrm>
          <a:prstGeom prst="rect">
            <a:avLst/>
          </a:prstGeom>
          <a:noFill/>
        </p:spPr>
        <p:txBody>
          <a:bodyPr wrap="square">
            <a:spAutoFit/>
          </a:bodyPr>
          <a:lstStyle/>
          <a:p>
            <a:pPr algn="l"/>
            <a:r>
              <a:rPr sz="750" b="1">
                <a:solidFill>
                  <a:srgbClr val="5B5F63"/>
                </a:solidFill>
                <a:latin typeface="Pretendard"/>
              </a:rPr>
              <a:t>KPI</a:t>
            </a:r>
          </a:p>
        </p:txBody>
      </p:sp>
      <p:sp>
        <p:nvSpPr>
          <p:cNvPr id="17" name="TextBox 16"/>
          <p:cNvSpPr txBox="1"/>
          <p:nvPr/>
        </p:nvSpPr>
        <p:spPr>
          <a:xfrm>
            <a:off x="731520" y="5669280"/>
            <a:ext cx="3291840" cy="713232"/>
          </a:xfrm>
          <a:prstGeom prst="rect">
            <a:avLst/>
          </a:prstGeom>
          <a:noFill/>
        </p:spPr>
        <p:txBody>
          <a:bodyPr wrap="square">
            <a:spAutoFit/>
          </a:bodyPr>
          <a:lstStyle/>
          <a:p>
            <a:pPr algn="l"/>
            <a:r>
              <a:rPr sz="900" b="0">
                <a:solidFill>
                  <a:srgbClr val="0A0A0A"/>
                </a:solidFill>
                <a:latin typeface="Pretendard"/>
              </a:rPr>
              <a:t>Qualified signups and waitlist conversions from profile clicks. Not impressions.</a:t>
            </a:r>
          </a:p>
        </p:txBody>
      </p:sp>
      <p:sp>
        <p:nvSpPr>
          <p:cNvPr id="18" name="Rectangle 17"/>
          <p:cNvSpPr/>
          <p:nvPr/>
        </p:nvSpPr>
        <p:spPr>
          <a:xfrm>
            <a:off x="4434840" y="960120"/>
            <a:ext cx="7251192" cy="5532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34840" y="960120"/>
            <a:ext cx="7251192" cy="5486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63440" y="1078992"/>
            <a:ext cx="6766560" cy="274320"/>
          </a:xfrm>
          <a:prstGeom prst="rect">
            <a:avLst/>
          </a:prstGeom>
          <a:noFill/>
        </p:spPr>
        <p:txBody>
          <a:bodyPr wrap="square">
            <a:spAutoFit/>
          </a:bodyPr>
          <a:lstStyle/>
          <a:p>
            <a:pPr algn="l"/>
            <a:r>
              <a:rPr sz="850" b="1">
                <a:solidFill>
                  <a:srgbClr val="5B5F63"/>
                </a:solidFill>
                <a:latin typeface="Pretendard"/>
              </a:rPr>
              <a:t>FIVE POST ARCHETYPES</a:t>
            </a:r>
          </a:p>
        </p:txBody>
      </p:sp>
      <p:sp>
        <p:nvSpPr>
          <p:cNvPr id="21" name="TextBox 20"/>
          <p:cNvSpPr txBox="1"/>
          <p:nvPr/>
        </p:nvSpPr>
        <p:spPr>
          <a:xfrm>
            <a:off x="4663440" y="1463040"/>
            <a:ext cx="2377440" cy="868680"/>
          </a:xfrm>
          <a:prstGeom prst="rect">
            <a:avLst/>
          </a:prstGeom>
          <a:noFill/>
        </p:spPr>
        <p:txBody>
          <a:bodyPr wrap="square">
            <a:spAutoFit/>
          </a:bodyPr>
          <a:lstStyle/>
          <a:p>
            <a:pPr algn="l"/>
            <a:r>
              <a:rPr sz="1000" b="1">
                <a:solidFill>
                  <a:srgbClr val="0A0A0A"/>
                </a:solidFill>
                <a:latin typeface="Pretendard"/>
              </a:rPr>
              <a:t>1  Build log</a:t>
            </a:r>
          </a:p>
        </p:txBody>
      </p:sp>
      <p:sp>
        <p:nvSpPr>
          <p:cNvPr id="22" name="TextBox 21"/>
          <p:cNvSpPr txBox="1"/>
          <p:nvPr/>
        </p:nvSpPr>
        <p:spPr>
          <a:xfrm>
            <a:off x="6903720" y="1463040"/>
            <a:ext cx="2743200" cy="914400"/>
          </a:xfrm>
          <a:prstGeom prst="rect">
            <a:avLst/>
          </a:prstGeom>
          <a:noFill/>
        </p:spPr>
        <p:txBody>
          <a:bodyPr wrap="square">
            <a:spAutoFit/>
          </a:bodyPr>
          <a:lstStyle/>
          <a:p>
            <a:pPr algn="l"/>
            <a:r>
              <a:rPr sz="800" b="0">
                <a:solidFill>
                  <a:srgbClr val="5B5F63"/>
                </a:solidFill>
                <a:latin typeface="Pretendard"/>
              </a:rPr>
              <a:t>What shipped, one screenshot, one number. No adjectives.</a:t>
            </a:r>
          </a:p>
        </p:txBody>
      </p:sp>
      <p:sp>
        <p:nvSpPr>
          <p:cNvPr id="23" name="TextBox 22"/>
          <p:cNvSpPr txBox="1"/>
          <p:nvPr/>
        </p:nvSpPr>
        <p:spPr>
          <a:xfrm>
            <a:off x="9601200" y="1463040"/>
            <a:ext cx="1920240" cy="914400"/>
          </a:xfrm>
          <a:prstGeom prst="rect">
            <a:avLst/>
          </a:prstGeom>
          <a:noFill/>
        </p:spPr>
        <p:txBody>
          <a:bodyPr wrap="square">
            <a:spAutoFit/>
          </a:bodyPr>
          <a:lstStyle/>
          <a:p>
            <a:pPr algn="l"/>
            <a:r>
              <a:rPr sz="800" b="0">
                <a:solidFill>
                  <a:srgbClr val="8C8C88"/>
                </a:solidFill>
                <a:latin typeface="Pretendard"/>
              </a:rPr>
              <a:t>"Session export shipped. 14 seconds from audit request to PDF."</a:t>
            </a:r>
          </a:p>
        </p:txBody>
      </p:sp>
      <p:sp>
        <p:nvSpPr>
          <p:cNvPr id="24" name="TextBox 23"/>
          <p:cNvSpPr txBox="1"/>
          <p:nvPr/>
        </p:nvSpPr>
        <p:spPr>
          <a:xfrm>
            <a:off x="4663440" y="2450592"/>
            <a:ext cx="2377440" cy="868680"/>
          </a:xfrm>
          <a:prstGeom prst="rect">
            <a:avLst/>
          </a:prstGeom>
          <a:noFill/>
        </p:spPr>
        <p:txBody>
          <a:bodyPr wrap="square">
            <a:spAutoFit/>
          </a:bodyPr>
          <a:lstStyle/>
          <a:p>
            <a:pPr algn="l"/>
            <a:r>
              <a:rPr sz="1000" b="1">
                <a:solidFill>
                  <a:srgbClr val="0A0A0A"/>
                </a:solidFill>
                <a:latin typeface="Pretendard"/>
              </a:rPr>
              <a:t>2  Workflow receipt</a:t>
            </a:r>
          </a:p>
        </p:txBody>
      </p:sp>
      <p:sp>
        <p:nvSpPr>
          <p:cNvPr id="25" name="TextBox 24"/>
          <p:cNvSpPr txBox="1"/>
          <p:nvPr/>
        </p:nvSpPr>
        <p:spPr>
          <a:xfrm>
            <a:off x="6903720" y="2450592"/>
            <a:ext cx="2743200" cy="914400"/>
          </a:xfrm>
          <a:prstGeom prst="rect">
            <a:avLst/>
          </a:prstGeom>
          <a:noFill/>
        </p:spPr>
        <p:txBody>
          <a:bodyPr wrap="square">
            <a:spAutoFit/>
          </a:bodyPr>
          <a:lstStyle/>
          <a:p>
            <a:pPr algn="l"/>
            <a:r>
              <a:rPr sz="800" b="0">
                <a:solidFill>
                  <a:srgbClr val="5B5F63"/>
                </a:solidFill>
                <a:latin typeface="Pretendard"/>
              </a:rPr>
              <a:t>Task, time, model used, result. The receipt is the post.</a:t>
            </a:r>
          </a:p>
        </p:txBody>
      </p:sp>
      <p:sp>
        <p:nvSpPr>
          <p:cNvPr id="26" name="TextBox 25"/>
          <p:cNvSpPr txBox="1"/>
          <p:nvPr/>
        </p:nvSpPr>
        <p:spPr>
          <a:xfrm>
            <a:off x="9601200" y="2450592"/>
            <a:ext cx="1920240" cy="914400"/>
          </a:xfrm>
          <a:prstGeom prst="rect">
            <a:avLst/>
          </a:prstGeom>
          <a:noFill/>
        </p:spPr>
        <p:txBody>
          <a:bodyPr wrap="square">
            <a:spAutoFit/>
          </a:bodyPr>
          <a:lstStyle/>
          <a:p>
            <a:pPr algn="l"/>
            <a:r>
              <a:rPr sz="800" b="0">
                <a:solidFill>
                  <a:srgbClr val="8C8C88"/>
                </a:solidFill>
                <a:latin typeface="Pretendard"/>
              </a:rPr>
              <a:t>"Contract review. 23 minutes. Every clause sourced."</a:t>
            </a:r>
          </a:p>
        </p:txBody>
      </p:sp>
      <p:sp>
        <p:nvSpPr>
          <p:cNvPr id="27" name="TextBox 26"/>
          <p:cNvSpPr txBox="1"/>
          <p:nvPr/>
        </p:nvSpPr>
        <p:spPr>
          <a:xfrm>
            <a:off x="4663440" y="3438144"/>
            <a:ext cx="2377440" cy="868680"/>
          </a:xfrm>
          <a:prstGeom prst="rect">
            <a:avLst/>
          </a:prstGeom>
          <a:noFill/>
        </p:spPr>
        <p:txBody>
          <a:bodyPr wrap="square">
            <a:spAutoFit/>
          </a:bodyPr>
          <a:lstStyle/>
          <a:p>
            <a:pPr algn="l"/>
            <a:r>
              <a:rPr sz="1000" b="1">
                <a:solidFill>
                  <a:srgbClr val="0A0A0A"/>
                </a:solidFill>
                <a:latin typeface="Pretendard"/>
              </a:rPr>
              <a:t>3  Honest limit</a:t>
            </a:r>
          </a:p>
        </p:txBody>
      </p:sp>
      <p:sp>
        <p:nvSpPr>
          <p:cNvPr id="28" name="TextBox 27"/>
          <p:cNvSpPr txBox="1"/>
          <p:nvPr/>
        </p:nvSpPr>
        <p:spPr>
          <a:xfrm>
            <a:off x="6903720" y="3438144"/>
            <a:ext cx="2743200" cy="914400"/>
          </a:xfrm>
          <a:prstGeom prst="rect">
            <a:avLst/>
          </a:prstGeom>
          <a:noFill/>
        </p:spPr>
        <p:txBody>
          <a:bodyPr wrap="square">
            <a:spAutoFit/>
          </a:bodyPr>
          <a:lstStyle/>
          <a:p>
            <a:pPr algn="l"/>
            <a:r>
              <a:rPr sz="800" b="0">
                <a:solidFill>
                  <a:srgbClr val="5B5F63"/>
                </a:solidFill>
                <a:latin typeface="Pretendard"/>
              </a:rPr>
              <a:t>What Fluso cannot do yet, plus the current workaround. These outperform launch posts.</a:t>
            </a:r>
          </a:p>
        </p:txBody>
      </p:sp>
      <p:sp>
        <p:nvSpPr>
          <p:cNvPr id="29" name="TextBox 28"/>
          <p:cNvSpPr txBox="1"/>
          <p:nvPr/>
        </p:nvSpPr>
        <p:spPr>
          <a:xfrm>
            <a:off x="9601200" y="3438144"/>
            <a:ext cx="1920240" cy="914400"/>
          </a:xfrm>
          <a:prstGeom prst="rect">
            <a:avLst/>
          </a:prstGeom>
          <a:noFill/>
        </p:spPr>
        <p:txBody>
          <a:bodyPr wrap="square">
            <a:spAutoFit/>
          </a:bodyPr>
          <a:lstStyle/>
          <a:p>
            <a:pPr algn="l"/>
            <a:r>
              <a:rPr sz="800" b="0">
                <a:solidFill>
                  <a:srgbClr val="8C8C88"/>
                </a:solidFill>
                <a:latin typeface="Pretendard"/>
              </a:rPr>
              <a:t>"Fluso still struggles with scanned tables. Here is what we do instead."</a:t>
            </a:r>
          </a:p>
        </p:txBody>
      </p:sp>
      <p:sp>
        <p:nvSpPr>
          <p:cNvPr id="30" name="TextBox 29"/>
          <p:cNvSpPr txBox="1"/>
          <p:nvPr/>
        </p:nvSpPr>
        <p:spPr>
          <a:xfrm>
            <a:off x="4663440" y="4425696"/>
            <a:ext cx="2377440" cy="868680"/>
          </a:xfrm>
          <a:prstGeom prst="rect">
            <a:avLst/>
          </a:prstGeom>
          <a:noFill/>
        </p:spPr>
        <p:txBody>
          <a:bodyPr wrap="square">
            <a:spAutoFit/>
          </a:bodyPr>
          <a:lstStyle/>
          <a:p>
            <a:pPr algn="l"/>
            <a:r>
              <a:rPr sz="1000" b="1">
                <a:solidFill>
                  <a:srgbClr val="0A0A0A"/>
                </a:solidFill>
                <a:latin typeface="Pretendard"/>
              </a:rPr>
              <a:t>4  Model take</a:t>
            </a:r>
          </a:p>
        </p:txBody>
      </p:sp>
      <p:sp>
        <p:nvSpPr>
          <p:cNvPr id="31" name="TextBox 30"/>
          <p:cNvSpPr txBox="1"/>
          <p:nvPr/>
        </p:nvSpPr>
        <p:spPr>
          <a:xfrm>
            <a:off x="6903720" y="4425696"/>
            <a:ext cx="2743200" cy="914400"/>
          </a:xfrm>
          <a:prstGeom prst="rect">
            <a:avLst/>
          </a:prstGeom>
          <a:noFill/>
        </p:spPr>
        <p:txBody>
          <a:bodyPr wrap="square">
            <a:spAutoFit/>
          </a:bodyPr>
          <a:lstStyle/>
          <a:p>
            <a:pPr algn="l"/>
            <a:r>
              <a:rPr sz="800" b="0">
                <a:solidFill>
                  <a:srgbClr val="5B5F63"/>
                </a:solidFill>
                <a:latin typeface="Pretendard"/>
              </a:rPr>
              <a:t>Opinionated open-model comparison backed by our own runs. Data attached, no winner hype.</a:t>
            </a:r>
          </a:p>
        </p:txBody>
      </p:sp>
      <p:sp>
        <p:nvSpPr>
          <p:cNvPr id="32" name="TextBox 31"/>
          <p:cNvSpPr txBox="1"/>
          <p:nvPr/>
        </p:nvSpPr>
        <p:spPr>
          <a:xfrm>
            <a:off x="9601200" y="4425696"/>
            <a:ext cx="1920240" cy="914400"/>
          </a:xfrm>
          <a:prstGeom prst="rect">
            <a:avLst/>
          </a:prstGeom>
          <a:noFill/>
        </p:spPr>
        <p:txBody>
          <a:bodyPr wrap="square">
            <a:spAutoFit/>
          </a:bodyPr>
          <a:lstStyle/>
          <a:p>
            <a:pPr algn="l"/>
            <a:r>
              <a:rPr sz="800" b="0">
                <a:solidFill>
                  <a:srgbClr val="8C8C88"/>
                </a:solidFill>
                <a:latin typeface="Pretendard"/>
              </a:rPr>
              <a:t>"We ran the same brief through 4 open models. The spread surprised us."</a:t>
            </a:r>
          </a:p>
        </p:txBody>
      </p:sp>
      <p:sp>
        <p:nvSpPr>
          <p:cNvPr id="33" name="TextBox 32"/>
          <p:cNvSpPr txBox="1"/>
          <p:nvPr/>
        </p:nvSpPr>
        <p:spPr>
          <a:xfrm>
            <a:off x="4663440" y="5413248"/>
            <a:ext cx="2377440" cy="868680"/>
          </a:xfrm>
          <a:prstGeom prst="rect">
            <a:avLst/>
          </a:prstGeom>
          <a:noFill/>
        </p:spPr>
        <p:txBody>
          <a:bodyPr wrap="square">
            <a:spAutoFit/>
          </a:bodyPr>
          <a:lstStyle/>
          <a:p>
            <a:pPr algn="l"/>
            <a:r>
              <a:rPr sz="1000" b="1">
                <a:solidFill>
                  <a:srgbClr val="0A0A0A"/>
                </a:solidFill>
                <a:latin typeface="Pretendard"/>
              </a:rPr>
              <a:t>5  Community ask</a:t>
            </a:r>
          </a:p>
        </p:txBody>
      </p:sp>
      <p:sp>
        <p:nvSpPr>
          <p:cNvPr id="34" name="TextBox 33"/>
          <p:cNvSpPr txBox="1"/>
          <p:nvPr/>
        </p:nvSpPr>
        <p:spPr>
          <a:xfrm>
            <a:off x="6903720" y="5413248"/>
            <a:ext cx="2743200" cy="914400"/>
          </a:xfrm>
          <a:prstGeom prst="rect">
            <a:avLst/>
          </a:prstGeom>
          <a:noFill/>
        </p:spPr>
        <p:txBody>
          <a:bodyPr wrap="square">
            <a:spAutoFit/>
          </a:bodyPr>
          <a:lstStyle/>
          <a:p>
            <a:pPr algn="l"/>
            <a:r>
              <a:rPr sz="800" b="0">
                <a:solidFill>
                  <a:srgbClr val="5B5F63"/>
                </a:solidFill>
                <a:latin typeface="Pretendard"/>
              </a:rPr>
              <a:t>A real open question we have not solved. Respond to every single answer.</a:t>
            </a:r>
          </a:p>
        </p:txBody>
      </p:sp>
      <p:sp>
        <p:nvSpPr>
          <p:cNvPr id="35" name="TextBox 34"/>
          <p:cNvSpPr txBox="1"/>
          <p:nvPr/>
        </p:nvSpPr>
        <p:spPr>
          <a:xfrm>
            <a:off x="9601200" y="5413248"/>
            <a:ext cx="1920240" cy="914400"/>
          </a:xfrm>
          <a:prstGeom prst="rect">
            <a:avLst/>
          </a:prstGeom>
          <a:noFill/>
        </p:spPr>
        <p:txBody>
          <a:bodyPr wrap="square">
            <a:spAutoFit/>
          </a:bodyPr>
          <a:lstStyle/>
          <a:p>
            <a:pPr algn="l"/>
            <a:r>
              <a:rPr sz="800" b="0">
                <a:solidFill>
                  <a:srgbClr val="8C8C88"/>
                </a:solidFill>
                <a:latin typeface="Pretendard"/>
              </a:rPr>
              <a:t>"How do you handle citation checking in long research sessions? Genuinely asking."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9144000" cy="274320"/>
          </a:xfrm>
          <a:prstGeom prst="rect">
            <a:avLst/>
          </a:prstGeom>
          <a:noFill/>
        </p:spPr>
        <p:txBody>
          <a:bodyPr wrap="square">
            <a:spAutoFit/>
          </a:bodyPr>
          <a:lstStyle/>
          <a:p>
            <a:pPr algn="l"/>
            <a:r>
              <a:rPr sz="900" b="1">
                <a:solidFill>
                  <a:srgbClr val="5B5F63"/>
                </a:solidFill>
                <a:latin typeface="Pretendard"/>
              </a:rPr>
              <a:t>11  PLATFORM PLAYBOOKS  |  INSTAGRAM  (FLUSO-WEIGHTED)</a:t>
            </a:r>
          </a:p>
        </p:txBody>
      </p:sp>
      <p:sp>
        <p:nvSpPr>
          <p:cNvPr id="4" name="Rectangle 3"/>
          <p:cNvSpPr/>
          <p:nvPr/>
        </p:nvSpPr>
        <p:spPr>
          <a:xfrm>
            <a:off x="502920" y="713232"/>
            <a:ext cx="11183112" cy="10972"/>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68680"/>
            <a:ext cx="10972800" cy="457200"/>
          </a:xfrm>
          <a:prstGeom prst="rect">
            <a:avLst/>
          </a:prstGeom>
          <a:noFill/>
        </p:spPr>
        <p:txBody>
          <a:bodyPr wrap="square">
            <a:spAutoFit/>
          </a:bodyPr>
          <a:lstStyle/>
          <a:p>
            <a:pPr algn="l"/>
            <a:r>
              <a:rPr sz="1800" b="1">
                <a:solidFill>
                  <a:srgbClr val="0A0A0A"/>
                </a:solidFill>
                <a:latin typeface="Pretendard"/>
              </a:rPr>
              <a:t>Show the work. The Swiss visual world lives here.</a:t>
            </a:r>
          </a:p>
        </p:txBody>
      </p:sp>
      <p:sp>
        <p:nvSpPr>
          <p:cNvPr id="6" name="Rectangle 5"/>
          <p:cNvSpPr/>
          <p:nvPr/>
        </p:nvSpPr>
        <p:spPr>
          <a:xfrm>
            <a:off x="502920" y="1508760"/>
            <a:ext cx="5486400" cy="4983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508760"/>
            <a:ext cx="5486400" cy="5486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27632"/>
            <a:ext cx="5029200" cy="274320"/>
          </a:xfrm>
          <a:prstGeom prst="rect">
            <a:avLst/>
          </a:prstGeom>
          <a:noFill/>
        </p:spPr>
        <p:txBody>
          <a:bodyPr wrap="square">
            <a:spAutoFit/>
          </a:bodyPr>
          <a:lstStyle/>
          <a:p>
            <a:pPr algn="l"/>
            <a:r>
              <a:rPr sz="850" b="1">
                <a:solidFill>
                  <a:srgbClr val="5B5F63"/>
                </a:solidFill>
                <a:latin typeface="Pretendard"/>
              </a:rPr>
              <a:t>CONTENT FORMATS</a:t>
            </a:r>
          </a:p>
        </p:txBody>
      </p:sp>
      <p:sp>
        <p:nvSpPr>
          <p:cNvPr id="9" name="TextBox 8"/>
          <p:cNvSpPr txBox="1"/>
          <p:nvPr/>
        </p:nvSpPr>
        <p:spPr>
          <a:xfrm>
            <a:off x="731520" y="2011680"/>
            <a:ext cx="4937760" cy="274320"/>
          </a:xfrm>
          <a:prstGeom prst="rect">
            <a:avLst/>
          </a:prstGeom>
          <a:noFill/>
        </p:spPr>
        <p:txBody>
          <a:bodyPr wrap="square">
            <a:spAutoFit/>
          </a:bodyPr>
          <a:lstStyle/>
          <a:p>
            <a:pPr algn="l"/>
            <a:r>
              <a:rPr sz="1050" b="1">
                <a:solidFill>
                  <a:srgbClr val="0A0A0A"/>
                </a:solidFill>
                <a:latin typeface="Pretendard"/>
              </a:rPr>
              <a:t>Reels, 15 to 30s</a:t>
            </a:r>
          </a:p>
        </p:txBody>
      </p:sp>
      <p:sp>
        <p:nvSpPr>
          <p:cNvPr id="10" name="TextBox 9"/>
          <p:cNvSpPr txBox="1"/>
          <p:nvPr/>
        </p:nvSpPr>
        <p:spPr>
          <a:xfrm>
            <a:off x="731520" y="2304288"/>
            <a:ext cx="4983480" cy="777240"/>
          </a:xfrm>
          <a:prstGeom prst="rect">
            <a:avLst/>
          </a:prstGeom>
          <a:noFill/>
        </p:spPr>
        <p:txBody>
          <a:bodyPr wrap="square">
            <a:spAutoFit/>
          </a:bodyPr>
          <a:lstStyle/>
          <a:p>
            <a:pPr algn="l"/>
            <a:r>
              <a:rPr sz="850" b="0">
                <a:solidFill>
                  <a:srgbClr val="5B5F63"/>
                </a:solidFill>
                <a:latin typeface="Pretendard"/>
              </a:rPr>
              <a:t>Screen capture of a real task plus text overlay. No talking heads, no voiceover. Cover frame: big number, ridge footer (template, slide 10).</a:t>
            </a:r>
          </a:p>
        </p:txBody>
      </p:sp>
      <p:sp>
        <p:nvSpPr>
          <p:cNvPr id="11" name="TextBox 10"/>
          <p:cNvSpPr txBox="1"/>
          <p:nvPr/>
        </p:nvSpPr>
        <p:spPr>
          <a:xfrm>
            <a:off x="731520" y="3127248"/>
            <a:ext cx="4937760" cy="274320"/>
          </a:xfrm>
          <a:prstGeom prst="rect">
            <a:avLst/>
          </a:prstGeom>
          <a:noFill/>
        </p:spPr>
        <p:txBody>
          <a:bodyPr wrap="square">
            <a:spAutoFit/>
          </a:bodyPr>
          <a:lstStyle/>
          <a:p>
            <a:pPr algn="l"/>
            <a:r>
              <a:rPr sz="1050" b="1">
                <a:solidFill>
                  <a:srgbClr val="0A0A0A"/>
                </a:solidFill>
                <a:latin typeface="Pretendard"/>
              </a:rPr>
              <a:t>Carousels</a:t>
            </a:r>
          </a:p>
        </p:txBody>
      </p:sp>
      <p:sp>
        <p:nvSpPr>
          <p:cNvPr id="12" name="TextBox 11"/>
          <p:cNvSpPr txBox="1"/>
          <p:nvPr/>
        </p:nvSpPr>
        <p:spPr>
          <a:xfrm>
            <a:off x="731520" y="3419856"/>
            <a:ext cx="4983480" cy="777240"/>
          </a:xfrm>
          <a:prstGeom prst="rect">
            <a:avLst/>
          </a:prstGeom>
          <a:noFill/>
        </p:spPr>
        <p:txBody>
          <a:bodyPr wrap="square">
            <a:spAutoFit/>
          </a:bodyPr>
          <a:lstStyle/>
          <a:p>
            <a:pPr algn="l"/>
            <a:r>
              <a:rPr sz="850" b="0">
                <a:solidFill>
                  <a:srgbClr val="5B5F63"/>
                </a:solidFill>
                <a:latin typeface="Pretendard"/>
              </a:rPr>
              <a:t>Slide 1 carries a standalone claim. Dot-map watermark bottom-right. Close on a summary slide, never a CTA slide.</a:t>
            </a:r>
          </a:p>
        </p:txBody>
      </p:sp>
      <p:sp>
        <p:nvSpPr>
          <p:cNvPr id="13" name="TextBox 12"/>
          <p:cNvSpPr txBox="1"/>
          <p:nvPr/>
        </p:nvSpPr>
        <p:spPr>
          <a:xfrm>
            <a:off x="731520" y="4242816"/>
            <a:ext cx="4937760" cy="274320"/>
          </a:xfrm>
          <a:prstGeom prst="rect">
            <a:avLst/>
          </a:prstGeom>
          <a:noFill/>
        </p:spPr>
        <p:txBody>
          <a:bodyPr wrap="square">
            <a:spAutoFit/>
          </a:bodyPr>
          <a:lstStyle/>
          <a:p>
            <a:pPr algn="l"/>
            <a:r>
              <a:rPr sz="1050" b="1">
                <a:solidFill>
                  <a:srgbClr val="0A0A0A"/>
                </a:solidFill>
                <a:latin typeface="Pretendard"/>
              </a:rPr>
              <a:t>Stories</a:t>
            </a:r>
          </a:p>
        </p:txBody>
      </p:sp>
      <p:sp>
        <p:nvSpPr>
          <p:cNvPr id="14" name="TextBox 13"/>
          <p:cNvSpPr txBox="1"/>
          <p:nvPr/>
        </p:nvSpPr>
        <p:spPr>
          <a:xfrm>
            <a:off x="731520" y="4535424"/>
            <a:ext cx="4983480" cy="777240"/>
          </a:xfrm>
          <a:prstGeom prst="rect">
            <a:avLst/>
          </a:prstGeom>
          <a:noFill/>
        </p:spPr>
        <p:txBody>
          <a:bodyPr wrap="square">
            <a:spAutoFit/>
          </a:bodyPr>
          <a:lstStyle/>
          <a:p>
            <a:pPr algn="l"/>
            <a:r>
              <a:rPr sz="850" b="0">
                <a:solidFill>
                  <a:srgbClr val="5B5F63"/>
                </a:solidFill>
                <a:latin typeface="Pretendard"/>
              </a:rPr>
              <a:t>Behind-the-work only: real screenshots, drafts, whiteboards. No branded templates. Polls only when we genuinely want the answer.</a:t>
            </a:r>
          </a:p>
        </p:txBody>
      </p:sp>
      <p:sp>
        <p:nvSpPr>
          <p:cNvPr id="15" name="TextBox 14"/>
          <p:cNvSpPr txBox="1"/>
          <p:nvPr/>
        </p:nvSpPr>
        <p:spPr>
          <a:xfrm>
            <a:off x="731520" y="5358384"/>
            <a:ext cx="4937760" cy="274320"/>
          </a:xfrm>
          <a:prstGeom prst="rect">
            <a:avLst/>
          </a:prstGeom>
          <a:noFill/>
        </p:spPr>
        <p:txBody>
          <a:bodyPr wrap="square">
            <a:spAutoFit/>
          </a:bodyPr>
          <a:lstStyle/>
          <a:p>
            <a:pPr algn="l"/>
            <a:r>
              <a:rPr sz="1050" b="1">
                <a:solidFill>
                  <a:srgbClr val="0A0A0A"/>
                </a:solidFill>
                <a:latin typeface="Pretendard"/>
              </a:rPr>
              <a:t>Grid rhythm</a:t>
            </a:r>
          </a:p>
        </p:txBody>
      </p:sp>
      <p:sp>
        <p:nvSpPr>
          <p:cNvPr id="16" name="TextBox 15"/>
          <p:cNvSpPr txBox="1"/>
          <p:nvPr/>
        </p:nvSpPr>
        <p:spPr>
          <a:xfrm>
            <a:off x="731520" y="5650992"/>
            <a:ext cx="4983480" cy="777240"/>
          </a:xfrm>
          <a:prstGeom prst="rect">
            <a:avLst/>
          </a:prstGeom>
          <a:noFill/>
        </p:spPr>
        <p:txBody>
          <a:bodyPr wrap="square">
            <a:spAutoFit/>
          </a:bodyPr>
          <a:lstStyle/>
          <a:p>
            <a:pPr algn="l"/>
            <a:r>
              <a:rPr sz="850" b="0">
                <a:solidFill>
                  <a:srgbClr val="5B5F63"/>
                </a:solidFill>
                <a:latin typeface="Pretendard"/>
              </a:rPr>
              <a:t>Alternate paper-ground and dark-ground cards plus alpine photography frames. Every 9th post: the dot map or a ridge, full bleed.</a:t>
            </a:r>
          </a:p>
        </p:txBody>
      </p:sp>
      <p:sp>
        <p:nvSpPr>
          <p:cNvPr id="17" name="Rectangle 16"/>
          <p:cNvSpPr/>
          <p:nvPr/>
        </p:nvSpPr>
        <p:spPr>
          <a:xfrm>
            <a:off x="6217920" y="1508760"/>
            <a:ext cx="5486400" cy="4983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7920" y="1508760"/>
            <a:ext cx="5486400" cy="5486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1627632"/>
            <a:ext cx="5029200" cy="274320"/>
          </a:xfrm>
          <a:prstGeom prst="rect">
            <a:avLst/>
          </a:prstGeom>
          <a:noFill/>
        </p:spPr>
        <p:txBody>
          <a:bodyPr wrap="square">
            <a:spAutoFit/>
          </a:bodyPr>
          <a:lstStyle/>
          <a:p>
            <a:pPr algn="l"/>
            <a:r>
              <a:rPr sz="850" b="1">
                <a:solidFill>
                  <a:srgbClr val="5B5F63"/>
                </a:solidFill>
                <a:latin typeface="Pretendard"/>
              </a:rPr>
              <a:t>DISCOVERY AND CAPTIONS</a:t>
            </a:r>
          </a:p>
        </p:txBody>
      </p:sp>
      <p:sp>
        <p:nvSpPr>
          <p:cNvPr id="20" name="TextBox 19"/>
          <p:cNvSpPr txBox="1"/>
          <p:nvPr/>
        </p:nvSpPr>
        <p:spPr>
          <a:xfrm>
            <a:off x="6446520" y="2011680"/>
            <a:ext cx="4937760" cy="274320"/>
          </a:xfrm>
          <a:prstGeom prst="rect">
            <a:avLst/>
          </a:prstGeom>
          <a:noFill/>
        </p:spPr>
        <p:txBody>
          <a:bodyPr wrap="square">
            <a:spAutoFit/>
          </a:bodyPr>
          <a:lstStyle/>
          <a:p>
            <a:pPr algn="l"/>
            <a:r>
              <a:rPr sz="1050" b="1">
                <a:solidFill>
                  <a:srgbClr val="0A0A0A"/>
                </a:solidFill>
                <a:latin typeface="Pretendard"/>
              </a:rPr>
              <a:t>Name field</a:t>
            </a:r>
          </a:p>
        </p:txBody>
      </p:sp>
      <p:sp>
        <p:nvSpPr>
          <p:cNvPr id="21" name="TextBox 20"/>
          <p:cNvSpPr txBox="1"/>
          <p:nvPr/>
        </p:nvSpPr>
        <p:spPr>
          <a:xfrm>
            <a:off x="6446520" y="2304288"/>
            <a:ext cx="4983480" cy="777240"/>
          </a:xfrm>
          <a:prstGeom prst="rect">
            <a:avLst/>
          </a:prstGeom>
          <a:noFill/>
        </p:spPr>
        <p:txBody>
          <a:bodyPr wrap="square">
            <a:spAutoFit/>
          </a:bodyPr>
          <a:lstStyle/>
          <a:p>
            <a:pPr algn="l"/>
            <a:r>
              <a:rPr sz="850" b="0">
                <a:solidFill>
                  <a:srgbClr val="5B5F63"/>
                </a:solidFill>
                <a:latin typeface="Pretendard"/>
              </a:rPr>
              <a:t>"Fluso | deep work AI". The name field is search-indexed; keywords live there, not in hashtags.</a:t>
            </a:r>
          </a:p>
        </p:txBody>
      </p:sp>
      <p:sp>
        <p:nvSpPr>
          <p:cNvPr id="22" name="TextBox 21"/>
          <p:cNvSpPr txBox="1"/>
          <p:nvPr/>
        </p:nvSpPr>
        <p:spPr>
          <a:xfrm>
            <a:off x="6446520" y="3127248"/>
            <a:ext cx="4937760" cy="274320"/>
          </a:xfrm>
          <a:prstGeom prst="rect">
            <a:avLst/>
          </a:prstGeom>
          <a:noFill/>
        </p:spPr>
        <p:txBody>
          <a:bodyPr wrap="square">
            <a:spAutoFit/>
          </a:bodyPr>
          <a:lstStyle/>
          <a:p>
            <a:pPr algn="l"/>
            <a:r>
              <a:rPr sz="1050" b="1">
                <a:solidFill>
                  <a:srgbClr val="0A0A0A"/>
                </a:solidFill>
                <a:latin typeface="Pretendard"/>
              </a:rPr>
              <a:t>Bio</a:t>
            </a:r>
          </a:p>
        </p:txBody>
      </p:sp>
      <p:sp>
        <p:nvSpPr>
          <p:cNvPr id="23" name="TextBox 22"/>
          <p:cNvSpPr txBox="1"/>
          <p:nvPr/>
        </p:nvSpPr>
        <p:spPr>
          <a:xfrm>
            <a:off x="6446520" y="3419856"/>
            <a:ext cx="4983480" cy="777240"/>
          </a:xfrm>
          <a:prstGeom prst="rect">
            <a:avLst/>
          </a:prstGeom>
          <a:noFill/>
        </p:spPr>
        <p:txBody>
          <a:bodyPr wrap="square">
            <a:spAutoFit/>
          </a:bodyPr>
          <a:lstStyle/>
          <a:p>
            <a:pPr algn="l"/>
            <a:r>
              <a:rPr sz="850" b="0">
                <a:solidFill>
                  <a:srgbClr val="5B5F63"/>
                </a:solidFill>
                <a:latin typeface="Pretendard"/>
              </a:rPr>
              <a:t>Line 1: what it does in 8 words. Line 2: one proof point. Line 3: link. No emoji walls.</a:t>
            </a:r>
          </a:p>
        </p:txBody>
      </p:sp>
      <p:sp>
        <p:nvSpPr>
          <p:cNvPr id="24" name="TextBox 23"/>
          <p:cNvSpPr txBox="1"/>
          <p:nvPr/>
        </p:nvSpPr>
        <p:spPr>
          <a:xfrm>
            <a:off x="6446520" y="4242816"/>
            <a:ext cx="4937760" cy="274320"/>
          </a:xfrm>
          <a:prstGeom prst="rect">
            <a:avLst/>
          </a:prstGeom>
          <a:noFill/>
        </p:spPr>
        <p:txBody>
          <a:bodyPr wrap="square">
            <a:spAutoFit/>
          </a:bodyPr>
          <a:lstStyle/>
          <a:p>
            <a:pPr algn="l"/>
            <a:r>
              <a:rPr sz="1050" b="1">
                <a:solidFill>
                  <a:srgbClr val="0A0A0A"/>
                </a:solidFill>
                <a:latin typeface="Pretendard"/>
              </a:rPr>
              <a:t>Captions</a:t>
            </a:r>
          </a:p>
        </p:txBody>
      </p:sp>
      <p:sp>
        <p:nvSpPr>
          <p:cNvPr id="25" name="TextBox 24"/>
          <p:cNvSpPr txBox="1"/>
          <p:nvPr/>
        </p:nvSpPr>
        <p:spPr>
          <a:xfrm>
            <a:off x="6446520" y="4535424"/>
            <a:ext cx="4983480" cy="777240"/>
          </a:xfrm>
          <a:prstGeom prst="rect">
            <a:avLst/>
          </a:prstGeom>
          <a:noFill/>
        </p:spPr>
        <p:txBody>
          <a:bodyPr wrap="square">
            <a:spAutoFit/>
          </a:bodyPr>
          <a:lstStyle/>
          <a:p>
            <a:pPr algn="l"/>
            <a:r>
              <a:rPr sz="850" b="0">
                <a:solidFill>
                  <a:srgbClr val="5B5F63"/>
                </a:solidFill>
                <a:latin typeface="Pretendard"/>
              </a:rPr>
              <a:t>First line is the hook and must be specific, not clever. 3 to 5 hashtags in the first comment, never in the caption body.</a:t>
            </a:r>
          </a:p>
        </p:txBody>
      </p:sp>
      <p:sp>
        <p:nvSpPr>
          <p:cNvPr id="26" name="TextBox 25"/>
          <p:cNvSpPr txBox="1"/>
          <p:nvPr/>
        </p:nvSpPr>
        <p:spPr>
          <a:xfrm>
            <a:off x="6446520" y="5358384"/>
            <a:ext cx="4937760" cy="274320"/>
          </a:xfrm>
          <a:prstGeom prst="rect">
            <a:avLst/>
          </a:prstGeom>
          <a:noFill/>
        </p:spPr>
        <p:txBody>
          <a:bodyPr wrap="square">
            <a:spAutoFit/>
          </a:bodyPr>
          <a:lstStyle/>
          <a:p>
            <a:pPr algn="l"/>
            <a:r>
              <a:rPr sz="1050" b="1">
                <a:solidFill>
                  <a:srgbClr val="0A0A0A"/>
                </a:solidFill>
                <a:latin typeface="Pretendard"/>
              </a:rPr>
              <a:t>Algorithm reality</a:t>
            </a:r>
          </a:p>
        </p:txBody>
      </p:sp>
      <p:sp>
        <p:nvSpPr>
          <p:cNvPr id="27" name="TextBox 26"/>
          <p:cNvSpPr txBox="1"/>
          <p:nvPr/>
        </p:nvSpPr>
        <p:spPr>
          <a:xfrm>
            <a:off x="6446520" y="5650992"/>
            <a:ext cx="4983480" cy="777240"/>
          </a:xfrm>
          <a:prstGeom prst="rect">
            <a:avLst/>
          </a:prstGeom>
          <a:noFill/>
        </p:spPr>
        <p:txBody>
          <a:bodyPr wrap="square">
            <a:spAutoFit/>
          </a:bodyPr>
          <a:lstStyle/>
          <a:p>
            <a:pPr algn="l"/>
            <a:r>
              <a:rPr sz="850" b="0">
                <a:solidFill>
                  <a:srgbClr val="5B5F63"/>
                </a:solidFill>
                <a:latin typeface="Pretendard"/>
              </a:rPr>
              <a:t>Hashtags were deweighted in Dec 2024; keyword search and Reels completion rate drive reach. The first 3 seconds decide most of the completion curve.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9144000" cy="274320"/>
          </a:xfrm>
          <a:prstGeom prst="rect">
            <a:avLst/>
          </a:prstGeom>
          <a:noFill/>
        </p:spPr>
        <p:txBody>
          <a:bodyPr wrap="square">
            <a:spAutoFit/>
          </a:bodyPr>
          <a:lstStyle/>
          <a:p>
            <a:pPr algn="l"/>
            <a:r>
              <a:rPr sz="900" b="1">
                <a:solidFill>
                  <a:srgbClr val="5B5F63"/>
                </a:solidFill>
                <a:latin typeface="Pretendard"/>
              </a:rPr>
              <a:t>11  PLATFORM PLAYBOOKS  |  FACEBOOK + THE CHANNEL MATRIX</a:t>
            </a:r>
          </a:p>
        </p:txBody>
      </p:sp>
      <p:sp>
        <p:nvSpPr>
          <p:cNvPr id="4" name="Rectangle 3"/>
          <p:cNvSpPr/>
          <p:nvPr/>
        </p:nvSpPr>
        <p:spPr>
          <a:xfrm>
            <a:off x="502920" y="713232"/>
            <a:ext cx="11183112" cy="10972"/>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960120"/>
            <a:ext cx="11183112"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960120"/>
            <a:ext cx="11183112" cy="5486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078992"/>
            <a:ext cx="2743200" cy="274320"/>
          </a:xfrm>
          <a:prstGeom prst="rect">
            <a:avLst/>
          </a:prstGeom>
          <a:noFill/>
        </p:spPr>
        <p:txBody>
          <a:bodyPr wrap="square">
            <a:spAutoFit/>
          </a:bodyPr>
          <a:lstStyle/>
          <a:p>
            <a:pPr algn="l"/>
            <a:r>
              <a:rPr sz="850" b="1">
                <a:solidFill>
                  <a:srgbClr val="5B5F63"/>
                </a:solidFill>
                <a:latin typeface="Pretendard"/>
              </a:rPr>
              <a:t>FACEBOOK</a:t>
            </a:r>
          </a:p>
        </p:txBody>
      </p:sp>
      <p:sp>
        <p:nvSpPr>
          <p:cNvPr id="8" name="TextBox 7"/>
          <p:cNvSpPr txBox="1"/>
          <p:nvPr/>
        </p:nvSpPr>
        <p:spPr>
          <a:xfrm>
            <a:off x="731520" y="1371600"/>
            <a:ext cx="10698480" cy="914400"/>
          </a:xfrm>
          <a:prstGeom prst="rect">
            <a:avLst/>
          </a:prstGeom>
          <a:noFill/>
        </p:spPr>
        <p:txBody>
          <a:bodyPr wrap="square">
            <a:spAutoFit/>
          </a:bodyPr>
          <a:lstStyle/>
          <a:p>
            <a:pPr algn="l"/>
            <a:r>
              <a:rPr sz="1000" b="0">
                <a:solidFill>
                  <a:srgbClr val="0A0A0A"/>
                </a:solidFill>
                <a:latin typeface="Pretendard"/>
              </a:rPr>
              <a:t>Role: warm remarketing and community, not organic reach. Repurpose top LinkedIn posts after 24 to 48 hours with a Facebook-specific first line. The About section is keyword-indexed for search: write it as one dense, accurate paragraph. Retarget site visitors and the email list; LinkedIn handles cold.</a:t>
            </a:r>
          </a:p>
        </p:txBody>
      </p:sp>
      <p:sp>
        <p:nvSpPr>
          <p:cNvPr id="9" name="TextBox 8"/>
          <p:cNvSpPr txBox="1"/>
          <p:nvPr/>
        </p:nvSpPr>
        <p:spPr>
          <a:xfrm>
            <a:off x="502920" y="2651760"/>
            <a:ext cx="5486400" cy="274320"/>
          </a:xfrm>
          <a:prstGeom prst="rect">
            <a:avLst/>
          </a:prstGeom>
          <a:noFill/>
        </p:spPr>
        <p:txBody>
          <a:bodyPr wrap="square">
            <a:spAutoFit/>
          </a:bodyPr>
          <a:lstStyle/>
          <a:p>
            <a:pPr algn="l"/>
            <a:r>
              <a:rPr sz="850" b="1">
                <a:solidFill>
                  <a:srgbClr val="5B5F63"/>
                </a:solidFill>
                <a:latin typeface="Pretendard"/>
              </a:rPr>
              <a:t>THE CHANNEL MATRIX</a:t>
            </a:r>
          </a:p>
        </p:txBody>
      </p:sp>
      <p:sp>
        <p:nvSpPr>
          <p:cNvPr id="10" name="Rectangle 9"/>
          <p:cNvSpPr/>
          <p:nvPr/>
        </p:nvSpPr>
        <p:spPr>
          <a:xfrm>
            <a:off x="502920" y="2971800"/>
            <a:ext cx="11183112" cy="411480"/>
          </a:xfrm>
          <a:prstGeom prst="rect">
            <a:avLst/>
          </a:prstGeom>
          <a:solidFill>
            <a:srgbClr val="1717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044952"/>
            <a:ext cx="1280160" cy="274320"/>
          </a:xfrm>
          <a:prstGeom prst="rect">
            <a:avLst/>
          </a:prstGeom>
          <a:noFill/>
        </p:spPr>
        <p:txBody>
          <a:bodyPr wrap="square">
            <a:spAutoFit/>
          </a:bodyPr>
          <a:lstStyle/>
          <a:p>
            <a:pPr algn="l"/>
            <a:r>
              <a:rPr sz="800" b="1">
                <a:solidFill>
                  <a:srgbClr val="FFFFFF"/>
                </a:solidFill>
                <a:latin typeface="Pretendard"/>
              </a:rPr>
              <a:t>CHANNEL</a:t>
            </a:r>
          </a:p>
        </p:txBody>
      </p:sp>
      <p:sp>
        <p:nvSpPr>
          <p:cNvPr id="12" name="TextBox 11"/>
          <p:cNvSpPr txBox="1"/>
          <p:nvPr/>
        </p:nvSpPr>
        <p:spPr>
          <a:xfrm>
            <a:off x="2011680" y="3044952"/>
            <a:ext cx="1463040" cy="274320"/>
          </a:xfrm>
          <a:prstGeom prst="rect">
            <a:avLst/>
          </a:prstGeom>
          <a:noFill/>
        </p:spPr>
        <p:txBody>
          <a:bodyPr wrap="square">
            <a:spAutoFit/>
          </a:bodyPr>
          <a:lstStyle/>
          <a:p>
            <a:pPr algn="l"/>
            <a:r>
              <a:rPr sz="800" b="1">
                <a:solidFill>
                  <a:srgbClr val="FFFFFF"/>
                </a:solidFill>
                <a:latin typeface="Pretendard"/>
              </a:rPr>
              <a:t>LED BY</a:t>
            </a:r>
          </a:p>
        </p:txBody>
      </p:sp>
      <p:sp>
        <p:nvSpPr>
          <p:cNvPr id="13" name="TextBox 12"/>
          <p:cNvSpPr txBox="1"/>
          <p:nvPr/>
        </p:nvSpPr>
        <p:spPr>
          <a:xfrm>
            <a:off x="3520440" y="3044952"/>
            <a:ext cx="2926080" cy="274320"/>
          </a:xfrm>
          <a:prstGeom prst="rect">
            <a:avLst/>
          </a:prstGeom>
          <a:noFill/>
        </p:spPr>
        <p:txBody>
          <a:bodyPr wrap="square">
            <a:spAutoFit/>
          </a:bodyPr>
          <a:lstStyle/>
          <a:p>
            <a:pPr algn="l"/>
            <a:r>
              <a:rPr sz="800" b="1">
                <a:solidFill>
                  <a:srgbClr val="FFFFFF"/>
                </a:solidFill>
                <a:latin typeface="Pretendard"/>
              </a:rPr>
              <a:t>ROLE</a:t>
            </a:r>
          </a:p>
        </p:txBody>
      </p:sp>
      <p:sp>
        <p:nvSpPr>
          <p:cNvPr id="14" name="TextBox 13"/>
          <p:cNvSpPr txBox="1"/>
          <p:nvPr/>
        </p:nvSpPr>
        <p:spPr>
          <a:xfrm>
            <a:off x="6537960" y="3044952"/>
            <a:ext cx="1783080" cy="274320"/>
          </a:xfrm>
          <a:prstGeom prst="rect">
            <a:avLst/>
          </a:prstGeom>
          <a:noFill/>
        </p:spPr>
        <p:txBody>
          <a:bodyPr wrap="square">
            <a:spAutoFit/>
          </a:bodyPr>
          <a:lstStyle/>
          <a:p>
            <a:pPr algn="l"/>
            <a:r>
              <a:rPr sz="800" b="1">
                <a:solidFill>
                  <a:srgbClr val="FFFFFF"/>
                </a:solidFill>
                <a:latin typeface="Pretendard"/>
              </a:rPr>
              <a:t>CADENCE</a:t>
            </a:r>
          </a:p>
        </p:txBody>
      </p:sp>
      <p:sp>
        <p:nvSpPr>
          <p:cNvPr id="15" name="TextBox 14"/>
          <p:cNvSpPr txBox="1"/>
          <p:nvPr/>
        </p:nvSpPr>
        <p:spPr>
          <a:xfrm>
            <a:off x="8412480" y="3044952"/>
            <a:ext cx="3108960" cy="274320"/>
          </a:xfrm>
          <a:prstGeom prst="rect">
            <a:avLst/>
          </a:prstGeom>
          <a:noFill/>
        </p:spPr>
        <p:txBody>
          <a:bodyPr wrap="square">
            <a:spAutoFit/>
          </a:bodyPr>
          <a:lstStyle/>
          <a:p>
            <a:pPr algn="l"/>
            <a:r>
              <a:rPr sz="800" b="1">
                <a:solidFill>
                  <a:srgbClr val="FFFFFF"/>
                </a:solidFill>
                <a:latin typeface="Pretendard"/>
              </a:rPr>
              <a:t>KPI</a:t>
            </a:r>
          </a:p>
        </p:txBody>
      </p:sp>
      <p:sp>
        <p:nvSpPr>
          <p:cNvPr id="16" name="Rectangle 15"/>
          <p:cNvSpPr/>
          <p:nvPr/>
        </p:nvSpPr>
        <p:spPr>
          <a:xfrm>
            <a:off x="502920" y="3383280"/>
            <a:ext cx="11183112"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493008"/>
            <a:ext cx="1280160" cy="502920"/>
          </a:xfrm>
          <a:prstGeom prst="rect">
            <a:avLst/>
          </a:prstGeom>
          <a:noFill/>
        </p:spPr>
        <p:txBody>
          <a:bodyPr wrap="square">
            <a:spAutoFit/>
          </a:bodyPr>
          <a:lstStyle/>
          <a:p>
            <a:pPr algn="l"/>
            <a:r>
              <a:rPr sz="950" b="1">
                <a:solidFill>
                  <a:srgbClr val="0A0A0A"/>
                </a:solidFill>
                <a:latin typeface="Pretendard"/>
              </a:rPr>
              <a:t>LinkedIn</a:t>
            </a:r>
          </a:p>
        </p:txBody>
      </p:sp>
      <p:sp>
        <p:nvSpPr>
          <p:cNvPr id="18" name="TextBox 17"/>
          <p:cNvSpPr txBox="1"/>
          <p:nvPr/>
        </p:nvSpPr>
        <p:spPr>
          <a:xfrm>
            <a:off x="2011680" y="3493008"/>
            <a:ext cx="1463040" cy="502920"/>
          </a:xfrm>
          <a:prstGeom prst="rect">
            <a:avLst/>
          </a:prstGeom>
          <a:noFill/>
        </p:spPr>
        <p:txBody>
          <a:bodyPr wrap="square">
            <a:spAutoFit/>
          </a:bodyPr>
          <a:lstStyle/>
          <a:p>
            <a:pPr algn="l"/>
            <a:r>
              <a:rPr sz="950" b="0">
                <a:solidFill>
                  <a:srgbClr val="0A0A0A"/>
                </a:solidFill>
                <a:latin typeface="Pretendard"/>
              </a:rPr>
              <a:t>Prem + portfolio</a:t>
            </a:r>
          </a:p>
        </p:txBody>
      </p:sp>
      <p:sp>
        <p:nvSpPr>
          <p:cNvPr id="19" name="TextBox 18"/>
          <p:cNvSpPr txBox="1"/>
          <p:nvPr/>
        </p:nvSpPr>
        <p:spPr>
          <a:xfrm>
            <a:off x="3520440" y="3493008"/>
            <a:ext cx="2926080" cy="502920"/>
          </a:xfrm>
          <a:prstGeom prst="rect">
            <a:avLst/>
          </a:prstGeom>
          <a:noFill/>
        </p:spPr>
        <p:txBody>
          <a:bodyPr wrap="square">
            <a:spAutoFit/>
          </a:bodyPr>
          <a:lstStyle/>
          <a:p>
            <a:pPr algn="l"/>
            <a:r>
              <a:rPr sz="950" b="0">
                <a:solidFill>
                  <a:srgbClr val="0A0A0A"/>
                </a:solidFill>
                <a:latin typeface="Pretendard"/>
              </a:rPr>
              <a:t>Authority and inbound in regulated enterprise</a:t>
            </a:r>
          </a:p>
        </p:txBody>
      </p:sp>
      <p:sp>
        <p:nvSpPr>
          <p:cNvPr id="20" name="TextBox 19"/>
          <p:cNvSpPr txBox="1"/>
          <p:nvPr/>
        </p:nvSpPr>
        <p:spPr>
          <a:xfrm>
            <a:off x="6537960" y="3493008"/>
            <a:ext cx="1783080" cy="502920"/>
          </a:xfrm>
          <a:prstGeom prst="rect">
            <a:avLst/>
          </a:prstGeom>
          <a:noFill/>
        </p:spPr>
        <p:txBody>
          <a:bodyPr wrap="square">
            <a:spAutoFit/>
          </a:bodyPr>
          <a:lstStyle/>
          <a:p>
            <a:pPr algn="l"/>
            <a:r>
              <a:rPr sz="950" b="0">
                <a:solidFill>
                  <a:srgbClr val="0A0A0A"/>
                </a:solidFill>
                <a:latin typeface="Pretendard"/>
              </a:rPr>
              <a:t>3 to 4 per week</a:t>
            </a:r>
          </a:p>
        </p:txBody>
      </p:sp>
      <p:sp>
        <p:nvSpPr>
          <p:cNvPr id="21" name="TextBox 20"/>
          <p:cNvSpPr txBox="1"/>
          <p:nvPr/>
        </p:nvSpPr>
        <p:spPr>
          <a:xfrm>
            <a:off x="8412480" y="3493008"/>
            <a:ext cx="3108960" cy="502920"/>
          </a:xfrm>
          <a:prstGeom prst="rect">
            <a:avLst/>
          </a:prstGeom>
          <a:noFill/>
        </p:spPr>
        <p:txBody>
          <a:bodyPr wrap="square">
            <a:spAutoFit/>
          </a:bodyPr>
          <a:lstStyle/>
          <a:p>
            <a:pPr algn="l"/>
            <a:r>
              <a:rPr sz="950" b="0">
                <a:solidFill>
                  <a:srgbClr val="0A0A0A"/>
                </a:solidFill>
                <a:latin typeface="Pretendard"/>
              </a:rPr>
              <a:t>Branded search, SQL mentions</a:t>
            </a:r>
          </a:p>
        </p:txBody>
      </p:sp>
      <p:sp>
        <p:nvSpPr>
          <p:cNvPr id="22" name="Rectangle 21"/>
          <p:cNvSpPr/>
          <p:nvPr/>
        </p:nvSpPr>
        <p:spPr>
          <a:xfrm>
            <a:off x="502920" y="4041648"/>
            <a:ext cx="11183112" cy="658368"/>
          </a:xfrm>
          <a:prstGeom prst="rect">
            <a:avLst/>
          </a:prstGeom>
          <a:solidFill>
            <a:srgbClr val="EC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4151376"/>
            <a:ext cx="1280160" cy="502920"/>
          </a:xfrm>
          <a:prstGeom prst="rect">
            <a:avLst/>
          </a:prstGeom>
          <a:noFill/>
        </p:spPr>
        <p:txBody>
          <a:bodyPr wrap="square">
            <a:spAutoFit/>
          </a:bodyPr>
          <a:lstStyle/>
          <a:p>
            <a:pPr algn="l"/>
            <a:r>
              <a:rPr sz="950" b="1">
                <a:solidFill>
                  <a:srgbClr val="0A0A0A"/>
                </a:solidFill>
                <a:latin typeface="Pretendard"/>
              </a:rPr>
              <a:t>X</a:t>
            </a:r>
          </a:p>
        </p:txBody>
      </p:sp>
      <p:sp>
        <p:nvSpPr>
          <p:cNvPr id="24" name="TextBox 23"/>
          <p:cNvSpPr txBox="1"/>
          <p:nvPr/>
        </p:nvSpPr>
        <p:spPr>
          <a:xfrm>
            <a:off x="2011680" y="4151376"/>
            <a:ext cx="1463040" cy="502920"/>
          </a:xfrm>
          <a:prstGeom prst="rect">
            <a:avLst/>
          </a:prstGeom>
          <a:noFill/>
        </p:spPr>
        <p:txBody>
          <a:bodyPr wrap="square">
            <a:spAutoFit/>
          </a:bodyPr>
          <a:lstStyle/>
          <a:p>
            <a:pPr algn="l"/>
            <a:r>
              <a:rPr sz="950" b="0">
                <a:solidFill>
                  <a:srgbClr val="0A0A0A"/>
                </a:solidFill>
                <a:latin typeface="Pretendard"/>
              </a:rPr>
              <a:t>Fluso</a:t>
            </a:r>
          </a:p>
        </p:txBody>
      </p:sp>
      <p:sp>
        <p:nvSpPr>
          <p:cNvPr id="25" name="TextBox 24"/>
          <p:cNvSpPr txBox="1"/>
          <p:nvPr/>
        </p:nvSpPr>
        <p:spPr>
          <a:xfrm>
            <a:off x="3520440" y="4151376"/>
            <a:ext cx="2926080" cy="502920"/>
          </a:xfrm>
          <a:prstGeom prst="rect">
            <a:avLst/>
          </a:prstGeom>
          <a:noFill/>
        </p:spPr>
        <p:txBody>
          <a:bodyPr wrap="square">
            <a:spAutoFit/>
          </a:bodyPr>
          <a:lstStyle/>
          <a:p>
            <a:pPr algn="l"/>
            <a:r>
              <a:rPr sz="950" b="0">
                <a:solidFill>
                  <a:srgbClr val="0A0A0A"/>
                </a:solidFill>
                <a:latin typeface="Pretendard"/>
              </a:rPr>
              <a:t>Builder credibility, product proof in public</a:t>
            </a:r>
          </a:p>
        </p:txBody>
      </p:sp>
      <p:sp>
        <p:nvSpPr>
          <p:cNvPr id="26" name="TextBox 25"/>
          <p:cNvSpPr txBox="1"/>
          <p:nvPr/>
        </p:nvSpPr>
        <p:spPr>
          <a:xfrm>
            <a:off x="6537960" y="4151376"/>
            <a:ext cx="1783080" cy="502920"/>
          </a:xfrm>
          <a:prstGeom prst="rect">
            <a:avLst/>
          </a:prstGeom>
          <a:noFill/>
        </p:spPr>
        <p:txBody>
          <a:bodyPr wrap="square">
            <a:spAutoFit/>
          </a:bodyPr>
          <a:lstStyle/>
          <a:p>
            <a:pPr algn="l"/>
            <a:r>
              <a:rPr sz="950" b="0">
                <a:solidFill>
                  <a:srgbClr val="0A0A0A"/>
                </a:solidFill>
                <a:latin typeface="Pretendard"/>
              </a:rPr>
              <a:t>1 to 2 per day</a:t>
            </a:r>
          </a:p>
        </p:txBody>
      </p:sp>
      <p:sp>
        <p:nvSpPr>
          <p:cNvPr id="27" name="TextBox 26"/>
          <p:cNvSpPr txBox="1"/>
          <p:nvPr/>
        </p:nvSpPr>
        <p:spPr>
          <a:xfrm>
            <a:off x="8412480" y="4151376"/>
            <a:ext cx="3108960" cy="502920"/>
          </a:xfrm>
          <a:prstGeom prst="rect">
            <a:avLst/>
          </a:prstGeom>
          <a:noFill/>
        </p:spPr>
        <p:txBody>
          <a:bodyPr wrap="square">
            <a:spAutoFit/>
          </a:bodyPr>
          <a:lstStyle/>
          <a:p>
            <a:pPr algn="l"/>
            <a:r>
              <a:rPr sz="950" b="0">
                <a:solidFill>
                  <a:srgbClr val="0A0A0A"/>
                </a:solidFill>
                <a:latin typeface="Pretendard"/>
              </a:rPr>
              <a:t>Qualified signups from profile</a:t>
            </a:r>
          </a:p>
        </p:txBody>
      </p:sp>
      <p:sp>
        <p:nvSpPr>
          <p:cNvPr id="28" name="Rectangle 27"/>
          <p:cNvSpPr/>
          <p:nvPr/>
        </p:nvSpPr>
        <p:spPr>
          <a:xfrm>
            <a:off x="502920" y="4700016"/>
            <a:ext cx="11183112"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809744"/>
            <a:ext cx="1280160" cy="502920"/>
          </a:xfrm>
          <a:prstGeom prst="rect">
            <a:avLst/>
          </a:prstGeom>
          <a:noFill/>
        </p:spPr>
        <p:txBody>
          <a:bodyPr wrap="square">
            <a:spAutoFit/>
          </a:bodyPr>
          <a:lstStyle/>
          <a:p>
            <a:pPr algn="l"/>
            <a:r>
              <a:rPr sz="950" b="1">
                <a:solidFill>
                  <a:srgbClr val="0A0A0A"/>
                </a:solidFill>
                <a:latin typeface="Pretendard"/>
              </a:rPr>
              <a:t>Instagram</a:t>
            </a:r>
          </a:p>
        </p:txBody>
      </p:sp>
      <p:sp>
        <p:nvSpPr>
          <p:cNvPr id="30" name="TextBox 29"/>
          <p:cNvSpPr txBox="1"/>
          <p:nvPr/>
        </p:nvSpPr>
        <p:spPr>
          <a:xfrm>
            <a:off x="2011680" y="4809744"/>
            <a:ext cx="1463040" cy="502920"/>
          </a:xfrm>
          <a:prstGeom prst="rect">
            <a:avLst/>
          </a:prstGeom>
          <a:noFill/>
        </p:spPr>
        <p:txBody>
          <a:bodyPr wrap="square">
            <a:spAutoFit/>
          </a:bodyPr>
          <a:lstStyle/>
          <a:p>
            <a:pPr algn="l"/>
            <a:r>
              <a:rPr sz="950" b="0">
                <a:solidFill>
                  <a:srgbClr val="0A0A0A"/>
                </a:solidFill>
                <a:latin typeface="Pretendard"/>
              </a:rPr>
              <a:t>Fluso-weighted</a:t>
            </a:r>
          </a:p>
        </p:txBody>
      </p:sp>
      <p:sp>
        <p:nvSpPr>
          <p:cNvPr id="31" name="TextBox 30"/>
          <p:cNvSpPr txBox="1"/>
          <p:nvPr/>
        </p:nvSpPr>
        <p:spPr>
          <a:xfrm>
            <a:off x="3520440" y="4809744"/>
            <a:ext cx="2926080" cy="502920"/>
          </a:xfrm>
          <a:prstGeom prst="rect">
            <a:avLst/>
          </a:prstGeom>
          <a:noFill/>
        </p:spPr>
        <p:txBody>
          <a:bodyPr wrap="square">
            <a:spAutoFit/>
          </a:bodyPr>
          <a:lstStyle/>
          <a:p>
            <a:pPr algn="l"/>
            <a:r>
              <a:rPr sz="950" b="0">
                <a:solidFill>
                  <a:srgbClr val="0A0A0A"/>
                </a:solidFill>
                <a:latin typeface="Pretendard"/>
              </a:rPr>
              <a:t>Process visibility, the Swiss visual world</a:t>
            </a:r>
          </a:p>
        </p:txBody>
      </p:sp>
      <p:sp>
        <p:nvSpPr>
          <p:cNvPr id="32" name="TextBox 31"/>
          <p:cNvSpPr txBox="1"/>
          <p:nvPr/>
        </p:nvSpPr>
        <p:spPr>
          <a:xfrm>
            <a:off x="6537960" y="4809744"/>
            <a:ext cx="1783080" cy="502920"/>
          </a:xfrm>
          <a:prstGeom prst="rect">
            <a:avLst/>
          </a:prstGeom>
          <a:noFill/>
        </p:spPr>
        <p:txBody>
          <a:bodyPr wrap="square">
            <a:spAutoFit/>
          </a:bodyPr>
          <a:lstStyle/>
          <a:p>
            <a:pPr algn="l"/>
            <a:r>
              <a:rPr sz="950" b="0">
                <a:solidFill>
                  <a:srgbClr val="0A0A0A"/>
                </a:solidFill>
                <a:latin typeface="Pretendard"/>
              </a:rPr>
              <a:t>4 to 5 per week</a:t>
            </a:r>
          </a:p>
        </p:txBody>
      </p:sp>
      <p:sp>
        <p:nvSpPr>
          <p:cNvPr id="33" name="TextBox 32"/>
          <p:cNvSpPr txBox="1"/>
          <p:nvPr/>
        </p:nvSpPr>
        <p:spPr>
          <a:xfrm>
            <a:off x="8412480" y="4809744"/>
            <a:ext cx="3108960" cy="502920"/>
          </a:xfrm>
          <a:prstGeom prst="rect">
            <a:avLst/>
          </a:prstGeom>
          <a:noFill/>
        </p:spPr>
        <p:txBody>
          <a:bodyPr wrap="square">
            <a:spAutoFit/>
          </a:bodyPr>
          <a:lstStyle/>
          <a:p>
            <a:pPr algn="l"/>
            <a:r>
              <a:rPr sz="950" b="0">
                <a:solidFill>
                  <a:srgbClr val="0A0A0A"/>
                </a:solidFill>
                <a:latin typeface="Pretendard"/>
              </a:rPr>
              <a:t>Profile-to-site clicks, activations</a:t>
            </a:r>
          </a:p>
        </p:txBody>
      </p:sp>
      <p:sp>
        <p:nvSpPr>
          <p:cNvPr id="34" name="Rectangle 33"/>
          <p:cNvSpPr/>
          <p:nvPr/>
        </p:nvSpPr>
        <p:spPr>
          <a:xfrm>
            <a:off x="502920" y="5358384"/>
            <a:ext cx="11183112" cy="658368"/>
          </a:xfrm>
          <a:prstGeom prst="rect">
            <a:avLst/>
          </a:prstGeom>
          <a:solidFill>
            <a:srgbClr val="EC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5468112"/>
            <a:ext cx="1280160" cy="502920"/>
          </a:xfrm>
          <a:prstGeom prst="rect">
            <a:avLst/>
          </a:prstGeom>
          <a:noFill/>
        </p:spPr>
        <p:txBody>
          <a:bodyPr wrap="square">
            <a:spAutoFit/>
          </a:bodyPr>
          <a:lstStyle/>
          <a:p>
            <a:pPr algn="l"/>
            <a:r>
              <a:rPr sz="950" b="1">
                <a:solidFill>
                  <a:srgbClr val="0A0A0A"/>
                </a:solidFill>
                <a:latin typeface="Pretendard"/>
              </a:rPr>
              <a:t>Facebook</a:t>
            </a:r>
          </a:p>
        </p:txBody>
      </p:sp>
      <p:sp>
        <p:nvSpPr>
          <p:cNvPr id="36" name="TextBox 35"/>
          <p:cNvSpPr txBox="1"/>
          <p:nvPr/>
        </p:nvSpPr>
        <p:spPr>
          <a:xfrm>
            <a:off x="2011680" y="5468112"/>
            <a:ext cx="1463040" cy="502920"/>
          </a:xfrm>
          <a:prstGeom prst="rect">
            <a:avLst/>
          </a:prstGeom>
          <a:noFill/>
        </p:spPr>
        <p:txBody>
          <a:bodyPr wrap="square">
            <a:spAutoFit/>
          </a:bodyPr>
          <a:lstStyle/>
          <a:p>
            <a:pPr algn="l"/>
            <a:r>
              <a:rPr sz="950" b="0">
                <a:solidFill>
                  <a:srgbClr val="0A0A0A"/>
                </a:solidFill>
                <a:latin typeface="Pretendard"/>
              </a:rPr>
              <a:t>Both</a:t>
            </a:r>
          </a:p>
        </p:txBody>
      </p:sp>
      <p:sp>
        <p:nvSpPr>
          <p:cNvPr id="37" name="TextBox 36"/>
          <p:cNvSpPr txBox="1"/>
          <p:nvPr/>
        </p:nvSpPr>
        <p:spPr>
          <a:xfrm>
            <a:off x="3520440" y="5468112"/>
            <a:ext cx="2926080" cy="502920"/>
          </a:xfrm>
          <a:prstGeom prst="rect">
            <a:avLst/>
          </a:prstGeom>
          <a:noFill/>
        </p:spPr>
        <p:txBody>
          <a:bodyPr wrap="square">
            <a:spAutoFit/>
          </a:bodyPr>
          <a:lstStyle/>
          <a:p>
            <a:pPr algn="l"/>
            <a:r>
              <a:rPr sz="950" b="0">
                <a:solidFill>
                  <a:srgbClr val="0A0A0A"/>
                </a:solidFill>
                <a:latin typeface="Pretendard"/>
              </a:rPr>
              <a:t>Warm remarketing and community</a:t>
            </a:r>
          </a:p>
        </p:txBody>
      </p:sp>
      <p:sp>
        <p:nvSpPr>
          <p:cNvPr id="38" name="TextBox 37"/>
          <p:cNvSpPr txBox="1"/>
          <p:nvPr/>
        </p:nvSpPr>
        <p:spPr>
          <a:xfrm>
            <a:off x="6537960" y="5468112"/>
            <a:ext cx="1783080" cy="502920"/>
          </a:xfrm>
          <a:prstGeom prst="rect">
            <a:avLst/>
          </a:prstGeom>
          <a:noFill/>
        </p:spPr>
        <p:txBody>
          <a:bodyPr wrap="square">
            <a:spAutoFit/>
          </a:bodyPr>
          <a:lstStyle/>
          <a:p>
            <a:pPr algn="l"/>
            <a:r>
              <a:rPr sz="950" b="0">
                <a:solidFill>
                  <a:srgbClr val="0A0A0A"/>
                </a:solidFill>
                <a:latin typeface="Pretendard"/>
              </a:rPr>
              <a:t>2 to 3 per week, repurposed</a:t>
            </a:r>
          </a:p>
        </p:txBody>
      </p:sp>
      <p:sp>
        <p:nvSpPr>
          <p:cNvPr id="39" name="TextBox 38"/>
          <p:cNvSpPr txBox="1"/>
          <p:nvPr/>
        </p:nvSpPr>
        <p:spPr>
          <a:xfrm>
            <a:off x="8412480" y="5468112"/>
            <a:ext cx="3108960" cy="502920"/>
          </a:xfrm>
          <a:prstGeom prst="rect">
            <a:avLst/>
          </a:prstGeom>
          <a:noFill/>
        </p:spPr>
        <p:txBody>
          <a:bodyPr wrap="square">
            <a:spAutoFit/>
          </a:bodyPr>
          <a:lstStyle/>
          <a:p>
            <a:pPr algn="l"/>
            <a:r>
              <a:rPr sz="950" b="0">
                <a:solidFill>
                  <a:srgbClr val="0A0A0A"/>
                </a:solidFill>
                <a:latin typeface="Pretendard"/>
              </a:rPr>
              <a:t>Re-engagement CTR</a:t>
            </a:r>
          </a:p>
        </p:txBody>
      </p:sp>
      <p:sp>
        <p:nvSpPr>
          <p:cNvPr id="40" name="TextBox 39"/>
          <p:cNvSpPr txBox="1"/>
          <p:nvPr/>
        </p:nvSpPr>
        <p:spPr>
          <a:xfrm>
            <a:off x="502920" y="6126480"/>
            <a:ext cx="11155680" cy="292608"/>
          </a:xfrm>
          <a:prstGeom prst="rect">
            <a:avLst/>
          </a:prstGeom>
          <a:noFill/>
        </p:spPr>
        <p:txBody>
          <a:bodyPr wrap="square">
            <a:spAutoFit/>
          </a:bodyPr>
          <a:lstStyle/>
          <a:p>
            <a:pPr algn="l"/>
            <a:r>
              <a:rPr sz="950" b="1">
                <a:solidFill>
                  <a:srgbClr val="0A0A0A"/>
                </a:solidFill>
                <a:latin typeface="Pretendard"/>
              </a:rPr>
              <a:t>Across all channels combined, output share holds at 40% Fluso, 60% Prem and the rest of the portfolio.</a:t>
            </a:r>
          </a:p>
        </p:txBody>
      </p:sp>
      <p:sp>
        <p:nvSpPr>
          <p:cNvPr id="41" name="TextBox 40"/>
          <p:cNvSpPr txBox="1"/>
          <p:nvPr/>
        </p:nvSpPr>
        <p:spPr>
          <a:xfrm>
            <a:off x="502920" y="6446520"/>
            <a:ext cx="11155680" cy="274320"/>
          </a:xfrm>
          <a:prstGeom prst="rect">
            <a:avLst/>
          </a:prstGeom>
          <a:noFill/>
        </p:spPr>
        <p:txBody>
          <a:bodyPr wrap="square">
            <a:spAutoFit/>
          </a:bodyPr>
          <a:lstStyle/>
          <a:p>
            <a:pPr algn="l"/>
            <a:r>
              <a:rPr sz="900" b="0">
                <a:solidFill>
                  <a:srgbClr val="5B5F63"/>
                </a:solidFill>
                <a:latin typeface="Pretendard"/>
              </a:rPr>
              <a:t>Website guidance is deliberately absent: no recommendations until the live site has been reviewed page by page.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9144000" cy="274320"/>
          </a:xfrm>
          <a:prstGeom prst="rect">
            <a:avLst/>
          </a:prstGeom>
          <a:noFill/>
        </p:spPr>
        <p:txBody>
          <a:bodyPr wrap="square">
            <a:spAutoFit/>
          </a:bodyPr>
          <a:lstStyle/>
          <a:p>
            <a:pPr algn="l"/>
            <a:r>
              <a:rPr sz="900" b="1">
                <a:solidFill>
                  <a:srgbClr val="5B5F63"/>
                </a:solidFill>
                <a:latin typeface="Pretendard"/>
              </a:rPr>
              <a:t>12  CONTENT PILLARS  |  PREM AND THE PORTFOLIO  (THE 60%)</a:t>
            </a:r>
          </a:p>
        </p:txBody>
      </p:sp>
      <p:sp>
        <p:nvSpPr>
          <p:cNvPr id="4" name="Rectangle 3"/>
          <p:cNvSpPr/>
          <p:nvPr/>
        </p:nvSpPr>
        <p:spPr>
          <a:xfrm>
            <a:off x="502920" y="713232"/>
            <a:ext cx="11183112" cy="10972"/>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68680"/>
            <a:ext cx="10972800" cy="320040"/>
          </a:xfrm>
          <a:prstGeom prst="rect">
            <a:avLst/>
          </a:prstGeom>
          <a:noFill/>
        </p:spPr>
        <p:txBody>
          <a:bodyPr wrap="square">
            <a:spAutoFit/>
          </a:bodyPr>
          <a:lstStyle/>
          <a:p>
            <a:pPr algn="l"/>
            <a:r>
              <a:rPr sz="1100" b="0">
                <a:solidFill>
                  <a:srgbClr val="5B5F63"/>
                </a:solidFill>
                <a:latin typeface="Pretendard"/>
              </a:rPr>
              <a:t>Every piece belongs to one pillar. If it fits none, it does not ship.</a:t>
            </a:r>
          </a:p>
        </p:txBody>
      </p:sp>
      <p:sp>
        <p:nvSpPr>
          <p:cNvPr id="6" name="Rectangle 5"/>
          <p:cNvSpPr/>
          <p:nvPr/>
        </p:nvSpPr>
        <p:spPr>
          <a:xfrm>
            <a:off x="502920" y="1325880"/>
            <a:ext cx="2697480" cy="5074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25880"/>
            <a:ext cx="2697480" cy="5486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08760"/>
            <a:ext cx="2194560" cy="548640"/>
          </a:xfrm>
          <a:prstGeom prst="rect">
            <a:avLst/>
          </a:prstGeom>
          <a:noFill/>
        </p:spPr>
        <p:txBody>
          <a:bodyPr wrap="square">
            <a:spAutoFit/>
          </a:bodyPr>
          <a:lstStyle/>
          <a:p>
            <a:pPr algn="l"/>
            <a:r>
              <a:rPr sz="2600" b="1">
                <a:solidFill>
                  <a:srgbClr val="0A0A0A"/>
                </a:solidFill>
                <a:latin typeface="Pretendard"/>
              </a:rPr>
              <a:t>35%</a:t>
            </a:r>
          </a:p>
        </p:txBody>
      </p:sp>
      <p:sp>
        <p:nvSpPr>
          <p:cNvPr id="9" name="TextBox 8"/>
          <p:cNvSpPr txBox="1"/>
          <p:nvPr/>
        </p:nvSpPr>
        <p:spPr>
          <a:xfrm>
            <a:off x="731520" y="2148840"/>
            <a:ext cx="2286000" cy="685800"/>
          </a:xfrm>
          <a:prstGeom prst="rect">
            <a:avLst/>
          </a:prstGeom>
          <a:noFill/>
        </p:spPr>
        <p:txBody>
          <a:bodyPr wrap="square">
            <a:spAutoFit/>
          </a:bodyPr>
          <a:lstStyle/>
          <a:p>
            <a:pPr algn="l"/>
            <a:r>
              <a:rPr sz="1300" b="1">
                <a:solidFill>
                  <a:srgbClr val="0A0A0A"/>
                </a:solidFill>
                <a:latin typeface="Pretendard"/>
              </a:rPr>
              <a:t>Verifiable AI</a:t>
            </a:r>
          </a:p>
        </p:txBody>
      </p:sp>
      <p:sp>
        <p:nvSpPr>
          <p:cNvPr id="10" name="Rectangle 9"/>
          <p:cNvSpPr/>
          <p:nvPr/>
        </p:nvSpPr>
        <p:spPr>
          <a:xfrm>
            <a:off x="731520" y="2926080"/>
            <a:ext cx="2240280" cy="18288"/>
          </a:xfrm>
          <a:prstGeom prst="rect">
            <a:avLst/>
          </a:prstGeom>
          <a:solidFill>
            <a:srgbClr val="EC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063240"/>
            <a:ext cx="2286000" cy="3108960"/>
          </a:xfrm>
          <a:prstGeom prst="rect">
            <a:avLst/>
          </a:prstGeom>
          <a:noFill/>
        </p:spPr>
        <p:txBody>
          <a:bodyPr wrap="square">
            <a:spAutoFit/>
          </a:bodyPr>
          <a:lstStyle/>
          <a:p>
            <a:pPr algn="l"/>
            <a:r>
              <a:rPr sz="950" b="0">
                <a:solidFill>
                  <a:srgbClr val="5B5F63"/>
                </a:solidFill>
                <a:latin typeface="Pretendard"/>
              </a:rPr>
              <a:t>Reticle attestation
TEE architecture explainers
Proof walkthroughs
Open source vs policy promises</a:t>
            </a:r>
          </a:p>
        </p:txBody>
      </p:sp>
      <p:sp>
        <p:nvSpPr>
          <p:cNvPr id="12" name="Rectangle 11"/>
          <p:cNvSpPr/>
          <p:nvPr/>
        </p:nvSpPr>
        <p:spPr>
          <a:xfrm>
            <a:off x="3447288" y="1325880"/>
            <a:ext cx="2697480" cy="5074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47288" y="1325880"/>
            <a:ext cx="2697480" cy="5486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5888" y="1508760"/>
            <a:ext cx="2194560" cy="548640"/>
          </a:xfrm>
          <a:prstGeom prst="rect">
            <a:avLst/>
          </a:prstGeom>
          <a:noFill/>
        </p:spPr>
        <p:txBody>
          <a:bodyPr wrap="square">
            <a:spAutoFit/>
          </a:bodyPr>
          <a:lstStyle/>
          <a:p>
            <a:pPr algn="l"/>
            <a:r>
              <a:rPr sz="2600" b="1">
                <a:solidFill>
                  <a:srgbClr val="0A0A0A"/>
                </a:solidFill>
                <a:latin typeface="Pretendard"/>
              </a:rPr>
              <a:t>25%</a:t>
            </a:r>
          </a:p>
        </p:txBody>
      </p:sp>
      <p:sp>
        <p:nvSpPr>
          <p:cNvPr id="15" name="TextBox 14"/>
          <p:cNvSpPr txBox="1"/>
          <p:nvPr/>
        </p:nvSpPr>
        <p:spPr>
          <a:xfrm>
            <a:off x="3675888" y="2148840"/>
            <a:ext cx="2286000" cy="685800"/>
          </a:xfrm>
          <a:prstGeom prst="rect">
            <a:avLst/>
          </a:prstGeom>
          <a:noFill/>
        </p:spPr>
        <p:txBody>
          <a:bodyPr wrap="square">
            <a:spAutoFit/>
          </a:bodyPr>
          <a:lstStyle/>
          <a:p>
            <a:pPr algn="l"/>
            <a:r>
              <a:rPr sz="1300" b="1">
                <a:solidFill>
                  <a:srgbClr val="0A0A0A"/>
                </a:solidFill>
                <a:latin typeface="Pretendard"/>
              </a:rPr>
              <a:t>Compliance architecture</a:t>
            </a:r>
          </a:p>
        </p:txBody>
      </p:sp>
      <p:sp>
        <p:nvSpPr>
          <p:cNvPr id="16" name="Rectangle 15"/>
          <p:cNvSpPr/>
          <p:nvPr/>
        </p:nvSpPr>
        <p:spPr>
          <a:xfrm>
            <a:off x="3675888" y="2926080"/>
            <a:ext cx="2240280" cy="18288"/>
          </a:xfrm>
          <a:prstGeom prst="rect">
            <a:avLst/>
          </a:prstGeom>
          <a:solidFill>
            <a:srgbClr val="EC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3063240"/>
            <a:ext cx="2286000" cy="3108960"/>
          </a:xfrm>
          <a:prstGeom prst="rect">
            <a:avLst/>
          </a:prstGeom>
          <a:noFill/>
        </p:spPr>
        <p:txBody>
          <a:bodyPr wrap="square">
            <a:spAutoFit/>
          </a:bodyPr>
          <a:lstStyle/>
          <a:p>
            <a:pPr algn="l"/>
            <a:r>
              <a:rPr sz="950" b="0">
                <a:solidFill>
                  <a:srgbClr val="5B5F63"/>
                </a:solidFill>
                <a:latin typeface="Pretendard"/>
              </a:rPr>
              <a:t>EU AI Act interpretation
GDPR and HIPAA by use case
Audit readiness frameworks
What a regulator actually asks</a:t>
            </a:r>
          </a:p>
        </p:txBody>
      </p:sp>
      <p:sp>
        <p:nvSpPr>
          <p:cNvPr id="18" name="Rectangle 17"/>
          <p:cNvSpPr/>
          <p:nvPr/>
        </p:nvSpPr>
        <p:spPr>
          <a:xfrm>
            <a:off x="6391656" y="1325880"/>
            <a:ext cx="2697480" cy="5074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91656" y="1325880"/>
            <a:ext cx="2697480" cy="5486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20256" y="1508760"/>
            <a:ext cx="2194560" cy="548640"/>
          </a:xfrm>
          <a:prstGeom prst="rect">
            <a:avLst/>
          </a:prstGeom>
          <a:noFill/>
        </p:spPr>
        <p:txBody>
          <a:bodyPr wrap="square">
            <a:spAutoFit/>
          </a:bodyPr>
          <a:lstStyle/>
          <a:p>
            <a:pPr algn="l"/>
            <a:r>
              <a:rPr sz="2600" b="1">
                <a:solidFill>
                  <a:srgbClr val="0A0A0A"/>
                </a:solidFill>
                <a:latin typeface="Pretendard"/>
              </a:rPr>
              <a:t>25%</a:t>
            </a:r>
          </a:p>
        </p:txBody>
      </p:sp>
      <p:sp>
        <p:nvSpPr>
          <p:cNvPr id="21" name="TextBox 20"/>
          <p:cNvSpPr txBox="1"/>
          <p:nvPr/>
        </p:nvSpPr>
        <p:spPr>
          <a:xfrm>
            <a:off x="6620256" y="2148840"/>
            <a:ext cx="2286000" cy="685800"/>
          </a:xfrm>
          <a:prstGeom prst="rect">
            <a:avLst/>
          </a:prstGeom>
          <a:noFill/>
        </p:spPr>
        <p:txBody>
          <a:bodyPr wrap="square">
            <a:spAutoFit/>
          </a:bodyPr>
          <a:lstStyle/>
          <a:p>
            <a:pPr algn="l"/>
            <a:r>
              <a:rPr sz="1300" b="1">
                <a:solidFill>
                  <a:srgbClr val="0A0A0A"/>
                </a:solidFill>
                <a:latin typeface="Pretendard"/>
              </a:rPr>
              <a:t>Engineering depth</a:t>
            </a:r>
          </a:p>
        </p:txBody>
      </p:sp>
      <p:sp>
        <p:nvSpPr>
          <p:cNvPr id="22" name="Rectangle 21"/>
          <p:cNvSpPr/>
          <p:nvPr/>
        </p:nvSpPr>
        <p:spPr>
          <a:xfrm>
            <a:off x="6620256" y="2926080"/>
            <a:ext cx="2240280" cy="18288"/>
          </a:xfrm>
          <a:prstGeom prst="rect">
            <a:avLst/>
          </a:prstGeom>
          <a:solidFill>
            <a:srgbClr val="EC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20256" y="3063240"/>
            <a:ext cx="2286000" cy="3108960"/>
          </a:xfrm>
          <a:prstGeom prst="rect">
            <a:avLst/>
          </a:prstGeom>
          <a:noFill/>
        </p:spPr>
        <p:txBody>
          <a:bodyPr wrap="square">
            <a:spAutoFit/>
          </a:bodyPr>
          <a:lstStyle/>
          <a:p>
            <a:pPr algn="l"/>
            <a:r>
              <a:rPr sz="950" b="0">
                <a:solidFill>
                  <a:srgbClr val="5B5F63"/>
                </a:solidFill>
                <a:latin typeface="Pretendard"/>
              </a:rPr>
              <a:t>Prem Studio guides and tutorials
Open-model selection
On-premise deployment
Portability benchmarks</a:t>
            </a:r>
          </a:p>
        </p:txBody>
      </p:sp>
      <p:sp>
        <p:nvSpPr>
          <p:cNvPr id="24" name="Rectangle 23"/>
          <p:cNvSpPr/>
          <p:nvPr/>
        </p:nvSpPr>
        <p:spPr>
          <a:xfrm>
            <a:off x="9336024" y="1325880"/>
            <a:ext cx="2697480" cy="5074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336024" y="1325880"/>
            <a:ext cx="2697480" cy="5486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64624" y="1508760"/>
            <a:ext cx="2194560" cy="548640"/>
          </a:xfrm>
          <a:prstGeom prst="rect">
            <a:avLst/>
          </a:prstGeom>
          <a:noFill/>
        </p:spPr>
        <p:txBody>
          <a:bodyPr wrap="square">
            <a:spAutoFit/>
          </a:bodyPr>
          <a:lstStyle/>
          <a:p>
            <a:pPr algn="l"/>
            <a:r>
              <a:rPr sz="2600" b="1">
                <a:solidFill>
                  <a:srgbClr val="0A0A0A"/>
                </a:solidFill>
                <a:latin typeface="Pretendard"/>
              </a:rPr>
              <a:t>15%</a:t>
            </a:r>
          </a:p>
        </p:txBody>
      </p:sp>
      <p:sp>
        <p:nvSpPr>
          <p:cNvPr id="27" name="TextBox 26"/>
          <p:cNvSpPr txBox="1"/>
          <p:nvPr/>
        </p:nvSpPr>
        <p:spPr>
          <a:xfrm>
            <a:off x="9564624" y="2148840"/>
            <a:ext cx="2286000" cy="685800"/>
          </a:xfrm>
          <a:prstGeom prst="rect">
            <a:avLst/>
          </a:prstGeom>
          <a:noFill/>
        </p:spPr>
        <p:txBody>
          <a:bodyPr wrap="square">
            <a:spAutoFit/>
          </a:bodyPr>
          <a:lstStyle/>
          <a:p>
            <a:pPr algn="l"/>
            <a:r>
              <a:rPr sz="1300" b="1">
                <a:solidFill>
                  <a:srgbClr val="0A0A0A"/>
                </a:solidFill>
                <a:latin typeface="Pretendard"/>
              </a:rPr>
              <a:t>Customer evidence</a:t>
            </a:r>
          </a:p>
        </p:txBody>
      </p:sp>
      <p:sp>
        <p:nvSpPr>
          <p:cNvPr id="28" name="Rectangle 27"/>
          <p:cNvSpPr/>
          <p:nvPr/>
        </p:nvSpPr>
        <p:spPr>
          <a:xfrm>
            <a:off x="9564624" y="2926080"/>
            <a:ext cx="2240280" cy="18288"/>
          </a:xfrm>
          <a:prstGeom prst="rect">
            <a:avLst/>
          </a:prstGeom>
          <a:solidFill>
            <a:srgbClr val="EC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564624" y="3063240"/>
            <a:ext cx="2286000" cy="3108960"/>
          </a:xfrm>
          <a:prstGeom prst="rect">
            <a:avLst/>
          </a:prstGeom>
          <a:noFill/>
        </p:spPr>
        <p:txBody>
          <a:bodyPr wrap="square">
            <a:spAutoFit/>
          </a:bodyPr>
          <a:lstStyle/>
          <a:p>
            <a:pPr algn="l"/>
            <a:r>
              <a:rPr sz="950" b="0">
                <a:solidFill>
                  <a:srgbClr val="5B5F63"/>
                </a:solidFill>
                <a:latin typeface="Pretendard"/>
              </a:rPr>
              <a:t>Named case studies only
Quantified outcomes
Quotes with name and title
Regulator-facing results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9144000" cy="274320"/>
          </a:xfrm>
          <a:prstGeom prst="rect">
            <a:avLst/>
          </a:prstGeom>
          <a:noFill/>
        </p:spPr>
        <p:txBody>
          <a:bodyPr wrap="square">
            <a:spAutoFit/>
          </a:bodyPr>
          <a:lstStyle/>
          <a:p>
            <a:pPr algn="l"/>
            <a:r>
              <a:rPr sz="900" b="1">
                <a:solidFill>
                  <a:srgbClr val="5B5F63"/>
                </a:solidFill>
                <a:latin typeface="Pretendard"/>
              </a:rPr>
              <a:t>12  CONTENT PILLARS  |  FLUSO  (THE 40%)</a:t>
            </a:r>
          </a:p>
        </p:txBody>
      </p:sp>
      <p:sp>
        <p:nvSpPr>
          <p:cNvPr id="4" name="Rectangle 3"/>
          <p:cNvSpPr/>
          <p:nvPr/>
        </p:nvSpPr>
        <p:spPr>
          <a:xfrm>
            <a:off x="502920" y="713232"/>
            <a:ext cx="11183112" cy="10972"/>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68680"/>
            <a:ext cx="10972800" cy="320040"/>
          </a:xfrm>
          <a:prstGeom prst="rect">
            <a:avLst/>
          </a:prstGeom>
          <a:noFill/>
        </p:spPr>
        <p:txBody>
          <a:bodyPr wrap="square">
            <a:spAutoFit/>
          </a:bodyPr>
          <a:lstStyle/>
          <a:p>
            <a:pPr algn="l"/>
            <a:r>
              <a:rPr sz="1100" b="0">
                <a:solidFill>
                  <a:srgbClr val="5B5F63"/>
                </a:solidFill>
                <a:latin typeface="Pretendard"/>
              </a:rPr>
              <a:t>Utility leads. 60% of Fluso output shows the product doing real work.</a:t>
            </a:r>
          </a:p>
        </p:txBody>
      </p:sp>
      <p:sp>
        <p:nvSpPr>
          <p:cNvPr id="6" name="Rectangle 5"/>
          <p:cNvSpPr/>
          <p:nvPr/>
        </p:nvSpPr>
        <p:spPr>
          <a:xfrm>
            <a:off x="502920" y="1325880"/>
            <a:ext cx="2697480" cy="5074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25880"/>
            <a:ext cx="2697480" cy="5486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08760"/>
            <a:ext cx="2194560" cy="548640"/>
          </a:xfrm>
          <a:prstGeom prst="rect">
            <a:avLst/>
          </a:prstGeom>
          <a:noFill/>
        </p:spPr>
        <p:txBody>
          <a:bodyPr wrap="square">
            <a:spAutoFit/>
          </a:bodyPr>
          <a:lstStyle/>
          <a:p>
            <a:pPr algn="l"/>
            <a:r>
              <a:rPr sz="2600" b="1">
                <a:solidFill>
                  <a:srgbClr val="0A0A0A"/>
                </a:solidFill>
                <a:latin typeface="Pretendard"/>
              </a:rPr>
              <a:t>35%</a:t>
            </a:r>
          </a:p>
        </p:txBody>
      </p:sp>
      <p:sp>
        <p:nvSpPr>
          <p:cNvPr id="9" name="TextBox 8"/>
          <p:cNvSpPr txBox="1"/>
          <p:nvPr/>
        </p:nvSpPr>
        <p:spPr>
          <a:xfrm>
            <a:off x="731520" y="2148840"/>
            <a:ext cx="2286000" cy="685800"/>
          </a:xfrm>
          <a:prstGeom prst="rect">
            <a:avLst/>
          </a:prstGeom>
          <a:noFill/>
        </p:spPr>
        <p:txBody>
          <a:bodyPr wrap="square">
            <a:spAutoFit/>
          </a:bodyPr>
          <a:lstStyle/>
          <a:p>
            <a:pPr algn="l"/>
            <a:r>
              <a:rPr sz="1300" b="1">
                <a:solidFill>
                  <a:srgbClr val="0A0A0A"/>
                </a:solidFill>
                <a:latin typeface="Pretendard"/>
              </a:rPr>
              <a:t>Product utility</a:t>
            </a:r>
          </a:p>
        </p:txBody>
      </p:sp>
      <p:sp>
        <p:nvSpPr>
          <p:cNvPr id="10" name="Rectangle 9"/>
          <p:cNvSpPr/>
          <p:nvPr/>
        </p:nvSpPr>
        <p:spPr>
          <a:xfrm>
            <a:off x="731520" y="2926080"/>
            <a:ext cx="2240280" cy="18288"/>
          </a:xfrm>
          <a:prstGeom prst="rect">
            <a:avLst/>
          </a:prstGeom>
          <a:solidFill>
            <a:srgbClr val="EC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063240"/>
            <a:ext cx="2286000" cy="3108960"/>
          </a:xfrm>
          <a:prstGeom prst="rect">
            <a:avLst/>
          </a:prstGeom>
          <a:noFill/>
        </p:spPr>
        <p:txBody>
          <a:bodyPr wrap="square">
            <a:spAutoFit/>
          </a:bodyPr>
          <a:lstStyle/>
          <a:p>
            <a:pPr algn="l"/>
            <a:r>
              <a:rPr sz="950" b="0">
                <a:solidFill>
                  <a:srgbClr val="5B5F63"/>
                </a:solidFill>
                <a:latin typeface="Pretendard"/>
              </a:rPr>
              <a:t>Use cases with time data
Before and after workflows
Model-to-task matching
Session audit trail demos</a:t>
            </a:r>
          </a:p>
        </p:txBody>
      </p:sp>
      <p:sp>
        <p:nvSpPr>
          <p:cNvPr id="12" name="Rectangle 11"/>
          <p:cNvSpPr/>
          <p:nvPr/>
        </p:nvSpPr>
        <p:spPr>
          <a:xfrm>
            <a:off x="3447288" y="1325880"/>
            <a:ext cx="2697480" cy="5074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47288" y="1325880"/>
            <a:ext cx="2697480" cy="5486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75888" y="1508760"/>
            <a:ext cx="2194560" cy="548640"/>
          </a:xfrm>
          <a:prstGeom prst="rect">
            <a:avLst/>
          </a:prstGeom>
          <a:noFill/>
        </p:spPr>
        <p:txBody>
          <a:bodyPr wrap="square">
            <a:spAutoFit/>
          </a:bodyPr>
          <a:lstStyle/>
          <a:p>
            <a:pPr algn="l"/>
            <a:r>
              <a:rPr sz="2600" b="1">
                <a:solidFill>
                  <a:srgbClr val="0A0A0A"/>
                </a:solidFill>
                <a:latin typeface="Pretendard"/>
              </a:rPr>
              <a:t>25%</a:t>
            </a:r>
          </a:p>
        </p:txBody>
      </p:sp>
      <p:sp>
        <p:nvSpPr>
          <p:cNvPr id="15" name="TextBox 14"/>
          <p:cNvSpPr txBox="1"/>
          <p:nvPr/>
        </p:nvSpPr>
        <p:spPr>
          <a:xfrm>
            <a:off x="3675888" y="2148840"/>
            <a:ext cx="2286000" cy="685800"/>
          </a:xfrm>
          <a:prstGeom prst="rect">
            <a:avLst/>
          </a:prstGeom>
          <a:noFill/>
        </p:spPr>
        <p:txBody>
          <a:bodyPr wrap="square">
            <a:spAutoFit/>
          </a:bodyPr>
          <a:lstStyle/>
          <a:p>
            <a:pPr algn="l"/>
            <a:r>
              <a:rPr sz="1300" b="1">
                <a:solidFill>
                  <a:srgbClr val="0A0A0A"/>
                </a:solidFill>
                <a:latin typeface="Pretendard"/>
              </a:rPr>
              <a:t>Deep work</a:t>
            </a:r>
          </a:p>
        </p:txBody>
      </p:sp>
      <p:sp>
        <p:nvSpPr>
          <p:cNvPr id="16" name="Rectangle 15"/>
          <p:cNvSpPr/>
          <p:nvPr/>
        </p:nvSpPr>
        <p:spPr>
          <a:xfrm>
            <a:off x="3675888" y="2926080"/>
            <a:ext cx="2240280" cy="18288"/>
          </a:xfrm>
          <a:prstGeom prst="rect">
            <a:avLst/>
          </a:prstGeom>
          <a:solidFill>
            <a:srgbClr val="EC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3063240"/>
            <a:ext cx="2286000" cy="3108960"/>
          </a:xfrm>
          <a:prstGeom prst="rect">
            <a:avLst/>
          </a:prstGeom>
          <a:noFill/>
        </p:spPr>
        <p:txBody>
          <a:bodyPr wrap="square">
            <a:spAutoFit/>
          </a:bodyPr>
          <a:lstStyle/>
          <a:p>
            <a:pPr algn="l"/>
            <a:r>
              <a:rPr sz="950" b="0">
                <a:solidFill>
                  <a:srgbClr val="5B5F63"/>
                </a:solidFill>
                <a:latin typeface="Pretendard"/>
              </a:rPr>
              <a:t>Cognitive load in AI workflows
Focus session design
10 to 30 minute workflows
Work vs work-about-work</a:t>
            </a:r>
          </a:p>
        </p:txBody>
      </p:sp>
      <p:sp>
        <p:nvSpPr>
          <p:cNvPr id="18" name="Rectangle 17"/>
          <p:cNvSpPr/>
          <p:nvPr/>
        </p:nvSpPr>
        <p:spPr>
          <a:xfrm>
            <a:off x="6391656" y="1325880"/>
            <a:ext cx="2697480" cy="5074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91656" y="1325880"/>
            <a:ext cx="2697480" cy="5486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20256" y="1508760"/>
            <a:ext cx="2194560" cy="548640"/>
          </a:xfrm>
          <a:prstGeom prst="rect">
            <a:avLst/>
          </a:prstGeom>
          <a:noFill/>
        </p:spPr>
        <p:txBody>
          <a:bodyPr wrap="square">
            <a:spAutoFit/>
          </a:bodyPr>
          <a:lstStyle/>
          <a:p>
            <a:pPr algn="l"/>
            <a:r>
              <a:rPr sz="2600" b="1">
                <a:solidFill>
                  <a:srgbClr val="0A0A0A"/>
                </a:solidFill>
                <a:latin typeface="Pretendard"/>
              </a:rPr>
              <a:t>20%</a:t>
            </a:r>
          </a:p>
        </p:txBody>
      </p:sp>
      <p:sp>
        <p:nvSpPr>
          <p:cNvPr id="21" name="TextBox 20"/>
          <p:cNvSpPr txBox="1"/>
          <p:nvPr/>
        </p:nvSpPr>
        <p:spPr>
          <a:xfrm>
            <a:off x="6620256" y="2148840"/>
            <a:ext cx="2286000" cy="685800"/>
          </a:xfrm>
          <a:prstGeom prst="rect">
            <a:avLst/>
          </a:prstGeom>
          <a:noFill/>
        </p:spPr>
        <p:txBody>
          <a:bodyPr wrap="square">
            <a:spAutoFit/>
          </a:bodyPr>
          <a:lstStyle/>
          <a:p>
            <a:pPr algn="l"/>
            <a:r>
              <a:rPr sz="1300" b="1">
                <a:solidFill>
                  <a:srgbClr val="0A0A0A"/>
                </a:solidFill>
                <a:latin typeface="Pretendard"/>
              </a:rPr>
              <a:t>Model transparency</a:t>
            </a:r>
          </a:p>
        </p:txBody>
      </p:sp>
      <p:sp>
        <p:nvSpPr>
          <p:cNvPr id="22" name="Rectangle 21"/>
          <p:cNvSpPr/>
          <p:nvPr/>
        </p:nvSpPr>
        <p:spPr>
          <a:xfrm>
            <a:off x="6620256" y="2926080"/>
            <a:ext cx="2240280" cy="18288"/>
          </a:xfrm>
          <a:prstGeom prst="rect">
            <a:avLst/>
          </a:prstGeom>
          <a:solidFill>
            <a:srgbClr val="EC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20256" y="3063240"/>
            <a:ext cx="2286000" cy="3108960"/>
          </a:xfrm>
          <a:prstGeom prst="rect">
            <a:avLst/>
          </a:prstGeom>
          <a:noFill/>
        </p:spPr>
        <p:txBody>
          <a:bodyPr wrap="square">
            <a:spAutoFit/>
          </a:bodyPr>
          <a:lstStyle/>
          <a:p>
            <a:pPr algn="l"/>
            <a:r>
              <a:rPr sz="950" b="0">
                <a:solidFill>
                  <a:srgbClr val="5B5F63"/>
                </a:solidFill>
                <a:latin typeface="Pretendard"/>
              </a:rPr>
              <a:t>Which model, why, when
Honest accuracy reporting
Limitation disclosure
Open-model reviews</a:t>
            </a:r>
          </a:p>
        </p:txBody>
      </p:sp>
      <p:sp>
        <p:nvSpPr>
          <p:cNvPr id="24" name="Rectangle 23"/>
          <p:cNvSpPr/>
          <p:nvPr/>
        </p:nvSpPr>
        <p:spPr>
          <a:xfrm>
            <a:off x="9336024" y="1325880"/>
            <a:ext cx="2697480" cy="5074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336024" y="1325880"/>
            <a:ext cx="2697480" cy="5486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64624" y="1508760"/>
            <a:ext cx="2194560" cy="548640"/>
          </a:xfrm>
          <a:prstGeom prst="rect">
            <a:avLst/>
          </a:prstGeom>
          <a:noFill/>
        </p:spPr>
        <p:txBody>
          <a:bodyPr wrap="square">
            <a:spAutoFit/>
          </a:bodyPr>
          <a:lstStyle/>
          <a:p>
            <a:pPr algn="l"/>
            <a:r>
              <a:rPr sz="2600" b="1">
                <a:solidFill>
                  <a:srgbClr val="0A0A0A"/>
                </a:solidFill>
                <a:latin typeface="Pretendard"/>
              </a:rPr>
              <a:t>20%</a:t>
            </a:r>
          </a:p>
        </p:txBody>
      </p:sp>
      <p:sp>
        <p:nvSpPr>
          <p:cNvPr id="27" name="TextBox 26"/>
          <p:cNvSpPr txBox="1"/>
          <p:nvPr/>
        </p:nvSpPr>
        <p:spPr>
          <a:xfrm>
            <a:off x="9564624" y="2148840"/>
            <a:ext cx="2286000" cy="685800"/>
          </a:xfrm>
          <a:prstGeom prst="rect">
            <a:avLst/>
          </a:prstGeom>
          <a:noFill/>
        </p:spPr>
        <p:txBody>
          <a:bodyPr wrap="square">
            <a:spAutoFit/>
          </a:bodyPr>
          <a:lstStyle/>
          <a:p>
            <a:pPr algn="l"/>
            <a:r>
              <a:rPr sz="1300" b="1">
                <a:solidFill>
                  <a:srgbClr val="0A0A0A"/>
                </a:solidFill>
                <a:latin typeface="Pretendard"/>
              </a:rPr>
              <a:t>Builder community</a:t>
            </a:r>
          </a:p>
        </p:txBody>
      </p:sp>
      <p:sp>
        <p:nvSpPr>
          <p:cNvPr id="28" name="Rectangle 27"/>
          <p:cNvSpPr/>
          <p:nvPr/>
        </p:nvSpPr>
        <p:spPr>
          <a:xfrm>
            <a:off x="9564624" y="2926080"/>
            <a:ext cx="2240280" cy="18288"/>
          </a:xfrm>
          <a:prstGeom prst="rect">
            <a:avLst/>
          </a:prstGeom>
          <a:solidFill>
            <a:srgbClr val="EC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564624" y="3063240"/>
            <a:ext cx="2286000" cy="3108960"/>
          </a:xfrm>
          <a:prstGeom prst="rect">
            <a:avLst/>
          </a:prstGeom>
          <a:noFill/>
        </p:spPr>
        <p:txBody>
          <a:bodyPr wrap="square">
            <a:spAutoFit/>
          </a:bodyPr>
          <a:lstStyle/>
          <a:p>
            <a:pPr algn="l"/>
            <a:r>
              <a:rPr sz="950" b="0">
                <a:solidFill>
                  <a:srgbClr val="5B5F63"/>
                </a:solidFill>
                <a:latin typeface="Pretendard"/>
              </a:rPr>
              <a:t>Reticle open-source updates
Contributor spotlights
Honest retrospectives
Open questions, answered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9144000" cy="274320"/>
          </a:xfrm>
          <a:prstGeom prst="rect">
            <a:avLst/>
          </a:prstGeom>
          <a:noFill/>
        </p:spPr>
        <p:txBody>
          <a:bodyPr wrap="square">
            <a:spAutoFit/>
          </a:bodyPr>
          <a:lstStyle/>
          <a:p>
            <a:pPr algn="l"/>
            <a:r>
              <a:rPr sz="900" b="1">
                <a:solidFill>
                  <a:srgbClr val="5B5F63"/>
                </a:solidFill>
                <a:latin typeface="Pretendard"/>
              </a:rPr>
              <a:t>12  AUDIENCE ARCHITECTURE  |  PERSONA TO PLATFORM</a:t>
            </a:r>
          </a:p>
        </p:txBody>
      </p:sp>
      <p:sp>
        <p:nvSpPr>
          <p:cNvPr id="4" name="Rectangle 3"/>
          <p:cNvSpPr/>
          <p:nvPr/>
        </p:nvSpPr>
        <p:spPr>
          <a:xfrm>
            <a:off x="502920" y="713232"/>
            <a:ext cx="11183112" cy="10972"/>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960120"/>
            <a:ext cx="11183112" cy="420624"/>
          </a:xfrm>
          <a:prstGeom prst="rect">
            <a:avLst/>
          </a:prstGeom>
          <a:solidFill>
            <a:srgbClr val="1717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024128"/>
            <a:ext cx="2011680" cy="292608"/>
          </a:xfrm>
          <a:prstGeom prst="rect">
            <a:avLst/>
          </a:prstGeom>
          <a:noFill/>
        </p:spPr>
        <p:txBody>
          <a:bodyPr wrap="square">
            <a:spAutoFit/>
          </a:bodyPr>
          <a:lstStyle/>
          <a:p>
            <a:pPr algn="l"/>
            <a:r>
              <a:rPr sz="750" b="1">
                <a:solidFill>
                  <a:srgbClr val="FFFFFF"/>
                </a:solidFill>
                <a:latin typeface="Pretendard"/>
              </a:rPr>
              <a:t>PERSONA</a:t>
            </a:r>
          </a:p>
        </p:txBody>
      </p:sp>
      <p:sp>
        <p:nvSpPr>
          <p:cNvPr id="7" name="TextBox 6"/>
          <p:cNvSpPr txBox="1"/>
          <p:nvPr/>
        </p:nvSpPr>
        <p:spPr>
          <a:xfrm>
            <a:off x="2697480" y="1024128"/>
            <a:ext cx="1097280" cy="292608"/>
          </a:xfrm>
          <a:prstGeom prst="rect">
            <a:avLst/>
          </a:prstGeom>
          <a:noFill/>
        </p:spPr>
        <p:txBody>
          <a:bodyPr wrap="square">
            <a:spAutoFit/>
          </a:bodyPr>
          <a:lstStyle/>
          <a:p>
            <a:pPr algn="l"/>
            <a:r>
              <a:rPr sz="750" b="1">
                <a:solidFill>
                  <a:srgbClr val="FFFFFF"/>
                </a:solidFill>
                <a:latin typeface="Pretendard"/>
              </a:rPr>
              <a:t>LEAD BRAND</a:t>
            </a:r>
          </a:p>
        </p:txBody>
      </p:sp>
      <p:sp>
        <p:nvSpPr>
          <p:cNvPr id="8" name="TextBox 7"/>
          <p:cNvSpPr txBox="1"/>
          <p:nvPr/>
        </p:nvSpPr>
        <p:spPr>
          <a:xfrm>
            <a:off x="3840480" y="1024128"/>
            <a:ext cx="1554480" cy="292608"/>
          </a:xfrm>
          <a:prstGeom prst="rect">
            <a:avLst/>
          </a:prstGeom>
          <a:noFill/>
        </p:spPr>
        <p:txBody>
          <a:bodyPr wrap="square">
            <a:spAutoFit/>
          </a:bodyPr>
          <a:lstStyle/>
          <a:p>
            <a:pPr algn="l"/>
            <a:r>
              <a:rPr sz="750" b="1">
                <a:solidFill>
                  <a:srgbClr val="FFFFFF"/>
                </a:solidFill>
                <a:latin typeface="Pretendard"/>
              </a:rPr>
              <a:t>CHANNEL</a:t>
            </a:r>
          </a:p>
        </p:txBody>
      </p:sp>
      <p:sp>
        <p:nvSpPr>
          <p:cNvPr id="9" name="TextBox 8"/>
          <p:cNvSpPr txBox="1"/>
          <p:nvPr/>
        </p:nvSpPr>
        <p:spPr>
          <a:xfrm>
            <a:off x="5440680" y="1024128"/>
            <a:ext cx="2743200" cy="292608"/>
          </a:xfrm>
          <a:prstGeom prst="rect">
            <a:avLst/>
          </a:prstGeom>
          <a:noFill/>
        </p:spPr>
        <p:txBody>
          <a:bodyPr wrap="square">
            <a:spAutoFit/>
          </a:bodyPr>
          <a:lstStyle/>
          <a:p>
            <a:pPr algn="l"/>
            <a:r>
              <a:rPr sz="750" b="1">
                <a:solidFill>
                  <a:srgbClr val="FFFFFF"/>
                </a:solidFill>
                <a:latin typeface="Pretendard"/>
              </a:rPr>
              <a:t>CONTENT</a:t>
            </a:r>
          </a:p>
        </p:txBody>
      </p:sp>
      <p:sp>
        <p:nvSpPr>
          <p:cNvPr id="10" name="TextBox 9"/>
          <p:cNvSpPr txBox="1"/>
          <p:nvPr/>
        </p:nvSpPr>
        <p:spPr>
          <a:xfrm>
            <a:off x="8229600" y="1024128"/>
            <a:ext cx="3383280" cy="292608"/>
          </a:xfrm>
          <a:prstGeom prst="rect">
            <a:avLst/>
          </a:prstGeom>
          <a:noFill/>
        </p:spPr>
        <p:txBody>
          <a:bodyPr wrap="square">
            <a:spAutoFit/>
          </a:bodyPr>
          <a:lstStyle/>
          <a:p>
            <a:pPr algn="l"/>
            <a:r>
              <a:rPr sz="750" b="1">
                <a:solidFill>
                  <a:srgbClr val="FFFFFF"/>
                </a:solidFill>
                <a:latin typeface="Pretendard"/>
              </a:rPr>
              <a:t>JOB TO BE DONE</a:t>
            </a:r>
          </a:p>
        </p:txBody>
      </p:sp>
      <p:sp>
        <p:nvSpPr>
          <p:cNvPr id="11" name="Rectangle 10"/>
          <p:cNvSpPr/>
          <p:nvPr/>
        </p:nvSpPr>
        <p:spPr>
          <a:xfrm>
            <a:off x="502920" y="1380744"/>
            <a:ext cx="11183112" cy="8503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444752"/>
            <a:ext cx="2011680" cy="749808"/>
          </a:xfrm>
          <a:prstGeom prst="rect">
            <a:avLst/>
          </a:prstGeom>
          <a:noFill/>
        </p:spPr>
        <p:txBody>
          <a:bodyPr wrap="square">
            <a:spAutoFit/>
          </a:bodyPr>
          <a:lstStyle/>
          <a:p>
            <a:pPr algn="l"/>
            <a:r>
              <a:rPr sz="850" b="1">
                <a:solidFill>
                  <a:srgbClr val="0A0A0A"/>
                </a:solidFill>
                <a:latin typeface="Pretendard"/>
              </a:rPr>
              <a:t>Compliance owner (CISO)</a:t>
            </a:r>
          </a:p>
        </p:txBody>
      </p:sp>
      <p:sp>
        <p:nvSpPr>
          <p:cNvPr id="13" name="TextBox 12"/>
          <p:cNvSpPr txBox="1"/>
          <p:nvPr/>
        </p:nvSpPr>
        <p:spPr>
          <a:xfrm>
            <a:off x="2697480" y="1444752"/>
            <a:ext cx="1097280" cy="749808"/>
          </a:xfrm>
          <a:prstGeom prst="rect">
            <a:avLst/>
          </a:prstGeom>
          <a:noFill/>
        </p:spPr>
        <p:txBody>
          <a:bodyPr wrap="square">
            <a:spAutoFit/>
          </a:bodyPr>
          <a:lstStyle/>
          <a:p>
            <a:pPr algn="l"/>
            <a:r>
              <a:rPr sz="850" b="0">
                <a:solidFill>
                  <a:srgbClr val="0A0A0A"/>
                </a:solidFill>
                <a:latin typeface="Pretendard"/>
              </a:rPr>
              <a:t>Prem</a:t>
            </a:r>
          </a:p>
        </p:txBody>
      </p:sp>
      <p:sp>
        <p:nvSpPr>
          <p:cNvPr id="14" name="TextBox 13"/>
          <p:cNvSpPr txBox="1"/>
          <p:nvPr/>
        </p:nvSpPr>
        <p:spPr>
          <a:xfrm>
            <a:off x="3840480" y="1444752"/>
            <a:ext cx="1554480" cy="749808"/>
          </a:xfrm>
          <a:prstGeom prst="rect">
            <a:avLst/>
          </a:prstGeom>
          <a:noFill/>
        </p:spPr>
        <p:txBody>
          <a:bodyPr wrap="square">
            <a:spAutoFit/>
          </a:bodyPr>
          <a:lstStyle/>
          <a:p>
            <a:pPr algn="l"/>
            <a:r>
              <a:rPr sz="850" b="0">
                <a:solidFill>
                  <a:srgbClr val="0A0A0A"/>
                </a:solidFill>
                <a:latin typeface="Pretendard"/>
              </a:rPr>
              <a:t>LinkedIn, direct</a:t>
            </a:r>
          </a:p>
        </p:txBody>
      </p:sp>
      <p:sp>
        <p:nvSpPr>
          <p:cNvPr id="15" name="TextBox 14"/>
          <p:cNvSpPr txBox="1"/>
          <p:nvPr/>
        </p:nvSpPr>
        <p:spPr>
          <a:xfrm>
            <a:off x="5440680" y="1444752"/>
            <a:ext cx="2743200" cy="749808"/>
          </a:xfrm>
          <a:prstGeom prst="rect">
            <a:avLst/>
          </a:prstGeom>
          <a:noFill/>
        </p:spPr>
        <p:txBody>
          <a:bodyPr wrap="square">
            <a:spAutoFit/>
          </a:bodyPr>
          <a:lstStyle/>
          <a:p>
            <a:pPr algn="l"/>
            <a:r>
              <a:rPr sz="850" b="0">
                <a:solidFill>
                  <a:srgbClr val="0A0A0A"/>
                </a:solidFill>
                <a:latin typeface="Pretendard"/>
              </a:rPr>
              <a:t>EU AI Act breakdowns, attestation explainers, audit frameworks</a:t>
            </a:r>
          </a:p>
        </p:txBody>
      </p:sp>
      <p:sp>
        <p:nvSpPr>
          <p:cNvPr id="16" name="TextBox 15"/>
          <p:cNvSpPr txBox="1"/>
          <p:nvPr/>
        </p:nvSpPr>
        <p:spPr>
          <a:xfrm>
            <a:off x="8229600" y="1444752"/>
            <a:ext cx="3383280" cy="749808"/>
          </a:xfrm>
          <a:prstGeom prst="rect">
            <a:avLst/>
          </a:prstGeom>
          <a:noFill/>
        </p:spPr>
        <p:txBody>
          <a:bodyPr wrap="square">
            <a:spAutoFit/>
          </a:bodyPr>
          <a:lstStyle/>
          <a:p>
            <a:pPr algn="l"/>
            <a:r>
              <a:rPr sz="850" b="0">
                <a:solidFill>
                  <a:srgbClr val="0A0A0A"/>
                </a:solidFill>
                <a:latin typeface="Pretendard"/>
              </a:rPr>
              <a:t>"Help me not get fired when the regulator asks how we use AI."</a:t>
            </a:r>
          </a:p>
        </p:txBody>
      </p:sp>
      <p:sp>
        <p:nvSpPr>
          <p:cNvPr id="17" name="Rectangle 16"/>
          <p:cNvSpPr/>
          <p:nvPr/>
        </p:nvSpPr>
        <p:spPr>
          <a:xfrm>
            <a:off x="502920" y="2231136"/>
            <a:ext cx="11183112" cy="850392"/>
          </a:xfrm>
          <a:prstGeom prst="rect">
            <a:avLst/>
          </a:prstGeom>
          <a:solidFill>
            <a:srgbClr val="EC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295144"/>
            <a:ext cx="2011680" cy="749808"/>
          </a:xfrm>
          <a:prstGeom prst="rect">
            <a:avLst/>
          </a:prstGeom>
          <a:noFill/>
        </p:spPr>
        <p:txBody>
          <a:bodyPr wrap="square">
            <a:spAutoFit/>
          </a:bodyPr>
          <a:lstStyle/>
          <a:p>
            <a:pPr algn="l"/>
            <a:r>
              <a:rPr sz="850" b="1">
                <a:solidFill>
                  <a:srgbClr val="0A0A0A"/>
                </a:solidFill>
                <a:latin typeface="Pretendard"/>
              </a:rPr>
              <a:t>Champion (CTO, VP Eng)</a:t>
            </a:r>
          </a:p>
        </p:txBody>
      </p:sp>
      <p:sp>
        <p:nvSpPr>
          <p:cNvPr id="19" name="TextBox 18"/>
          <p:cNvSpPr txBox="1"/>
          <p:nvPr/>
        </p:nvSpPr>
        <p:spPr>
          <a:xfrm>
            <a:off x="2697480" y="2295144"/>
            <a:ext cx="1097280" cy="749808"/>
          </a:xfrm>
          <a:prstGeom prst="rect">
            <a:avLst/>
          </a:prstGeom>
          <a:noFill/>
        </p:spPr>
        <p:txBody>
          <a:bodyPr wrap="square">
            <a:spAutoFit/>
          </a:bodyPr>
          <a:lstStyle/>
          <a:p>
            <a:pPr algn="l"/>
            <a:r>
              <a:rPr sz="850" b="0">
                <a:solidFill>
                  <a:srgbClr val="0A0A0A"/>
                </a:solidFill>
                <a:latin typeface="Pretendard"/>
              </a:rPr>
              <a:t>Prem</a:t>
            </a:r>
          </a:p>
        </p:txBody>
      </p:sp>
      <p:sp>
        <p:nvSpPr>
          <p:cNvPr id="20" name="TextBox 19"/>
          <p:cNvSpPr txBox="1"/>
          <p:nvPr/>
        </p:nvSpPr>
        <p:spPr>
          <a:xfrm>
            <a:off x="3840480" y="2295144"/>
            <a:ext cx="1554480" cy="749808"/>
          </a:xfrm>
          <a:prstGeom prst="rect">
            <a:avLst/>
          </a:prstGeom>
          <a:noFill/>
        </p:spPr>
        <p:txBody>
          <a:bodyPr wrap="square">
            <a:spAutoFit/>
          </a:bodyPr>
          <a:lstStyle/>
          <a:p>
            <a:pPr algn="l"/>
            <a:r>
              <a:rPr sz="850" b="0">
                <a:solidFill>
                  <a:srgbClr val="0A0A0A"/>
                </a:solidFill>
                <a:latin typeface="Pretendard"/>
              </a:rPr>
              <a:t>LinkedIn, GitHub</a:t>
            </a:r>
          </a:p>
        </p:txBody>
      </p:sp>
      <p:sp>
        <p:nvSpPr>
          <p:cNvPr id="21" name="TextBox 20"/>
          <p:cNvSpPr txBox="1"/>
          <p:nvPr/>
        </p:nvSpPr>
        <p:spPr>
          <a:xfrm>
            <a:off x="5440680" y="2295144"/>
            <a:ext cx="2743200" cy="749808"/>
          </a:xfrm>
          <a:prstGeom prst="rect">
            <a:avLst/>
          </a:prstGeom>
          <a:noFill/>
        </p:spPr>
        <p:txBody>
          <a:bodyPr wrap="square">
            <a:spAutoFit/>
          </a:bodyPr>
          <a:lstStyle/>
          <a:p>
            <a:pPr algn="l"/>
            <a:r>
              <a:rPr sz="850" b="0">
                <a:solidFill>
                  <a:srgbClr val="0A0A0A"/>
                </a:solidFill>
                <a:latin typeface="Pretendard"/>
              </a:rPr>
              <a:t>Architecture posts, portability data, Reticle technical docs</a:t>
            </a:r>
          </a:p>
        </p:txBody>
      </p:sp>
      <p:sp>
        <p:nvSpPr>
          <p:cNvPr id="22" name="TextBox 21"/>
          <p:cNvSpPr txBox="1"/>
          <p:nvPr/>
        </p:nvSpPr>
        <p:spPr>
          <a:xfrm>
            <a:off x="8229600" y="2295144"/>
            <a:ext cx="3383280" cy="749808"/>
          </a:xfrm>
          <a:prstGeom prst="rect">
            <a:avLst/>
          </a:prstGeom>
          <a:noFill/>
        </p:spPr>
        <p:txBody>
          <a:bodyPr wrap="square">
            <a:spAutoFit/>
          </a:bodyPr>
          <a:lstStyle/>
          <a:p>
            <a:pPr algn="l"/>
            <a:r>
              <a:rPr sz="850" b="0">
                <a:solidFill>
                  <a:srgbClr val="0A0A0A"/>
                </a:solidFill>
                <a:latin typeface="Pretendard"/>
              </a:rPr>
              <a:t>"Give me technical proof I can put in front of the board."</a:t>
            </a:r>
          </a:p>
        </p:txBody>
      </p:sp>
      <p:sp>
        <p:nvSpPr>
          <p:cNvPr id="23" name="Rectangle 22"/>
          <p:cNvSpPr/>
          <p:nvPr/>
        </p:nvSpPr>
        <p:spPr>
          <a:xfrm>
            <a:off x="502920" y="3081528"/>
            <a:ext cx="11183112" cy="8503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145536"/>
            <a:ext cx="2011680" cy="749808"/>
          </a:xfrm>
          <a:prstGeom prst="rect">
            <a:avLst/>
          </a:prstGeom>
          <a:noFill/>
        </p:spPr>
        <p:txBody>
          <a:bodyPr wrap="square">
            <a:spAutoFit/>
          </a:bodyPr>
          <a:lstStyle/>
          <a:p>
            <a:pPr algn="l"/>
            <a:r>
              <a:rPr sz="850" b="1">
                <a:solidFill>
                  <a:srgbClr val="0A0A0A"/>
                </a:solidFill>
                <a:latin typeface="Pretendard"/>
              </a:rPr>
              <a:t>Validator (security eng)</a:t>
            </a:r>
          </a:p>
        </p:txBody>
      </p:sp>
      <p:sp>
        <p:nvSpPr>
          <p:cNvPr id="25" name="TextBox 24"/>
          <p:cNvSpPr txBox="1"/>
          <p:nvPr/>
        </p:nvSpPr>
        <p:spPr>
          <a:xfrm>
            <a:off x="2697480" y="3145536"/>
            <a:ext cx="1097280" cy="749808"/>
          </a:xfrm>
          <a:prstGeom prst="rect">
            <a:avLst/>
          </a:prstGeom>
          <a:noFill/>
        </p:spPr>
        <p:txBody>
          <a:bodyPr wrap="square">
            <a:spAutoFit/>
          </a:bodyPr>
          <a:lstStyle/>
          <a:p>
            <a:pPr algn="l"/>
            <a:r>
              <a:rPr sz="850" b="0">
                <a:solidFill>
                  <a:srgbClr val="0A0A0A"/>
                </a:solidFill>
                <a:latin typeface="Pretendard"/>
              </a:rPr>
              <a:t>Prem + Reticle</a:t>
            </a:r>
          </a:p>
        </p:txBody>
      </p:sp>
      <p:sp>
        <p:nvSpPr>
          <p:cNvPr id="26" name="TextBox 25"/>
          <p:cNvSpPr txBox="1"/>
          <p:nvPr/>
        </p:nvSpPr>
        <p:spPr>
          <a:xfrm>
            <a:off x="3840480" y="3145536"/>
            <a:ext cx="1554480" cy="749808"/>
          </a:xfrm>
          <a:prstGeom prst="rect">
            <a:avLst/>
          </a:prstGeom>
          <a:noFill/>
        </p:spPr>
        <p:txBody>
          <a:bodyPr wrap="square">
            <a:spAutoFit/>
          </a:bodyPr>
          <a:lstStyle/>
          <a:p>
            <a:pPr algn="l"/>
            <a:r>
              <a:rPr sz="850" b="0">
                <a:solidFill>
                  <a:srgbClr val="0A0A0A"/>
                </a:solidFill>
                <a:latin typeface="Pretendard"/>
              </a:rPr>
              <a:t>GitHub, X</a:t>
            </a:r>
          </a:p>
        </p:txBody>
      </p:sp>
      <p:sp>
        <p:nvSpPr>
          <p:cNvPr id="27" name="TextBox 26"/>
          <p:cNvSpPr txBox="1"/>
          <p:nvPr/>
        </p:nvSpPr>
        <p:spPr>
          <a:xfrm>
            <a:off x="5440680" y="3145536"/>
            <a:ext cx="2743200" cy="749808"/>
          </a:xfrm>
          <a:prstGeom prst="rect">
            <a:avLst/>
          </a:prstGeom>
          <a:noFill/>
        </p:spPr>
        <p:txBody>
          <a:bodyPr wrap="square">
            <a:spAutoFit/>
          </a:bodyPr>
          <a:lstStyle/>
          <a:p>
            <a:pPr algn="l"/>
            <a:r>
              <a:rPr sz="850" b="0">
                <a:solidFill>
                  <a:srgbClr val="0A0A0A"/>
                </a:solidFill>
                <a:latin typeface="Pretendard"/>
              </a:rPr>
              <a:t>TEE explainers, benchmarks, open-source contribution posts</a:t>
            </a:r>
          </a:p>
        </p:txBody>
      </p:sp>
      <p:sp>
        <p:nvSpPr>
          <p:cNvPr id="28" name="TextBox 27"/>
          <p:cNvSpPr txBox="1"/>
          <p:nvPr/>
        </p:nvSpPr>
        <p:spPr>
          <a:xfrm>
            <a:off x="8229600" y="3145536"/>
            <a:ext cx="3383280" cy="749808"/>
          </a:xfrm>
          <a:prstGeom prst="rect">
            <a:avLst/>
          </a:prstGeom>
          <a:noFill/>
        </p:spPr>
        <p:txBody>
          <a:bodyPr wrap="square">
            <a:spAutoFit/>
          </a:bodyPr>
          <a:lstStyle/>
          <a:p>
            <a:pPr algn="l"/>
            <a:r>
              <a:rPr sz="850" b="0">
                <a:solidFill>
                  <a:srgbClr val="0A0A0A"/>
                </a:solidFill>
                <a:latin typeface="Pretendard"/>
              </a:rPr>
              <a:t>"Show me the code, not the marketing page."</a:t>
            </a:r>
          </a:p>
        </p:txBody>
      </p:sp>
      <p:sp>
        <p:nvSpPr>
          <p:cNvPr id="29" name="Rectangle 28"/>
          <p:cNvSpPr/>
          <p:nvPr/>
        </p:nvSpPr>
        <p:spPr>
          <a:xfrm>
            <a:off x="502920" y="3931920"/>
            <a:ext cx="11183112" cy="850392"/>
          </a:xfrm>
          <a:prstGeom prst="rect">
            <a:avLst/>
          </a:prstGeom>
          <a:solidFill>
            <a:srgbClr val="EC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3995928"/>
            <a:ext cx="2011680" cy="749808"/>
          </a:xfrm>
          <a:prstGeom prst="rect">
            <a:avLst/>
          </a:prstGeom>
          <a:noFill/>
        </p:spPr>
        <p:txBody>
          <a:bodyPr wrap="square">
            <a:spAutoFit/>
          </a:bodyPr>
          <a:lstStyle/>
          <a:p>
            <a:pPr algn="l"/>
            <a:r>
              <a:rPr sz="850" b="1">
                <a:solidFill>
                  <a:srgbClr val="0A0A0A"/>
                </a:solidFill>
                <a:latin typeface="Pretendard"/>
              </a:rPr>
              <a:t>Vertical buyer (legal ops)</a:t>
            </a:r>
          </a:p>
        </p:txBody>
      </p:sp>
      <p:sp>
        <p:nvSpPr>
          <p:cNvPr id="31" name="TextBox 30"/>
          <p:cNvSpPr txBox="1"/>
          <p:nvPr/>
        </p:nvSpPr>
        <p:spPr>
          <a:xfrm>
            <a:off x="2697480" y="3995928"/>
            <a:ext cx="1097280" cy="749808"/>
          </a:xfrm>
          <a:prstGeom prst="rect">
            <a:avLst/>
          </a:prstGeom>
          <a:noFill/>
        </p:spPr>
        <p:txBody>
          <a:bodyPr wrap="square">
            <a:spAutoFit/>
          </a:bodyPr>
          <a:lstStyle/>
          <a:p>
            <a:pPr algn="l"/>
            <a:r>
              <a:rPr sz="850" b="0">
                <a:solidFill>
                  <a:srgbClr val="0A0A0A"/>
                </a:solidFill>
                <a:latin typeface="Pretendard"/>
              </a:rPr>
              <a:t>Prem</a:t>
            </a:r>
          </a:p>
        </p:txBody>
      </p:sp>
      <p:sp>
        <p:nvSpPr>
          <p:cNvPr id="32" name="TextBox 31"/>
          <p:cNvSpPr txBox="1"/>
          <p:nvPr/>
        </p:nvSpPr>
        <p:spPr>
          <a:xfrm>
            <a:off x="3840480" y="3995928"/>
            <a:ext cx="1554480" cy="749808"/>
          </a:xfrm>
          <a:prstGeom prst="rect">
            <a:avLst/>
          </a:prstGeom>
          <a:noFill/>
        </p:spPr>
        <p:txBody>
          <a:bodyPr wrap="square">
            <a:spAutoFit/>
          </a:bodyPr>
          <a:lstStyle/>
          <a:p>
            <a:pPr algn="l"/>
            <a:r>
              <a:rPr sz="850" b="0">
                <a:solidFill>
                  <a:srgbClr val="0A0A0A"/>
                </a:solidFill>
                <a:latin typeface="Pretendard"/>
              </a:rPr>
              <a:t>LinkedIn, events</a:t>
            </a:r>
          </a:p>
        </p:txBody>
      </p:sp>
      <p:sp>
        <p:nvSpPr>
          <p:cNvPr id="33" name="TextBox 32"/>
          <p:cNvSpPr txBox="1"/>
          <p:nvPr/>
        </p:nvSpPr>
        <p:spPr>
          <a:xfrm>
            <a:off x="5440680" y="3995928"/>
            <a:ext cx="2743200" cy="749808"/>
          </a:xfrm>
          <a:prstGeom prst="rect">
            <a:avLst/>
          </a:prstGeom>
          <a:noFill/>
        </p:spPr>
        <p:txBody>
          <a:bodyPr wrap="square">
            <a:spAutoFit/>
          </a:bodyPr>
          <a:lstStyle/>
          <a:p>
            <a:pPr algn="l"/>
            <a:r>
              <a:rPr sz="850" b="0">
                <a:solidFill>
                  <a:srgbClr val="0A0A0A"/>
                </a:solidFill>
                <a:latin typeface="Pretendard"/>
              </a:rPr>
              <a:t>Cost comparisons vs legal AI tools, ROI evidence, case studies</a:t>
            </a:r>
          </a:p>
        </p:txBody>
      </p:sp>
      <p:sp>
        <p:nvSpPr>
          <p:cNvPr id="34" name="TextBox 33"/>
          <p:cNvSpPr txBox="1"/>
          <p:nvPr/>
        </p:nvSpPr>
        <p:spPr>
          <a:xfrm>
            <a:off x="8229600" y="3995928"/>
            <a:ext cx="3383280" cy="749808"/>
          </a:xfrm>
          <a:prstGeom prst="rect">
            <a:avLst/>
          </a:prstGeom>
          <a:noFill/>
        </p:spPr>
        <p:txBody>
          <a:bodyPr wrap="square">
            <a:spAutoFit/>
          </a:bodyPr>
          <a:lstStyle/>
          <a:p>
            <a:pPr algn="l"/>
            <a:r>
              <a:rPr sz="850" b="0">
                <a:solidFill>
                  <a:srgbClr val="0A0A0A"/>
                </a:solidFill>
                <a:latin typeface="Pretendard"/>
              </a:rPr>
              <a:t>"Beat the incumbents on price, match them on accuracy."</a:t>
            </a:r>
          </a:p>
        </p:txBody>
      </p:sp>
      <p:sp>
        <p:nvSpPr>
          <p:cNvPr id="35" name="Rectangle 34"/>
          <p:cNvSpPr/>
          <p:nvPr/>
        </p:nvSpPr>
        <p:spPr>
          <a:xfrm>
            <a:off x="502920" y="4782312"/>
            <a:ext cx="11183112" cy="8503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4846320"/>
            <a:ext cx="2011680" cy="749808"/>
          </a:xfrm>
          <a:prstGeom prst="rect">
            <a:avLst/>
          </a:prstGeom>
          <a:noFill/>
        </p:spPr>
        <p:txBody>
          <a:bodyPr wrap="square">
            <a:spAutoFit/>
          </a:bodyPr>
          <a:lstStyle/>
          <a:p>
            <a:pPr algn="l"/>
            <a:r>
              <a:rPr sz="850" b="1">
                <a:solidFill>
                  <a:srgbClr val="0A0A0A"/>
                </a:solidFill>
                <a:latin typeface="Pretendard"/>
              </a:rPr>
              <a:t>Developer / builder</a:t>
            </a:r>
          </a:p>
        </p:txBody>
      </p:sp>
      <p:sp>
        <p:nvSpPr>
          <p:cNvPr id="37" name="TextBox 36"/>
          <p:cNvSpPr txBox="1"/>
          <p:nvPr/>
        </p:nvSpPr>
        <p:spPr>
          <a:xfrm>
            <a:off x="2697480" y="4846320"/>
            <a:ext cx="1097280" cy="749808"/>
          </a:xfrm>
          <a:prstGeom prst="rect">
            <a:avLst/>
          </a:prstGeom>
          <a:noFill/>
        </p:spPr>
        <p:txBody>
          <a:bodyPr wrap="square">
            <a:spAutoFit/>
          </a:bodyPr>
          <a:lstStyle/>
          <a:p>
            <a:pPr algn="l"/>
            <a:r>
              <a:rPr sz="850" b="0">
                <a:solidFill>
                  <a:srgbClr val="0A0A0A"/>
                </a:solidFill>
                <a:latin typeface="Pretendard"/>
              </a:rPr>
              <a:t>Prem Studio + Fluso</a:t>
            </a:r>
          </a:p>
        </p:txBody>
      </p:sp>
      <p:sp>
        <p:nvSpPr>
          <p:cNvPr id="38" name="TextBox 37"/>
          <p:cNvSpPr txBox="1"/>
          <p:nvPr/>
        </p:nvSpPr>
        <p:spPr>
          <a:xfrm>
            <a:off x="3840480" y="4846320"/>
            <a:ext cx="1554480" cy="749808"/>
          </a:xfrm>
          <a:prstGeom prst="rect">
            <a:avLst/>
          </a:prstGeom>
          <a:noFill/>
        </p:spPr>
        <p:txBody>
          <a:bodyPr wrap="square">
            <a:spAutoFit/>
          </a:bodyPr>
          <a:lstStyle/>
          <a:p>
            <a:pPr algn="l"/>
            <a:r>
              <a:rPr sz="850" b="0">
                <a:solidFill>
                  <a:srgbClr val="0A0A0A"/>
                </a:solidFill>
                <a:latin typeface="Pretendard"/>
              </a:rPr>
              <a:t>X, GitHub, community</a:t>
            </a:r>
          </a:p>
        </p:txBody>
      </p:sp>
      <p:sp>
        <p:nvSpPr>
          <p:cNvPr id="39" name="TextBox 38"/>
          <p:cNvSpPr txBox="1"/>
          <p:nvPr/>
        </p:nvSpPr>
        <p:spPr>
          <a:xfrm>
            <a:off x="5440680" y="4846320"/>
            <a:ext cx="2743200" cy="749808"/>
          </a:xfrm>
          <a:prstGeom prst="rect">
            <a:avLst/>
          </a:prstGeom>
          <a:noFill/>
        </p:spPr>
        <p:txBody>
          <a:bodyPr wrap="square">
            <a:spAutoFit/>
          </a:bodyPr>
          <a:lstStyle/>
          <a:p>
            <a:pPr algn="l"/>
            <a:r>
              <a:rPr sz="850" b="0">
                <a:solidFill>
                  <a:srgbClr val="0A0A0A"/>
                </a:solidFill>
                <a:latin typeface="Pretendard"/>
              </a:rPr>
              <a:t>Studio tutorials, model selection guides, workflow teardowns</a:t>
            </a:r>
          </a:p>
        </p:txBody>
      </p:sp>
      <p:sp>
        <p:nvSpPr>
          <p:cNvPr id="40" name="TextBox 39"/>
          <p:cNvSpPr txBox="1"/>
          <p:nvPr/>
        </p:nvSpPr>
        <p:spPr>
          <a:xfrm>
            <a:off x="8229600" y="4846320"/>
            <a:ext cx="3383280" cy="749808"/>
          </a:xfrm>
          <a:prstGeom prst="rect">
            <a:avLst/>
          </a:prstGeom>
          <a:noFill/>
        </p:spPr>
        <p:txBody>
          <a:bodyPr wrap="square">
            <a:spAutoFit/>
          </a:bodyPr>
          <a:lstStyle/>
          <a:p>
            <a:pPr algn="l"/>
            <a:r>
              <a:rPr sz="850" b="0">
                <a:solidFill>
                  <a:srgbClr val="0A0A0A"/>
                </a:solidFill>
                <a:latin typeface="Pretendard"/>
              </a:rPr>
              <a:t>"Let me try it in 10 minutes without talking to sales."</a:t>
            </a:r>
          </a:p>
        </p:txBody>
      </p:sp>
      <p:sp>
        <p:nvSpPr>
          <p:cNvPr id="41" name="Rectangle 40"/>
          <p:cNvSpPr/>
          <p:nvPr/>
        </p:nvSpPr>
        <p:spPr>
          <a:xfrm>
            <a:off x="502920" y="5632704"/>
            <a:ext cx="11183112" cy="850392"/>
          </a:xfrm>
          <a:prstGeom prst="rect">
            <a:avLst/>
          </a:prstGeom>
          <a:solidFill>
            <a:srgbClr val="EC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080" y="5696712"/>
            <a:ext cx="2011680" cy="749808"/>
          </a:xfrm>
          <a:prstGeom prst="rect">
            <a:avLst/>
          </a:prstGeom>
          <a:noFill/>
        </p:spPr>
        <p:txBody>
          <a:bodyPr wrap="square">
            <a:spAutoFit/>
          </a:bodyPr>
          <a:lstStyle/>
          <a:p>
            <a:pPr algn="l"/>
            <a:r>
              <a:rPr sz="850" b="1">
                <a:solidFill>
                  <a:srgbClr val="0A0A0A"/>
                </a:solidFill>
                <a:latin typeface="Pretendard"/>
              </a:rPr>
              <a:t>Prosumer / power user</a:t>
            </a:r>
          </a:p>
        </p:txBody>
      </p:sp>
      <p:sp>
        <p:nvSpPr>
          <p:cNvPr id="43" name="TextBox 42"/>
          <p:cNvSpPr txBox="1"/>
          <p:nvPr/>
        </p:nvSpPr>
        <p:spPr>
          <a:xfrm>
            <a:off x="2697480" y="5696712"/>
            <a:ext cx="1097280" cy="749808"/>
          </a:xfrm>
          <a:prstGeom prst="rect">
            <a:avLst/>
          </a:prstGeom>
          <a:noFill/>
        </p:spPr>
        <p:txBody>
          <a:bodyPr wrap="square">
            <a:spAutoFit/>
          </a:bodyPr>
          <a:lstStyle/>
          <a:p>
            <a:pPr algn="l"/>
            <a:r>
              <a:rPr sz="850" b="0">
                <a:solidFill>
                  <a:srgbClr val="0A0A0A"/>
                </a:solidFill>
                <a:latin typeface="Pretendard"/>
              </a:rPr>
              <a:t>Fluso</a:t>
            </a:r>
          </a:p>
        </p:txBody>
      </p:sp>
      <p:sp>
        <p:nvSpPr>
          <p:cNvPr id="44" name="TextBox 43"/>
          <p:cNvSpPr txBox="1"/>
          <p:nvPr/>
        </p:nvSpPr>
        <p:spPr>
          <a:xfrm>
            <a:off x="3840480" y="5696712"/>
            <a:ext cx="1554480" cy="749808"/>
          </a:xfrm>
          <a:prstGeom prst="rect">
            <a:avLst/>
          </a:prstGeom>
          <a:noFill/>
        </p:spPr>
        <p:txBody>
          <a:bodyPr wrap="square">
            <a:spAutoFit/>
          </a:bodyPr>
          <a:lstStyle/>
          <a:p>
            <a:pPr algn="l"/>
            <a:r>
              <a:rPr sz="850" b="0">
                <a:solidFill>
                  <a:srgbClr val="0A0A0A"/>
                </a:solidFill>
                <a:latin typeface="Pretendard"/>
              </a:rPr>
              <a:t>Instagram, X</a:t>
            </a:r>
          </a:p>
        </p:txBody>
      </p:sp>
      <p:sp>
        <p:nvSpPr>
          <p:cNvPr id="45" name="TextBox 44"/>
          <p:cNvSpPr txBox="1"/>
          <p:nvPr/>
        </p:nvSpPr>
        <p:spPr>
          <a:xfrm>
            <a:off x="5440680" y="5696712"/>
            <a:ext cx="2743200" cy="749808"/>
          </a:xfrm>
          <a:prstGeom prst="rect">
            <a:avLst/>
          </a:prstGeom>
          <a:noFill/>
        </p:spPr>
        <p:txBody>
          <a:bodyPr wrap="square">
            <a:spAutoFit/>
          </a:bodyPr>
          <a:lstStyle/>
          <a:p>
            <a:pPr algn="l"/>
            <a:r>
              <a:rPr sz="850" b="0">
                <a:solidFill>
                  <a:srgbClr val="0A0A0A"/>
                </a:solidFill>
                <a:latin typeface="Pretendard"/>
              </a:rPr>
              <a:t>Deep-work content, 20-minute workflows, productivity data</a:t>
            </a:r>
          </a:p>
        </p:txBody>
      </p:sp>
      <p:sp>
        <p:nvSpPr>
          <p:cNvPr id="46" name="TextBox 45"/>
          <p:cNvSpPr txBox="1"/>
          <p:nvPr/>
        </p:nvSpPr>
        <p:spPr>
          <a:xfrm>
            <a:off x="8229600" y="5696712"/>
            <a:ext cx="3383280" cy="749808"/>
          </a:xfrm>
          <a:prstGeom prst="rect">
            <a:avLst/>
          </a:prstGeom>
          <a:noFill/>
        </p:spPr>
        <p:txBody>
          <a:bodyPr wrap="square">
            <a:spAutoFit/>
          </a:bodyPr>
          <a:lstStyle/>
          <a:p>
            <a:pPr algn="l"/>
            <a:r>
              <a:rPr sz="850" b="0">
                <a:solidFill>
                  <a:srgbClr val="0A0A0A"/>
                </a:solidFill>
                <a:latin typeface="Pretendard"/>
              </a:rPr>
              <a:t>"Help me do 3 hours of thinking in 45 minutes."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9144000" cy="274320"/>
          </a:xfrm>
          <a:prstGeom prst="rect">
            <a:avLst/>
          </a:prstGeom>
          <a:noFill/>
        </p:spPr>
        <p:txBody>
          <a:bodyPr wrap="square">
            <a:spAutoFit/>
          </a:bodyPr>
          <a:lstStyle/>
          <a:p>
            <a:pPr algn="l"/>
            <a:r>
              <a:rPr sz="900" b="1">
                <a:solidFill>
                  <a:srgbClr val="5B5F63"/>
                </a:solidFill>
                <a:latin typeface="Pretendard"/>
              </a:rPr>
              <a:t>13  VOCABULARY  |  WORDS WE OWN, WORDS WE NEVER USE</a:t>
            </a:r>
          </a:p>
        </p:txBody>
      </p:sp>
      <p:sp>
        <p:nvSpPr>
          <p:cNvPr id="4" name="Rectangle 3"/>
          <p:cNvSpPr/>
          <p:nvPr/>
        </p:nvSpPr>
        <p:spPr>
          <a:xfrm>
            <a:off x="502920" y="713232"/>
            <a:ext cx="11183112" cy="10972"/>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960120"/>
            <a:ext cx="3611880" cy="5532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960120"/>
            <a:ext cx="3611880" cy="5486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078992"/>
            <a:ext cx="3200400" cy="292608"/>
          </a:xfrm>
          <a:prstGeom prst="rect">
            <a:avLst/>
          </a:prstGeom>
          <a:noFill/>
        </p:spPr>
        <p:txBody>
          <a:bodyPr wrap="square">
            <a:spAutoFit/>
          </a:bodyPr>
          <a:lstStyle/>
          <a:p>
            <a:pPr algn="l"/>
            <a:r>
              <a:rPr sz="900" b="1">
                <a:solidFill>
                  <a:srgbClr val="0A0A0A"/>
                </a:solidFill>
                <a:latin typeface="Pretendard"/>
              </a:rPr>
              <a:t>PREM OWNS</a:t>
            </a:r>
          </a:p>
        </p:txBody>
      </p:sp>
      <p:sp>
        <p:nvSpPr>
          <p:cNvPr id="8" name="TextBox 7"/>
          <p:cNvSpPr txBox="1"/>
          <p:nvPr/>
        </p:nvSpPr>
        <p:spPr>
          <a:xfrm>
            <a:off x="731520" y="1481328"/>
            <a:ext cx="3246120" cy="365760"/>
          </a:xfrm>
          <a:prstGeom prst="rect">
            <a:avLst/>
          </a:prstGeom>
          <a:noFill/>
        </p:spPr>
        <p:txBody>
          <a:bodyPr wrap="square">
            <a:spAutoFit/>
          </a:bodyPr>
          <a:lstStyle/>
          <a:p>
            <a:pPr algn="l"/>
            <a:r>
              <a:rPr sz="950" b="0">
                <a:solidFill>
                  <a:srgbClr val="0A0A0A"/>
                </a:solidFill>
                <a:latin typeface="Pretendard"/>
              </a:rPr>
              <a:t>Private Super Intelligence</a:t>
            </a:r>
          </a:p>
        </p:txBody>
      </p:sp>
      <p:sp>
        <p:nvSpPr>
          <p:cNvPr id="9" name="TextBox 8"/>
          <p:cNvSpPr txBox="1"/>
          <p:nvPr/>
        </p:nvSpPr>
        <p:spPr>
          <a:xfrm>
            <a:off x="731520" y="1892808"/>
            <a:ext cx="3246120" cy="365760"/>
          </a:xfrm>
          <a:prstGeom prst="rect">
            <a:avLst/>
          </a:prstGeom>
          <a:noFill/>
        </p:spPr>
        <p:txBody>
          <a:bodyPr wrap="square">
            <a:spAutoFit/>
          </a:bodyPr>
          <a:lstStyle/>
          <a:p>
            <a:pPr algn="l"/>
            <a:r>
              <a:rPr sz="950" b="0">
                <a:solidFill>
                  <a:srgbClr val="0A0A0A"/>
                </a:solidFill>
                <a:latin typeface="Pretendard"/>
              </a:rPr>
              <a:t>Verifiable</a:t>
            </a:r>
          </a:p>
        </p:txBody>
      </p:sp>
      <p:sp>
        <p:nvSpPr>
          <p:cNvPr id="10" name="TextBox 9"/>
          <p:cNvSpPr txBox="1"/>
          <p:nvPr/>
        </p:nvSpPr>
        <p:spPr>
          <a:xfrm>
            <a:off x="731520" y="2304288"/>
            <a:ext cx="3246120" cy="365760"/>
          </a:xfrm>
          <a:prstGeom prst="rect">
            <a:avLst/>
          </a:prstGeom>
          <a:noFill/>
        </p:spPr>
        <p:txBody>
          <a:bodyPr wrap="square">
            <a:spAutoFit/>
          </a:bodyPr>
          <a:lstStyle/>
          <a:p>
            <a:pPr algn="l"/>
            <a:r>
              <a:rPr sz="950" b="0">
                <a:solidFill>
                  <a:srgbClr val="0A0A0A"/>
                </a:solidFill>
                <a:latin typeface="Pretendard"/>
              </a:rPr>
              <a:t>Attestation</a:t>
            </a:r>
          </a:p>
        </p:txBody>
      </p:sp>
      <p:sp>
        <p:nvSpPr>
          <p:cNvPr id="11" name="TextBox 10"/>
          <p:cNvSpPr txBox="1"/>
          <p:nvPr/>
        </p:nvSpPr>
        <p:spPr>
          <a:xfrm>
            <a:off x="731520" y="2715768"/>
            <a:ext cx="3246120" cy="365760"/>
          </a:xfrm>
          <a:prstGeom prst="rect">
            <a:avLst/>
          </a:prstGeom>
          <a:noFill/>
        </p:spPr>
        <p:txBody>
          <a:bodyPr wrap="square">
            <a:spAutoFit/>
          </a:bodyPr>
          <a:lstStyle/>
          <a:p>
            <a:pPr algn="l"/>
            <a:r>
              <a:rPr sz="950" b="0">
                <a:solidFill>
                  <a:srgbClr val="0A0A0A"/>
                </a:solidFill>
                <a:latin typeface="Pretendard"/>
              </a:rPr>
              <a:t>Proof, not promise</a:t>
            </a:r>
          </a:p>
        </p:txBody>
      </p:sp>
      <p:sp>
        <p:nvSpPr>
          <p:cNvPr id="12" name="TextBox 11"/>
          <p:cNvSpPr txBox="1"/>
          <p:nvPr/>
        </p:nvSpPr>
        <p:spPr>
          <a:xfrm>
            <a:off x="731520" y="3127248"/>
            <a:ext cx="3246120" cy="365760"/>
          </a:xfrm>
          <a:prstGeom prst="rect">
            <a:avLst/>
          </a:prstGeom>
          <a:noFill/>
        </p:spPr>
        <p:txBody>
          <a:bodyPr wrap="square">
            <a:spAutoFit/>
          </a:bodyPr>
          <a:lstStyle/>
          <a:p>
            <a:pPr algn="l"/>
            <a:r>
              <a:rPr sz="950" b="0">
                <a:solidFill>
                  <a:srgbClr val="0A0A0A"/>
                </a:solidFill>
                <a:latin typeface="Pretendard"/>
              </a:rPr>
              <a:t>On-premise</a:t>
            </a:r>
          </a:p>
        </p:txBody>
      </p:sp>
      <p:sp>
        <p:nvSpPr>
          <p:cNvPr id="13" name="TextBox 12"/>
          <p:cNvSpPr txBox="1"/>
          <p:nvPr/>
        </p:nvSpPr>
        <p:spPr>
          <a:xfrm>
            <a:off x="731520" y="3538728"/>
            <a:ext cx="3246120" cy="365760"/>
          </a:xfrm>
          <a:prstGeom prst="rect">
            <a:avLst/>
          </a:prstGeom>
          <a:noFill/>
        </p:spPr>
        <p:txBody>
          <a:bodyPr wrap="square">
            <a:spAutoFit/>
          </a:bodyPr>
          <a:lstStyle/>
          <a:p>
            <a:pPr algn="l"/>
            <a:r>
              <a:rPr sz="950" b="0">
                <a:solidFill>
                  <a:srgbClr val="0A0A0A"/>
                </a:solidFill>
                <a:latin typeface="Pretendard"/>
              </a:rPr>
              <a:t>Sovereign</a:t>
            </a:r>
          </a:p>
        </p:txBody>
      </p:sp>
      <p:sp>
        <p:nvSpPr>
          <p:cNvPr id="14" name="TextBox 13"/>
          <p:cNvSpPr txBox="1"/>
          <p:nvPr/>
        </p:nvSpPr>
        <p:spPr>
          <a:xfrm>
            <a:off x="731520" y="3950208"/>
            <a:ext cx="3246120" cy="365760"/>
          </a:xfrm>
          <a:prstGeom prst="rect">
            <a:avLst/>
          </a:prstGeom>
          <a:noFill/>
        </p:spPr>
        <p:txBody>
          <a:bodyPr wrap="square">
            <a:spAutoFit/>
          </a:bodyPr>
          <a:lstStyle/>
          <a:p>
            <a:pPr algn="l"/>
            <a:r>
              <a:rPr sz="950" b="0">
                <a:solidFill>
                  <a:srgbClr val="0A0A0A"/>
                </a:solidFill>
                <a:latin typeface="Pretendard"/>
              </a:rPr>
              <a:t>Auditable</a:t>
            </a:r>
          </a:p>
        </p:txBody>
      </p:sp>
      <p:sp>
        <p:nvSpPr>
          <p:cNvPr id="15" name="TextBox 14"/>
          <p:cNvSpPr txBox="1"/>
          <p:nvPr/>
        </p:nvSpPr>
        <p:spPr>
          <a:xfrm>
            <a:off x="731520" y="4361688"/>
            <a:ext cx="3246120" cy="365760"/>
          </a:xfrm>
          <a:prstGeom prst="rect">
            <a:avLst/>
          </a:prstGeom>
          <a:noFill/>
        </p:spPr>
        <p:txBody>
          <a:bodyPr wrap="square">
            <a:spAutoFit/>
          </a:bodyPr>
          <a:lstStyle/>
          <a:p>
            <a:pPr algn="l"/>
            <a:r>
              <a:rPr sz="950" b="0">
                <a:solidFill>
                  <a:srgbClr val="0A0A0A"/>
                </a:solidFill>
                <a:latin typeface="Pretendard"/>
              </a:rPr>
              <a:t>"At the hardware layer"</a:t>
            </a:r>
          </a:p>
        </p:txBody>
      </p:sp>
      <p:sp>
        <p:nvSpPr>
          <p:cNvPr id="16" name="TextBox 15"/>
          <p:cNvSpPr txBox="1"/>
          <p:nvPr/>
        </p:nvSpPr>
        <p:spPr>
          <a:xfrm>
            <a:off x="731520" y="4773168"/>
            <a:ext cx="3246120" cy="365760"/>
          </a:xfrm>
          <a:prstGeom prst="rect">
            <a:avLst/>
          </a:prstGeom>
          <a:noFill/>
        </p:spPr>
        <p:txBody>
          <a:bodyPr wrap="square">
            <a:spAutoFit/>
          </a:bodyPr>
          <a:lstStyle/>
          <a:p>
            <a:pPr algn="l"/>
            <a:r>
              <a:rPr sz="950" b="0">
                <a:solidFill>
                  <a:srgbClr val="0A0A0A"/>
                </a:solidFill>
                <a:latin typeface="Pretendard"/>
              </a:rPr>
              <a:t>Hardware-signed</a:t>
            </a:r>
          </a:p>
        </p:txBody>
      </p:sp>
      <p:sp>
        <p:nvSpPr>
          <p:cNvPr id="17" name="TextBox 16"/>
          <p:cNvSpPr txBox="1"/>
          <p:nvPr/>
        </p:nvSpPr>
        <p:spPr>
          <a:xfrm>
            <a:off x="731520" y="5184648"/>
            <a:ext cx="3246120" cy="365760"/>
          </a:xfrm>
          <a:prstGeom prst="rect">
            <a:avLst/>
          </a:prstGeom>
          <a:noFill/>
        </p:spPr>
        <p:txBody>
          <a:bodyPr wrap="square">
            <a:spAutoFit/>
          </a:bodyPr>
          <a:lstStyle/>
          <a:p>
            <a:pPr algn="l"/>
            <a:r>
              <a:rPr sz="950" b="0">
                <a:solidFill>
                  <a:srgbClr val="0A0A0A"/>
                </a:solidFill>
                <a:latin typeface="Pretendard"/>
              </a:rPr>
              <a:t>"Per inference"</a:t>
            </a:r>
          </a:p>
        </p:txBody>
      </p:sp>
      <p:sp>
        <p:nvSpPr>
          <p:cNvPr id="18" name="TextBox 17"/>
          <p:cNvSpPr txBox="1"/>
          <p:nvPr/>
        </p:nvSpPr>
        <p:spPr>
          <a:xfrm>
            <a:off x="731520" y="5596128"/>
            <a:ext cx="3246120" cy="365760"/>
          </a:xfrm>
          <a:prstGeom prst="rect">
            <a:avLst/>
          </a:prstGeom>
          <a:noFill/>
        </p:spPr>
        <p:txBody>
          <a:bodyPr wrap="square">
            <a:spAutoFit/>
          </a:bodyPr>
          <a:lstStyle/>
          <a:p>
            <a:pPr algn="l"/>
            <a:r>
              <a:rPr sz="950" b="0">
                <a:solidFill>
                  <a:srgbClr val="0A0A0A"/>
                </a:solidFill>
                <a:latin typeface="Pretendard"/>
              </a:rPr>
              <a:t>Reticle (always capitalised)</a:t>
            </a:r>
          </a:p>
        </p:txBody>
      </p:sp>
      <p:sp>
        <p:nvSpPr>
          <p:cNvPr id="19" name="TextBox 18"/>
          <p:cNvSpPr txBox="1"/>
          <p:nvPr/>
        </p:nvSpPr>
        <p:spPr>
          <a:xfrm>
            <a:off x="731520" y="6007608"/>
            <a:ext cx="3246120" cy="365760"/>
          </a:xfrm>
          <a:prstGeom prst="rect">
            <a:avLst/>
          </a:prstGeom>
          <a:noFill/>
        </p:spPr>
        <p:txBody>
          <a:bodyPr wrap="square">
            <a:spAutoFit/>
          </a:bodyPr>
          <a:lstStyle/>
          <a:p>
            <a:pPr algn="l"/>
            <a:r>
              <a:rPr sz="950" b="0">
                <a:solidFill>
                  <a:srgbClr val="0A0A0A"/>
                </a:solidFill>
                <a:latin typeface="Pretendard"/>
              </a:rPr>
              <a:t>"Your jurisdiction governs"</a:t>
            </a:r>
          </a:p>
        </p:txBody>
      </p:sp>
      <p:sp>
        <p:nvSpPr>
          <p:cNvPr id="20" name="Rectangle 19"/>
          <p:cNvSpPr/>
          <p:nvPr/>
        </p:nvSpPr>
        <p:spPr>
          <a:xfrm>
            <a:off x="4407407" y="960120"/>
            <a:ext cx="3611880" cy="5532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07407" y="960120"/>
            <a:ext cx="3611880" cy="54864"/>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36007" y="1078992"/>
            <a:ext cx="3200400" cy="292608"/>
          </a:xfrm>
          <a:prstGeom prst="rect">
            <a:avLst/>
          </a:prstGeom>
          <a:noFill/>
        </p:spPr>
        <p:txBody>
          <a:bodyPr wrap="square">
            <a:spAutoFit/>
          </a:bodyPr>
          <a:lstStyle/>
          <a:p>
            <a:pPr algn="l"/>
            <a:r>
              <a:rPr sz="900" b="1">
                <a:solidFill>
                  <a:srgbClr val="0A0A0A"/>
                </a:solidFill>
                <a:latin typeface="Pretendard"/>
              </a:rPr>
              <a:t>FLUSO OWNS</a:t>
            </a:r>
          </a:p>
        </p:txBody>
      </p:sp>
      <p:sp>
        <p:nvSpPr>
          <p:cNvPr id="23" name="TextBox 22"/>
          <p:cNvSpPr txBox="1"/>
          <p:nvPr/>
        </p:nvSpPr>
        <p:spPr>
          <a:xfrm>
            <a:off x="4636007" y="1481328"/>
            <a:ext cx="3246120" cy="365760"/>
          </a:xfrm>
          <a:prstGeom prst="rect">
            <a:avLst/>
          </a:prstGeom>
          <a:noFill/>
        </p:spPr>
        <p:txBody>
          <a:bodyPr wrap="square">
            <a:spAutoFit/>
          </a:bodyPr>
          <a:lstStyle/>
          <a:p>
            <a:pPr algn="l"/>
            <a:r>
              <a:rPr sz="950" b="0">
                <a:solidFill>
                  <a:srgbClr val="0A0A0A"/>
                </a:solidFill>
                <a:latin typeface="Pretendard"/>
              </a:rPr>
              <a:t>Deep work</a:t>
            </a:r>
          </a:p>
        </p:txBody>
      </p:sp>
      <p:sp>
        <p:nvSpPr>
          <p:cNvPr id="24" name="TextBox 23"/>
          <p:cNvSpPr txBox="1"/>
          <p:nvPr/>
        </p:nvSpPr>
        <p:spPr>
          <a:xfrm>
            <a:off x="4636007" y="1892808"/>
            <a:ext cx="3246120" cy="365760"/>
          </a:xfrm>
          <a:prstGeom prst="rect">
            <a:avLst/>
          </a:prstGeom>
          <a:noFill/>
        </p:spPr>
        <p:txBody>
          <a:bodyPr wrap="square">
            <a:spAutoFit/>
          </a:bodyPr>
          <a:lstStyle/>
          <a:p>
            <a:pPr algn="l"/>
            <a:r>
              <a:rPr sz="950" b="0">
                <a:solidFill>
                  <a:srgbClr val="0A0A0A"/>
                </a:solidFill>
                <a:latin typeface="Pretendard"/>
              </a:rPr>
              <a:t>Focused session</a:t>
            </a:r>
          </a:p>
        </p:txBody>
      </p:sp>
      <p:sp>
        <p:nvSpPr>
          <p:cNvPr id="25" name="TextBox 24"/>
          <p:cNvSpPr txBox="1"/>
          <p:nvPr/>
        </p:nvSpPr>
        <p:spPr>
          <a:xfrm>
            <a:off x="4636007" y="2304288"/>
            <a:ext cx="3246120" cy="365760"/>
          </a:xfrm>
          <a:prstGeom prst="rect">
            <a:avLst/>
          </a:prstGeom>
          <a:noFill/>
        </p:spPr>
        <p:txBody>
          <a:bodyPr wrap="square">
            <a:spAutoFit/>
          </a:bodyPr>
          <a:lstStyle/>
          <a:p>
            <a:pPr algn="l"/>
            <a:r>
              <a:rPr sz="950" b="0">
                <a:solidFill>
                  <a:srgbClr val="0A0A0A"/>
                </a:solidFill>
                <a:latin typeface="Pretendard"/>
              </a:rPr>
              <a:t>"20-minute session"</a:t>
            </a:r>
          </a:p>
        </p:txBody>
      </p:sp>
      <p:sp>
        <p:nvSpPr>
          <p:cNvPr id="26" name="TextBox 25"/>
          <p:cNvSpPr txBox="1"/>
          <p:nvPr/>
        </p:nvSpPr>
        <p:spPr>
          <a:xfrm>
            <a:off x="4636007" y="2715768"/>
            <a:ext cx="3246120" cy="365760"/>
          </a:xfrm>
          <a:prstGeom prst="rect">
            <a:avLst/>
          </a:prstGeom>
          <a:noFill/>
        </p:spPr>
        <p:txBody>
          <a:bodyPr wrap="square">
            <a:spAutoFit/>
          </a:bodyPr>
          <a:lstStyle/>
          <a:p>
            <a:pPr algn="l"/>
            <a:r>
              <a:rPr sz="950" b="0">
                <a:solidFill>
                  <a:srgbClr val="0A0A0A"/>
                </a:solidFill>
                <a:latin typeface="Pretendard"/>
              </a:rPr>
              <a:t>Compounding memory</a:t>
            </a:r>
          </a:p>
        </p:txBody>
      </p:sp>
      <p:sp>
        <p:nvSpPr>
          <p:cNvPr id="27" name="TextBox 26"/>
          <p:cNvSpPr txBox="1"/>
          <p:nvPr/>
        </p:nvSpPr>
        <p:spPr>
          <a:xfrm>
            <a:off x="4636007" y="3127248"/>
            <a:ext cx="3246120" cy="365760"/>
          </a:xfrm>
          <a:prstGeom prst="rect">
            <a:avLst/>
          </a:prstGeom>
          <a:noFill/>
        </p:spPr>
        <p:txBody>
          <a:bodyPr wrap="square">
            <a:spAutoFit/>
          </a:bodyPr>
          <a:lstStyle/>
          <a:p>
            <a:pPr algn="l"/>
            <a:r>
              <a:rPr sz="950" b="0">
                <a:solidFill>
                  <a:srgbClr val="0A0A0A"/>
                </a:solidFill>
                <a:latin typeface="Pretendard"/>
              </a:rPr>
              <a:t>Honest accuracy</a:t>
            </a:r>
          </a:p>
        </p:txBody>
      </p:sp>
      <p:sp>
        <p:nvSpPr>
          <p:cNvPr id="28" name="TextBox 27"/>
          <p:cNvSpPr txBox="1"/>
          <p:nvPr/>
        </p:nvSpPr>
        <p:spPr>
          <a:xfrm>
            <a:off x="4636007" y="3538728"/>
            <a:ext cx="3246120" cy="365760"/>
          </a:xfrm>
          <a:prstGeom prst="rect">
            <a:avLst/>
          </a:prstGeom>
          <a:noFill/>
        </p:spPr>
        <p:txBody>
          <a:bodyPr wrap="square">
            <a:spAutoFit/>
          </a:bodyPr>
          <a:lstStyle/>
          <a:p>
            <a:pPr algn="l"/>
            <a:r>
              <a:rPr sz="950" b="0">
                <a:solidFill>
                  <a:srgbClr val="0A0A0A"/>
                </a:solidFill>
                <a:latin typeface="Pretendard"/>
              </a:rPr>
              <a:t>Session audit trail</a:t>
            </a:r>
          </a:p>
        </p:txBody>
      </p:sp>
      <p:sp>
        <p:nvSpPr>
          <p:cNvPr id="29" name="TextBox 28"/>
          <p:cNvSpPr txBox="1"/>
          <p:nvPr/>
        </p:nvSpPr>
        <p:spPr>
          <a:xfrm>
            <a:off x="4636007" y="3950208"/>
            <a:ext cx="3246120" cy="365760"/>
          </a:xfrm>
          <a:prstGeom prst="rect">
            <a:avLst/>
          </a:prstGeom>
          <a:noFill/>
        </p:spPr>
        <p:txBody>
          <a:bodyPr wrap="square">
            <a:spAutoFit/>
          </a:bodyPr>
          <a:lstStyle/>
          <a:p>
            <a:pPr algn="l"/>
            <a:r>
              <a:rPr sz="950" b="0">
                <a:solidFill>
                  <a:srgbClr val="0A0A0A"/>
                </a:solidFill>
                <a:latin typeface="Pretendard"/>
              </a:rPr>
              <a:t>Open model</a:t>
            </a:r>
          </a:p>
        </p:txBody>
      </p:sp>
      <p:sp>
        <p:nvSpPr>
          <p:cNvPr id="30" name="TextBox 29"/>
          <p:cNvSpPr txBox="1"/>
          <p:nvPr/>
        </p:nvSpPr>
        <p:spPr>
          <a:xfrm>
            <a:off x="4636007" y="4361688"/>
            <a:ext cx="3246120" cy="365760"/>
          </a:xfrm>
          <a:prstGeom prst="rect">
            <a:avLst/>
          </a:prstGeom>
          <a:noFill/>
        </p:spPr>
        <p:txBody>
          <a:bodyPr wrap="square">
            <a:spAutoFit/>
          </a:bodyPr>
          <a:lstStyle/>
          <a:p>
            <a:pPr algn="l"/>
            <a:r>
              <a:rPr sz="950" b="0">
                <a:solidFill>
                  <a:srgbClr val="0A0A0A"/>
                </a:solidFill>
                <a:latin typeface="Pretendard"/>
              </a:rPr>
              <a:t>"No black box"</a:t>
            </a:r>
          </a:p>
        </p:txBody>
      </p:sp>
      <p:sp>
        <p:nvSpPr>
          <p:cNvPr id="31" name="TextBox 30"/>
          <p:cNvSpPr txBox="1"/>
          <p:nvPr/>
        </p:nvSpPr>
        <p:spPr>
          <a:xfrm>
            <a:off x="4636007" y="4773168"/>
            <a:ext cx="3246120" cy="365760"/>
          </a:xfrm>
          <a:prstGeom prst="rect">
            <a:avLst/>
          </a:prstGeom>
          <a:noFill/>
        </p:spPr>
        <p:txBody>
          <a:bodyPr wrap="square">
            <a:spAutoFit/>
          </a:bodyPr>
          <a:lstStyle/>
          <a:p>
            <a:pPr algn="l"/>
            <a:r>
              <a:rPr sz="950" b="0">
                <a:solidFill>
                  <a:srgbClr val="0A0A0A"/>
                </a:solidFill>
                <a:latin typeface="Pretendard"/>
              </a:rPr>
              <a:t>Cognitive load</a:t>
            </a:r>
          </a:p>
        </p:txBody>
      </p:sp>
      <p:sp>
        <p:nvSpPr>
          <p:cNvPr id="32" name="TextBox 31"/>
          <p:cNvSpPr txBox="1"/>
          <p:nvPr/>
        </p:nvSpPr>
        <p:spPr>
          <a:xfrm>
            <a:off x="4636007" y="5184648"/>
            <a:ext cx="3246120" cy="365760"/>
          </a:xfrm>
          <a:prstGeom prst="rect">
            <a:avLst/>
          </a:prstGeom>
          <a:noFill/>
        </p:spPr>
        <p:txBody>
          <a:bodyPr wrap="square">
            <a:spAutoFit/>
          </a:bodyPr>
          <a:lstStyle/>
          <a:p>
            <a:pPr algn="l"/>
            <a:r>
              <a:rPr sz="950" b="0">
                <a:solidFill>
                  <a:srgbClr val="0A0A0A"/>
                </a:solidFill>
                <a:latin typeface="Pretendard"/>
              </a:rPr>
              <a:t>Workflow, not chat</a:t>
            </a:r>
          </a:p>
        </p:txBody>
      </p:sp>
      <p:sp>
        <p:nvSpPr>
          <p:cNvPr id="33" name="TextBox 32"/>
          <p:cNvSpPr txBox="1"/>
          <p:nvPr/>
        </p:nvSpPr>
        <p:spPr>
          <a:xfrm>
            <a:off x="4636007" y="5596128"/>
            <a:ext cx="3246120" cy="365760"/>
          </a:xfrm>
          <a:prstGeom prst="rect">
            <a:avLst/>
          </a:prstGeom>
          <a:noFill/>
        </p:spPr>
        <p:txBody>
          <a:bodyPr wrap="square">
            <a:spAutoFit/>
          </a:bodyPr>
          <a:lstStyle/>
          <a:p>
            <a:pPr algn="l"/>
            <a:r>
              <a:rPr sz="950" b="0">
                <a:solidFill>
                  <a:srgbClr val="0A0A0A"/>
                </a:solidFill>
                <a:latin typeface="Pretendard"/>
              </a:rPr>
              <a:t>"Work that needs thinking"</a:t>
            </a:r>
          </a:p>
        </p:txBody>
      </p:sp>
      <p:sp>
        <p:nvSpPr>
          <p:cNvPr id="34" name="TextBox 33"/>
          <p:cNvSpPr txBox="1"/>
          <p:nvPr/>
        </p:nvSpPr>
        <p:spPr>
          <a:xfrm>
            <a:off x="4636007" y="6007608"/>
            <a:ext cx="3246120" cy="365760"/>
          </a:xfrm>
          <a:prstGeom prst="rect">
            <a:avLst/>
          </a:prstGeom>
          <a:noFill/>
        </p:spPr>
        <p:txBody>
          <a:bodyPr wrap="square">
            <a:spAutoFit/>
          </a:bodyPr>
          <a:lstStyle/>
          <a:p>
            <a:pPr algn="l"/>
            <a:r>
              <a:rPr sz="950" b="0">
                <a:solidFill>
                  <a:srgbClr val="0A0A0A"/>
                </a:solidFill>
                <a:latin typeface="Pretendard"/>
              </a:rPr>
              <a:t>"By Prem"</a:t>
            </a:r>
          </a:p>
        </p:txBody>
      </p:sp>
      <p:sp>
        <p:nvSpPr>
          <p:cNvPr id="35" name="Rectangle 34"/>
          <p:cNvSpPr/>
          <p:nvPr/>
        </p:nvSpPr>
        <p:spPr>
          <a:xfrm>
            <a:off x="8311896" y="960120"/>
            <a:ext cx="3611880" cy="5532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311896" y="960120"/>
            <a:ext cx="3611880" cy="54864"/>
          </a:xfrm>
          <a:prstGeom prst="rect">
            <a:avLst/>
          </a:prstGeom>
          <a:solidFill>
            <a:srgbClr val="BA3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40496" y="1078992"/>
            <a:ext cx="3200400" cy="292608"/>
          </a:xfrm>
          <a:prstGeom prst="rect">
            <a:avLst/>
          </a:prstGeom>
          <a:noFill/>
        </p:spPr>
        <p:txBody>
          <a:bodyPr wrap="square">
            <a:spAutoFit/>
          </a:bodyPr>
          <a:lstStyle/>
          <a:p>
            <a:pPr algn="l"/>
            <a:r>
              <a:rPr sz="900" b="1">
                <a:solidFill>
                  <a:srgbClr val="BA3C3C"/>
                </a:solidFill>
                <a:latin typeface="Pretendard"/>
              </a:rPr>
              <a:t>NEITHER USES</a:t>
            </a:r>
          </a:p>
        </p:txBody>
      </p:sp>
      <p:sp>
        <p:nvSpPr>
          <p:cNvPr id="38" name="TextBox 37"/>
          <p:cNvSpPr txBox="1"/>
          <p:nvPr/>
        </p:nvSpPr>
        <p:spPr>
          <a:xfrm>
            <a:off x="8540496" y="1481328"/>
            <a:ext cx="3246120" cy="365760"/>
          </a:xfrm>
          <a:prstGeom prst="rect">
            <a:avLst/>
          </a:prstGeom>
          <a:noFill/>
        </p:spPr>
        <p:txBody>
          <a:bodyPr wrap="square">
            <a:spAutoFit/>
          </a:bodyPr>
          <a:lstStyle/>
          <a:p>
            <a:pPr algn="l"/>
            <a:r>
              <a:rPr sz="950" b="0">
                <a:solidFill>
                  <a:srgbClr val="BA3C3C"/>
                </a:solidFill>
                <a:latin typeface="Pretendard"/>
              </a:rPr>
              <a:t>×  Revolutionary, game-changing</a:t>
            </a:r>
          </a:p>
        </p:txBody>
      </p:sp>
      <p:sp>
        <p:nvSpPr>
          <p:cNvPr id="39" name="TextBox 38"/>
          <p:cNvSpPr txBox="1"/>
          <p:nvPr/>
        </p:nvSpPr>
        <p:spPr>
          <a:xfrm>
            <a:off x="8540496" y="1892808"/>
            <a:ext cx="3246120" cy="365760"/>
          </a:xfrm>
          <a:prstGeom prst="rect">
            <a:avLst/>
          </a:prstGeom>
          <a:noFill/>
        </p:spPr>
        <p:txBody>
          <a:bodyPr wrap="square">
            <a:spAutoFit/>
          </a:bodyPr>
          <a:lstStyle/>
          <a:p>
            <a:pPr algn="l"/>
            <a:r>
              <a:rPr sz="950" b="0">
                <a:solidFill>
                  <a:srgbClr val="BA3C3C"/>
                </a:solidFill>
                <a:latin typeface="Pretendard"/>
              </a:rPr>
              <a:t>×  Effortless, seamless</a:t>
            </a:r>
          </a:p>
        </p:txBody>
      </p:sp>
      <p:sp>
        <p:nvSpPr>
          <p:cNvPr id="40" name="TextBox 39"/>
          <p:cNvSpPr txBox="1"/>
          <p:nvPr/>
        </p:nvSpPr>
        <p:spPr>
          <a:xfrm>
            <a:off x="8540496" y="2304288"/>
            <a:ext cx="3246120" cy="365760"/>
          </a:xfrm>
          <a:prstGeom prst="rect">
            <a:avLst/>
          </a:prstGeom>
          <a:noFill/>
        </p:spPr>
        <p:txBody>
          <a:bodyPr wrap="square">
            <a:spAutoFit/>
          </a:bodyPr>
          <a:lstStyle/>
          <a:p>
            <a:pPr algn="l"/>
            <a:r>
              <a:rPr sz="950" b="0">
                <a:solidFill>
                  <a:srgbClr val="BA3C3C"/>
                </a:solidFill>
                <a:latin typeface="Pretendard"/>
              </a:rPr>
              <a:t>×  "AI-powered"</a:t>
            </a:r>
          </a:p>
        </p:txBody>
      </p:sp>
      <p:sp>
        <p:nvSpPr>
          <p:cNvPr id="41" name="TextBox 40"/>
          <p:cNvSpPr txBox="1"/>
          <p:nvPr/>
        </p:nvSpPr>
        <p:spPr>
          <a:xfrm>
            <a:off x="8540496" y="2715768"/>
            <a:ext cx="3246120" cy="365760"/>
          </a:xfrm>
          <a:prstGeom prst="rect">
            <a:avLst/>
          </a:prstGeom>
          <a:noFill/>
        </p:spPr>
        <p:txBody>
          <a:bodyPr wrap="square">
            <a:spAutoFit/>
          </a:bodyPr>
          <a:lstStyle/>
          <a:p>
            <a:pPr algn="l"/>
            <a:r>
              <a:rPr sz="950" b="0">
                <a:solidFill>
                  <a:srgbClr val="BA3C3C"/>
                </a:solidFill>
                <a:latin typeface="Pretendard"/>
              </a:rPr>
              <a:t>×  "The future of work"</a:t>
            </a:r>
          </a:p>
        </p:txBody>
      </p:sp>
      <p:sp>
        <p:nvSpPr>
          <p:cNvPr id="42" name="TextBox 41"/>
          <p:cNvSpPr txBox="1"/>
          <p:nvPr/>
        </p:nvSpPr>
        <p:spPr>
          <a:xfrm>
            <a:off x="8540496" y="3127248"/>
            <a:ext cx="3246120" cy="365760"/>
          </a:xfrm>
          <a:prstGeom prst="rect">
            <a:avLst/>
          </a:prstGeom>
          <a:noFill/>
        </p:spPr>
        <p:txBody>
          <a:bodyPr wrap="square">
            <a:spAutoFit/>
          </a:bodyPr>
          <a:lstStyle/>
          <a:p>
            <a:pPr algn="l"/>
            <a:r>
              <a:rPr sz="950" b="0">
                <a:solidFill>
                  <a:srgbClr val="BA3C3C"/>
                </a:solidFill>
                <a:latin typeface="Pretendard"/>
              </a:rPr>
              <a:t>×  Unlock, empower</a:t>
            </a:r>
          </a:p>
        </p:txBody>
      </p:sp>
      <p:sp>
        <p:nvSpPr>
          <p:cNvPr id="43" name="TextBox 42"/>
          <p:cNvSpPr txBox="1"/>
          <p:nvPr/>
        </p:nvSpPr>
        <p:spPr>
          <a:xfrm>
            <a:off x="8540496" y="3538728"/>
            <a:ext cx="3246120" cy="365760"/>
          </a:xfrm>
          <a:prstGeom prst="rect">
            <a:avLst/>
          </a:prstGeom>
          <a:noFill/>
        </p:spPr>
        <p:txBody>
          <a:bodyPr wrap="square">
            <a:spAutoFit/>
          </a:bodyPr>
          <a:lstStyle/>
          <a:p>
            <a:pPr algn="l"/>
            <a:r>
              <a:rPr sz="950" b="0">
                <a:solidFill>
                  <a:srgbClr val="BA3C3C"/>
                </a:solidFill>
                <a:latin typeface="Pretendard"/>
              </a:rPr>
              <a:t>×  "We're excited to announce"</a:t>
            </a:r>
          </a:p>
        </p:txBody>
      </p:sp>
      <p:sp>
        <p:nvSpPr>
          <p:cNvPr id="44" name="TextBox 43"/>
          <p:cNvSpPr txBox="1"/>
          <p:nvPr/>
        </p:nvSpPr>
        <p:spPr>
          <a:xfrm>
            <a:off x="8540496" y="3950208"/>
            <a:ext cx="3246120" cy="365760"/>
          </a:xfrm>
          <a:prstGeom prst="rect">
            <a:avLst/>
          </a:prstGeom>
          <a:noFill/>
        </p:spPr>
        <p:txBody>
          <a:bodyPr wrap="square">
            <a:spAutoFit/>
          </a:bodyPr>
          <a:lstStyle/>
          <a:p>
            <a:pPr algn="l"/>
            <a:r>
              <a:rPr sz="950" b="0">
                <a:solidFill>
                  <a:srgbClr val="BA3C3C"/>
                </a:solidFill>
                <a:latin typeface="Pretendard"/>
              </a:rPr>
              <a:t>×  "Privacy-first" as lead claim</a:t>
            </a:r>
          </a:p>
        </p:txBody>
      </p:sp>
      <p:sp>
        <p:nvSpPr>
          <p:cNvPr id="45" name="TextBox 44"/>
          <p:cNvSpPr txBox="1"/>
          <p:nvPr/>
        </p:nvSpPr>
        <p:spPr>
          <a:xfrm>
            <a:off x="8540496" y="4361688"/>
            <a:ext cx="3246120" cy="365760"/>
          </a:xfrm>
          <a:prstGeom prst="rect">
            <a:avLst/>
          </a:prstGeom>
          <a:noFill/>
        </p:spPr>
        <p:txBody>
          <a:bodyPr wrap="square">
            <a:spAutoFit/>
          </a:bodyPr>
          <a:lstStyle/>
          <a:p>
            <a:pPr algn="l"/>
            <a:r>
              <a:rPr sz="950" b="0">
                <a:solidFill>
                  <a:srgbClr val="BA3C3C"/>
                </a:solidFill>
                <a:latin typeface="Pretendard"/>
              </a:rPr>
              <a:t>×  Em dashes in copy</a:t>
            </a:r>
          </a:p>
        </p:txBody>
      </p:sp>
      <p:sp>
        <p:nvSpPr>
          <p:cNvPr id="46" name="TextBox 45"/>
          <p:cNvSpPr txBox="1"/>
          <p:nvPr/>
        </p:nvSpPr>
        <p:spPr>
          <a:xfrm>
            <a:off x="8540496" y="4773168"/>
            <a:ext cx="3246120" cy="365760"/>
          </a:xfrm>
          <a:prstGeom prst="rect">
            <a:avLst/>
          </a:prstGeom>
          <a:noFill/>
        </p:spPr>
        <p:txBody>
          <a:bodyPr wrap="square">
            <a:spAutoFit/>
          </a:bodyPr>
          <a:lstStyle/>
          <a:p>
            <a:pPr algn="l"/>
            <a:r>
              <a:rPr sz="950" b="0">
                <a:solidFill>
                  <a:srgbClr val="BA3C3C"/>
                </a:solidFill>
                <a:latin typeface="Pretendard"/>
              </a:rPr>
              <a:t>×  "Not X, but Y"</a:t>
            </a:r>
          </a:p>
        </p:txBody>
      </p:sp>
      <p:sp>
        <p:nvSpPr>
          <p:cNvPr id="47" name="TextBox 46"/>
          <p:cNvSpPr txBox="1"/>
          <p:nvPr/>
        </p:nvSpPr>
        <p:spPr>
          <a:xfrm>
            <a:off x="8540496" y="5184648"/>
            <a:ext cx="3246120" cy="365760"/>
          </a:xfrm>
          <a:prstGeom prst="rect">
            <a:avLst/>
          </a:prstGeom>
          <a:noFill/>
        </p:spPr>
        <p:txBody>
          <a:bodyPr wrap="square">
            <a:spAutoFit/>
          </a:bodyPr>
          <a:lstStyle/>
          <a:p>
            <a:pPr algn="l"/>
            <a:r>
              <a:rPr sz="950" b="0">
                <a:solidFill>
                  <a:srgbClr val="BA3C3C"/>
                </a:solidFill>
                <a:latin typeface="Pretendard"/>
              </a:rPr>
              <a:t>×  Rhetorical question hooks</a:t>
            </a:r>
          </a:p>
        </p:txBody>
      </p:sp>
      <p:sp>
        <p:nvSpPr>
          <p:cNvPr id="48" name="TextBox 47"/>
          <p:cNvSpPr txBox="1"/>
          <p:nvPr/>
        </p:nvSpPr>
        <p:spPr>
          <a:xfrm>
            <a:off x="8540496" y="5596128"/>
            <a:ext cx="3246120" cy="365760"/>
          </a:xfrm>
          <a:prstGeom prst="rect">
            <a:avLst/>
          </a:prstGeom>
          <a:noFill/>
        </p:spPr>
        <p:txBody>
          <a:bodyPr wrap="square">
            <a:spAutoFit/>
          </a:bodyPr>
          <a:lstStyle/>
          <a:p>
            <a:pPr algn="l"/>
            <a:r>
              <a:rPr sz="950" b="0">
                <a:solidFill>
                  <a:srgbClr val="BA3C3C"/>
                </a:solidFill>
                <a:latin typeface="Pretendard"/>
              </a:rPr>
              <a:t>×  Fragment staccato</a:t>
            </a:r>
          </a:p>
        </p:txBody>
      </p:sp>
      <p:sp>
        <p:nvSpPr>
          <p:cNvPr id="49" name="TextBox 48"/>
          <p:cNvSpPr txBox="1"/>
          <p:nvPr/>
        </p:nvSpPr>
        <p:spPr>
          <a:xfrm>
            <a:off x="8540496" y="6007608"/>
            <a:ext cx="3246120" cy="365760"/>
          </a:xfrm>
          <a:prstGeom prst="rect">
            <a:avLst/>
          </a:prstGeom>
          <a:noFill/>
        </p:spPr>
        <p:txBody>
          <a:bodyPr wrap="square">
            <a:spAutoFit/>
          </a:bodyPr>
          <a:lstStyle/>
          <a:p>
            <a:pPr algn="l"/>
            <a:r>
              <a:rPr sz="950" b="0">
                <a:solidFill>
                  <a:srgbClr val="BA3C3C"/>
                </a:solidFill>
                <a:latin typeface="Pretendard"/>
              </a:rPr>
              <a:t>×  Uncited figures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9144000" cy="274320"/>
          </a:xfrm>
          <a:prstGeom prst="rect">
            <a:avLst/>
          </a:prstGeom>
          <a:noFill/>
        </p:spPr>
        <p:txBody>
          <a:bodyPr wrap="square">
            <a:spAutoFit/>
          </a:bodyPr>
          <a:lstStyle/>
          <a:p>
            <a:pPr algn="l"/>
            <a:r>
              <a:rPr sz="900" b="1">
                <a:solidFill>
                  <a:srgbClr val="5B5F63"/>
                </a:solidFill>
                <a:latin typeface="Pretendard"/>
              </a:rPr>
              <a:t>13  THE POSITIONING TEST  |  RUN BEFORE EVERY CAMPAIGN</a:t>
            </a:r>
          </a:p>
        </p:txBody>
      </p:sp>
      <p:sp>
        <p:nvSpPr>
          <p:cNvPr id="4" name="Rectangle 3"/>
          <p:cNvSpPr/>
          <p:nvPr/>
        </p:nvSpPr>
        <p:spPr>
          <a:xfrm>
            <a:off x="502920" y="713232"/>
            <a:ext cx="11183112" cy="10972"/>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005840"/>
            <a:ext cx="11183112" cy="822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170432"/>
            <a:ext cx="457200" cy="457200"/>
          </a:xfrm>
          <a:prstGeom prst="rect">
            <a:avLst/>
          </a:prstGeom>
          <a:noFill/>
        </p:spPr>
        <p:txBody>
          <a:bodyPr wrap="square">
            <a:spAutoFit/>
          </a:bodyPr>
          <a:lstStyle/>
          <a:p>
            <a:pPr algn="l"/>
            <a:r>
              <a:rPr sz="1600" b="1">
                <a:solidFill>
                  <a:srgbClr val="B0B0AA"/>
                </a:solidFill>
                <a:latin typeface="Pretendard"/>
              </a:rPr>
              <a:t>1</a:t>
            </a:r>
          </a:p>
        </p:txBody>
      </p:sp>
      <p:sp>
        <p:nvSpPr>
          <p:cNvPr id="7" name="TextBox 6"/>
          <p:cNvSpPr txBox="1"/>
          <p:nvPr/>
        </p:nvSpPr>
        <p:spPr>
          <a:xfrm>
            <a:off x="1325880" y="1115568"/>
            <a:ext cx="2560320" cy="640080"/>
          </a:xfrm>
          <a:prstGeom prst="rect">
            <a:avLst/>
          </a:prstGeom>
          <a:noFill/>
        </p:spPr>
        <p:txBody>
          <a:bodyPr wrap="square">
            <a:spAutoFit/>
          </a:bodyPr>
          <a:lstStyle/>
          <a:p>
            <a:pPr algn="l"/>
            <a:r>
              <a:rPr sz="1050" b="1">
                <a:solidFill>
                  <a:srgbClr val="0A0A0A"/>
                </a:solidFill>
                <a:latin typeface="Pretendard"/>
              </a:rPr>
              <a:t>Target customer</a:t>
            </a:r>
          </a:p>
        </p:txBody>
      </p:sp>
      <p:sp>
        <p:nvSpPr>
          <p:cNvPr id="8" name="TextBox 7"/>
          <p:cNvSpPr txBox="1"/>
          <p:nvPr/>
        </p:nvSpPr>
        <p:spPr>
          <a:xfrm>
            <a:off x="4023360" y="1115568"/>
            <a:ext cx="7498079" cy="676656"/>
          </a:xfrm>
          <a:prstGeom prst="rect">
            <a:avLst/>
          </a:prstGeom>
          <a:noFill/>
        </p:spPr>
        <p:txBody>
          <a:bodyPr wrap="square">
            <a:spAutoFit/>
          </a:bodyPr>
          <a:lstStyle/>
          <a:p>
            <a:pPr algn="l"/>
            <a:r>
              <a:rPr sz="950" b="0">
                <a:solidFill>
                  <a:srgbClr val="5B5F63"/>
                </a:solidFill>
                <a:latin typeface="Pretendard"/>
              </a:rPr>
              <a:t>Who, exactly? Not "enterprises". CISOs and legal ops leads at regulated firms facing EU AI Act deadlines.</a:t>
            </a:r>
          </a:p>
        </p:txBody>
      </p:sp>
      <p:sp>
        <p:nvSpPr>
          <p:cNvPr id="9" name="Rectangle 8"/>
          <p:cNvSpPr/>
          <p:nvPr/>
        </p:nvSpPr>
        <p:spPr>
          <a:xfrm>
            <a:off x="502920" y="1892808"/>
            <a:ext cx="11183112" cy="822960"/>
          </a:xfrm>
          <a:prstGeom prst="rect">
            <a:avLst/>
          </a:prstGeom>
          <a:solidFill>
            <a:srgbClr val="EC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057400"/>
            <a:ext cx="457200" cy="457200"/>
          </a:xfrm>
          <a:prstGeom prst="rect">
            <a:avLst/>
          </a:prstGeom>
          <a:noFill/>
        </p:spPr>
        <p:txBody>
          <a:bodyPr wrap="square">
            <a:spAutoFit/>
          </a:bodyPr>
          <a:lstStyle/>
          <a:p>
            <a:pPr algn="l"/>
            <a:r>
              <a:rPr sz="1600" b="1">
                <a:solidFill>
                  <a:srgbClr val="B0B0AA"/>
                </a:solidFill>
                <a:latin typeface="Pretendard"/>
              </a:rPr>
              <a:t>2</a:t>
            </a:r>
          </a:p>
        </p:txBody>
      </p:sp>
      <p:sp>
        <p:nvSpPr>
          <p:cNvPr id="11" name="TextBox 10"/>
          <p:cNvSpPr txBox="1"/>
          <p:nvPr/>
        </p:nvSpPr>
        <p:spPr>
          <a:xfrm>
            <a:off x="1325880" y="2002536"/>
            <a:ext cx="2560320" cy="640080"/>
          </a:xfrm>
          <a:prstGeom prst="rect">
            <a:avLst/>
          </a:prstGeom>
          <a:noFill/>
        </p:spPr>
        <p:txBody>
          <a:bodyPr wrap="square">
            <a:spAutoFit/>
          </a:bodyPr>
          <a:lstStyle/>
          <a:p>
            <a:pPr algn="l"/>
            <a:r>
              <a:rPr sz="1050" b="1">
                <a:solidFill>
                  <a:srgbClr val="0A0A0A"/>
                </a:solidFill>
                <a:latin typeface="Pretendard"/>
              </a:rPr>
              <a:t>Market category</a:t>
            </a:r>
          </a:p>
        </p:txBody>
      </p:sp>
      <p:sp>
        <p:nvSpPr>
          <p:cNvPr id="12" name="TextBox 11"/>
          <p:cNvSpPr txBox="1"/>
          <p:nvPr/>
        </p:nvSpPr>
        <p:spPr>
          <a:xfrm>
            <a:off x="4023360" y="2002536"/>
            <a:ext cx="7498079" cy="676656"/>
          </a:xfrm>
          <a:prstGeom prst="rect">
            <a:avLst/>
          </a:prstGeom>
          <a:noFill/>
        </p:spPr>
        <p:txBody>
          <a:bodyPr wrap="square">
            <a:spAutoFit/>
          </a:bodyPr>
          <a:lstStyle/>
          <a:p>
            <a:pPr algn="l"/>
            <a:r>
              <a:rPr sz="950" b="0">
                <a:solidFill>
                  <a:srgbClr val="5B5F63"/>
                </a:solidFill>
                <a:latin typeface="Pretendard"/>
              </a:rPr>
              <a:t>Verifiable AI. Not "enterprise AI assistant", not "private LLM", not "secure AI platform".</a:t>
            </a:r>
          </a:p>
        </p:txBody>
      </p:sp>
      <p:sp>
        <p:nvSpPr>
          <p:cNvPr id="13" name="Rectangle 12"/>
          <p:cNvSpPr/>
          <p:nvPr/>
        </p:nvSpPr>
        <p:spPr>
          <a:xfrm>
            <a:off x="502920" y="2779776"/>
            <a:ext cx="11183112" cy="822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2944368"/>
            <a:ext cx="457200" cy="457200"/>
          </a:xfrm>
          <a:prstGeom prst="rect">
            <a:avLst/>
          </a:prstGeom>
          <a:noFill/>
        </p:spPr>
        <p:txBody>
          <a:bodyPr wrap="square">
            <a:spAutoFit/>
          </a:bodyPr>
          <a:lstStyle/>
          <a:p>
            <a:pPr algn="l"/>
            <a:r>
              <a:rPr sz="1600" b="1">
                <a:solidFill>
                  <a:srgbClr val="B0B0AA"/>
                </a:solidFill>
                <a:latin typeface="Pretendard"/>
              </a:rPr>
              <a:t>3</a:t>
            </a:r>
          </a:p>
        </p:txBody>
      </p:sp>
      <p:sp>
        <p:nvSpPr>
          <p:cNvPr id="15" name="TextBox 14"/>
          <p:cNvSpPr txBox="1"/>
          <p:nvPr/>
        </p:nvSpPr>
        <p:spPr>
          <a:xfrm>
            <a:off x="1325880" y="2889504"/>
            <a:ext cx="2560320" cy="640080"/>
          </a:xfrm>
          <a:prstGeom prst="rect">
            <a:avLst/>
          </a:prstGeom>
          <a:noFill/>
        </p:spPr>
        <p:txBody>
          <a:bodyPr wrap="square">
            <a:spAutoFit/>
          </a:bodyPr>
          <a:lstStyle/>
          <a:p>
            <a:pPr algn="l"/>
            <a:r>
              <a:rPr sz="1050" b="1">
                <a:solidFill>
                  <a:srgbClr val="0A0A0A"/>
                </a:solidFill>
                <a:latin typeface="Pretendard"/>
              </a:rPr>
              <a:t>Unique attributes</a:t>
            </a:r>
          </a:p>
        </p:txBody>
      </p:sp>
      <p:sp>
        <p:nvSpPr>
          <p:cNvPr id="16" name="TextBox 15"/>
          <p:cNvSpPr txBox="1"/>
          <p:nvPr/>
        </p:nvSpPr>
        <p:spPr>
          <a:xfrm>
            <a:off x="4023360" y="2889504"/>
            <a:ext cx="7498079" cy="676656"/>
          </a:xfrm>
          <a:prstGeom prst="rect">
            <a:avLst/>
          </a:prstGeom>
          <a:noFill/>
        </p:spPr>
        <p:txBody>
          <a:bodyPr wrap="square">
            <a:spAutoFit/>
          </a:bodyPr>
          <a:lstStyle/>
          <a:p>
            <a:pPr algn="l"/>
            <a:r>
              <a:rPr sz="950" b="0">
                <a:solidFill>
                  <a:srgbClr val="5B5F63"/>
                </a:solidFill>
                <a:latin typeface="Pretendard"/>
              </a:rPr>
              <a:t>Hardware-signed proof per inference via the open-source Reticle stack. No other vendor ships this.</a:t>
            </a:r>
          </a:p>
        </p:txBody>
      </p:sp>
      <p:sp>
        <p:nvSpPr>
          <p:cNvPr id="17" name="Rectangle 16"/>
          <p:cNvSpPr/>
          <p:nvPr/>
        </p:nvSpPr>
        <p:spPr>
          <a:xfrm>
            <a:off x="502920" y="3666744"/>
            <a:ext cx="11183112" cy="822960"/>
          </a:xfrm>
          <a:prstGeom prst="rect">
            <a:avLst/>
          </a:prstGeom>
          <a:solidFill>
            <a:srgbClr val="EC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3831335"/>
            <a:ext cx="457200" cy="457200"/>
          </a:xfrm>
          <a:prstGeom prst="rect">
            <a:avLst/>
          </a:prstGeom>
          <a:noFill/>
        </p:spPr>
        <p:txBody>
          <a:bodyPr wrap="square">
            <a:spAutoFit/>
          </a:bodyPr>
          <a:lstStyle/>
          <a:p>
            <a:pPr algn="l"/>
            <a:r>
              <a:rPr sz="1600" b="1">
                <a:solidFill>
                  <a:srgbClr val="B0B0AA"/>
                </a:solidFill>
                <a:latin typeface="Pretendard"/>
              </a:rPr>
              <a:t>4</a:t>
            </a:r>
          </a:p>
        </p:txBody>
      </p:sp>
      <p:sp>
        <p:nvSpPr>
          <p:cNvPr id="19" name="TextBox 18"/>
          <p:cNvSpPr txBox="1"/>
          <p:nvPr/>
        </p:nvSpPr>
        <p:spPr>
          <a:xfrm>
            <a:off x="1325880" y="3776472"/>
            <a:ext cx="2560320" cy="640080"/>
          </a:xfrm>
          <a:prstGeom prst="rect">
            <a:avLst/>
          </a:prstGeom>
          <a:noFill/>
        </p:spPr>
        <p:txBody>
          <a:bodyPr wrap="square">
            <a:spAutoFit/>
          </a:bodyPr>
          <a:lstStyle/>
          <a:p>
            <a:pPr algn="l"/>
            <a:r>
              <a:rPr sz="1050" b="1">
                <a:solidFill>
                  <a:srgbClr val="0A0A0A"/>
                </a:solidFill>
                <a:latin typeface="Pretendard"/>
              </a:rPr>
              <a:t>Value to the buyer</a:t>
            </a:r>
          </a:p>
        </p:txBody>
      </p:sp>
      <p:sp>
        <p:nvSpPr>
          <p:cNvPr id="20" name="TextBox 19"/>
          <p:cNvSpPr txBox="1"/>
          <p:nvPr/>
        </p:nvSpPr>
        <p:spPr>
          <a:xfrm>
            <a:off x="4023360" y="3776472"/>
            <a:ext cx="7498079" cy="676656"/>
          </a:xfrm>
          <a:prstGeom prst="rect">
            <a:avLst/>
          </a:prstGeom>
          <a:noFill/>
        </p:spPr>
        <p:txBody>
          <a:bodyPr wrap="square">
            <a:spAutoFit/>
          </a:bodyPr>
          <a:lstStyle/>
          <a:p>
            <a:pPr algn="l"/>
            <a:r>
              <a:rPr sz="950" b="0">
                <a:solidFill>
                  <a:srgbClr val="5B5F63"/>
                </a:solidFill>
                <a:latin typeface="Pretendard"/>
              </a:rPr>
              <a:t>A cryptographic audit trail answers the regulator directly. A policy promise cannot.</a:t>
            </a:r>
          </a:p>
        </p:txBody>
      </p:sp>
      <p:sp>
        <p:nvSpPr>
          <p:cNvPr id="21" name="Rectangle 20"/>
          <p:cNvSpPr/>
          <p:nvPr/>
        </p:nvSpPr>
        <p:spPr>
          <a:xfrm>
            <a:off x="502920" y="4553712"/>
            <a:ext cx="11183112" cy="822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4718304"/>
            <a:ext cx="457200" cy="457200"/>
          </a:xfrm>
          <a:prstGeom prst="rect">
            <a:avLst/>
          </a:prstGeom>
          <a:noFill/>
        </p:spPr>
        <p:txBody>
          <a:bodyPr wrap="square">
            <a:spAutoFit/>
          </a:bodyPr>
          <a:lstStyle/>
          <a:p>
            <a:pPr algn="l"/>
            <a:r>
              <a:rPr sz="1600" b="1">
                <a:solidFill>
                  <a:srgbClr val="B0B0AA"/>
                </a:solidFill>
                <a:latin typeface="Pretendard"/>
              </a:rPr>
              <a:t>5</a:t>
            </a:r>
          </a:p>
        </p:txBody>
      </p:sp>
      <p:sp>
        <p:nvSpPr>
          <p:cNvPr id="23" name="TextBox 22"/>
          <p:cNvSpPr txBox="1"/>
          <p:nvPr/>
        </p:nvSpPr>
        <p:spPr>
          <a:xfrm>
            <a:off x="1325880" y="4663440"/>
            <a:ext cx="2560320" cy="640080"/>
          </a:xfrm>
          <a:prstGeom prst="rect">
            <a:avLst/>
          </a:prstGeom>
          <a:noFill/>
        </p:spPr>
        <p:txBody>
          <a:bodyPr wrap="square">
            <a:spAutoFit/>
          </a:bodyPr>
          <a:lstStyle/>
          <a:p>
            <a:pPr algn="l"/>
            <a:r>
              <a:rPr sz="1050" b="1">
                <a:solidFill>
                  <a:srgbClr val="0A0A0A"/>
                </a:solidFill>
                <a:latin typeface="Pretendard"/>
              </a:rPr>
              <a:t>Competitive alternatives</a:t>
            </a:r>
          </a:p>
        </p:txBody>
      </p:sp>
      <p:sp>
        <p:nvSpPr>
          <p:cNvPr id="24" name="TextBox 23"/>
          <p:cNvSpPr txBox="1"/>
          <p:nvPr/>
        </p:nvSpPr>
        <p:spPr>
          <a:xfrm>
            <a:off x="4023360" y="4663440"/>
            <a:ext cx="7498079" cy="676656"/>
          </a:xfrm>
          <a:prstGeom prst="rect">
            <a:avLst/>
          </a:prstGeom>
          <a:noFill/>
        </p:spPr>
        <p:txBody>
          <a:bodyPr wrap="square">
            <a:spAutoFit/>
          </a:bodyPr>
          <a:lstStyle/>
          <a:p>
            <a:pPr algn="l"/>
            <a:r>
              <a:rPr sz="950" b="0">
                <a:solidFill>
                  <a:srgbClr val="5B5F63"/>
                </a:solidFill>
                <a:latin typeface="Pretendard"/>
              </a:rPr>
              <a:t>Policy-based enterprise tools, perimeter security stacks, vertical legal AI suites.</a:t>
            </a:r>
          </a:p>
        </p:txBody>
      </p:sp>
      <p:sp>
        <p:nvSpPr>
          <p:cNvPr id="25" name="Rectangle 24"/>
          <p:cNvSpPr/>
          <p:nvPr/>
        </p:nvSpPr>
        <p:spPr>
          <a:xfrm>
            <a:off x="502920" y="5440679"/>
            <a:ext cx="11183112" cy="822960"/>
          </a:xfrm>
          <a:prstGeom prst="rect">
            <a:avLst/>
          </a:prstGeom>
          <a:solidFill>
            <a:srgbClr val="EC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5605271"/>
            <a:ext cx="457200" cy="457200"/>
          </a:xfrm>
          <a:prstGeom prst="rect">
            <a:avLst/>
          </a:prstGeom>
          <a:noFill/>
        </p:spPr>
        <p:txBody>
          <a:bodyPr wrap="square">
            <a:spAutoFit/>
          </a:bodyPr>
          <a:lstStyle/>
          <a:p>
            <a:pPr algn="l"/>
            <a:r>
              <a:rPr sz="1600" b="1">
                <a:solidFill>
                  <a:srgbClr val="B0B0AA"/>
                </a:solidFill>
                <a:latin typeface="Pretendard"/>
              </a:rPr>
              <a:t>6</a:t>
            </a:r>
          </a:p>
        </p:txBody>
      </p:sp>
      <p:sp>
        <p:nvSpPr>
          <p:cNvPr id="27" name="TextBox 26"/>
          <p:cNvSpPr txBox="1"/>
          <p:nvPr/>
        </p:nvSpPr>
        <p:spPr>
          <a:xfrm>
            <a:off x="1325880" y="5550407"/>
            <a:ext cx="2560320" cy="640080"/>
          </a:xfrm>
          <a:prstGeom prst="rect">
            <a:avLst/>
          </a:prstGeom>
          <a:noFill/>
        </p:spPr>
        <p:txBody>
          <a:bodyPr wrap="square">
            <a:spAutoFit/>
          </a:bodyPr>
          <a:lstStyle/>
          <a:p>
            <a:pPr algn="l"/>
            <a:r>
              <a:rPr sz="1050" b="1">
                <a:solidFill>
                  <a:srgbClr val="0A0A0A"/>
                </a:solidFill>
                <a:latin typeface="Pretendard"/>
              </a:rPr>
              <a:t>Proof of claim</a:t>
            </a:r>
          </a:p>
        </p:txBody>
      </p:sp>
      <p:sp>
        <p:nvSpPr>
          <p:cNvPr id="28" name="TextBox 27"/>
          <p:cNvSpPr txBox="1"/>
          <p:nvPr/>
        </p:nvSpPr>
        <p:spPr>
          <a:xfrm>
            <a:off x="4023360" y="5550407"/>
            <a:ext cx="7498079" cy="676656"/>
          </a:xfrm>
          <a:prstGeom prst="rect">
            <a:avLst/>
          </a:prstGeom>
          <a:noFill/>
        </p:spPr>
        <p:txBody>
          <a:bodyPr wrap="square">
            <a:spAutoFit/>
          </a:bodyPr>
          <a:lstStyle/>
          <a:p>
            <a:pPr algn="l"/>
            <a:r>
              <a:rPr sz="950" b="0">
                <a:solidFill>
                  <a:srgbClr val="5B5F63"/>
                </a:solidFill>
                <a:latin typeface="Pretendard"/>
              </a:rPr>
              <a:t>The Reticle repository, TEE documentation, and named deployments with attestation on record.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9144000" cy="274320"/>
          </a:xfrm>
          <a:prstGeom prst="rect">
            <a:avLst/>
          </a:prstGeom>
          <a:noFill/>
        </p:spPr>
        <p:txBody>
          <a:bodyPr wrap="square">
            <a:spAutoFit/>
          </a:bodyPr>
          <a:lstStyle/>
          <a:p>
            <a:pPr algn="l"/>
            <a:r>
              <a:rPr sz="900" b="1">
                <a:solidFill>
                  <a:srgbClr val="5B5F63"/>
                </a:solidFill>
                <a:latin typeface="Pretendard"/>
              </a:rPr>
              <a:t>13  GOVERNANCE  |  SIGN-OFF BY ROLE</a:t>
            </a:r>
          </a:p>
        </p:txBody>
      </p:sp>
      <p:sp>
        <p:nvSpPr>
          <p:cNvPr id="4" name="Rectangle 3"/>
          <p:cNvSpPr/>
          <p:nvPr/>
        </p:nvSpPr>
        <p:spPr>
          <a:xfrm>
            <a:off x="502920" y="713232"/>
            <a:ext cx="11183112" cy="10972"/>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868680"/>
            <a:ext cx="10972800" cy="320040"/>
          </a:xfrm>
          <a:prstGeom prst="rect">
            <a:avLst/>
          </a:prstGeom>
          <a:noFill/>
        </p:spPr>
        <p:txBody>
          <a:bodyPr wrap="square">
            <a:spAutoFit/>
          </a:bodyPr>
          <a:lstStyle/>
          <a:p>
            <a:pPr algn="l"/>
            <a:r>
              <a:rPr sz="1100" b="0">
                <a:solidFill>
                  <a:srgbClr val="5B5F63"/>
                </a:solidFill>
                <a:latin typeface="Pretendard"/>
              </a:rPr>
              <a:t>Approval means sign-off before publication, not editing rights.</a:t>
            </a:r>
          </a:p>
        </p:txBody>
      </p:sp>
      <p:sp>
        <p:nvSpPr>
          <p:cNvPr id="6" name="Rectangle 5"/>
          <p:cNvSpPr/>
          <p:nvPr/>
        </p:nvSpPr>
        <p:spPr>
          <a:xfrm>
            <a:off x="502920" y="1280160"/>
            <a:ext cx="11183112" cy="402336"/>
          </a:xfrm>
          <a:prstGeom prst="rect">
            <a:avLst/>
          </a:prstGeom>
          <a:solidFill>
            <a:srgbClr val="1717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44168"/>
            <a:ext cx="3108960" cy="292608"/>
          </a:xfrm>
          <a:prstGeom prst="rect">
            <a:avLst/>
          </a:prstGeom>
          <a:noFill/>
        </p:spPr>
        <p:txBody>
          <a:bodyPr wrap="square">
            <a:spAutoFit/>
          </a:bodyPr>
          <a:lstStyle/>
          <a:p>
            <a:pPr algn="l"/>
            <a:r>
              <a:rPr sz="800" b="1">
                <a:solidFill>
                  <a:srgbClr val="FFFFFF"/>
                </a:solidFill>
                <a:latin typeface="Pretendard"/>
              </a:rPr>
              <a:t>CONTENT TYPE</a:t>
            </a:r>
          </a:p>
        </p:txBody>
      </p:sp>
      <p:sp>
        <p:nvSpPr>
          <p:cNvPr id="8" name="TextBox 7"/>
          <p:cNvSpPr txBox="1"/>
          <p:nvPr/>
        </p:nvSpPr>
        <p:spPr>
          <a:xfrm>
            <a:off x="3840480" y="1344168"/>
            <a:ext cx="2468880" cy="292608"/>
          </a:xfrm>
          <a:prstGeom prst="rect">
            <a:avLst/>
          </a:prstGeom>
          <a:noFill/>
        </p:spPr>
        <p:txBody>
          <a:bodyPr wrap="square">
            <a:spAutoFit/>
          </a:bodyPr>
          <a:lstStyle/>
          <a:p>
            <a:pPr algn="l"/>
            <a:r>
              <a:rPr sz="800" b="1">
                <a:solidFill>
                  <a:srgbClr val="FFFFFF"/>
                </a:solidFill>
                <a:latin typeface="Pretendard"/>
              </a:rPr>
              <a:t>APPROVING ROLE</a:t>
            </a:r>
          </a:p>
        </p:txBody>
      </p:sp>
      <p:sp>
        <p:nvSpPr>
          <p:cNvPr id="9" name="TextBox 8"/>
          <p:cNvSpPr txBox="1"/>
          <p:nvPr/>
        </p:nvSpPr>
        <p:spPr>
          <a:xfrm>
            <a:off x="6400800" y="1344168"/>
            <a:ext cx="5303520" cy="292608"/>
          </a:xfrm>
          <a:prstGeom prst="rect">
            <a:avLst/>
          </a:prstGeom>
          <a:noFill/>
        </p:spPr>
        <p:txBody>
          <a:bodyPr wrap="square">
            <a:spAutoFit/>
          </a:bodyPr>
          <a:lstStyle/>
          <a:p>
            <a:pPr algn="l"/>
            <a:r>
              <a:rPr sz="800" b="1">
                <a:solidFill>
                  <a:srgbClr val="FFFFFF"/>
                </a:solidFill>
                <a:latin typeface="Pretendard"/>
              </a:rPr>
              <a:t>WHY</a:t>
            </a:r>
          </a:p>
        </p:txBody>
      </p:sp>
      <p:sp>
        <p:nvSpPr>
          <p:cNvPr id="10" name="Rectangle 9"/>
          <p:cNvSpPr/>
          <p:nvPr/>
        </p:nvSpPr>
        <p:spPr>
          <a:xfrm>
            <a:off x="502920" y="1682496"/>
            <a:ext cx="11183112" cy="5852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755648"/>
            <a:ext cx="3108960" cy="475488"/>
          </a:xfrm>
          <a:prstGeom prst="rect">
            <a:avLst/>
          </a:prstGeom>
          <a:noFill/>
        </p:spPr>
        <p:txBody>
          <a:bodyPr wrap="square">
            <a:spAutoFit/>
          </a:bodyPr>
          <a:lstStyle/>
          <a:p>
            <a:pPr algn="l"/>
            <a:r>
              <a:rPr sz="900" b="1">
                <a:solidFill>
                  <a:srgbClr val="0A0A0A"/>
                </a:solidFill>
                <a:latin typeface="Pretendard"/>
              </a:rPr>
              <a:t>Press and media statements</a:t>
            </a:r>
          </a:p>
        </p:txBody>
      </p:sp>
      <p:sp>
        <p:nvSpPr>
          <p:cNvPr id="12" name="TextBox 11"/>
          <p:cNvSpPr txBox="1"/>
          <p:nvPr/>
        </p:nvSpPr>
        <p:spPr>
          <a:xfrm>
            <a:off x="3840480" y="1755648"/>
            <a:ext cx="2468880" cy="475488"/>
          </a:xfrm>
          <a:prstGeom prst="rect">
            <a:avLst/>
          </a:prstGeom>
          <a:noFill/>
        </p:spPr>
        <p:txBody>
          <a:bodyPr wrap="square">
            <a:spAutoFit/>
          </a:bodyPr>
          <a:lstStyle/>
          <a:p>
            <a:pPr algn="l"/>
            <a:r>
              <a:rPr sz="900" b="0">
                <a:solidFill>
                  <a:srgbClr val="5B5F63"/>
                </a:solidFill>
                <a:latin typeface="Pretendard"/>
              </a:rPr>
              <a:t>CEO</a:t>
            </a:r>
          </a:p>
        </p:txBody>
      </p:sp>
      <p:sp>
        <p:nvSpPr>
          <p:cNvPr id="13" name="TextBox 12"/>
          <p:cNvSpPr txBox="1"/>
          <p:nvPr/>
        </p:nvSpPr>
        <p:spPr>
          <a:xfrm>
            <a:off x="6400800" y="1755648"/>
            <a:ext cx="5212080" cy="475488"/>
          </a:xfrm>
          <a:prstGeom prst="rect">
            <a:avLst/>
          </a:prstGeom>
          <a:noFill/>
        </p:spPr>
        <p:txBody>
          <a:bodyPr wrap="square">
            <a:spAutoFit/>
          </a:bodyPr>
          <a:lstStyle/>
          <a:p>
            <a:pPr algn="l"/>
            <a:r>
              <a:rPr sz="850" b="0">
                <a:solidFill>
                  <a:srgbClr val="5B5F63"/>
                </a:solidFill>
                <a:latin typeface="Pretendard"/>
              </a:rPr>
              <a:t>Anything attributed to the company or its leadership.</a:t>
            </a:r>
          </a:p>
        </p:txBody>
      </p:sp>
      <p:sp>
        <p:nvSpPr>
          <p:cNvPr id="14" name="Rectangle 13"/>
          <p:cNvSpPr/>
          <p:nvPr/>
        </p:nvSpPr>
        <p:spPr>
          <a:xfrm>
            <a:off x="502920" y="2267712"/>
            <a:ext cx="11183112" cy="585216"/>
          </a:xfrm>
          <a:prstGeom prst="rect">
            <a:avLst/>
          </a:prstGeom>
          <a:solidFill>
            <a:srgbClr val="EC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340864"/>
            <a:ext cx="3108960" cy="475488"/>
          </a:xfrm>
          <a:prstGeom prst="rect">
            <a:avLst/>
          </a:prstGeom>
          <a:noFill/>
        </p:spPr>
        <p:txBody>
          <a:bodyPr wrap="square">
            <a:spAutoFit/>
          </a:bodyPr>
          <a:lstStyle/>
          <a:p>
            <a:pPr algn="l"/>
            <a:r>
              <a:rPr sz="900" b="1">
                <a:solidFill>
                  <a:srgbClr val="0A0A0A"/>
                </a:solidFill>
                <a:latin typeface="Pretendard"/>
              </a:rPr>
              <a:t>Technical claims and benchmarks</a:t>
            </a:r>
          </a:p>
        </p:txBody>
      </p:sp>
      <p:sp>
        <p:nvSpPr>
          <p:cNvPr id="16" name="TextBox 15"/>
          <p:cNvSpPr txBox="1"/>
          <p:nvPr/>
        </p:nvSpPr>
        <p:spPr>
          <a:xfrm>
            <a:off x="3840480" y="2340864"/>
            <a:ext cx="2468880" cy="475488"/>
          </a:xfrm>
          <a:prstGeom prst="rect">
            <a:avLst/>
          </a:prstGeom>
          <a:noFill/>
        </p:spPr>
        <p:txBody>
          <a:bodyPr wrap="square">
            <a:spAutoFit/>
          </a:bodyPr>
          <a:lstStyle/>
          <a:p>
            <a:pPr algn="l"/>
            <a:r>
              <a:rPr sz="900" b="0">
                <a:solidFill>
                  <a:srgbClr val="5B5F63"/>
                </a:solidFill>
                <a:latin typeface="Pretendard"/>
              </a:rPr>
              <a:t>CTO</a:t>
            </a:r>
          </a:p>
        </p:txBody>
      </p:sp>
      <p:sp>
        <p:nvSpPr>
          <p:cNvPr id="17" name="TextBox 16"/>
          <p:cNvSpPr txBox="1"/>
          <p:nvPr/>
        </p:nvSpPr>
        <p:spPr>
          <a:xfrm>
            <a:off x="6400800" y="2340864"/>
            <a:ext cx="5212080" cy="475488"/>
          </a:xfrm>
          <a:prstGeom prst="rect">
            <a:avLst/>
          </a:prstGeom>
          <a:noFill/>
        </p:spPr>
        <p:txBody>
          <a:bodyPr wrap="square">
            <a:spAutoFit/>
          </a:bodyPr>
          <a:lstStyle/>
          <a:p>
            <a:pPr algn="l"/>
            <a:r>
              <a:rPr sz="850" b="0">
                <a:solidFill>
                  <a:srgbClr val="5B5F63"/>
                </a:solidFill>
                <a:latin typeface="Pretendard"/>
              </a:rPr>
              <a:t>Accuracy figures, architecture claims, certifications. Verify before publishing.</a:t>
            </a:r>
          </a:p>
        </p:txBody>
      </p:sp>
      <p:sp>
        <p:nvSpPr>
          <p:cNvPr id="18" name="Rectangle 17"/>
          <p:cNvSpPr/>
          <p:nvPr/>
        </p:nvSpPr>
        <p:spPr>
          <a:xfrm>
            <a:off x="502920" y="2852928"/>
            <a:ext cx="11183112" cy="5852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2926080"/>
            <a:ext cx="3108960" cy="475488"/>
          </a:xfrm>
          <a:prstGeom prst="rect">
            <a:avLst/>
          </a:prstGeom>
          <a:noFill/>
        </p:spPr>
        <p:txBody>
          <a:bodyPr wrap="square">
            <a:spAutoFit/>
          </a:bodyPr>
          <a:lstStyle/>
          <a:p>
            <a:pPr algn="l"/>
            <a:r>
              <a:rPr sz="900" b="1">
                <a:solidFill>
                  <a:srgbClr val="0A0A0A"/>
                </a:solidFill>
                <a:latin typeface="Pretendard"/>
              </a:rPr>
              <a:t>Public pricing mentions</a:t>
            </a:r>
          </a:p>
        </p:txBody>
      </p:sp>
      <p:sp>
        <p:nvSpPr>
          <p:cNvPr id="20" name="TextBox 19"/>
          <p:cNvSpPr txBox="1"/>
          <p:nvPr/>
        </p:nvSpPr>
        <p:spPr>
          <a:xfrm>
            <a:off x="3840480" y="2926080"/>
            <a:ext cx="2468880" cy="475488"/>
          </a:xfrm>
          <a:prstGeom prst="rect">
            <a:avLst/>
          </a:prstGeom>
          <a:noFill/>
        </p:spPr>
        <p:txBody>
          <a:bodyPr wrap="square">
            <a:spAutoFit/>
          </a:bodyPr>
          <a:lstStyle/>
          <a:p>
            <a:pPr algn="l"/>
            <a:r>
              <a:rPr sz="900" b="0">
                <a:solidFill>
                  <a:srgbClr val="5B5F63"/>
                </a:solidFill>
                <a:latin typeface="Pretendard"/>
              </a:rPr>
              <a:t>Sales lead + CEO</a:t>
            </a:r>
          </a:p>
        </p:txBody>
      </p:sp>
      <p:sp>
        <p:nvSpPr>
          <p:cNvPr id="21" name="TextBox 20"/>
          <p:cNvSpPr txBox="1"/>
          <p:nvPr/>
        </p:nvSpPr>
        <p:spPr>
          <a:xfrm>
            <a:off x="6400800" y="2926080"/>
            <a:ext cx="5212080" cy="475488"/>
          </a:xfrm>
          <a:prstGeom prst="rect">
            <a:avLst/>
          </a:prstGeom>
          <a:noFill/>
        </p:spPr>
        <p:txBody>
          <a:bodyPr wrap="square">
            <a:spAutoFit/>
          </a:bodyPr>
          <a:lstStyle/>
          <a:p>
            <a:pPr algn="l"/>
            <a:r>
              <a:rPr sz="850" b="0">
                <a:solidFill>
                  <a:srgbClr val="5B5F63"/>
                </a:solidFill>
                <a:latin typeface="Pretendard"/>
              </a:rPr>
              <a:t>Pricing errors are costly and hard to retract.</a:t>
            </a:r>
          </a:p>
        </p:txBody>
      </p:sp>
      <p:sp>
        <p:nvSpPr>
          <p:cNvPr id="22" name="Rectangle 21"/>
          <p:cNvSpPr/>
          <p:nvPr/>
        </p:nvSpPr>
        <p:spPr>
          <a:xfrm>
            <a:off x="502920" y="3438144"/>
            <a:ext cx="11183112" cy="585216"/>
          </a:xfrm>
          <a:prstGeom prst="rect">
            <a:avLst/>
          </a:prstGeom>
          <a:solidFill>
            <a:srgbClr val="EC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511296"/>
            <a:ext cx="3108960" cy="475488"/>
          </a:xfrm>
          <a:prstGeom prst="rect">
            <a:avLst/>
          </a:prstGeom>
          <a:noFill/>
        </p:spPr>
        <p:txBody>
          <a:bodyPr wrap="square">
            <a:spAutoFit/>
          </a:bodyPr>
          <a:lstStyle/>
          <a:p>
            <a:pPr algn="l"/>
            <a:r>
              <a:rPr sz="900" b="1">
                <a:solidFill>
                  <a:srgbClr val="0A0A0A"/>
                </a:solidFill>
                <a:latin typeface="Pretendard"/>
              </a:rPr>
              <a:t>Campaign strategy and calendars</a:t>
            </a:r>
          </a:p>
        </p:txBody>
      </p:sp>
      <p:sp>
        <p:nvSpPr>
          <p:cNvPr id="24" name="TextBox 23"/>
          <p:cNvSpPr txBox="1"/>
          <p:nvPr/>
        </p:nvSpPr>
        <p:spPr>
          <a:xfrm>
            <a:off x="3840480" y="3511296"/>
            <a:ext cx="2468880" cy="475488"/>
          </a:xfrm>
          <a:prstGeom prst="rect">
            <a:avLst/>
          </a:prstGeom>
          <a:noFill/>
        </p:spPr>
        <p:txBody>
          <a:bodyPr wrap="square">
            <a:spAutoFit/>
          </a:bodyPr>
          <a:lstStyle/>
          <a:p>
            <a:pPr algn="l"/>
            <a:r>
              <a:rPr sz="900" b="0">
                <a:solidFill>
                  <a:srgbClr val="5B5F63"/>
                </a:solidFill>
                <a:latin typeface="Pretendard"/>
              </a:rPr>
              <a:t>Marketing lead</a:t>
            </a:r>
          </a:p>
        </p:txBody>
      </p:sp>
      <p:sp>
        <p:nvSpPr>
          <p:cNvPr id="25" name="TextBox 24"/>
          <p:cNvSpPr txBox="1"/>
          <p:nvPr/>
        </p:nvSpPr>
        <p:spPr>
          <a:xfrm>
            <a:off x="6400800" y="3511296"/>
            <a:ext cx="5212080" cy="475488"/>
          </a:xfrm>
          <a:prstGeom prst="rect">
            <a:avLst/>
          </a:prstGeom>
          <a:noFill/>
        </p:spPr>
        <p:txBody>
          <a:bodyPr wrap="square">
            <a:spAutoFit/>
          </a:bodyPr>
          <a:lstStyle/>
          <a:p>
            <a:pPr algn="l"/>
            <a:r>
              <a:rPr sz="850" b="0">
                <a:solidFill>
                  <a:srgbClr val="5B5F63"/>
                </a:solidFill>
                <a:latin typeface="Pretendard"/>
              </a:rPr>
              <a:t>Briefs, channel plans, content calendars, influencer briefs.</a:t>
            </a:r>
          </a:p>
        </p:txBody>
      </p:sp>
      <p:sp>
        <p:nvSpPr>
          <p:cNvPr id="26" name="Rectangle 25"/>
          <p:cNvSpPr/>
          <p:nvPr/>
        </p:nvSpPr>
        <p:spPr>
          <a:xfrm>
            <a:off x="502920" y="4023360"/>
            <a:ext cx="11183112" cy="5852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4096512"/>
            <a:ext cx="3108960" cy="475488"/>
          </a:xfrm>
          <a:prstGeom prst="rect">
            <a:avLst/>
          </a:prstGeom>
          <a:noFill/>
        </p:spPr>
        <p:txBody>
          <a:bodyPr wrap="square">
            <a:spAutoFit/>
          </a:bodyPr>
          <a:lstStyle/>
          <a:p>
            <a:pPr algn="l"/>
            <a:r>
              <a:rPr sz="900" b="1">
                <a:solidFill>
                  <a:srgbClr val="0A0A0A"/>
                </a:solidFill>
                <a:latin typeface="Pretendard"/>
              </a:rPr>
              <a:t>Platform bios and handles</a:t>
            </a:r>
          </a:p>
        </p:txBody>
      </p:sp>
      <p:sp>
        <p:nvSpPr>
          <p:cNvPr id="28" name="TextBox 27"/>
          <p:cNvSpPr txBox="1"/>
          <p:nvPr/>
        </p:nvSpPr>
        <p:spPr>
          <a:xfrm>
            <a:off x="3840480" y="4096512"/>
            <a:ext cx="2468880" cy="475488"/>
          </a:xfrm>
          <a:prstGeom prst="rect">
            <a:avLst/>
          </a:prstGeom>
          <a:noFill/>
        </p:spPr>
        <p:txBody>
          <a:bodyPr wrap="square">
            <a:spAutoFit/>
          </a:bodyPr>
          <a:lstStyle/>
          <a:p>
            <a:pPr algn="l"/>
            <a:r>
              <a:rPr sz="900" b="0">
                <a:solidFill>
                  <a:srgbClr val="5B5F63"/>
                </a:solidFill>
                <a:latin typeface="Pretendard"/>
              </a:rPr>
              <a:t>Marketing lead + CEO</a:t>
            </a:r>
          </a:p>
        </p:txBody>
      </p:sp>
      <p:sp>
        <p:nvSpPr>
          <p:cNvPr id="29" name="TextBox 28"/>
          <p:cNvSpPr txBox="1"/>
          <p:nvPr/>
        </p:nvSpPr>
        <p:spPr>
          <a:xfrm>
            <a:off x="6400800" y="4096512"/>
            <a:ext cx="5212080" cy="475488"/>
          </a:xfrm>
          <a:prstGeom prst="rect">
            <a:avLst/>
          </a:prstGeom>
          <a:noFill/>
        </p:spPr>
        <p:txBody>
          <a:bodyPr wrap="square">
            <a:spAutoFit/>
          </a:bodyPr>
          <a:lstStyle/>
          <a:p>
            <a:pPr algn="l"/>
            <a:r>
              <a:rPr sz="850" b="0">
                <a:solidFill>
                  <a:srgbClr val="5B5F63"/>
                </a:solidFill>
                <a:latin typeface="Pretendard"/>
              </a:rPr>
              <a:t>Bios change how the brand is found in search.</a:t>
            </a:r>
          </a:p>
        </p:txBody>
      </p:sp>
      <p:sp>
        <p:nvSpPr>
          <p:cNvPr id="30" name="Rectangle 29"/>
          <p:cNvSpPr/>
          <p:nvPr/>
        </p:nvSpPr>
        <p:spPr>
          <a:xfrm>
            <a:off x="502920" y="4608576"/>
            <a:ext cx="11183112" cy="585216"/>
          </a:xfrm>
          <a:prstGeom prst="rect">
            <a:avLst/>
          </a:prstGeom>
          <a:solidFill>
            <a:srgbClr val="EC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4681728"/>
            <a:ext cx="3108960" cy="475488"/>
          </a:xfrm>
          <a:prstGeom prst="rect">
            <a:avLst/>
          </a:prstGeom>
          <a:noFill/>
        </p:spPr>
        <p:txBody>
          <a:bodyPr wrap="square">
            <a:spAutoFit/>
          </a:bodyPr>
          <a:lstStyle/>
          <a:p>
            <a:pPr algn="l"/>
            <a:r>
              <a:rPr sz="900" b="1">
                <a:solidFill>
                  <a:srgbClr val="0A0A0A"/>
                </a:solidFill>
                <a:latin typeface="Pretendard"/>
              </a:rPr>
              <a:t>Brand visual changes</a:t>
            </a:r>
          </a:p>
        </p:txBody>
      </p:sp>
      <p:sp>
        <p:nvSpPr>
          <p:cNvPr id="32" name="TextBox 31"/>
          <p:cNvSpPr txBox="1"/>
          <p:nvPr/>
        </p:nvSpPr>
        <p:spPr>
          <a:xfrm>
            <a:off x="3840480" y="4681728"/>
            <a:ext cx="2468880" cy="475488"/>
          </a:xfrm>
          <a:prstGeom prst="rect">
            <a:avLst/>
          </a:prstGeom>
          <a:noFill/>
        </p:spPr>
        <p:txBody>
          <a:bodyPr wrap="square">
            <a:spAutoFit/>
          </a:bodyPr>
          <a:lstStyle/>
          <a:p>
            <a:pPr algn="l"/>
            <a:r>
              <a:rPr sz="900" b="0">
                <a:solidFill>
                  <a:srgbClr val="5B5F63"/>
                </a:solidFill>
                <a:latin typeface="Pretendard"/>
              </a:rPr>
              <a:t>CEO + design review</a:t>
            </a:r>
          </a:p>
        </p:txBody>
      </p:sp>
      <p:sp>
        <p:nvSpPr>
          <p:cNvPr id="33" name="TextBox 32"/>
          <p:cNvSpPr txBox="1"/>
          <p:nvPr/>
        </p:nvSpPr>
        <p:spPr>
          <a:xfrm>
            <a:off x="6400800" y="4681728"/>
            <a:ext cx="5212080" cy="475488"/>
          </a:xfrm>
          <a:prstGeom prst="rect">
            <a:avLst/>
          </a:prstGeom>
          <a:noFill/>
        </p:spPr>
        <p:txBody>
          <a:bodyPr wrap="square">
            <a:spAutoFit/>
          </a:bodyPr>
          <a:lstStyle/>
          <a:p>
            <a:pPr algn="l"/>
            <a:r>
              <a:rPr sz="850" b="0">
                <a:solidFill>
                  <a:srgbClr val="5B5F63"/>
                </a:solidFill>
                <a:latin typeface="Pretendard"/>
              </a:rPr>
              <a:t>Color, logo or type changes need a consistency audit first.</a:t>
            </a:r>
          </a:p>
        </p:txBody>
      </p:sp>
      <p:sp>
        <p:nvSpPr>
          <p:cNvPr id="34" name="Rectangle 33"/>
          <p:cNvSpPr/>
          <p:nvPr/>
        </p:nvSpPr>
        <p:spPr>
          <a:xfrm>
            <a:off x="502920" y="5193792"/>
            <a:ext cx="11183112" cy="5852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5266944"/>
            <a:ext cx="3108960" cy="475488"/>
          </a:xfrm>
          <a:prstGeom prst="rect">
            <a:avLst/>
          </a:prstGeom>
          <a:noFill/>
        </p:spPr>
        <p:txBody>
          <a:bodyPr wrap="square">
            <a:spAutoFit/>
          </a:bodyPr>
          <a:lstStyle/>
          <a:p>
            <a:pPr algn="l"/>
            <a:r>
              <a:rPr sz="900" b="1">
                <a:solidFill>
                  <a:srgbClr val="0A0A0A"/>
                </a:solidFill>
                <a:latin typeface="Pretendard"/>
              </a:rPr>
              <a:t>Influencer content</a:t>
            </a:r>
          </a:p>
        </p:txBody>
      </p:sp>
      <p:sp>
        <p:nvSpPr>
          <p:cNvPr id="36" name="TextBox 35"/>
          <p:cNvSpPr txBox="1"/>
          <p:nvPr/>
        </p:nvSpPr>
        <p:spPr>
          <a:xfrm>
            <a:off x="3840480" y="5266944"/>
            <a:ext cx="2468880" cy="475488"/>
          </a:xfrm>
          <a:prstGeom prst="rect">
            <a:avLst/>
          </a:prstGeom>
          <a:noFill/>
        </p:spPr>
        <p:txBody>
          <a:bodyPr wrap="square">
            <a:spAutoFit/>
          </a:bodyPr>
          <a:lstStyle/>
          <a:p>
            <a:pPr algn="l"/>
            <a:r>
              <a:rPr sz="900" b="0">
                <a:solidFill>
                  <a:srgbClr val="5B5F63"/>
                </a:solidFill>
                <a:latin typeface="Pretendard"/>
              </a:rPr>
              <a:t>Marketing lead (CEO above 50K reach)</a:t>
            </a:r>
          </a:p>
        </p:txBody>
      </p:sp>
      <p:sp>
        <p:nvSpPr>
          <p:cNvPr id="37" name="TextBox 36"/>
          <p:cNvSpPr txBox="1"/>
          <p:nvPr/>
        </p:nvSpPr>
        <p:spPr>
          <a:xfrm>
            <a:off x="6400800" y="5266944"/>
            <a:ext cx="5212080" cy="475488"/>
          </a:xfrm>
          <a:prstGeom prst="rect">
            <a:avLst/>
          </a:prstGeom>
          <a:noFill/>
        </p:spPr>
        <p:txBody>
          <a:bodyPr wrap="square">
            <a:spAutoFit/>
          </a:bodyPr>
          <a:lstStyle/>
          <a:p>
            <a:pPr algn="l"/>
            <a:r>
              <a:rPr sz="850" b="0">
                <a:solidFill>
                  <a:srgbClr val="5B5F63"/>
                </a:solidFill>
                <a:latin typeface="Pretendard"/>
              </a:rPr>
              <a:t>We approve the facts; creators keep their voice.</a:t>
            </a:r>
          </a:p>
        </p:txBody>
      </p:sp>
      <p:sp>
        <p:nvSpPr>
          <p:cNvPr id="38" name="Rectangle 37"/>
          <p:cNvSpPr/>
          <p:nvPr/>
        </p:nvSpPr>
        <p:spPr>
          <a:xfrm>
            <a:off x="502920" y="5779008"/>
            <a:ext cx="11183112" cy="585216"/>
          </a:xfrm>
          <a:prstGeom prst="rect">
            <a:avLst/>
          </a:prstGeom>
          <a:solidFill>
            <a:srgbClr val="EC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 y="5852160"/>
            <a:ext cx="3108960" cy="475488"/>
          </a:xfrm>
          <a:prstGeom prst="rect">
            <a:avLst/>
          </a:prstGeom>
          <a:noFill/>
        </p:spPr>
        <p:txBody>
          <a:bodyPr wrap="square">
            <a:spAutoFit/>
          </a:bodyPr>
          <a:lstStyle/>
          <a:p>
            <a:pPr algn="l"/>
            <a:r>
              <a:rPr sz="900" b="1">
                <a:solidFill>
                  <a:srgbClr val="0A0A0A"/>
                </a:solidFill>
                <a:latin typeface="Pretendard"/>
              </a:rPr>
              <a:t>Crisis or regulatory response</a:t>
            </a:r>
          </a:p>
        </p:txBody>
      </p:sp>
      <p:sp>
        <p:nvSpPr>
          <p:cNvPr id="40" name="TextBox 39"/>
          <p:cNvSpPr txBox="1"/>
          <p:nvPr/>
        </p:nvSpPr>
        <p:spPr>
          <a:xfrm>
            <a:off x="3840480" y="5852160"/>
            <a:ext cx="2468880" cy="475488"/>
          </a:xfrm>
          <a:prstGeom prst="rect">
            <a:avLst/>
          </a:prstGeom>
          <a:noFill/>
        </p:spPr>
        <p:txBody>
          <a:bodyPr wrap="square">
            <a:spAutoFit/>
          </a:bodyPr>
          <a:lstStyle/>
          <a:p>
            <a:pPr algn="l"/>
            <a:r>
              <a:rPr sz="900" b="0">
                <a:solidFill>
                  <a:srgbClr val="5B5F63"/>
                </a:solidFill>
                <a:latin typeface="Pretendard"/>
              </a:rPr>
              <a:t>CEO + legal counsel</a:t>
            </a:r>
          </a:p>
        </p:txBody>
      </p:sp>
      <p:sp>
        <p:nvSpPr>
          <p:cNvPr id="41" name="TextBox 40"/>
          <p:cNvSpPr txBox="1"/>
          <p:nvPr/>
        </p:nvSpPr>
        <p:spPr>
          <a:xfrm>
            <a:off x="6400800" y="5852160"/>
            <a:ext cx="5212080" cy="475488"/>
          </a:xfrm>
          <a:prstGeom prst="rect">
            <a:avLst/>
          </a:prstGeom>
          <a:noFill/>
        </p:spPr>
        <p:txBody>
          <a:bodyPr wrap="square">
            <a:spAutoFit/>
          </a:bodyPr>
          <a:lstStyle/>
          <a:p>
            <a:pPr algn="l"/>
            <a:r>
              <a:rPr sz="850" b="0">
                <a:solidFill>
                  <a:srgbClr val="5B5F63"/>
                </a:solidFill>
                <a:latin typeface="Pretendard"/>
              </a:rPr>
              <a:t>Regulatory inquiries, incidents, significant public criticism.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8096" cy="6858000"/>
          </a:xfrm>
          <a:prstGeom prst="rect">
            <a:avLst/>
          </a:prstGeom>
          <a:solidFill>
            <a:srgbClr val="FAFA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0" y="5212080"/>
            <a:ext cx="12198096" cy="1645920"/>
          </a:xfrm>
          <a:custGeom>
            <a:avLst/>
            <a:gdLst/>
            <a:ahLst/>
            <a:cxnLst/>
            <a:rect l="l" t="t" r="r" b="b"/>
            <a:pathLst>
              <a:path w="12198096" h="1645920">
                <a:moveTo>
                  <a:pt x="0" y="1645920"/>
                </a:moveTo>
                <a:lnTo>
                  <a:pt x="0" y="685800"/>
                </a:lnTo>
                <a:lnTo>
                  <a:pt x="2194560" y="137160"/>
                </a:lnTo>
                <a:lnTo>
                  <a:pt x="4389120" y="640080"/>
                </a:lnTo>
                <a:lnTo>
                  <a:pt x="6583680" y="0"/>
                </a:lnTo>
                <a:lnTo>
                  <a:pt x="8778240" y="594360"/>
                </a:lnTo>
                <a:lnTo>
                  <a:pt x="10972800" y="228600"/>
                </a:lnTo>
                <a:lnTo>
                  <a:pt x="12198096" y="640080"/>
                </a:lnTo>
                <a:lnTo>
                  <a:pt x="12198096" y="1645920"/>
                </a:lnTo>
                <a:close/>
              </a:path>
            </a:pathLst>
          </a:custGeom>
          <a:solidFill>
            <a:srgbClr val="E1E0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0" y="5806440"/>
            <a:ext cx="12198096" cy="1051560"/>
          </a:xfrm>
          <a:custGeom>
            <a:avLst/>
            <a:gdLst/>
            <a:ahLst/>
            <a:cxnLst/>
            <a:rect l="l" t="t" r="r" b="b"/>
            <a:pathLst>
              <a:path w="12198096" h="1051560">
                <a:moveTo>
                  <a:pt x="0" y="1051560"/>
                </a:moveTo>
                <a:lnTo>
                  <a:pt x="0" y="548640"/>
                </a:lnTo>
                <a:lnTo>
                  <a:pt x="3017520" y="91440"/>
                </a:lnTo>
                <a:lnTo>
                  <a:pt x="6035040" y="502920"/>
                </a:lnTo>
                <a:lnTo>
                  <a:pt x="9052560" y="0"/>
                </a:lnTo>
                <a:lnTo>
                  <a:pt x="12198096" y="457200"/>
                </a:lnTo>
                <a:lnTo>
                  <a:pt x="12198096" y="1051560"/>
                </a:lnTo>
                <a:close/>
              </a:path>
            </a:pathLst>
          </a:custGeom>
          <a:solidFill>
            <a:srgbClr val="CFCE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19379" y="1324051"/>
            <a:ext cx="95097" cy="95097"/>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91286" y="1340510"/>
            <a:ext cx="62179" cy="62179"/>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35761" y="1329537"/>
            <a:ext cx="84124" cy="84124"/>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05840" y="1344168"/>
            <a:ext cx="54864" cy="54864"/>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52144" y="1335024"/>
            <a:ext cx="73152" cy="73152"/>
          </a:xfrm>
          <a:prstGeom prst="ellipse">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691640"/>
            <a:ext cx="10058400" cy="457200"/>
          </a:xfrm>
          <a:prstGeom prst="rect">
            <a:avLst/>
          </a:prstGeom>
          <a:noFill/>
        </p:spPr>
        <p:txBody>
          <a:bodyPr wrap="square">
            <a:spAutoFit/>
          </a:bodyPr>
          <a:lstStyle/>
          <a:p>
            <a:pPr algn="l"/>
            <a:r>
              <a:rPr sz="1500" b="0">
                <a:solidFill>
                  <a:srgbClr val="5B5F63"/>
                </a:solidFill>
                <a:latin typeface="Pretendard"/>
              </a:rPr>
              <a:t>One rule above all others:</a:t>
            </a:r>
          </a:p>
        </p:txBody>
      </p:sp>
      <p:sp>
        <p:nvSpPr>
          <p:cNvPr id="11" name="TextBox 10"/>
          <p:cNvSpPr txBox="1"/>
          <p:nvPr/>
        </p:nvSpPr>
        <p:spPr>
          <a:xfrm>
            <a:off x="502920" y="2194560"/>
            <a:ext cx="10515600" cy="1463040"/>
          </a:xfrm>
          <a:prstGeom prst="rect">
            <a:avLst/>
          </a:prstGeom>
          <a:noFill/>
        </p:spPr>
        <p:txBody>
          <a:bodyPr wrap="square">
            <a:spAutoFit/>
          </a:bodyPr>
          <a:lstStyle/>
          <a:p>
            <a:pPr algn="l"/>
            <a:r>
              <a:rPr sz="3400" b="1">
                <a:solidFill>
                  <a:srgbClr val="0A0A0A"/>
                </a:solidFill>
                <a:latin typeface="Pretendard"/>
              </a:rPr>
              <a:t>Be consistently more useful
than you are impressive.</a:t>
            </a:r>
          </a:p>
        </p:txBody>
      </p:sp>
      <p:sp>
        <p:nvSpPr>
          <p:cNvPr id="12" name="Rectangle 11"/>
          <p:cNvSpPr/>
          <p:nvPr/>
        </p:nvSpPr>
        <p:spPr>
          <a:xfrm>
            <a:off x="521207" y="3977639"/>
            <a:ext cx="2926080" cy="10972"/>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1207" y="4160520"/>
            <a:ext cx="8686800" cy="548640"/>
          </a:xfrm>
          <a:prstGeom prst="rect">
            <a:avLst/>
          </a:prstGeom>
          <a:noFill/>
        </p:spPr>
        <p:txBody>
          <a:bodyPr wrap="square">
            <a:spAutoFit/>
          </a:bodyPr>
          <a:lstStyle/>
          <a:p>
            <a:pPr algn="l"/>
            <a:r>
              <a:rPr sz="1100" b="0">
                <a:solidFill>
                  <a:srgbClr val="5B5F63"/>
                </a:solidFill>
                <a:latin typeface="Pretendard"/>
              </a:rPr>
              <a:t>The brand is a promise kept in every post, every document, every conversation. Hold the standard.</a:t>
            </a:r>
          </a:p>
        </p:txBody>
      </p:sp>
      <p:sp>
        <p:nvSpPr>
          <p:cNvPr id="14" name="TextBox 13"/>
          <p:cNvSpPr txBox="1"/>
          <p:nvPr/>
        </p:nvSpPr>
        <p:spPr>
          <a:xfrm>
            <a:off x="521207" y="4800600"/>
            <a:ext cx="8229600" cy="320040"/>
          </a:xfrm>
          <a:prstGeom prst="rect">
            <a:avLst/>
          </a:prstGeom>
          <a:noFill/>
        </p:spPr>
        <p:txBody>
          <a:bodyPr wrap="square">
            <a:spAutoFit/>
          </a:bodyPr>
          <a:lstStyle/>
          <a:p>
            <a:pPr algn="l"/>
            <a:r>
              <a:rPr sz="900" b="0">
                <a:solidFill>
                  <a:srgbClr val="B0B0AA"/>
                </a:solidFill>
                <a:latin typeface="Pretendard"/>
              </a:rPr>
              <a:t>Prem Brand Bible  v3.0   June 2026   Internal use only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
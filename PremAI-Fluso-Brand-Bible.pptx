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4389120"/>
            <a:ext cx="3749039" cy="2468880"/>
          </a:xfrm>
          <a:prstGeom prst="rect">
            <a:avLst/>
          </a:prstGeom>
          <a:solidFill>
            <a:srgbClr val="0E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THE BRAND BIBLE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3B82F6"/>
                </a:solidFill>
                <a:latin typeface="Calibri"/>
              </a:rPr>
              <a:t>PremAI  +  Fluso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Brand Architecture  |  Voice &amp; Tone  |  Visual Identity  |  Platform Guidelines  |  Content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32004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v1.0  |  June 2026  |  Internal Use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800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563E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Brand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276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Prem parent / Fluso sub-brand 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8483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Brand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32303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What each brand claims and proves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95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8895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The Category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36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"Verifiable AI" — how we name what we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941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941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Voice &amp; Tone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041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4 principles + the banned list + 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98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988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Visual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Colors, typography, logo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Platform Playbook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6509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LinkedIn, X, Instagram, Facebook, website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18288" cy="53035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801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Content Pillars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6276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The 4 topics each brand owns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0848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0848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Audience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432303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Persona-to-platform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88950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8895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Brand Vocabulary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2369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Words we own / words we never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6941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6941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Positioning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4041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The "Obviously Awesome"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4988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498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Brand Governance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Who approves what — no exceptions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01 — BRAND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One family. Two distinct identities.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212080" cy="4663440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2120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928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PREM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Masterbrand — enterprise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529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CISOs, CTOs, compliance officers, enterprise procurement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36499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Authoritative, precise, institutional — peer-to-peer CTO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770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8770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LinkedIn (primary), website, press, investor and partner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38912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Build the category "Verifiable AI." Win regulated enterprise.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011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LOGO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90118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Full Prem wordmark + tagline in all enterprise-facing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783080"/>
            <a:ext cx="5394960" cy="4663440"/>
          </a:xfrm>
          <a:prstGeom prst="rect">
            <a:avLst/>
          </a:prstGeom>
          <a:solidFill>
            <a:srgbClr val="16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783080"/>
            <a:ext cx="53949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89280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59E0B"/>
                </a:solidFill>
                <a:latin typeface="Calibri"/>
              </a:rPr>
              <a:t>FLUSO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4414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Product sub-brand — user-facing 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529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8529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Lawyers, analysts, researchers, developers, prosumers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64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TONE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36499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Direct, builder-voice, grounded, honest about 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8770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38770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X (primary), Instagram, product blog, Discord / 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PURPOSE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43891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Be the product builders recommend to each other. Earned credibility.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011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LOGO USAGE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90118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"Fluso by Prem" lockup on product surfaces; standalone on X/IG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017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"Fluso by Prem"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34290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not
"Prem's product"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30368" y="4114800"/>
            <a:ext cx="1783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Sub-brand allows
Fluso its own
personality while
borrowing Prem's
enterprise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02 — BRAND POSITIONING  |  PREM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32588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"Enterprise AI you can prove."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The only AI platform that ships cryptographic attestation with every inference. Not a policy — a proof.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NOT
a policy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649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A hardware-signed
proof per inference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05072"/>
            <a:ext cx="3108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96512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Reticle produces a cryptographic
attestation at the TEE layer on every
inference. No competitor does this.
Mathematically verifiable.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65176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265176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NOT
a locked 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3649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True model
portability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005072"/>
            <a:ext cx="3108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096512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Run any open-source model on your
own infrastructure. Switch models in
under one hour. No migration cost.
No vendor lock-in.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651760"/>
            <a:ext cx="35661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2651760"/>
            <a:ext cx="35661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Calibri"/>
              </a:rPr>
              <a:t>NOT
a SaaS subscription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64992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Calibri"/>
              </a:rPr>
              <a:t>On-premise
sovereignty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05072"/>
            <a:ext cx="3108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096512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Your data never leaves your VPC.
Your jurisdiction governs — not the
provider's. Auditable by your team,
your legal counsel, your regulator.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0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02 — BRAND POSITIONING  |  FLUSO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"Work deeper, not longer."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Deep-work AI for knowledge professionals who think in 20-minute sessions, not prompt chains.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124712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78892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Lawyers, analysts, researchers, engineers doing cognitive-heavy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39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WHO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3520439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AI that integrates into deep-work sessions without breaking concentration or creating new overhead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UNLIKE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25196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ChatGPT / Copilot — chat-first tools optimised for quick answers, not sustained reasoning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FLUSO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98348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Open-model AI workspace built for 10-30 min focused workflows with full session audit trail and honest accuracy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  <a:latin typeface="Calibri"/>
              </a:rPr>
              <a:t>THE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71500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"59 min/day lost to information search. 60% of knowledge-worker time consumed by work about work." Fluso cuts both.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03 — THE CATEGORY WE'RE CREATING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Verifiable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Not "Private AI." Not "Secure AI." Not "Compliant AI." A new category Prem owns.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566160" cy="4343400"/>
          </a:xfrm>
          <a:prstGeom prst="rect">
            <a:avLst/>
          </a:prstGeom>
          <a:solidFill>
            <a:srgbClr val="0E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566160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Policy-based
"Private AI"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99232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Contractual promise that
the provider handles your
data properly.
Breaks when providers
change Terms of Service
or receive a subpoena.
Cannot be audited.
Must be trusted.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5968" y="2148840"/>
            <a:ext cx="3566160" cy="4343400"/>
          </a:xfrm>
          <a:prstGeom prst="rect">
            <a:avLst/>
          </a:prstGeom>
          <a:solidFill>
            <a:srgbClr val="0E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148840"/>
            <a:ext cx="3566160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267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Perimeter-based
"Secure AI"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999232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Firewall and access
controls around the AI
system's exterior.
Does not tell you what
happened inside the
model during inference.
Proves boundary, not
behaviour.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2148840"/>
            <a:ext cx="3566160" cy="4343400"/>
          </a:xfrm>
          <a:prstGeom prst="rect">
            <a:avLst/>
          </a:prstGeom>
          <a:solidFill>
            <a:srgbClr val="12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74736" y="2148840"/>
            <a:ext cx="35661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67712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Verifiable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999232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Hardware-signed
cryptographic proof
per inference via Reticle
(TEE layer).
Mathematically
verifiable by any
party with access to
the open-source code.
No trust required.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75904" y="6080760"/>
            <a:ext cx="3108960" cy="27432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6099048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PREM'S CATEGORY  —  OWN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04 — VOICE &amp; TONE  |  FOUR PRINCIPLES  (both brands)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7432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44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9280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Precise
over poetic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700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Name the exact thing. Use numbers when you have them.
"Reduces audit prep from 3 weeks to 4 days" beats "dramatically accelerates compliance."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188720"/>
            <a:ext cx="27432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344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189280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Useful
over impressive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6700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Every piece of content should leave the reader able to do something they couldn't before.
If it reads like a capability tour, rewrite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1188720"/>
            <a:ext cx="27432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344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189280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Specific
over sweeping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6700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No "many companies." No "most organisations." Say who, where, how many.
If you can't source it, don't claim 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98864" y="1188720"/>
            <a:ext cx="27432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98864" y="1188720"/>
            <a:ext cx="27432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344168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563EB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1892807"/>
            <a:ext cx="2377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Honest
about limits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670048"/>
            <a:ext cx="2377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State what the product does not do. Admit what the data does not show.
Readers trust brands that acknowledge constraints more than brands that don't.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A5A5"/>
                </a:solidFill>
                <a:latin typeface="Calibri"/>
              </a:rPr>
              <a:t>04 — VOICE &amp; TONE  |  THE BANNED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These patterns are prohibited across all PremAI and Fluso content. No exceptions.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3657600" cy="534924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3657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CA5A5"/>
                </a:solidFill>
                <a:latin typeface="Calibri"/>
              </a:rPr>
              <a:t>BANNED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Revolutionary / Game-changing / Effortless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32887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Unlock your potential / Empower your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8269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"AI-powered" (everything is AI-powered)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32503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8678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"The future of work"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823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3659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"We're excited to announce"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32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"Industry-leading" (unverifiable superlative)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1170432"/>
            <a:ext cx="3657600" cy="534924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9392" y="1170432"/>
            <a:ext cx="3657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1280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CA5A5"/>
                </a:solidFill>
                <a:latin typeface="Calibri"/>
              </a:rPr>
              <a:t>BANNED STRUCTURES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783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Em dashes (—) anywhere in copy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532887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24871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Rhetorical hooks: "What if your AI could..."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8269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3236976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Fragment staccato: "Faster. Smarter. Better."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032503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398678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"Not X, but Y" construction throughout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7823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473659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Aphoristic closers: "That's the future we're building."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532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5486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Ending posts with a question: "What do you think?"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93024" y="1170432"/>
            <a:ext cx="3657600" cy="534924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93024" y="1170432"/>
            <a:ext cx="36576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1280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CA5A5"/>
                </a:solidFill>
                <a:latin typeface="Calibri"/>
              </a:rPr>
              <a:t>BANNED CLAIMS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178308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95944" y="1737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"Swiss jurisdiction" when deployed in customer VPC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2532887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95944" y="2487168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"Privacy-first" as a primary positioning claim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3282696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95944" y="3236976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Any accuracy figure without a named source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4192" y="4032503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95944" y="3986783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Implying competitors are dishonest — show data instead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4782312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4736592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Any compliance cert the company does not currently hold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5532120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5944" y="54864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"Pilot momentum" rhythm in product announcements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04 — VOICE &amp; TONE  | 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LINKEDIN PRODUCT INTRO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486400" cy="13716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81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  <a:latin typeface="Calibri"/>
              </a:rPr>
              <a:t>DON'T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Introducing Prem — the revolutionary AI platform that empowers your team to unlock new levels of productivity while keeping data safe.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48640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4864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5819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  <a:latin typeface="Calibri"/>
              </a:rPr>
              <a:t>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Prem runs on your infrastructure. Every inference produces a cryptographic proof via Reticle. Your compliance team can audit what ran, when, and on which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63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X / FLUSO POST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5486400" cy="13716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37560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410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  <a:latin typeface="Calibri"/>
              </a:rPr>
              <a:t>DON'T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What if your AI could actually prove it's private? That's not a dream. That's Fluso.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337560"/>
            <a:ext cx="548640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37560"/>
            <a:ext cx="54864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4107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  <a:latin typeface="Calibri"/>
              </a:rPr>
              <a:t>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Fluso produced a hardware-signed audit trail for every session in our legal workflow. Our CISO asked how. I sent them the Reticle docs.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PARTNERSHIP ANNOUNCEMENT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166359"/>
            <a:ext cx="5486400" cy="13716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166359"/>
            <a:ext cx="54864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39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C2626"/>
                </a:solidFill>
                <a:latin typeface="Calibri"/>
              </a:rPr>
              <a:t>DON'T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We're excited to announce our partnership with [Partner]. Together we're shaping the future of enterprise AI.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5166359"/>
            <a:ext cx="548640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5166359"/>
            <a:ext cx="54864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5239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  <a:latin typeface="Calibri"/>
              </a:rPr>
              <a:t>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864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[Partner] deploying Prem across 400 compliance workflows — first regulated-industry deployment at this scale with full attestation. Implementation notes are on our blog.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05 — VISUAL IDENTITY  |  PREM COLOR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103120" cy="26517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Deep Navy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#0A0F1E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 background.
60% of any Prem visual.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8336" y="1097280"/>
            <a:ext cx="2103120" cy="2651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Electric Blue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#2563EB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Primary accent.
CTAs, highlights, links.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0912" y="1097280"/>
            <a:ext cx="2103120" cy="2651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Sky Blue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#3B82F6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Secondary accent.
Subtle callouts.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1097280"/>
            <a:ext cx="2103120" cy="2651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#64748B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Body text on dark.
Secondary labels.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56064" y="1097280"/>
            <a:ext cx="2103120" cy="2651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Off-white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#F8FAFC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6064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Light-mode backgrounds.
Long-form content.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0E1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USAGE RULES:   60% Navy  |  25% Off-white  |  15% Blue accents  |  Never: warm tones in Prem assets  |  Never: gradients except within product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05 — VISUAL IDENTITY  |  FLUSO COLOR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103120" cy="2651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Deep Dark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#1A1A2E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Primary background.
65% of Fluso visuals.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8336" y="1097280"/>
            <a:ext cx="2103120" cy="2651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Focused Amber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#F59E0B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8336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Primary accent.
Use with intention.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0912" y="1097280"/>
            <a:ext cx="2103120" cy="2651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Bright Amber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#FBB924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Hover, highlight,
callout states.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1097280"/>
            <a:ext cx="2103120" cy="2651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Cool Slate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#94A3B8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Body text labels
on dark backgrounds.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56064" y="1097280"/>
            <a:ext cx="2103120" cy="26517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38587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Warm Cream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#FFF7ED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6064" y="4590288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Light-mode docs,
blog backgrounds.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669280"/>
            <a:ext cx="11430000" cy="914400"/>
          </a:xfrm>
          <a:prstGeom prst="rect">
            <a:avLst/>
          </a:prstGeom>
          <a:solidFill>
            <a:srgbClr val="1E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USAGE RULES:   65% Deep Dark  |  20% Cream in light sections  |  15% Amber accents  |  Amber on dark = energy  |  Amber on light = caution. Test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05 — VISUAL IDENTITY  |  TYPOGRAPHY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PREM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Primary: Inter (fallback: Neue Haas Grotesk / Calibri)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574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Display / 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Inter Bold, 36-48pt, tracking -0.5%,
tight leading (1.2x)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9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H2 / Section 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679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Inter SemiBold, 20-28pt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0098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Body 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009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Inter Regular, 10-12pt, leading 1.6x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227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Caption /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9227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Inter Medium, 8-9pt, ALL CAPS for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44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Data callout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544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Inter Bold, 18-24pt, accent color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80"/>
            <a:ext cx="52120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285232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172A"/>
                </a:solidFill>
                <a:latin typeface="Calibri"/>
              </a:rPr>
              <a:t>Typography Rules — Both Brands</a:t>
            </a:r>
          </a:p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Never italicise for emphasis. Bold only.</a:t>
            </a:r>
          </a:p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Minimum 10pt digital, 8pt print.</a:t>
            </a:r>
          </a:p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Max 70 characters per body line.</a:t>
            </a:r>
          </a:p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Body leading minimum 1.5x.</a:t>
            </a:r>
          </a:p>
          <a:p>
            <a:pPr algn="l"/>
            <a:r>
              <a:rPr sz="850" b="0">
                <a:solidFill>
                  <a:srgbClr val="475569"/>
                </a:solidFill>
                <a:latin typeface="Calibri"/>
              </a:rPr>
              <a:t>No decorative or serif fonts in UI or ads.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143000"/>
            <a:ext cx="18288" cy="5440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FLUSO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572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Same family — Inter. Different treatment.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57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Letter spacing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Slightly looser (+0.5%) than Prem to feel
more open and accessible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67919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Line height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6791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1.7x for body — more breathing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3009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Case convention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3009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Sentence case preferred over Title Case in
captions and CTAs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2277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Callouts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92277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Inter Bold at display scale; amber color;  
no framing box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4456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F172A"/>
                </a:solidFill>
                <a:latin typeface="Calibri"/>
              </a:rPr>
              <a:t>Code / terminal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5445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  <a:latin typeface="Calibri"/>
              </a:rPr>
              <a:t>Fira Code or JetBrains Mono for product
UI and developer content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5212080"/>
            <a:ext cx="52120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3492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  <a:latin typeface="Calibri"/>
              </a:rPr>
              <a:t>Shared typeface = brand family coherence.
Different treatment = distinct product personality.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06 — PLATFORM PLAYBOOK  |  LINKEDIN  (PREM PRIMARY CHANNEL)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394960" cy="5806440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CISOs, CTOs, compliance officers, legal ops leads, VCs — all active and reading long-form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34639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Establish Prem as the default answer to "which enterprise AI can I put in front of a regulator?"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67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NOT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Product launches, discount offers, follower counts. These are vanity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74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48655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Qualified inbound mentions of Prem in a sales context. Branded search volume increase.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49808"/>
            <a:ext cx="5577840" cy="580644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868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Execution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3533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53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Name field: "Prem AI | Enterprise AI Platform" — keyword-indexed.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828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First 2 lines of company bio always visible pre-click. Lead with category claim.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042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042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Content mix: 80% utility / insight + 20% company news.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7797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797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Formats: long-form posts 600-900 words &gt; carousels &gt; native video.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5526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552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Never: memes, "here's what I learned" openers, engagement bait.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7307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30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Frequency: 4x per week maximum. Quality over volume.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06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Hashtags: 2-3 max. Industry terms only (#EnterpriseAI, #Compliance).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68172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817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Always cite data with source. Never "studies show."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15721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9.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1572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End with a statement — never with "What do you think?"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63270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6327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Reply within 2h on day of publish. Builds algorithm equity.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5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06 — PLATFORM PLAYBOOK  |  X  (FLUSO PRIMARY CHANNEL)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49808"/>
            <a:ext cx="5394960" cy="5806440"/>
          </a:xfrm>
          <a:prstGeom prst="rect">
            <a:avLst/>
          </a:prstGeom>
          <a:solidFill>
            <a:srgbClr val="14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Why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Builders, developers, early adopters, AI researchers, power users — already talking open-source models and privacy.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834639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Make Fluso the product builders recommend to each other. Earned credibility, not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767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NOT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41648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Enterprise sales. Compliance deep dives. Long-form PDFs. That's LinkedIn.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97433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  <a:latin typeface="Calibri"/>
              </a:rPr>
              <a:t>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248655"/>
            <a:ext cx="50292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Someone who actually uses Fluso daily — not a brand account. A person.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49808"/>
            <a:ext cx="5577840" cy="5806440"/>
          </a:xfrm>
          <a:prstGeom prst="rect">
            <a:avLst/>
          </a:prstGeom>
          <a:solidFill>
            <a:srgbClr val="191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8686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Execution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35331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353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Bio: 160 chars. Category claim first. Product link.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8288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Name field: "Fluso" — clean. Keywords go in bio.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30428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3.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0428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Post type: product observations, honest takes, workflow screenshots, real numbers.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77977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7977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Thread format: lead tweet must stand alone without the thread.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25526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25526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Never: "thread 🧵" openers. Never: "here's what I learned." Start with the insight.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730752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7307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Frequency: 1-2 posts per day maximum. Be memorable, not prolific.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2062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206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Replies &gt; posts for growth. Engage where builders already 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68172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8.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6817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Quote tweets: add a take. "This is why we built Fluso" is banned.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5157216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9.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157216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Product drops: show the UI. Show the time saved. Not "excited to share."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5632704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10.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632704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Pinned tweet: most useful piece. Update monthly.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06 — PLATFORM PLAYBOOK  |  INSTAGRAM  (FLUSO)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Show work. Don't sell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Instagram is a process-visibility channel. Thinking visible &gt; capabilities claimed.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394960" cy="2286000"/>
          </a:xfrm>
          <a:prstGeom prst="rect">
            <a:avLst/>
          </a:prstGeom>
          <a:solidFill>
            <a:srgbClr val="1C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84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BIO TEMPLATE  (Fluso)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59152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Name field: "Fluso  deep work AI" (keyword-indexed)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Line 1: What you do in 8 words or less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Line 2: Proof or differentiator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Line 3: Social proof or CTA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Link: fluso.ai or link-in-bio aggregator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251960"/>
            <a:ext cx="5394960" cy="2286000"/>
          </a:xfrm>
          <a:prstGeom prst="rect">
            <a:avLst/>
          </a:prstGeom>
          <a:solidFill>
            <a:srgbClr val="1C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4251960"/>
            <a:ext cx="53949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36168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ALGORITHM NOTE  (post Dec 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36592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Hashtags deweighted. Keyword discovery now dominant.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Optimise name field + bio for search terms.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Reels get 2-3x reach of static posts.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First 3 seconds determine ~60% of completion rate.</a:t>
            </a:r>
          </a:p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Save hashtags to first comment, not caption.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874519"/>
            <a:ext cx="5577840" cy="4663440"/>
          </a:xfrm>
          <a:prstGeom prst="rect">
            <a:avLst/>
          </a:prstGeom>
          <a:solidFill>
            <a:srgbClr val="1C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74519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8424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CONTENT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Reels  (8 of 15 posts)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6974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15-30s. No voiceover on AI topics — show screen, show result, show time. Text overlay 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246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Carousels  (7 of 15 posts)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5204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Swipe-to-learn. Slide 1 must work standalone. Never end on a CTA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Grid aesthetic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3434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Dark background. Amber accents. No stock photography. Real product UI only.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8920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Caption 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First line = hook (specific, not clever). 3-5 hashtags in first comment — never in caption body.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5715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9893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4A3B8"/>
                </a:solidFill>
                <a:latin typeface="Calibri"/>
              </a:rPr>
              <a:t>Behind-the-work. Real screenshots. No branded templates. Polls only if genuinely curious.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06 — PLATFORM PLAYBOOK  |  FACEBOOK + WEBSITE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984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FACEBOOK  (PREM + FLUSO)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391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Community + remarketing. Organic page reach near zero. Do not optimise for organic reach.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511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PAGE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8072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"Prem AI" — Facebook indexes About section as primary search ranking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192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ABOUT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753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Full keyword-rich paragraph: enterprise AI, compliance, on-premise, open-source models, Fluso, workflow automation.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8736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Repurpose top LinkedIn posts (24h delay). Facebook-specific CTA. Groups &gt; page posting for 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855464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114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Retarget website visitors + email list. LinkedIn for cold; Facebook for warm re-engagement.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62356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MESSENGER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7959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Enable auto-reply. Route sales/support inquiries directly to CRM.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39496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539496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2984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WEBSITE  (premai.io + fluso.ai)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17830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HERO SECTION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03911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Category claim in 8 words or fewer. Proof point below. Real product screenshot — no stock photos.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25511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NAVIGATION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807208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Lead with use cases: "For Legal," "For Finance," "For Research." Not features, not integrations.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3319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SOCIAL PROOF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357530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First 3 testimonials must be named individuals with company + title. No anonymous quotes ever.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0873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BLOG / SEO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434340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resources.premai.io on Ghost. Pillar pages: EU AI Act, enterprise AI deployment, model portability.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48554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PRICING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511149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Show a number or a range. "Contact for pricing" without any indication of scale loses qualified leads.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56235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563EB"/>
                </a:solidFill>
                <a:latin typeface="Calibri"/>
              </a:rPr>
              <a:t>FOOTER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879592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72A"/>
                </a:solidFill>
                <a:latin typeface="Calibri"/>
              </a:rPr>
              <a:t>Legal, Swiss HQ address, only verified certifications, GitHub link for Reticle open-source.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07 — CONTENT PILLARS  |  PREM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Every Prem piece belongs to one of four pillars. If it doesn't fit, don't publish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2743200" cy="534924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27432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Verifiable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  <a:latin typeface="Calibri"/>
              </a:rPr>
              <a:t>40% of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Reticle attestation
TEE architecture explainers
Cryptographic proof walkthroughs
Openness vs policy promises
Hardware-signed inference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170432"/>
            <a:ext cx="2743200" cy="534924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170432"/>
            <a:ext cx="27432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Compliance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30% of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EU AI Act interpretation
GDPR / HIPAA by use case
Audit readiness frameworks
Regulated industry deployments
What a regulator actually asks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170432"/>
            <a:ext cx="2743200" cy="534924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170432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Engineering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20% of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Open-source model selection
On-premise deployment guides
Model portability benchmarks
Performance vs cost trade-offs
Reticle contributor updates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170432"/>
            <a:ext cx="2743200" cy="5349240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170432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Customer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10% of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Named case studies only
Deployment stories with specifics
User quotes: name + company + title
Quantified time and cost outcomes
Named regulator-facing outcomes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07 — CONTENT PILLARS  |  FLUSO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751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60% product utility. 20% deep-work philosophy. 20% builder culture. In that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2743200" cy="5349240"/>
          </a:xfrm>
          <a:prstGeom prst="rect">
            <a:avLst/>
          </a:prstGeom>
          <a:solidFill>
            <a:srgbClr val="1C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Deep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30% of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Cognitive load in AI workflows
Focus session design
10-30 min workflow examples
"59 min/day lost" framing
Work vs meta-work distinction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170432"/>
            <a:ext cx="2743200" cy="5349240"/>
          </a:xfrm>
          <a:prstGeom prst="rect">
            <a:avLst/>
          </a:prstGeom>
          <a:solidFill>
            <a:srgbClr val="1C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170432"/>
            <a:ext cx="274320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Product Utility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Calibri"/>
              </a:rPr>
              <a:t>35% of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Specific use cases with time data
Before / after workflow comparisons
Model-to-use-case matching
Real accuracy data with sources
Session audit trail demonstrations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54496" y="1170432"/>
            <a:ext cx="2743200" cy="5349240"/>
          </a:xfrm>
          <a:prstGeom prst="rect">
            <a:avLst/>
          </a:prstGeom>
          <a:solidFill>
            <a:srgbClr val="1C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4496" y="1170432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 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20% of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Which model, why, when
Honest accuracy reporting
Limitation disclosure
Open-source model reviews
"No black box"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170432"/>
            <a:ext cx="2743200" cy="5349240"/>
          </a:xfrm>
          <a:prstGeom prst="rect">
            <a:avLst/>
          </a:prstGeom>
          <a:solidFill>
            <a:srgbClr val="1C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4" y="1170432"/>
            <a:ext cx="2743200" cy="6400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81744" y="1298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81744" y="1709928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Builder Community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81744" y="23591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366F1"/>
                </a:solidFill>
                <a:latin typeface="Calibri"/>
              </a:rPr>
              <a:t>15% of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81744" y="2788920"/>
            <a:ext cx="23774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Reticle open-source updates
Contributor spotlights
Dev environment walkthroughs
Honest product retrospectives
Open questions to community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08 — AUDIENCE ARCHITECTURE  |  Persona-to-Platform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420624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43584"/>
            <a:ext cx="1965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243584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24358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PRIMARY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243584"/>
            <a:ext cx="2788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CONTENT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243584"/>
            <a:ext cx="3611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JTBD (job to be done)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9344"/>
            <a:ext cx="11430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0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Compliance Owner (CISO)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645920"/>
            <a:ext cx="1051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PREM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645920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LinkedIn + 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645920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Long-form EU AI Act breakdowns, attestation explainers, audit frameworks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1645920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"Help me not get fired when the regulator asks how we use AI."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59152"/>
            <a:ext cx="11430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395728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Champion (CTO / VP Eng)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395728"/>
            <a:ext cx="1051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PREM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395728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LinkedIn +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395728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Architecture posts, model portability, Reticle technical docs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395728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"Give me technical proof I can put in front of the board."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108960"/>
            <a:ext cx="11430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45536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Validator (Security Eng)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145536"/>
            <a:ext cx="1051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PREM + Fluso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145536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GitHub + 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3145536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TEE explainers, benchmark data, open-source contribution posts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145536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"Show me the code. Not the marketing page."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58768"/>
            <a:ext cx="11430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895344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Vertical Buyer (Legal Ops)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3895344"/>
            <a:ext cx="1051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PREM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895344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LinkedIn + Events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895344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Harvey / Legora cost comparisons, ROI calculator, use-case studies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3895344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"Beat Harvey on price, match it on accuracy for litigation."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08576"/>
            <a:ext cx="11430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645152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Developer / Builder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4645152"/>
            <a:ext cx="1051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FLUSO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4645152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X + GitHub + Discord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4645152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API docs, model selection guides, workflow tool teardowns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4645152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"Let me try it in 10 minutes without speaking to sales."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58383"/>
            <a:ext cx="1143000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394959"/>
            <a:ext cx="1965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Prosumer / Power User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394959"/>
            <a:ext cx="1051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563EB"/>
                </a:solidFill>
                <a:latin typeface="Calibri"/>
              </a:rPr>
              <a:t>FLUSO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5394959"/>
            <a:ext cx="1691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Instagram + 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5394959"/>
            <a:ext cx="2788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Deep-work content, 20-min workflow posts, productivity 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79" y="5394959"/>
            <a:ext cx="3611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  <a:latin typeface="Calibri"/>
              </a:rPr>
              <a:t>"Help me do 3 hours of thinking in 45 minutes."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09 — BRAND VOCABULARY  |  Own. Avoid. Never.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The vocabulary is the brand. Consistency in language builds category ownership.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3456432" cy="5394960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34564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PREM 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Verifiable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7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Attestation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0428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On-premise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786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Sovereign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5292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Proof (not promise)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1272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Auditable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0156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"At the hardware layer"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675887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Cryptographic proof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502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Reticle (always capitalise)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7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Hardware-signed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4988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"Per inference"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77316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TEE (with plain-English gloss)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04748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Model portability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218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"Your jurisdiction governs"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170432"/>
            <a:ext cx="3456432" cy="5394960"/>
          </a:xfrm>
          <a:prstGeom prst="rect">
            <a:avLst/>
          </a:prstGeom>
          <a:solidFill>
            <a:srgbClr val="1914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9663" y="1170432"/>
            <a:ext cx="345643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70832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FLUSO OWNS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0832" y="17556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Deep 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2029967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Flow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30428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Knowledge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25786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"20-minute session"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285292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Honest accuracy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31272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"Actually did X in N minutes"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340156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Session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3675887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Open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39502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"No black box"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4224527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Cognitive 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449884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"Work that needs thinking"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477316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Workflow (not chat)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504748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"By Prem"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5321808"/>
            <a:ext cx="3108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"Focused session"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73568" y="1170432"/>
            <a:ext cx="3840480" cy="5394960"/>
          </a:xfrm>
          <a:prstGeom prst="rect">
            <a:avLst/>
          </a:prstGeom>
          <a:solidFill>
            <a:srgbClr val="1E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3568" y="1170432"/>
            <a:ext cx="384048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74736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CA5A5"/>
                </a:solidFill>
                <a:latin typeface="Calibri"/>
              </a:rPr>
              <a:t>NEITHER BRAND USES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74736" y="1755648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Revolutionary / Game-changing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4736" y="2025395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Effortless / Seamless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229514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"AI-powered" (everything is)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4736" y="2564891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"The future of work"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4736" y="2834639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Unlock / Empower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74736" y="3104387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"We're excited to announce"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74736" y="3374136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"Privacy-first" as primary claim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4736" y="364388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Em dashes (—) in any copy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74736" y="3913631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"Not X, but Y" construction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74736" y="4183379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Rhetorical question hooks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4736" y="4453127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Fragment staccato ("Faster. Better.")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74736" y="4722875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"That's the future we're building."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74736" y="4992624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Uncited accuracy figures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74736" y="5262372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CA5A5"/>
                </a:solidFill>
                <a:latin typeface="Calibri"/>
              </a:rPr>
              <a:t>x  "Swiss jurisdiction" in customer VPC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10 — THE "OBVIOUSLY AWESOME" POSITIONING TEST  (April Dunford framework)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430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1. Target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Who, exactly? Not "enterprises." CISOs at AmLaw 200 law firms managing EU AI Act deployment before the August 2025 grace-period deadline.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37392" y="1435608"/>
            <a:ext cx="493776" cy="429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3968" y="1481328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39696"/>
            <a:ext cx="114300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31136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2. Market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31136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What game are we playing? "Verifiable AI" — not "enterprise AI assistant," not "private LLM," not "secure AI platform."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137392" y="2340864"/>
            <a:ext cx="493776" cy="429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3968" y="2386584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44952"/>
            <a:ext cx="11430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1363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3. Unique attributes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36392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What do we have that others don't? Hardware-signed proof per inference via Reticle (open-source TEE attestation stack). No other vendor ships this.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37392" y="3246120"/>
            <a:ext cx="493776" cy="429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73968" y="3291840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114300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41648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4. Value to the buyer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41648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Why does that matter? Cryptographic audit trail = can answer the regulator directly. A policy promise cannot.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37392" y="4151376"/>
            <a:ext cx="493776" cy="429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73968" y="4197096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55464"/>
            <a:ext cx="1143000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4690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5. Competitive alternatives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946904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What would they use instead? Policy-based tools (Anthropic Enterprise), perimeter security (Langchain / Dust), Harvey / Legora for legal vertical.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37392" y="5056632"/>
            <a:ext cx="493776" cy="429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73968" y="5102352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760720"/>
            <a:ext cx="114300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85216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  <a:latin typeface="Calibri"/>
              </a:rPr>
              <a:t>6. Proof of the claim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852160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F172A"/>
                </a:solidFill>
                <a:latin typeface="Calibri"/>
              </a:rPr>
              <a:t>What verifies it? Reticle open-source repository. TEE architecture documentation. Named customer deployments with attestation on record.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37392" y="5961888"/>
            <a:ext cx="493776" cy="42976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73968" y="6007608"/>
            <a:ext cx="411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Run this test before every campaign brief, product page draft, and major social push.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  <a:latin typeface="Calibri"/>
              </a:rPr>
              <a:t>11 — BRAND GOVERNANCE  |  Who approves what. No exceptions.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Approval does not mean editing. It means sign-off before the content goes 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402336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CONTENT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225296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APPROVER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33872" y="1225296"/>
            <a:ext cx="5897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72768"/>
            <a:ext cx="11430000" cy="612648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18488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External press / media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618488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CEO (Simone Giacomelli)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3872" y="1618488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Any statement attributed to the company or leadership. No exceptions.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11430000" cy="612648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40280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Technical claims and benchmarks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240280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CTO (Jaipal Singh)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240280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Accuracy figures, architecture claims, certifications. Fact-check with CTO before publishing.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16352"/>
            <a:ext cx="11430000" cy="612648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862072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Pricing mentions (public)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862072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Sales (Marco) + CEO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33872" y="2862072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Public pricing errors are costly and hard to retract. Both sign off.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38144"/>
            <a:ext cx="11430000" cy="612648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483864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Campaign strategy + content calendars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3483864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Marketing lead (Yash Ranka)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3872" y="3483864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Campaign briefs, channel plans, content calendars, and influencer briefs.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59936"/>
            <a:ext cx="11430000" cy="612648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05656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Platform bios and handles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1568" y="4105656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Marketing lead + CEO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4105656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Bios change how we are discovered in search. Both approve.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681728"/>
            <a:ext cx="11430000" cy="612648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727448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Brand visual changes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4727448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CEO + external design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3872" y="4727448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Color, logo, or typography changes require a visual consistency audit before launch.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303520"/>
            <a:ext cx="11430000" cy="612648"/>
          </a:xfrm>
          <a:prstGeom prst="rect">
            <a:avLst/>
          </a:prstGeom>
          <a:solidFill>
            <a:srgbClr val="0C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349240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Influencer content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5349240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Marketing lead. CEO for reach &gt;50K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33872" y="5349240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Approve key messages and data claims. Influencers own their voice; we approve the facts.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925312"/>
            <a:ext cx="11430000" cy="612648"/>
          </a:xfrm>
          <a:prstGeom prst="rect">
            <a:avLst/>
          </a:prstGeom>
          <a:solidFill>
            <a:srgbClr val="0F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971032"/>
            <a:ext cx="2834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Crisis or regulatory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5971032"/>
            <a:ext cx="2377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B82F6"/>
                </a:solidFill>
                <a:latin typeface="Calibri"/>
              </a:rPr>
              <a:t>CEO + legal (if available)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33872" y="5971032"/>
            <a:ext cx="58521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Any response to a regulatory inquiry, data incident, or significant public criticism.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04320" y="0"/>
            <a:ext cx="48463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One rule above all others: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515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Build trust by being consistently
more useful than you are impressive.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5029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343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The brand is a promise kept in every post, every document, every conversation.
Hold the standard. The market rewards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362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PremAI + Fluso Brand Bible  v1.0  |  June 2026  |  Internal Use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62362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2563EB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